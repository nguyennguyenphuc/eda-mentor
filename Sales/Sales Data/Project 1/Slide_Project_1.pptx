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
    <p:sldId id="310" r:id="rId5"/>
    <p:sldId id="311" r:id="rId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 id="267"/>
          </p14:sldIdLst>
        </p14:section>
        <p14:section name="Phần 3 · KPI" id="{27970E54-C475-597F-8161-78EFCE9B5003}">
          <p14:sldIdLst>
            <p14:sldId id="268"/>
            <p14:sldId id="269"/>
            <p14:sldId id="270"/>
            <p14:sldId id="271"/>
            <p14:sldId id="272"/>
            <p14:sldId id="273"/>
          </p14:sldIdLst>
        </p14:section>
        <p14:section name="Phần 4 · Dữ liệu &amp; modeling" id="{18F674DB-7378-55DE-BD5F-3792669B0C25}">
          <p14:sldIdLst>
            <p14:sldId id="274"/>
            <p14:sldId id="275"/>
            <p14:sldId id="276"/>
            <p14:sldId id="277"/>
            <p14:sldId id="278"/>
            <p14:sldId id="279"/>
            <p14:sldId id="280"/>
            <p14:sldId id="281"/>
            <p14:sldId id="282"/>
            <p14:sldId id="283"/>
          </p14:sldIdLst>
        </p14:section>
        <p14:section name="Phần 5 · Khám phá dữ liệu" id="{3A7D7AE7-21E4-5C31-B7BB-761A449440DF}">
          <p14:sldIdLst>
            <p14:sldId id="284"/>
            <p14:sldId id="285"/>
            <p14:sldId id="286"/>
            <p14:sldId id="287"/>
            <p14:sldId id="288"/>
          </p14:sldIdLst>
        </p14:section>
        <p14:section name="Phần 6 · DAX" id="{8AE14257-564C-5899-AD89-0D155765DAC5}">
          <p14:sldIdLst>
            <p14:sldId id="289"/>
            <p14:sldId id="290"/>
            <p14:sldId id="291"/>
            <p14:sldId id="292"/>
            <p14:sldId id="293"/>
            <p14:sldId id="294"/>
          </p14:sldIdLst>
        </p14:section>
        <p14:section name="Phần 7 · Phân tích kết quả" id="{9E384DC5-995C-55E6-B0EF-B89EA27FDFFA}">
          <p14:sldIdLst>
            <p14:sldId id="295"/>
            <p14:sldId id="296"/>
            <p14:sldId id="297"/>
            <p14:sldId id="298"/>
            <p14:sldId id="299"/>
            <p14:sldId id="300"/>
            <p14:sldId id="301"/>
            <p14:sldId id="302"/>
            <p14:sldId id="303"/>
            <p14:sldId id="304"/>
          </p14:sldIdLst>
        </p14:section>
        <p14:section name="Phần 8 · Đầu ra &amp; chấm điểm" id="{2CB85F52-B697-5D48-9499-5FDA194CEDFA}">
          <p14:sldIdLst>
            <p14:sldId id="305"/>
            <p14:sldId id="306"/>
            <p14:sldId id="307"/>
          </p14:sldIdLst>
        </p14:section>
        <p14:section name="Phụ lục mentor – ẩn khi trình chiếu cho học viên" id="{06C17C6C-DED5-5777-8593-9B421A1CB2CA}">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56.xml"/><Relationship Id="rId5" Type="http://schemas.openxmlformats.org/officeDocument/2006/relationships/slide" Target="slides/slide55.xml"/><Relationship Id="rId6" Type="http://schemas.openxmlformats.org/officeDocument/2006/relationships/slide" Target="slides/slide5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Excel 4 sheet (Power Query, Power Pivot, DAX) từ dữ liệu đơn hàng, tính đúng Gross Sales, Net Revenue, số đơn, AOV, ASP, rồi đối soát với file doanh thu Kế toán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195 phút): hiểu bối cảnh bán lẻ và vì sao phải đối soát (15') → đề bài dashboard (20') → hệ thống KPI (20') → dữ liệu, Power Query và mô hình (40') → khám phá dữ liệu (15') → mẫu DAX (35') → dựng dashboard Excel, đọc kết quả và lập luận (40')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Kế toán, Trưởng phòng Kinh doanh cần trả lời 3 câu: tháng này thực sự bán được bao nhiêu; bao nhiêu bị mất vì giảm giá, hoàn trả, huỷ đơn; và vì sao số của Sales khác số Kế toán đã xác nhận. Vai trò của Data Analyst là trả lời cả ba bằng con số kiểm chứng được. Hỏi lớp: “Nếu số của bạn lệch Kế toán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Kế toán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Kế toán ghi theo ngày ghi sổ,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Kế toán xác nhận phía sổ sách, cửa hàng/e-commerce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Excel .xlsx (Power Query + Data Model + 4 sheet dashboard) và báo cáo 8 phần theo guild_report_template. Slicer dùng chung cho cả 4 sheet: Năm + Tháng báo cáo (chọn một, mặc định 12/2020), Kênh bán, Quốc gia; thẻ KPI đọc slicer qua CUBEVALUE. Bốn sheet (mỗi sheet là một trang) đi theo một mạch kể chuyện: chuyện gì xảy ra (Tổng quan) → doanh thu đến từ đâu → lệch Kế toán ở đâu → doanh thu có sạch không. Lưu ý kênh online không thuộc quốc gia nào: khi chọn một quốc gia thì online bị loại khỏi phạm vi.</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tháng này bán được bao nhiêu, vì sao tăng/giảm, có khớp Kế toán không. Mở đầu bằng câu Điểm chính tự sinh theo số. Năm thẻ: Net Revenue, số đơn, AOV, tỷ lệ hoàn trả, chênh lệch Kế toán. Biểu đồ: đường Net Revenue 24 tháng màu xám với tháng chọn tô xanh và điểm cùng kỳ được ghi chú; waterfall Gross → Net; hai biểu đồ nhỏ số đơn và AOV đặt cạnh nhau (không dùng hai trục trên một biểu đồ) để thấy ngay doanh thu giảm vì ít đơn; và cột Δ sau quy đổi theo tháng để dẫn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Bốn thẻ: Net Sales, Units, tỷ trọng online, giảm giá trên Gross. Danh mục và quốc gia vẽ bằng cột ngang xếp hạng: mục lớn nhất tô xanh, còn lại xám, nhãn giá trị và % ở cuối thanh. Giải thích vì sao bỏ pie/treemap: mắt so sánh độ dài chính xác hơn góc hay diện tích. Bảng kênh có AOV, so với tháng trước và cùng kỳ; Top 10 cửa hàng có thanh nhỏ trong ô.</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Δ = Kế toán − dữ liệu đơn; cờ ⚠ khi |Δ| &gt; 200 USD và |Δ %| &gt; 1% ở mức tháng × cửa hàng. Biểu đồ phân rã Δ của tháng chọn: phần lệch thời điểm online (xám) → từng cửa hàng vượt ngưỡng (đỏ) → phần còn lại. Cột Δ sau quy đổi theo tháng chỉ tô đỏ những tháng có cửa hàng vượt ngưỡng. Bảng cửa hàng xếp theo |Δ|. Hỏi lớp: “Vì sao màu đỏ chỉ dùng cho vượt ngưỡng?” – để mắt người xem đi thẳng tới chỗ cần điều tra.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đơn huỷ, dòng trùng đã loại kèm số đơn đang giao. Đường tỷ lệ hoàn trả 24 tháng, cột ngang lý do trả hàng và cột ngang tỷ lệ hoàn trả theo danh mục, nhãn kèm Net Sales để không kết luận vội với danh mục nhỏ. Màu đảo: tỷ lệ hoàn trả tăng là xấu nên ▲ hiển thị màu cam.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sheet, slicer dùng chung, map Kế toán theo hiệu lực, có cờ vượt ngưỡng. Nên có: Δ sau quy đổi online, line chart đủ 24 tháng, tiêu đề hành động và câu Điểm chính, đơn vị rõ, xám + một màu nhấn. Sáng tạo: sheet chi tiết cửa hàng – ngày, Show Details trên PivotTable, bảng giải thích chênh lệch có tổng nguyên nhân bằng Δ, dùng bảng bổ sung.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Sáu bài học của Cole Nussbaumer Knaflic áp vào dashboard này. (1) Bối cảnh: người xem là Trưởng phòng Kinh doanh và Kế toán trước họp chốt số – viết kết luận thành một câu. (2) Chọn hình: đường cho xu hướng, cột ngang cho xếp hạng, bảng cho chi tiết. (3) Gỡ rối: bỏ khung, nền màu, chú giải thừa. (4) Dẫn mắt: xám cho bối cảnh, một màu nhấn, đỏ chỉ cho vấn đề. (5) Thiết kế: căn thẳng, số thống nhất, màu an toàn cho người mù màu. (6) Kể chuyện: tiêu đề nêu kết luận, nguồn và ngày dữ liệu ở chân trang. Hoạt động: cho học viên sửa một tiêu đề mô tả thành tiêu đề hành động.</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Trước khi vào KPI, thống nhất cách gọi. Doanh thu theo Chuẩn mực kế toán VAS 14 và chế độ kế toán Thông tư 99/2025/TT-BTC (thay Thông tư 200 từ 01/01/2026): doanh thu bán hàng trừ các khoản giảm trừ doanh thu (chiết khấu thương mại, hàng bán bị trả lại) ra doanh thu thuần – trong file và số đo là Gross Sales, Discounts, Returns, Net Revenue. "Kế toán" trong tên file và số đo chính là phòng Tài chính – Kế toán. Tên menu Excel ghi theo giao diện tiếng Việt của Microsoft kèm tiếng Anh, vì máy học viên có thể dùng một trong hai.</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cây KPI từ trái sang phải: Gross Sales trừ giảm giá ra Net Sales, trừ hoàn trả ra Net Revenue, rồi so với Finance Net Revenue ra Δ và cờ ngưỡng. Nhánh trên: Orders và Units là mẫu số của AOV và ASP, với tử số chung là Net Sales. Thông điệp: hiểu định nghĩa và thứ tự trước, viết DAX sau; sơ đồ này nằm ở diagrams/04_cay_kpi.drawio để mentor sửa khi cần.</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lũy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Kế toán: POS ghi nhận ngày bán, online ghi nhận ngày giao, hoàn tiền ghi theo ngày xử lý (có thể trễ vài ngày), net_revenue chưa gồm VAT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40 phút.) Đọc sơ đồ theo ba làn: mentor chuẩn bị dữ liệu (nguồn Global Electronics Retailer, script sinh dữ liệu), học viên làm 5 bước trong Excel (Power Query (M) → Data Model → DAX trong Power Pivot → 4 sheet dashboard → báo cáo), và các điểm kiểm tra (QC_Summary, số đối soát, rubric). Nhấn mạnh hai file đầu vào của học viên: dataset và finance_revenue.xlsx. Sơ đồ gốc ở diagrams/01_pipeline_du_lieu.drawio.</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dữ kiện với ba grain khác nhau: fact_sales_line 63.004 dòng, mỗi dòng là một sản phẩm trong một đơn; fact_return 2.430 dòng, mỗi dòng một lần trả hàng; finance_revenue 19.400 dòng, mỗi dòng một ngày × một mã cửa hàng Kế toán. Ba lưu ý: có 120 dòng trùng hoàn toàn cần loại; fact_return không có store_key nên phải lấy qua order_number + line_item; fin_store_code không phải store_key nên phải map.</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dữ kiện không nối trực tiếp với nhau, chúng gặp nhau qua dim_date và dim_store. dim_channel nối vào dim_store để slicer Kênh lọc được cả Kế toán và hoàn trả. Trong Excel: Power Pivot → Manage → Diagram View, kéo khoá từ dim sang fact; kéo dim_date lần hai sang delivery_date thì Excel tự để quan hệ đó inactive. Phần làm trong Power Query: merge store_key vào fact_return, map store_key cho Kế toán.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map có hiệu lực theo ngày. Bẫy 1: cửa hàng 38 dùng mã GBR-03 đến 30/06/2019, sau đó GBR-03N; nếu gõ tay bảng mã theo mã cũ thì doanh thu từ 07/2019 không gắn được cửa hàng. Luôn dùng map_store_finance và lọc posting_date trong [valid_from, valid_to] – với dữ liệu hiện tại bước lọc giữ nguyên số dòng, nó là chốt an toàn khi Kế toán còn hạch toán mã cũ sau ngày đổi. Bẫy 2: dòng HQ-ADJ là bút toán ở văn phòng chính, store_key trống, không gán cho cửa hàng nào mà giải thích ở cấp tổng chuỗi. Kiểm tra sau merge: số dòng Kế toán vẫn đúng 19.400.</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số đo chứ không xoá dòng (để vẫn đếm được đơn huỷ); đặt đúng kiểu dữ liệu (ngày là Date, tiền là Fixed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Sơ đồ diagrams/05_power_query_pipeline.drawio: mỗi làn là một query, mỗi ô là một Applied Step, số dưới ô là số dòng sau bước. Tạo query theo đúng thứ tự trong excel_build/m/ (SourceFolder → dim → fact_sales_line → fact_return → finance_raw, map_store_finance → fact_finance → _Measures) vì query sau tham chiếu query trước. Ô cam là ba chỗ hay sai: Removed Duplicates, Merged Queries và Filtered Valid – dừng lại kiểm số dòng ngay sau các bước này. Giải thích tham số SourceFolder: đổi máy chỉ sửa một chỗ rồi Refresh All.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code M từ trên xuống: mỗi dòng là một Applied Step, bước sau gọi tên bước trước. fact_sales_line: chọn Table tbl_fact_sales_line (không chọn sheet), đặt kiểu, rồi Table.Distinct bỏ trùng – 63.004 → 62.884 dòng – rồi thêm gross_amount và net_amount. fact_return merge với fact_sales_line theo hai cột order_number + line_item (giữ Ctrl để chọn) để lấy store_key, channel_code, product_key; số dòng giữ 2.430. Hỏi lớp: “Nếu merge trước khi bỏ trùng thì sao?” – 120 dòng trả hàng có thể bị nhân đôi. Hoạt động: học viên làm fact_sales_line bằng chuột, so tên bước với slide.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fact_finance tạo bằng Reference từ finance_raw, merge với map_store_finance theo fin_store_code, expand store_key, valid_from, valid_to, rồi lọc posting_date trong khoảng hiệu lực. Bước Filtered Valid viết bằng cách lọc tạm một điều kiện rồi sửa công thức trên thanh công thức. Số dòng giữ 19.400 ở mọi bước; 3 dòng HQ-ADJ có store_key trống là đúng thiết kế. finance_raw và map_store_finance chỉ là query trung gian.</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&amp; Load To… chọn Only Create Connection và tick Add this data to the Data Model – không đổ bảng ra sheet vì 63 nghìn dòng làm file nặng mà không dùng tới. Hai query trung gian chỉ tạo connection. Trong Power Pivot: tạo quan hệ, Mark as Date Table, Sort by Column cho month_label, ẩn khoá ở bảng dữ kiện. Excel không có cửa sổ chạy truy vấn DAX nên kiểm mô hình bằng PivotTable From Data Model: đơn COMPLETED năm 2020 phải ra 4.528. Đây là lúc dừng lại cho cả lớp đối chiếu số dòng trước khi sang DAX.</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15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Kế toán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Kế toán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Kế toán.</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Bộ bắt buộc chỉ có 21 số đo, chia 5 nhóm theo thứ tự: doanh thu → đơn &amp; giá → Kế toán và chênh lệch → quy đổi online → so sánh kỳ; 8 số đo nâng cao để riêng cho phần sáng tạo. Số đo sau dùng lại số đo trước, ví dụ [Net Revenue] = [Net Sales] − [Returns]: sửa định nghĩa ở một chỗ thì đúng ở mọi nơi. Đặt tất cả trong bảng _Measures, tạo theo đúng thứ tự trong excel_build/measures.dax. Mỗi số đo mới kiểm ngay bằng PivotTable hoặc một ô CUBEVALUE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tạo số đo: hộp thoại Power Pivot → Measures → New Measure (chọn bảng _Measures, đặt tên, dán công thức, chọn định dạng) hoặc dán nguyên khối “Tên := công thức” vào Calculation Area dưới bảng _Measures. Giữ đúng tên như measures.dax vì ô CUBEVALUE gọi theo tên. Điểm mới so với bản trước: DAX chỉ tính số; % thay đổi và câu Điểm chính là công thức Excel thường (TEXT, &amp;) trỏ vào các ô CUBEVALUE, CUBERANKEDMEMBER đọc tháng đang chọn trên slicer. Demo trực tiếp tháng 12/2020.</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Gross Sales là doanh thu bán hàng, Discounts là chiết khấu thương mại, Returns là hàng bán bị trả lại, Net Revenue là doanh thu thuần. gross_amount (quantity × unit_price) đã tính ở Power Query nên Gross Sales chỉ cần SUM; CALCULATE với KEEPFILTERS thêm điều kiện COMPLETED cho mọi pivot mà vẫn giữ lựa chọn của slicer. Cú pháp trong Excel là “Tên := công thức”. Returns không lọc trạng thái vì mọi dòng trả hàng đều thuộc đơn COMPLETED (QC đã kiểm).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Kế toán − Net Revenue; Δ % chia cho trị tuyệt đối của Kế toán để giữ dấu. [Vượt ngưỡng] trả về 1/0 cho từng ô tháng × cửa hàng; [Số cửa hàng vượt ngưỡng] dùng SUMX qua CROSSJOIN tháng × cửa hàng – context transition tính lại số đo cho từng ô, nên đúng cả khi chọn một tháng lẫn cả năm.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inactive delivery_date chỉ trong số đo này; KEEPFILTERS giữ lựa chọn của slicer Kênh. POS giữ ngày đặt hàng vì Kế toán ghi POS theo ngày bán. Ví dụ tháng 12/2020: Δ toàn chuỗi −12.536 USD; sau quy đổi online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40 phút.) Ảnh trên slide là bản HTML tham chiếu (Nexa_Sales_P1_Dashboard.html) – mở trực tiếp nếu có thể; học viên dựng lại bố cục này trong Excel theo 2 slide tiếp theo. File Nexa_Sales_P1_Dashboard.xlsx (công thức SUMIFS) dùng để so số. Thứ tự đọc mỗi sheet: câu Điểm chính → thẻ KPI → biểu đồ có tiêu đề nêu kết luận → bảng chi tiết. Luôn bắt đầu từ câu hỏi của trang,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đối tượng Excel đủ dựng cả 4 sheet. Slicer từ Mô hình Dữ liệu (Năm, Tháng, Kênh, Quốc gia), copy sang sheet khác là dùng chung bộ lọc; Report Connections quyết định pivot nào bị lọc – biểu đồ 24 tháng thì bỏ nối slicer Năm/Tháng. CUBEVALUE đưa một số đo ra một ô theo slicer; các ô đó là nguyên liệu cho thẻ KPI, % thay đổi và câu Điểm chính viết bằng công thức Excel. PivotTable From Data Model cho bảng chi tiết và làm nguồn cho PivotChart. Waterfall không làm được từ PivotTable nên vẽ chart thường từ các ô CUBEVALUE. Mẹo tô màu nhấn: bảng phụ hai cột (nhấn = IF là mục lớn nhất, nền = phần còn lại) rồi vẽ cột chồng.</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này là “bản vẽ thi công” của 4 sheet. Đặt mọi PivotTable nguồn và bảng phụ ở sheet _pivot (ẩn khi nộp); 4 sheet dashboard chỉ chứa slicer, ô CUBEVALUE, biểu đồ và bảng cho người xem. Giữ cùng vùng ô cho câu Điểm chính và thẻ KPI ở mọi sheet. Hoạt động: mỗi nhóm dựng sheet Tong_quan trong 20 phút, so số với file Nexa_Sales_P1_Dashboard.xlsx ở tháng 12/2020.</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câu Điểm chính: máy tính dẫn đầu, Mỹ là thị trường lớn nhất. Cột ngang xếp hạng cho thấy ngay mục lớn nhất (tô xanh) mà không cần đọc chú giải. Bảng kênh: cửa hàng chiếm khoảng ba phần tư Net Sales; cả hai kênh tăng mạnh so với tháng trước nhưng giảm sâu so với cùng kỳ; AOV cửa hàng cao hơn online.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tổng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diagrams/03_quy_trinh_doi_soat.drawio: bỏ trùng, giữ COMPLETED, tính Net Sales và Net Revenue phía đơn; map Kế toán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Kế toán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Excel .xlsx: sửa SourceFolder rồi Refresh All phải chạy được, cùng báo cáo PDF 8 phần theo guild_report_template, phụ lục có bảng cầu nối và danh sách ô vượt ngưỡng. Phần IV (Main Analysis) là đối soát tháng × cửa hàng × kênh; phần VII nêu as-of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Rubric 100 điểm: 40 kỹ thuật (Power Query và mô hình 10, DAX 12, dashboard 4 sheet Excel 12, trải nghiệm 6), 40 báo cáo (cấu trúc 8, đối soát 16, lập luận 10, giới hạn 6) và 20 sáng tạo (sheet chi tiết cửa hàng – ngày,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tổng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Kế toán thiếu dữ liệu −22.168,91 (cửa hàng S24); VAT +2.901,63 (S54, 06/2020); ghi trùng +10.141,04 (S12, 10/12/2020); ra Kế toán cửa hàng 8.797.370,41; cộng HQ-ADJ −1.435,50 ra tổng Kế toán.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VAT;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Kế toán không có dòng ở ngày cửa hàng có bán; đơn huỷ vẫn ghi nhận – ghép đơn CANCELLED với posting_date cùng cửa hàng; ghi trùng (S12, +10.141,04 USD) – hai dòng Kế toán giống hệt nhau; VAT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9.png"/><Relationship Id="rId8" Type="http://schemas.openxmlformats.org/officeDocument/2006/relationships/image" Target="../media/image36.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Outline</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data modeling</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Kế toán</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Kế toán</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Trưởng phòng Kinh doanh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Sales khác số Kế toán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800" b="1" i="0">
                <a:solidFill>
                  <a:srgbClr val="222222"/>
                </a:solidFill>
                <a:latin typeface="Times New Roman"/>
                <a:ea typeface="Times New Roman"/>
                <a:cs typeface="Times New Roman"/>
              </a:rPr>
              <a:t>Data Analyst</a:t>
            </a:r>
          </a:p>
          <a:p>
            <a:pPr algn="ctr">
              <a:buNone/>
            </a:pPr>
            <a:r>
              <a:rPr sz="1800" b="0" i="0">
                <a:solidFill>
                  <a:srgbClr val="222222"/>
                </a:solidFill>
                <a:latin typeface="Times New Roman"/>
                <a:ea typeface="Times New Roman"/>
                <a:cs typeface="Times New Roman"/>
              </a:rPr>
              <a:t>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Kế toán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Kế toán</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Kế toán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Kế toán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Kế toán (finance_revenue.xlsx)</a:t>
            </a:r>
          </a:p>
          <a:p>
            <a:pPr algn="l">
              <a:buNone/>
            </a:pPr>
            <a:r>
              <a:rPr sz="1300" b="0" i="0">
                <a:solidFill>
                  <a:srgbClr val="222222"/>
                </a:solidFill>
                <a:latin typeface="Times New Roman"/>
                <a:ea typeface="Times New Roman"/>
                <a:cs typeface="Times New Roman"/>
              </a:rPr>
              <a:t>Ghi theo ngày ghi sổ: online khi giao xong, hoàn tiền khi Kế toán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Kế toán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Data Analyst</a:t>
            </a:r>
          </a:p>
          <a:p>
            <a:pPr algn="l">
              <a:buNone/>
            </a:pPr>
            <a:r>
              <a:rPr sz="1400" b="0" i="0">
                <a:solidFill>
                  <a:srgbClr val="222222"/>
                </a:solidFill>
                <a:latin typeface="Times New Roman"/>
                <a:ea typeface="Times New Roman"/>
                <a:cs typeface="Times New Roman"/>
              </a:rPr>
              <a:t>Tính KPI từ dữ liệu đơn · ghép với Kế toán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Kế toán</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VAT)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E-commerce</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slicer dùng chung và 4 sheet dashboard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500" b="1" i="0">
                <a:solidFill>
                  <a:srgbClr val="222222"/>
                </a:solidFill>
                <a:latin typeface="Times New Roman"/>
                <a:ea typeface="Times New Roman"/>
                <a:cs typeface="Times New Roman"/>
              </a:rPr>
              <a:t>1  File Excel (.xlsx)</a:t>
            </a:r>
            <a:r>
              <a:rPr sz="1500" b="0" i="0">
                <a:solidFill>
                  <a:srgbClr val="222222"/>
                </a:solidFill>
                <a:latin typeface="Times New Roman"/>
                <a:ea typeface="Times New Roman"/>
                <a:cs typeface="Times New Roman"/>
              </a:rPr>
              <a:t> – Power Query · DAX · 4 sheet</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Slicer dùng chung cho cả 4 sheet (CUBEVALUE đọc theo slicer)</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Năm + Tháng báo cáo</a:t>
            </a:r>
          </a:p>
          <a:p>
            <a:pPr algn="l">
              <a:buNone/>
            </a:pPr>
            <a:r>
              <a:rPr sz="1300" b="0" i="0">
                <a:solidFill>
                  <a:srgbClr val="222222"/>
                </a:solidFill>
                <a:latin typeface="Times New Roman"/>
                <a:ea typeface="Times New Roman"/>
                <a:cs typeface="Times New Roman"/>
              </a:rPr>
              <a:t>2 slicer, 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sheet dashboard (mỗi sheet là một trang)</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Điểm chính · 5 thẻ · Net Revenue 24 tháng · số đơn vs AOV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 đến từ đâu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Danh mục, quốc gia xếp hạng · bảng kênh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 với Kế toán</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Phân rã Δ · Δ theo tháng · bảng cửa hàng có ⚠ · Δ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Tỷ lệ hoàn trả · lý do ·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Mở trang bằng </a:t>
            </a:r>
            <a:r>
              <a:rPr sz="1700" b="1" i="0">
                <a:solidFill>
                  <a:srgbClr val="C55A1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rồi mới đến thẻ và </a:t>
            </a:r>
            <a:r>
              <a:rPr sz="1700" b="1" i="0">
                <a:solidFill>
                  <a:srgbClr val="C55A11"/>
                </a:solidFill>
                <a:latin typeface="Times New Roman"/>
                <a:ea typeface="Times New Roman"/>
                <a:cs typeface="Times New Roman"/>
              </a:rPr>
              <a:t>biểu đồ có tiêu đề nêu kết luận</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vì sao tăng/giảm, có khớp Kế toán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điểm %</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Kế toán</a:t>
            </a:r>
          </a:p>
          <a:p>
            <a:pPr algn="l">
              <a:buNone/>
            </a:pPr>
            <a:r>
              <a:rPr sz="1200" b="0" i="0">
                <a:solidFill>
                  <a:srgbClr val="595959"/>
                </a:solidFill>
                <a:latin typeface="Times New Roman"/>
                <a:ea typeface="Times New Roman"/>
                <a:cs typeface="Times New Roman"/>
              </a:rPr>
              <a:t>USD · % · số cửa hàng vượt</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Đường Net Revenue 24 tháng</a:t>
            </a:r>
          </a:p>
          <a:p>
            <a:pPr algn="l">
              <a:buNone/>
            </a:pPr>
            <a:r>
              <a:rPr sz="1300" b="0" i="0">
                <a:solidFill>
                  <a:srgbClr val="222222"/>
                </a:solidFill>
                <a:latin typeface="Times New Roman"/>
                <a:ea typeface="Times New Roman"/>
                <a:cs typeface="Times New Roman"/>
              </a:rPr>
              <a:t>Xám; tháng chọn tô xanh, ghi chú điểm cùng kỳ</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Waterfall Gross → Net Revenue</a:t>
            </a:r>
          </a:p>
          <a:p>
            <a:pPr algn="l">
              <a:buNone/>
            </a:pPr>
            <a:r>
              <a:rPr sz="1300" b="0" i="0">
                <a:solidFill>
                  <a:srgbClr val="222222"/>
                </a:solidFill>
                <a:latin typeface="Times New Roman"/>
                <a:ea typeface="Times New Roman"/>
                <a:cs typeface="Times New Roman"/>
              </a:rPr>
              <a:t>Gross − Giảm giá − Hoàn trả, tháng chọn</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Số đơn và AOV (2 biểu đồ nhỏ)</a:t>
            </a:r>
          </a:p>
          <a:p>
            <a:pPr algn="l">
              <a:buNone/>
            </a:pPr>
            <a:r>
              <a:rPr sz="1300" b="0" i="0">
                <a:solidFill>
                  <a:srgbClr val="222222"/>
                </a:solidFill>
                <a:latin typeface="Times New Roman"/>
                <a:ea typeface="Times New Roman"/>
                <a:cs typeface="Times New Roman"/>
              </a:rPr>
              <a:t>Tách 2 trục: giảm vì ít đơn hay đơn nhỏ?</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tháng có cửa hàng vượt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dùng pie/treemap: </a:t>
            </a:r>
            <a:r>
              <a:rPr sz="1700" b="1" i="0">
                <a:solidFill>
                  <a:srgbClr val="C55A11"/>
                </a:solidFill>
                <a:latin typeface="Times New Roman"/>
                <a:ea typeface="Times New Roman"/>
                <a:cs typeface="Times New Roman"/>
              </a:rPr>
              <a:t>cột ngang xếp hạng</a:t>
            </a:r>
            <a:r>
              <a:rPr sz="1700" b="0" i="0">
                <a:solidFill>
                  <a:srgbClr val="222222"/>
                </a:solidFill>
                <a:latin typeface="Times New Roman"/>
                <a:ea typeface="Times New Roman"/>
                <a:cs typeface="Times New Roman"/>
              </a:rPr>
              <a:t> so sánh độ dài nhanh và chính xác hơn</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 đến từ đâu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Units</a:t>
            </a:r>
          </a:p>
          <a:p>
            <a:pPr algn="l">
              <a:buNone/>
            </a:pPr>
            <a:r>
              <a:rPr sz="1200" b="0" i="0">
                <a:solidFill>
                  <a:srgbClr val="595959"/>
                </a:solidFill>
                <a:latin typeface="Times New Roman"/>
                <a:ea typeface="Times New Roman"/>
                <a:cs typeface="Times New Roman"/>
              </a:rPr>
              <a:t>sản phẩm</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trọng online</a:t>
            </a:r>
          </a:p>
          <a:p>
            <a:pPr algn="l">
              <a:buNone/>
            </a:pPr>
            <a:r>
              <a:rPr sz="1200" b="0" i="0">
                <a:solidFill>
                  <a:srgbClr val="595959"/>
                </a:solidFill>
                <a:latin typeface="Times New Roman"/>
                <a:ea typeface="Times New Roman"/>
                <a:cs typeface="Times New Roman"/>
              </a:rPr>
              <a:t>% Net Sales</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Giảm giá / Gross</a:t>
            </a:r>
          </a:p>
          <a:p>
            <a:pPr algn="l">
              <a:buNone/>
            </a:pPr>
            <a:r>
              <a:rPr sz="1200" b="0" i="0">
                <a:solidFill>
                  <a:srgbClr val="595959"/>
                </a:solidFill>
                <a:latin typeface="Times New Roman"/>
                <a:ea typeface="Times New Roman"/>
                <a:cs typeface="Times New Roman"/>
              </a:rPr>
              <a:t>% · điểm %</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danh mục, xếp hạng</a:t>
            </a:r>
          </a:p>
          <a:p>
            <a:pPr algn="l">
              <a:buNone/>
            </a:pPr>
            <a:r>
              <a:rPr sz="1300" b="0" i="0">
                <a:solidFill>
                  <a:srgbClr val="222222"/>
                </a:solidFill>
                <a:latin typeface="Times New Roman"/>
                <a:ea typeface="Times New Roman"/>
                <a:cs typeface="Times New Roman"/>
              </a:rPr>
              <a:t>Mục lớn nhất tô xanh, còn lại xám; nhãn giá trị + %</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quốc gia</a:t>
            </a:r>
          </a:p>
          <a:p>
            <a:pPr algn="l">
              <a:buNone/>
            </a:pPr>
            <a:r>
              <a:rPr sz="1300" b="0" i="0">
                <a:solidFill>
                  <a:srgbClr val="222222"/>
                </a:solidFill>
                <a:latin typeface="Times New Roman"/>
                <a:ea typeface="Times New Roman"/>
                <a:cs typeface="Times New Roman"/>
              </a:rPr>
              <a:t>Online là một dòng riêng</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kênh</a:t>
            </a:r>
          </a:p>
          <a:p>
            <a:pPr algn="l">
              <a:buNone/>
            </a:pPr>
            <a:r>
              <a:rPr sz="1300" b="0" i="0">
                <a:solidFill>
                  <a:srgbClr val="222222"/>
                </a:solidFill>
                <a:latin typeface="Times New Roman"/>
                <a:ea typeface="Times New Roman"/>
                <a:cs typeface="Times New Roman"/>
              </a:rPr>
              <a:t>Net Sales, đơn, AOV, so với tháng trước và cùng kỳ</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Top 10 cửa hàng</a:t>
            </a:r>
          </a:p>
          <a:p>
            <a:pPr algn="l">
              <a:buNone/>
            </a:pPr>
            <a:r>
              <a:rPr sz="1300" b="0" i="0">
                <a:solidFill>
                  <a:srgbClr val="222222"/>
                </a:solidFill>
                <a:latin typeface="Times New Roman"/>
                <a:ea typeface="Times New Roman"/>
                <a:cs typeface="Times New Roman"/>
              </a:rPr>
              <a:t>Thanh trong ô + so với tháng trước, cùng kỳ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Kế toán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Kế toán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 với Kế toán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(Finance)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a:t>
            </a:r>
          </a:p>
          <a:p>
            <a:pPr algn="l">
              <a:buNone/>
            </a:pPr>
            <a:r>
              <a:rPr sz="1200" b="0" i="0">
                <a:solidFill>
                  <a:srgbClr val="595959"/>
                </a:solidFill>
                <a:latin typeface="Times New Roman"/>
                <a:ea typeface="Times New Roman"/>
                <a:cs typeface="Times New Roman"/>
              </a:rPr>
              <a:t>USD · % trên Kế toán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sau quy đổi online</a:t>
            </a:r>
          </a:p>
          <a:p>
            <a:pPr algn="l">
              <a:buNone/>
            </a:pPr>
            <a:r>
              <a:rPr sz="1200" b="0" i="0">
                <a:solidFill>
                  <a:srgbClr val="595959"/>
                </a:solidFill>
                <a:latin typeface="Times New Roman"/>
                <a:ea typeface="Times New Roman"/>
                <a:cs typeface="Times New Roman"/>
              </a:rPr>
              <a:t>USD</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Cửa hàng vượt ngưỡng</a:t>
            </a:r>
          </a:p>
          <a:p>
            <a:pPr algn="l">
              <a:buNone/>
            </a:pPr>
            <a:r>
              <a:rPr sz="1200" b="0" i="0">
                <a:solidFill>
                  <a:srgbClr val="595959"/>
                </a:solidFill>
                <a:latin typeface="Times New Roman"/>
                <a:ea typeface="Times New Roman"/>
                <a:cs typeface="Times New Roman"/>
              </a:rPr>
              <a:t>/ số cửa hàng</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Phân rã Δ tháng chọn</a:t>
            </a:r>
          </a:p>
          <a:p>
            <a:pPr algn="l">
              <a:buNone/>
            </a:pPr>
            <a:r>
              <a:rPr sz="1300" b="0" i="0">
                <a:solidFill>
                  <a:srgbClr val="222222"/>
                </a:solidFill>
                <a:latin typeface="Times New Roman"/>
                <a:ea typeface="Times New Roman"/>
                <a:cs typeface="Times New Roman"/>
              </a:rPr>
              <a:t>Online lệch thời điểm → cửa hàng ⚠ → còn lại</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có cửa hàng vượt ngưỡng</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cửa hàng xếp theo |Δ|</a:t>
            </a:r>
          </a:p>
          <a:p>
            <a:pPr algn="l">
              <a:buNone/>
            </a:pPr>
            <a:r>
              <a:rPr sz="1300" b="0" i="0">
                <a:solidFill>
                  <a:srgbClr val="222222"/>
                </a:solidFill>
                <a:latin typeface="Times New Roman"/>
                <a:ea typeface="Times New Roman"/>
                <a:cs typeface="Times New Roman"/>
              </a:rPr>
              <a:t>Đơn, Kế toán, Δ, Δ%, Δ sau quy đổi, ⚠ Vượt</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Δ online: gốc và sau quy đổi</a:t>
            </a:r>
          </a:p>
          <a:p>
            <a:pPr algn="l">
              <a:buNone/>
            </a:pPr>
            <a:r>
              <a:rPr sz="1300" b="0" i="0">
                <a:solidFill>
                  <a:srgbClr val="222222"/>
                </a:solidFill>
                <a:latin typeface="Times New Roman"/>
                <a:ea typeface="Times New Roman"/>
                <a:cs typeface="Times New Roman"/>
              </a:rPr>
              <a:t>Về gần 0 → lệch thời điểm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màu đảo,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Đường tỷ lệ hoàn trả 24 tháng</a:t>
            </a:r>
          </a:p>
          <a:p>
            <a:pPr algn="l">
              <a:buNone/>
            </a:pPr>
            <a:r>
              <a:rPr sz="1300" b="0" i="0">
                <a:solidFill>
                  <a:srgbClr val="222222"/>
                </a:solidFill>
                <a:latin typeface="Times New Roman"/>
                <a:ea typeface="Times New Roman"/>
                <a:cs typeface="Times New Roman"/>
              </a:rPr>
              <a:t>Tháng chọn tô xanh</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lý do trả hàng</a:t>
            </a:r>
          </a:p>
          <a:p>
            <a:pPr algn="l">
              <a:buNone/>
            </a:pPr>
            <a:r>
              <a:rPr sz="1300" b="0" i="0">
                <a:solidFill>
                  <a:srgbClr val="222222"/>
                </a:solidFill>
                <a:latin typeface="Times New Roman"/>
                <a:ea typeface="Times New Roman"/>
                <a:cs typeface="Times New Roman"/>
              </a:rPr>
              <a:t>Lý do lớn nhất tô xanh</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tỷ lệ hoàn trả theo danh mục</a:t>
            </a:r>
          </a:p>
          <a:p>
            <a:pPr algn="l">
              <a:buNone/>
            </a:pPr>
            <a:r>
              <a:rPr sz="1300" b="0" i="0">
                <a:solidFill>
                  <a:srgbClr val="222222"/>
                </a:solidFill>
                <a:latin typeface="Times New Roman"/>
                <a:ea typeface="Times New Roman"/>
                <a:cs typeface="Times New Roman"/>
              </a:rPr>
              <a:t>Nhãn kèm Net Sales để đọc cùng quy mô</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3 slicer dùng chung,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Map Kế toán theo valid_from /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Line chart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Tiêu đề hành động nêu kết luận, câu Điểm chính đầu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Xám cho bối cảnh, 1 màu nhấn;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Drill-through "Chi tiết cửa hàng – ngày"</a:t>
            </a:r>
          </a:p>
          <a:p>
            <a:pPr algn="l" marL="274320" indent="-274320">
              <a:spcAft>
                <a:spcPts val="700"/>
              </a:spcAft>
              <a:buFont typeface="Arial"/>
              <a:buChar char="☐"/>
            </a:pPr>
            <a:r>
              <a:rPr sz="1400" b="0" i="0">
                <a:solidFill>
                  <a:srgbClr val="222222"/>
                </a:solidFill>
                <a:latin typeface="Times New Roman"/>
                <a:ea typeface="Times New Roman"/>
                <a:cs typeface="Times New Roman"/>
              </a:rPr>
              <a:t>Tooltip Δ theo ngày khi rê chuột vào ô vượt ngưỡng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Nguyên tắc trình bày: Storytelling with Data (Cole Nussbaumer Knaflic)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Dashboard để </a:t>
            </a:r>
            <a:r>
              <a:rPr sz="1700" b="1" i="0">
                <a:solidFill>
                  <a:srgbClr val="C55A11"/>
                </a:solidFill>
                <a:latin typeface="Times New Roman"/>
                <a:ea typeface="Times New Roman"/>
                <a:cs typeface="Times New Roman"/>
              </a:rPr>
              <a:t>ra quyết định</a:t>
            </a:r>
            <a:r>
              <a:rPr sz="1700" b="0" i="0">
                <a:solidFill>
                  <a:srgbClr val="222222"/>
                </a:solidFill>
                <a:latin typeface="Times New Roman"/>
                <a:ea typeface="Times New Roman"/>
                <a:cs typeface="Times New Roman"/>
              </a:rPr>
              <a:t>, không để trưng bày: người xem phải thấy kết luận trong 3 giây</a:t>
            </a:r>
          </a:p>
        </p:txBody>
      </p:sp>
      <p:sp>
        <p:nvSpPr>
          <p:cNvPr id="143" name="Rounded Rectangle 142"/>
          <p:cNvSpPr/>
          <p:nvPr/>
        </p:nvSpPr>
        <p:spPr>
          <a:xfrm>
            <a:off x="365760" y="137160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Hiểu bối cảnh</a:t>
            </a:r>
          </a:p>
        </p:txBody>
      </p:sp>
      <p:sp>
        <p:nvSpPr>
          <p:cNvPr id="145" name="TextBox 144"/>
          <p:cNvSpPr txBox="1"/>
          <p:nvPr/>
        </p:nvSpPr>
        <p:spPr>
          <a:xfrm>
            <a:off x="50292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Ai xem, cần quyết định gì? Viết Big Idea thành 1 câu: câu Điểm chính đầu mỗi trang.</a:t>
            </a:r>
          </a:p>
        </p:txBody>
      </p:sp>
      <p:sp>
        <p:nvSpPr>
          <p:cNvPr id="146" name="Rounded Rectangle 145"/>
          <p:cNvSpPr/>
          <p:nvPr/>
        </p:nvSpPr>
        <p:spPr>
          <a:xfrm>
            <a:off x="4206240" y="137160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Chọn hình phù hợp</a:t>
            </a:r>
          </a:p>
        </p:txBody>
      </p:sp>
      <p:sp>
        <p:nvSpPr>
          <p:cNvPr id="148" name="TextBox 147"/>
          <p:cNvSpPr txBox="1"/>
          <p:nvPr/>
        </p:nvSpPr>
        <p:spPr>
          <a:xfrm>
            <a:off x="434340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Đường cho xu hướng, cột ngang xếp hạng cho danh mục, bảng cho chi tiết. Bỏ pie, donut, treemap, 3D.</a:t>
            </a:r>
          </a:p>
        </p:txBody>
      </p:sp>
      <p:sp>
        <p:nvSpPr>
          <p:cNvPr id="149" name="Rounded Rectangle 148"/>
          <p:cNvSpPr/>
          <p:nvPr/>
        </p:nvSpPr>
        <p:spPr>
          <a:xfrm>
            <a:off x="8046720" y="1371600"/>
            <a:ext cx="3657600" cy="21945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Gỡ rối</a:t>
            </a:r>
          </a:p>
        </p:txBody>
      </p:sp>
      <p:sp>
        <p:nvSpPr>
          <p:cNvPr id="151" name="TextBox 150"/>
          <p:cNvSpPr txBox="1"/>
          <p:nvPr/>
        </p:nvSpPr>
        <p:spPr>
          <a:xfrm>
            <a:off x="818388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Bỏ khung, nền màu, lưới đậm, chú giải thừa; nhãn trực tiếp; ít chữ số lẻ.</a:t>
            </a:r>
          </a:p>
        </p:txBody>
      </p:sp>
      <p:sp>
        <p:nvSpPr>
          <p:cNvPr id="152" name="Rounded Rectangle 151"/>
          <p:cNvSpPr/>
          <p:nvPr/>
        </p:nvSpPr>
        <p:spPr>
          <a:xfrm>
            <a:off x="365760" y="3703320"/>
            <a:ext cx="3657600" cy="21945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Rounded Rectangle 152"/>
          <p:cNvSpPr/>
          <p:nvPr/>
        </p:nvSpPr>
        <p:spPr>
          <a:xfrm>
            <a:off x="365760" y="3703320"/>
            <a:ext cx="365760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Dẫn mắt người xem</a:t>
            </a:r>
          </a:p>
        </p:txBody>
      </p:sp>
      <p:sp>
        <p:nvSpPr>
          <p:cNvPr id="154" name="TextBox 153"/>
          <p:cNvSpPr txBox="1"/>
          <p:nvPr/>
        </p:nvSpPr>
        <p:spPr>
          <a:xfrm>
            <a:off x="50292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Xám cho bối cảnh, MỘT màu nhấn cho điều cần thấy; đỏ chỉ cho vấn đề (⚠ vượt ngưỡng).</a:t>
            </a:r>
          </a:p>
        </p:txBody>
      </p:sp>
      <p:sp>
        <p:nvSpPr>
          <p:cNvPr id="155" name="Rounded Rectangle 154"/>
          <p:cNvSpPr/>
          <p:nvPr/>
        </p:nvSpPr>
        <p:spPr>
          <a:xfrm>
            <a:off x="4206240" y="370332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4206240" y="370332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Nghĩ như nhà thiết kế</a:t>
            </a:r>
          </a:p>
        </p:txBody>
      </p:sp>
      <p:sp>
        <p:nvSpPr>
          <p:cNvPr id="157" name="TextBox 156"/>
          <p:cNvSpPr txBox="1"/>
          <p:nvPr/>
        </p:nvSpPr>
        <p:spPr>
          <a:xfrm>
            <a:off x="434340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Căn lưới thẳng, định dạng số thống nhất, màu an toàn cho người mù màu, tooltip.</a:t>
            </a:r>
          </a:p>
        </p:txBody>
      </p:sp>
      <p:sp>
        <p:nvSpPr>
          <p:cNvPr id="158" name="Rounded Rectangle 157"/>
          <p:cNvSpPr/>
          <p:nvPr/>
        </p:nvSpPr>
        <p:spPr>
          <a:xfrm>
            <a:off x="8046720" y="370332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8046720" y="370332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6 · Kể chuyện</a:t>
            </a:r>
          </a:p>
        </p:txBody>
      </p:sp>
      <p:sp>
        <p:nvSpPr>
          <p:cNvPr id="160" name="TextBox 159"/>
          <p:cNvSpPr txBox="1"/>
          <p:nvPr/>
        </p:nvSpPr>
        <p:spPr>
          <a:xfrm>
            <a:off x="818388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Tiêu đề nêu kết luận ("Máy tính chiếm 43% Net Sales"), không chỉ mô tả; nguồn và as-of ở chân trang.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Thuật ngữ dùng trong bài: theo VAS 14 và giao diện Excel tiếng Việt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Tên file, cột, số đo giữ tiếng Anh; </a:t>
            </a:r>
            <a:r>
              <a:rPr sz="1700" b="1" i="0">
                <a:solidFill>
                  <a:srgbClr val="123A7A"/>
                </a:solidFill>
                <a:latin typeface="Times New Roman"/>
                <a:ea typeface="Times New Roman"/>
                <a:cs typeface="Times New Roman"/>
              </a:rPr>
              <a:t>văn bản dùng thuật ngữ chuẩn</a:t>
            </a:r>
            <a:r>
              <a:rPr sz="1700" b="0" i="0">
                <a:solidFill>
                  <a:srgbClr val="222222"/>
                </a:solidFill>
                <a:latin typeface="Times New Roman"/>
                <a:ea typeface="Times New Roman"/>
                <a:cs typeface="Times New Roman"/>
              </a:rPr>
              <a:t> – bảng đầy đủ ở phụ lục hướng dẫn</a:t>
            </a:r>
          </a:p>
        </p:txBody>
      </p:sp>
      <p:graphicFrame>
        <p:nvGraphicFramePr>
          <p:cNvPr id="143" name="Table 142"/>
          <p:cNvGraphicFramePr>
            <a:graphicFrameLocks noGrp="1"/>
          </p:cNvGraphicFramePr>
          <p:nvPr/>
        </p:nvGraphicFramePr>
        <p:xfrm>
          <a:off x="365760" y="1371600"/>
          <a:ext cx="11475719" cy="4617718"/>
        </p:xfrm>
        <a:graphic>
          <a:graphicData uri="http://schemas.openxmlformats.org/drawingml/2006/table">
            <a:tbl>
              <a:tblPr firstRow="1">
                <a:tableStyleId>{5940675A-B579-460E-94D1-54222C63F5DA}</a:tableStyleId>
              </a:tblPr>
              <a:tblGrid>
                <a:gridCol w="1275080"/>
                <a:gridCol w="4553857"/>
                <a:gridCol w="3278777"/>
                <a:gridCol w="2368005"/>
              </a:tblGrid>
              <a:tr h="329837">
                <a:tc>
                  <a:txBody>
                    <a:bodyPr/>
                    <a:lstStyle/>
                    <a:p>
                      <a:pPr algn="l">
                        <a:buNone/>
                      </a:pPr>
                      <a:r>
                        <a:rPr sz="1200" b="1" i="0">
                          <a:solidFill>
                            <a:srgbClr val="FFFFFF"/>
                          </a:solidFill>
                          <a:latin typeface="Times New Roman"/>
                          <a:ea typeface="Times New Roman"/>
                          <a:cs typeface="Times New Roman"/>
                        </a:rPr>
                        <a:t>Nhóm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Thuật ngữ trong tài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Tiếng Anh / trong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Căn cứ</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phòng Tài chính – Kế toán (gọi tắt: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Trưởng phòng Kinh doanh</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Sales Manager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chuyên viên phân tích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Analyst (DA)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tuyển dụng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doanh thu bán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 mẫu B02-DN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chiết khấu thương mại (khuyến mãi giảm giá trên hoá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doanh thu thuần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TT 99/2025/TT-BTC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ghi nhận doanh thu · ngày ghi sổ</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Revenue recognition · posting_date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 sổ Nhật ký chung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tỷ lệ 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 thực tế</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chênh lệch · ngưỡng · đối soát (đối chiếu số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Δ · threshold · reconciliation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Mô hình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Model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Microsoft vi-vn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số đo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measure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Microsoft vi-vn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lược đồ hình sao · bảng dữ kiện · bảng chiều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star schema · fact table · dimension 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giáo trình CSDL / kho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mẫu số chung của AOV, ASP,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mãi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Kế toán</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mãi. Đơn này không có hoàn trả nên Net Revenue = Net Sales.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và tỷ lệ hoàn trả đều chia cho Net Sales</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Lũy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Kế toán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ghi sổ</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Kế toán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E-commerce</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Kế toán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VAT</a:t>
            </a:r>
          </a:p>
          <a:p>
            <a:pPr algn="l">
              <a:buNone/>
            </a:pPr>
            <a:r>
              <a:rPr sz="1300" b="0" i="0">
                <a:solidFill>
                  <a:srgbClr val="222222"/>
                </a:solidFill>
                <a:latin typeface="Times New Roman"/>
                <a:ea typeface="Times New Roman"/>
                <a:cs typeface="Times New Roman"/>
              </a:rPr>
              <a:t>net_revenue chưa gồm VAT; vat_amount = 10% × net_revenue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Kế toán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(United States)</a:t>
            </a:r>
          </a:p>
          <a:p>
            <a:pPr algn="l">
              <a:spcAft>
                <a:spcPts val="300"/>
              </a:spcAft>
              <a:buNone/>
            </a:pPr>
            <a:r>
              <a:rPr sz="1300" b="0" i="0">
                <a:solidFill>
                  <a:srgbClr val="222222"/>
                </a:solidFill>
                <a:latin typeface="Times New Roman"/>
                <a:ea typeface="Times New Roman"/>
                <a:cs typeface="Times New Roman"/>
              </a:rPr>
              <a:t>Đơn: 6.191,92 · Kế toán: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(France)</a:t>
            </a:r>
          </a:p>
          <a:p>
            <a:pPr algn="l">
              <a:spcAft>
                <a:spcPts val="300"/>
              </a:spcAft>
              <a:buNone/>
            </a:pPr>
            <a:r>
              <a:rPr sz="1300" b="0" i="0">
                <a:solidFill>
                  <a:srgbClr val="222222"/>
                </a:solidFill>
                <a:latin typeface="Times New Roman"/>
                <a:ea typeface="Times New Roman"/>
                <a:cs typeface="Times New Roman"/>
              </a:rPr>
              <a:t>Đơn: 20.853,35 · Kế toán: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trong Excel: </a:t>
            </a:r>
            <a:r>
              <a:rPr sz="1700" b="1" i="0">
                <a:solidFill>
                  <a:srgbClr val="2E5B31"/>
                </a:solidFill>
                <a:latin typeface="Times New Roman"/>
                <a:ea typeface="Times New Roman"/>
                <a:cs typeface="Times New Roman"/>
              </a:rPr>
              <a:t>Power Query (M) → Data Model → DAX → 4 sheet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dữ kiện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hạt dữ liệu (grain)</a:t>
            </a:r>
            <a:r>
              <a:rPr sz="1700" b="0" i="0">
                <a:solidFill>
                  <a:srgbClr val="222222"/>
                </a:solidFill>
                <a:latin typeface="Times New Roman"/>
                <a:ea typeface="Times New Roman"/>
                <a:cs typeface="Times New Roman"/>
              </a:rPr>
              <a:t> khác nhau: dòng sản phẩm, lần trả hàng, ngày × mã cửa hàng Kế toán</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Kế toán</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dữ kiện</a:t>
            </a:r>
          </a:p>
          <a:p>
            <a:pPr algn="l">
              <a:buNone/>
            </a:pPr>
            <a:r>
              <a:rPr sz="1200" b="0" i="0">
                <a:solidFill>
                  <a:srgbClr val="595959"/>
                </a:solidFill>
                <a:latin typeface="Times New Roman"/>
                <a:ea typeface="Times New Roman"/>
                <a:cs typeface="Times New Roman"/>
              </a:rPr>
              <a:t>đơn · trả hàng · Kế toán</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7</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chiều</a:t>
            </a:r>
          </a:p>
          <a:p>
            <a:pPr algn="l">
              <a:buNone/>
            </a:pPr>
            <a:r>
              <a:rPr sz="1200" b="0" i="0">
                <a:solidFill>
                  <a:srgbClr val="595959"/>
                </a:solidFill>
                <a:latin typeface="Times New Roman"/>
                <a:ea typeface="Times New Roman"/>
                <a:cs typeface="Times New Roman"/>
              </a:rPr>
              <a:t>ngày, cửa hàng, sản phẩm…</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map</a:t>
            </a:r>
          </a:p>
          <a:p>
            <a:pPr algn="l">
              <a:buNone/>
            </a:pPr>
            <a:r>
              <a:rPr sz="1200" b="0" i="0">
                <a:solidFill>
                  <a:srgbClr val="595959"/>
                </a:solidFill>
                <a:latin typeface="Times New Roman"/>
                <a:ea typeface="Times New Roman"/>
                <a:cs typeface="Times New Roman"/>
              </a:rPr>
              <a:t>mã Kế toán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ngày ghi sổ × một mã cửa hàng Kế toán</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map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chiều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mãi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Kế toán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lược đồ hình sao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Excel (Power Pivot)</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Power Pivot → Manage → Diagram View</a:t>
            </a:r>
            <a:r>
              <a:rPr sz="1300" b="0" i="0">
                <a:solidFill>
                  <a:srgbClr val="222222"/>
                </a:solidFill>
                <a:latin typeface="Times New Roman"/>
                <a:ea typeface="Times New Roman"/>
                <a:cs typeface="Times New Roman"/>
              </a:rPr>
              <a:t>: kéo khoá ở dim thả lên cột ở fact</a:t>
            </a:r>
          </a:p>
          <a:p>
            <a:pPr algn="l" marL="182880" indent="-182880">
              <a:spcAft>
                <a:spcPts val="600"/>
              </a:spcAft>
              <a:buFont typeface="Arial"/>
              <a:buChar char="•"/>
            </a:pPr>
            <a:r>
              <a:rPr sz="1300" b="1" i="0">
                <a:solidFill>
                  <a:srgbClr val="222222"/>
                </a:solidFill>
                <a:latin typeface="Times New Roman"/>
                <a:ea typeface="Times New Roman"/>
                <a:cs typeface="Times New Roman"/>
              </a:rPr>
              <a:t>delivery_date</a:t>
            </a:r>
            <a:r>
              <a:rPr sz="1300" b="0" i="0">
                <a:solidFill>
                  <a:srgbClr val="222222"/>
                </a:solidFill>
                <a:latin typeface="Times New Roman"/>
                <a:ea typeface="Times New Roman"/>
                <a:cs typeface="Times New Roman"/>
              </a:rPr>
              <a:t>: kéo dim_date[date] lần 2 → Excel tự để inactive (nét đứt)</a:t>
            </a:r>
          </a:p>
          <a:p>
            <a:pPr algn="l" marL="182880" indent="-182880">
              <a:spcAft>
                <a:spcPts val="600"/>
              </a:spcAft>
              <a:buFont typeface="Arial"/>
              <a:buChar char="•"/>
            </a:pPr>
            <a:r>
              <a:rPr sz="1300" b="1" i="0">
                <a:solidFill>
                  <a:srgbClr val="222222"/>
                </a:solidFill>
                <a:latin typeface="Times New Roman"/>
                <a:ea typeface="Times New Roman"/>
                <a:cs typeface="Times New Roman"/>
              </a:rPr>
              <a:t>Mark as Date Table</a:t>
            </a:r>
            <a:r>
              <a:rPr sz="1300" b="0" i="0">
                <a:solidFill>
                  <a:srgbClr val="222222"/>
                </a:solidFill>
                <a:latin typeface="Times New Roman"/>
                <a:ea typeface="Times New Roman"/>
                <a:cs typeface="Times New Roman"/>
              </a:rPr>
              <a:t> cho dim_date; Sort by Column: month_label theo month_id</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fact_finance: lấy store_key trong Power Query trước khi nạp</a:t>
            </a:r>
          </a:p>
          <a:p>
            <a:pPr algn="l" marL="182880" indent="-182880">
              <a:spcAft>
                <a:spcPts val="600"/>
              </a:spcAft>
              <a:buFont typeface="Arial"/>
              <a:buChar char="•"/>
            </a:pPr>
            <a:r>
              <a:rPr sz="1300" b="0" i="0">
                <a:solidFill>
                  <a:srgbClr val="222222"/>
                </a:solidFill>
                <a:latin typeface="Times New Roman"/>
                <a:ea typeface="Times New Roman"/>
                <a:cs typeface="Times New Roman"/>
              </a:rPr>
              <a:t>dim_channel → dim_store: slicer Kênh lọc được cả Kế toán và hoàn trả</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dữ kiện trực tiếp với nhau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Kế toán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Join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văn phòng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Gõ tay bảng mã theo mã cũ → doanh thu từ 07/2019 thành "không xác định cửa hàng"; luôn dùng map_store_finance kèm ngày hiệu lực.</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văn phòng chính, store_key trống. Không gán vào cửa hàng nào; giải thích ở cấp tổng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dữ liệu đủ cột, lọc COMPLETED trong số đo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Fixed decimal (Currency), store_key là Whole Number ở mọi bảng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Power Query: mỗi query một làn, mỗi bước một Applied Step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Ô cam là bước </a:t>
            </a:r>
            <a:r>
              <a:rPr sz="1700" b="1" i="0">
                <a:solidFill>
                  <a:srgbClr val="C55A11"/>
                </a:solidFill>
                <a:latin typeface="Times New Roman"/>
                <a:ea typeface="Times New Roman"/>
                <a:cs typeface="Times New Roman"/>
              </a:rPr>
              <a:t>đổi số dòng hoặc ghép bảng</a:t>
            </a:r>
            <a:r>
              <a:rPr sz="1700" b="0" i="0">
                <a:solidFill>
                  <a:srgbClr val="222222"/>
                </a:solidFill>
                <a:latin typeface="Times New Roman"/>
                <a:ea typeface="Times New Roman"/>
                <a:cs typeface="Times New Roman"/>
              </a:rPr>
              <a:t>: kiểm số dòng ngay sau bước đó, trước khi làm bước tiếp</a:t>
            </a:r>
          </a:p>
        </p:txBody>
      </p:sp>
      <p:pic>
        <p:nvPicPr>
          <p:cNvPr id="143" name="Picture 142" descr="05_power_query_pipeline.png"/>
          <p:cNvPicPr>
            <a:picLocks noChangeAspect="1"/>
          </p:cNvPicPr>
          <p:nvPr/>
        </p:nvPicPr>
        <p:blipFill>
          <a:blip r:embed="rId3"/>
          <a:stretch>
            <a:fillRect/>
          </a:stretch>
        </p:blipFill>
        <p:spPr>
          <a:xfrm>
            <a:off x="1529497" y="1298448"/>
            <a:ext cx="9148245" cy="47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 · fact_sales_line và fact_return: bỏ trùng trước, ghép sau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fact_return ghép với fact_sales_line </a:t>
            </a:r>
            <a:r>
              <a:rPr sz="1700" b="1" i="0">
                <a:solidFill>
                  <a:srgbClr val="C00000"/>
                </a:solidFill>
                <a:latin typeface="Times New Roman"/>
                <a:ea typeface="Times New Roman"/>
                <a:cs typeface="Times New Roman"/>
              </a:rPr>
              <a:t>đã bỏ trùng</a:t>
            </a:r>
            <a:r>
              <a:rPr sz="1700" b="0" i="0">
                <a:solidFill>
                  <a:srgbClr val="222222"/>
                </a:solidFill>
                <a:latin typeface="Times New Roman"/>
                <a:ea typeface="Times New Roman"/>
                <a:cs typeface="Times New Roman"/>
              </a:rPr>
              <a:t> → mỗi dòng trả hàng khớp đúng một dòng bán</a:t>
            </a:r>
          </a:p>
        </p:txBody>
      </p:sp>
      <p:sp>
        <p:nvSpPr>
          <p:cNvPr id="143" name="Rounded Rectangle 142"/>
          <p:cNvSpPr/>
          <p:nvPr/>
        </p:nvSpPr>
        <p:spPr>
          <a:xfrm>
            <a:off x="365760" y="1371600"/>
            <a:ext cx="571500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900" b="0" i="0">
                <a:solidFill>
                  <a:srgbClr val="24292F"/>
                </a:solidFill>
                <a:latin typeface="Courier New"/>
                <a:ea typeface="Courier New"/>
                <a:cs typeface="Courier New"/>
              </a:rPr>
              <a:t>let</a:t>
            </a:r>
          </a:p>
          <a:p>
            <a:pPr algn="l">
              <a:buNone/>
            </a:pPr>
            <a:r>
              <a:rPr sz="900" b="0" i="0">
                <a:solidFill>
                  <a:srgbClr val="24292F"/>
                </a:solidFill>
                <a:latin typeface="Courier New"/>
                <a:ea typeface="Courier New"/>
                <a:cs typeface="Courier New"/>
              </a:rPr>
              <a:t>    Source = Excel.Workbook(</a:t>
            </a:r>
          </a:p>
          <a:p>
            <a:pPr algn="l">
              <a:buNone/>
            </a:pPr>
            <a:r>
              <a:rPr sz="900" b="0" i="0">
                <a:solidFill>
                  <a:srgbClr val="24292F"/>
                </a:solidFill>
                <a:latin typeface="Courier New"/>
                <a:ea typeface="Courier New"/>
                <a:cs typeface="Courier New"/>
              </a:rPr>
              <a:t>        File.Contents(SourceFolder &amp; </a:t>
            </a:r>
            <a:r>
              <a:rPr sz="900" b="0" i="0">
                <a:solidFill>
                  <a:srgbClr val="A31515"/>
                </a:solidFill>
                <a:latin typeface="Courier New"/>
                <a:ea typeface="Courier New"/>
                <a:cs typeface="Courier New"/>
              </a:rPr>
              <a:t>"Nexa_Sales_P1_Dataset.xlsx"</a:t>
            </a:r>
            <a:r>
              <a:rPr sz="900" b="0" i="0">
                <a:solidFill>
                  <a:srgbClr val="24292F"/>
                </a:solidFill>
                <a:latin typeface="Courier New"/>
                <a:ea typeface="Courier New"/>
                <a:cs typeface="Courier New"/>
              </a:rPr>
              <a:t>), null, true),</a:t>
            </a:r>
          </a:p>
          <a:p>
            <a:pPr algn="l">
              <a:buNone/>
            </a:pPr>
            <a:r>
              <a:rPr sz="900" b="0" i="0">
                <a:solidFill>
                  <a:srgbClr val="24292F"/>
                </a:solidFill>
                <a:latin typeface="Courier New"/>
                <a:ea typeface="Courier New"/>
                <a:cs typeface="Courier New"/>
              </a:rPr>
              <a:t>    Navigation = Source{</a:t>
            </a:r>
            <a:r>
              <a:rPr sz="900" b="0" i="0">
                <a:solidFill>
                  <a:srgbClr val="0F6E56"/>
                </a:solidFill>
                <a:latin typeface="Courier New"/>
                <a:ea typeface="Courier New"/>
                <a:cs typeface="Courier New"/>
              </a:rPr>
              <a:t>[Item = "tbl_fact_sales_line", Kind = "Table"]</a:t>
            </a:r>
            <a:r>
              <a:rPr sz="900" b="0" i="0">
                <a:solidFill>
                  <a:srgbClr val="24292F"/>
                </a:solidFill>
                <a:latin typeface="Courier New"/>
                <a:ea typeface="Courier New"/>
                <a:cs typeface="Courier New"/>
              </a:rPr>
              <a:t>}</a:t>
            </a:r>
            <a:r>
              <a:rPr sz="900" b="0" i="0">
                <a:solidFill>
                  <a:srgbClr val="0F6E56"/>
                </a:solidFill>
                <a:latin typeface="Courier New"/>
                <a:ea typeface="Courier New"/>
                <a:cs typeface="Courier New"/>
              </a:rPr>
              <a:t>[Data]</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 = Table.TransformColumnTypes(Navigation, { … 15 cột … }),</a:t>
            </a:r>
          </a:p>
          <a:p>
            <a:pPr algn="l">
              <a:buNone/>
            </a:pPr>
            <a:r>
              <a:rPr sz="900" b="0" i="0">
                <a:solidFill>
                  <a:srgbClr val="24292F"/>
                </a:solidFill>
                <a:latin typeface="Courier New"/>
                <a:ea typeface="Courier New"/>
                <a:cs typeface="Courier New"/>
              </a:rPr>
              <a:t>    </a:t>
            </a:r>
            <a:r>
              <a:rPr sz="900" b="0" i="1">
                <a:solidFill>
                  <a:srgbClr val="6A737D"/>
                </a:solidFill>
                <a:latin typeface="Courier New"/>
                <a:ea typeface="Courier New"/>
                <a:cs typeface="Courier New"/>
              </a:rPr>
              <a:t>// 120 dòng trùng hoàn toàn (mọi cột giống nhau) -&gt; giữ 1</a:t>
            </a:r>
          </a:p>
          <a:p>
            <a:pPr algn="l">
              <a:buNone/>
            </a:pPr>
            <a:r>
              <a:rPr sz="900" b="0" i="0">
                <a:solidFill>
                  <a:srgbClr val="24292F"/>
                </a:solidFill>
                <a:latin typeface="Courier New"/>
                <a:ea typeface="Courier New"/>
                <a:cs typeface="Courier New"/>
              </a:rPr>
              <a:t>    RemovedDuplicates = Table.Distinct(ChangedType),</a:t>
            </a:r>
          </a:p>
          <a:p>
            <a:pPr algn="l">
              <a:buNone/>
            </a:pPr>
            <a:r>
              <a:rPr sz="900" b="0" i="0">
                <a:solidFill>
                  <a:srgbClr val="24292F"/>
                </a:solidFill>
                <a:latin typeface="Courier New"/>
                <a:ea typeface="Courier New"/>
                <a:cs typeface="Courier New"/>
              </a:rPr>
              <a:t>    AddedGross = Table.AddColumn(RemovedDuplicates, </a:t>
            </a:r>
            <a:r>
              <a:rPr sz="900" b="0" i="0">
                <a:solidFill>
                  <a:srgbClr val="A31515"/>
                </a:solidFill>
                <a:latin typeface="Courier New"/>
                <a:ea typeface="Courier New"/>
                <a:cs typeface="Courier New"/>
              </a:rPr>
              <a:t>"gross_amount"</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each </a:t>
            </a:r>
            <a:r>
              <a:rPr sz="900" b="0" i="0">
                <a:solidFill>
                  <a:srgbClr val="0F6E56"/>
                </a:solidFill>
                <a:latin typeface="Courier New"/>
                <a:ea typeface="Courier New"/>
                <a:cs typeface="Courier New"/>
              </a:rPr>
              <a:t>[quantity]</a:t>
            </a:r>
            <a:r>
              <a:rPr sz="900" b="0" i="0">
                <a:solidFill>
                  <a:srgbClr val="24292F"/>
                </a:solidFill>
                <a:latin typeface="Courier New"/>
                <a:ea typeface="Courier New"/>
                <a:cs typeface="Courier New"/>
              </a:rPr>
              <a:t> * </a:t>
            </a:r>
            <a:r>
              <a:rPr sz="900" b="0" i="0">
                <a:solidFill>
                  <a:srgbClr val="0F6E56"/>
                </a:solidFill>
                <a:latin typeface="Courier New"/>
                <a:ea typeface="Courier New"/>
                <a:cs typeface="Courier New"/>
              </a:rPr>
              <a:t>[unit_price]</a:t>
            </a:r>
            <a:r>
              <a:rPr sz="900" b="0" i="0">
                <a:solidFill>
                  <a:srgbClr val="24292F"/>
                </a:solidFill>
                <a:latin typeface="Courier New"/>
                <a:ea typeface="Courier New"/>
                <a:cs typeface="Courier New"/>
              </a:rPr>
              <a:t>, Currency.Type),</a:t>
            </a:r>
          </a:p>
          <a:p>
            <a:pPr algn="l">
              <a:buNone/>
            </a:pPr>
            <a:r>
              <a:rPr sz="900" b="0" i="0">
                <a:solidFill>
                  <a:srgbClr val="24292F"/>
                </a:solidFill>
                <a:latin typeface="Courier New"/>
                <a:ea typeface="Courier New"/>
                <a:cs typeface="Courier New"/>
              </a:rPr>
              <a:t>    AddedNet = Table.AddColumn(AddedGross, </a:t>
            </a:r>
            <a:r>
              <a:rPr sz="900" b="0" i="0">
                <a:solidFill>
                  <a:srgbClr val="A31515"/>
                </a:solidFill>
                <a:latin typeface="Courier New"/>
                <a:ea typeface="Courier New"/>
                <a:cs typeface="Courier New"/>
              </a:rPr>
              <a:t>"net_amount"</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each </a:t>
            </a:r>
            <a:r>
              <a:rPr sz="900" b="0" i="0">
                <a:solidFill>
                  <a:srgbClr val="0F6E56"/>
                </a:solidFill>
                <a:latin typeface="Courier New"/>
                <a:ea typeface="Courier New"/>
                <a:cs typeface="Courier New"/>
              </a:rPr>
              <a:t>[gross_amount]</a:t>
            </a:r>
            <a:r>
              <a:rPr sz="900" b="0" i="0">
                <a:solidFill>
                  <a:srgbClr val="24292F"/>
                </a:solidFill>
                <a:latin typeface="Courier New"/>
                <a:ea typeface="Courier New"/>
                <a:cs typeface="Courier New"/>
              </a:rPr>
              <a:t> - </a:t>
            </a:r>
            <a:r>
              <a:rPr sz="900" b="0" i="0">
                <a:solidFill>
                  <a:srgbClr val="0F6E56"/>
                </a:solidFill>
                <a:latin typeface="Courier New"/>
                <a:ea typeface="Courier New"/>
                <a:cs typeface="Courier New"/>
              </a:rPr>
              <a:t>[discount_amount]</a:t>
            </a:r>
            <a:r>
              <a:rPr sz="900" b="0" i="0">
                <a:solidFill>
                  <a:srgbClr val="24292F"/>
                </a:solidFill>
                <a:latin typeface="Courier New"/>
                <a:ea typeface="Courier New"/>
                <a:cs typeface="Courier New"/>
              </a:rPr>
              <a:t>, Currency.Type)</a:t>
            </a:r>
          </a:p>
          <a:p>
            <a:pPr algn="l">
              <a:buNone/>
            </a:pPr>
            <a:r>
              <a:rPr sz="900" b="0" i="0">
                <a:solidFill>
                  <a:srgbClr val="24292F"/>
                </a:solidFill>
                <a:latin typeface="Courier New"/>
                <a:ea typeface="Courier New"/>
                <a:cs typeface="Courier New"/>
              </a:rPr>
              <a:t>in</a:t>
            </a:r>
          </a:p>
          <a:p>
            <a:pPr algn="l">
              <a:buNone/>
            </a:pPr>
            <a:r>
              <a:rPr sz="900" b="0" i="0">
                <a:solidFill>
                  <a:srgbClr val="24292F"/>
                </a:solidFill>
                <a:latin typeface="Courier New"/>
                <a:ea typeface="Courier New"/>
                <a:cs typeface="Courier New"/>
              </a:rPr>
              <a:t>    AddedNet</a:t>
            </a:r>
          </a:p>
        </p:txBody>
      </p:sp>
      <p:sp>
        <p:nvSpPr>
          <p:cNvPr id="144" name="Rounded Rectangle 143"/>
          <p:cNvSpPr/>
          <p:nvPr/>
        </p:nvSpPr>
        <p:spPr>
          <a:xfrm>
            <a:off x="6217920" y="1371600"/>
            <a:ext cx="5623560" cy="315468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900" b="0" i="0">
                <a:solidFill>
                  <a:srgbClr val="24292F"/>
                </a:solidFill>
                <a:latin typeface="Courier New"/>
                <a:ea typeface="Courier New"/>
                <a:cs typeface="Courier New"/>
              </a:rPr>
              <a:t>let</a:t>
            </a:r>
          </a:p>
          <a:p>
            <a:pPr algn="l">
              <a:buNone/>
            </a:pPr>
            <a:r>
              <a:rPr sz="900" b="0" i="0">
                <a:solidFill>
                  <a:srgbClr val="24292F"/>
                </a:solidFill>
                <a:latin typeface="Courier New"/>
                <a:ea typeface="Courier New"/>
                <a:cs typeface="Courier New"/>
              </a:rPr>
              <a:t>    Source = Excel.Workbook(</a:t>
            </a:r>
          </a:p>
          <a:p>
            <a:pPr algn="l">
              <a:buNone/>
            </a:pPr>
            <a:r>
              <a:rPr sz="900" b="0" i="0">
                <a:solidFill>
                  <a:srgbClr val="24292F"/>
                </a:solidFill>
                <a:latin typeface="Courier New"/>
                <a:ea typeface="Courier New"/>
                <a:cs typeface="Courier New"/>
              </a:rPr>
              <a:t>        File.Contents(SourceFolder &amp; </a:t>
            </a:r>
            <a:r>
              <a:rPr sz="900" b="0" i="0">
                <a:solidFill>
                  <a:srgbClr val="A31515"/>
                </a:solidFill>
                <a:latin typeface="Courier New"/>
                <a:ea typeface="Courier New"/>
                <a:cs typeface="Courier New"/>
              </a:rPr>
              <a:t>"Nexa_Sales_P1_Dataset.xlsx"</a:t>
            </a:r>
            <a:r>
              <a:rPr sz="900" b="0" i="0">
                <a:solidFill>
                  <a:srgbClr val="24292F"/>
                </a:solidFill>
                <a:latin typeface="Courier New"/>
                <a:ea typeface="Courier New"/>
                <a:cs typeface="Courier New"/>
              </a:rPr>
              <a:t>), null, true),</a:t>
            </a:r>
          </a:p>
          <a:p>
            <a:pPr algn="l">
              <a:buNone/>
            </a:pPr>
            <a:r>
              <a:rPr sz="900" b="0" i="0">
                <a:solidFill>
                  <a:srgbClr val="24292F"/>
                </a:solidFill>
                <a:latin typeface="Courier New"/>
                <a:ea typeface="Courier New"/>
                <a:cs typeface="Courier New"/>
              </a:rPr>
              <a:t>    Navigation = Source{</a:t>
            </a:r>
            <a:r>
              <a:rPr sz="900" b="0" i="0">
                <a:solidFill>
                  <a:srgbClr val="0F6E56"/>
                </a:solidFill>
                <a:latin typeface="Courier New"/>
                <a:ea typeface="Courier New"/>
                <a:cs typeface="Courier New"/>
              </a:rPr>
              <a:t>[Item = "tbl_fact_return", Kind = "Table"]</a:t>
            </a:r>
            <a:r>
              <a:rPr sz="900" b="0" i="0">
                <a:solidFill>
                  <a:srgbClr val="24292F"/>
                </a:solidFill>
                <a:latin typeface="Courier New"/>
                <a:ea typeface="Courier New"/>
                <a:cs typeface="Courier New"/>
              </a:rPr>
              <a:t>}</a:t>
            </a:r>
            <a:r>
              <a:rPr sz="900" b="0" i="0">
                <a:solidFill>
                  <a:srgbClr val="0F6E56"/>
                </a:solidFill>
                <a:latin typeface="Courier New"/>
                <a:ea typeface="Courier New"/>
                <a:cs typeface="Courier New"/>
              </a:rPr>
              <a:t>[Data]</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 = Table.TransformColumnTypes(Navigation, { … 7 cột … }),</a:t>
            </a:r>
          </a:p>
          <a:p>
            <a:pPr algn="l">
              <a:buNone/>
            </a:pPr>
            <a:r>
              <a:rPr sz="900" b="0" i="0">
                <a:solidFill>
                  <a:srgbClr val="24292F"/>
                </a:solidFill>
                <a:latin typeface="Courier New"/>
                <a:ea typeface="Courier New"/>
                <a:cs typeface="Courier New"/>
              </a:rPr>
              <a:t>    </a:t>
            </a:r>
            <a:r>
              <a:rPr sz="900" b="0" i="1">
                <a:solidFill>
                  <a:srgbClr val="6A737D"/>
                </a:solidFill>
                <a:latin typeface="Courier New"/>
                <a:ea typeface="Courier New"/>
                <a:cs typeface="Courier New"/>
              </a:rPr>
              <a:t>// lấy cửa hàng, kênh, sản phẩm từ dòng bán gốc</a:t>
            </a:r>
          </a:p>
          <a:p>
            <a:pPr algn="l">
              <a:buNone/>
            </a:pPr>
            <a:r>
              <a:rPr sz="900" b="0" i="0">
                <a:solidFill>
                  <a:srgbClr val="24292F"/>
                </a:solidFill>
                <a:latin typeface="Courier New"/>
                <a:ea typeface="Courier New"/>
                <a:cs typeface="Courier New"/>
              </a:rPr>
              <a:t>    MergedSales = Table.NestedJoin(ChangedType, {</a:t>
            </a:r>
            <a:r>
              <a:rPr sz="900" b="0" i="0">
                <a:solidFill>
                  <a:srgbClr val="A31515"/>
                </a:solidFill>
                <a:latin typeface="Courier New"/>
                <a:ea typeface="Courier New"/>
                <a:cs typeface="Courier New"/>
              </a:rPr>
              <a:t>"order_number"</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"line_item"</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fact_sales_line, {</a:t>
            </a:r>
            <a:r>
              <a:rPr sz="900" b="0" i="0">
                <a:solidFill>
                  <a:srgbClr val="A31515"/>
                </a:solidFill>
                <a:latin typeface="Courier New"/>
                <a:ea typeface="Courier New"/>
                <a:cs typeface="Courier New"/>
              </a:rPr>
              <a:t>"order_number"</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"line_item"</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"sales"</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JoinKind.LeftOuter),</a:t>
            </a:r>
          </a:p>
          <a:p>
            <a:pPr algn="l">
              <a:buNone/>
            </a:pPr>
            <a:r>
              <a:rPr sz="900" b="0" i="0">
                <a:solidFill>
                  <a:srgbClr val="24292F"/>
                </a:solidFill>
                <a:latin typeface="Courier New"/>
                <a:ea typeface="Courier New"/>
                <a:cs typeface="Courier New"/>
              </a:rPr>
              <a:t>    ExpandedSales = Table.ExpandTableColumn(MergedSales, </a:t>
            </a:r>
            <a:r>
              <a:rPr sz="900" b="0" i="0">
                <a:solidFill>
                  <a:srgbClr val="A31515"/>
                </a:solidFill>
                <a:latin typeface="Courier New"/>
                <a:ea typeface="Courier New"/>
                <a:cs typeface="Courier New"/>
              </a:rPr>
              <a:t>"sales"</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"store_key"</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"channel_code"</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"product_key"</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ChangedType2 = Table.TransformColumnTypes(ExpandedSales,</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"store_key"</a:t>
            </a:r>
            <a:r>
              <a:rPr sz="900" b="0" i="0">
                <a:solidFill>
                  <a:srgbClr val="24292F"/>
                </a:solidFill>
                <a:latin typeface="Courier New"/>
                <a:ea typeface="Courier New"/>
                <a:cs typeface="Courier New"/>
              </a:rPr>
              <a:t>, Int64.Type}, {</a:t>
            </a:r>
            <a:r>
              <a:rPr sz="900" b="0" i="0">
                <a:solidFill>
                  <a:srgbClr val="A31515"/>
                </a:solidFill>
                <a:latin typeface="Courier New"/>
                <a:ea typeface="Courier New"/>
                <a:cs typeface="Courier New"/>
              </a:rPr>
              <a:t>"channel_code"</a:t>
            </a:r>
            <a:r>
              <a:rPr sz="900" b="0" i="0">
                <a:solidFill>
                  <a:srgbClr val="24292F"/>
                </a:solidFill>
                <a:latin typeface="Courier New"/>
                <a:ea typeface="Courier New"/>
                <a:cs typeface="Courier New"/>
              </a:rPr>
              <a:t>, type text},</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"product_key"</a:t>
            </a:r>
            <a:r>
              <a:rPr sz="900" b="0" i="0">
                <a:solidFill>
                  <a:srgbClr val="24292F"/>
                </a:solidFill>
                <a:latin typeface="Courier New"/>
                <a:ea typeface="Courier New"/>
                <a:cs typeface="Courier New"/>
              </a:rPr>
              <a:t>, Int64.Type}})</a:t>
            </a:r>
          </a:p>
          <a:p>
            <a:pPr algn="l">
              <a:buNone/>
            </a:pPr>
            <a:r>
              <a:rPr sz="900" b="0" i="0">
                <a:solidFill>
                  <a:srgbClr val="24292F"/>
                </a:solidFill>
                <a:latin typeface="Courier New"/>
                <a:ea typeface="Courier New"/>
                <a:cs typeface="Courier New"/>
              </a:rPr>
              <a:t>in</a:t>
            </a:r>
          </a:p>
          <a:p>
            <a:pPr algn="l">
              <a:buNone/>
            </a:pPr>
            <a:r>
              <a:rPr sz="900" b="0" i="0">
                <a:solidFill>
                  <a:srgbClr val="24292F"/>
                </a:solidFill>
                <a:latin typeface="Courier New"/>
                <a:ea typeface="Courier New"/>
                <a:cs typeface="Courier New"/>
              </a:rPr>
              <a:t>    ChangedType2</a:t>
            </a:r>
          </a:p>
        </p:txBody>
      </p:sp>
      <p:graphicFrame>
        <p:nvGraphicFramePr>
          <p:cNvPr id="145" name="Table 144"/>
          <p:cNvGraphicFramePr>
            <a:graphicFrameLocks noGrp="1"/>
          </p:cNvGraphicFramePr>
          <p:nvPr/>
        </p:nvGraphicFramePr>
        <p:xfrm>
          <a:off x="6217920" y="4663440"/>
          <a:ext cx="5623560" cy="914400"/>
        </p:xfrm>
        <a:graphic>
          <a:graphicData uri="http://schemas.openxmlformats.org/drawingml/2006/table">
            <a:tbl>
              <a:tblPr firstRow="1">
                <a:tableStyleId>{5940675A-B579-460E-94D1-54222C63F5DA}</a:tableStyleId>
              </a:tblPr>
              <a:tblGrid>
                <a:gridCol w="3374136"/>
                <a:gridCol w="1124712"/>
                <a:gridCol w="1124712"/>
              </a:tblGrid>
              <a:tr h="304800">
                <a:tc>
                  <a:txBody>
                    <a:bodyPr/>
                    <a:lstStyle/>
                    <a:p>
                      <a:pPr algn="l">
                        <a:buNone/>
                      </a:pPr>
                      <a:r>
                        <a:rPr sz="1200" b="1" i="0">
                          <a:solidFill>
                            <a:srgbClr val="FFFFFF"/>
                          </a:solidFill>
                          <a:latin typeface="Times New Roman"/>
                          <a:ea typeface="Times New Roman"/>
                          <a:cs typeface="Times New Roman"/>
                        </a:rPr>
                        <a:t>Bước đổi 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Trước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Sau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04800">
                <a:tc>
                  <a:txBody>
                    <a:bodyPr/>
                    <a:lstStyle/>
                    <a:p>
                      <a:pPr algn="l">
                        <a:buNone/>
                      </a:pPr>
                      <a:r>
                        <a:rPr sz="1200" b="0" i="0">
                          <a:solidFill>
                            <a:srgbClr val="222222"/>
                          </a:solidFill>
                          <a:latin typeface="Times New Roman"/>
                          <a:ea typeface="Times New Roman"/>
                          <a:cs typeface="Times New Roman"/>
                        </a:rPr>
                        <a:t>fact_sales_line · Removed Duplicates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63.004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4800">
                <a:tc>
                  <a:txBody>
                    <a:bodyPr/>
                    <a:lstStyle/>
                    <a:p>
                      <a:pPr algn="l">
                        <a:buNone/>
                      </a:pPr>
                      <a:r>
                        <a:rPr sz="1200" b="0" i="0">
                          <a:solidFill>
                            <a:srgbClr val="222222"/>
                          </a:solidFill>
                          <a:latin typeface="Times New Roman"/>
                          <a:ea typeface="Times New Roman"/>
                          <a:cs typeface="Times New Roman"/>
                        </a:rPr>
                        <a:t>fact_return · Merged + Expanded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6" name="TextBox 145"/>
          <p:cNvSpPr txBox="1"/>
          <p:nvPr/>
        </p:nvSpPr>
        <p:spPr>
          <a:xfrm>
            <a:off x="6217920" y="5623560"/>
            <a:ext cx="5623560" cy="365760"/>
          </a:xfrm>
          <a:prstGeom prst="rect">
            <a:avLst/>
          </a:prstGeom>
          <a:noFill/>
        </p:spPr>
        <p:txBody>
          <a:bodyPr wrap="square" lIns="45720" tIns="27432" rIns="45720" bIns="27432" anchor="t"/>
          <a:lstStyle/>
          <a:p>
            <a:pPr algn="l">
              <a:buNone/>
            </a:pPr>
            <a:r>
              <a:rPr sz="1100" b="0" i="1">
                <a:solidFill>
                  <a:srgbClr val="595959"/>
                </a:solidFill>
                <a:latin typeface="Times New Roman"/>
                <a:ea typeface="Times New Roman"/>
                <a:cs typeface="Times New Roman"/>
              </a:rPr>
              <a:t>{ … n cột … } = khối đặt kiểu, xem đủ trong excel_build/m/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 · fact_finance: gắn store_key theo mã và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Tạo bằng </a:t>
            </a:r>
            <a:r>
              <a:rPr sz="1700" b="1" i="0">
                <a:solidFill>
                  <a:srgbClr val="123A7A"/>
                </a:solidFill>
                <a:latin typeface="Times New Roman"/>
                <a:ea typeface="Times New Roman"/>
                <a:cs typeface="Times New Roman"/>
              </a:rPr>
              <a:t>Reference</a:t>
            </a:r>
            <a:r>
              <a:rPr sz="1700" b="0" i="0">
                <a:solidFill>
                  <a:srgbClr val="222222"/>
                </a:solidFill>
                <a:latin typeface="Times New Roman"/>
                <a:ea typeface="Times New Roman"/>
                <a:cs typeface="Times New Roman"/>
              </a:rPr>
              <a:t> từ finance_raw; số dòng phải giữ nguyên </a:t>
            </a:r>
            <a:r>
              <a:rPr sz="1700" b="1" i="0">
                <a:solidFill>
                  <a:srgbClr val="123A7A"/>
                </a:solidFill>
                <a:latin typeface="Times New Roman"/>
                <a:ea typeface="Times New Roman"/>
                <a:cs typeface="Times New Roman"/>
              </a:rPr>
              <a:t>19.400</a:t>
            </a:r>
          </a:p>
        </p:txBody>
      </p:sp>
      <p:sp>
        <p:nvSpPr>
          <p:cNvPr id="143" name="Rounded Rectangle 142"/>
          <p:cNvSpPr/>
          <p:nvPr/>
        </p:nvSpPr>
        <p:spPr>
          <a:xfrm>
            <a:off x="365760" y="1371600"/>
            <a:ext cx="6949440" cy="342900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50" b="0" i="0">
                <a:solidFill>
                  <a:srgbClr val="24292F"/>
                </a:solidFill>
                <a:latin typeface="Courier New"/>
                <a:ea typeface="Courier New"/>
                <a:cs typeface="Courier New"/>
              </a:rPr>
              <a:t>let</a:t>
            </a:r>
          </a:p>
          <a:p>
            <a:pPr algn="l">
              <a:buNone/>
            </a:pPr>
            <a:r>
              <a:rPr sz="1050" b="0" i="0">
                <a:solidFill>
                  <a:srgbClr val="24292F"/>
                </a:solidFill>
                <a:latin typeface="Courier New"/>
                <a:ea typeface="Courier New"/>
                <a:cs typeface="Courier New"/>
              </a:rPr>
              <a:t>    Source = finance_raw,</a:t>
            </a:r>
          </a:p>
          <a:p>
            <a:pPr algn="l">
              <a:buNone/>
            </a:pPr>
            <a:r>
              <a:rPr sz="1050" b="0" i="0">
                <a:solidFill>
                  <a:srgbClr val="24292F"/>
                </a:solidFill>
                <a:latin typeface="Courier New"/>
                <a:ea typeface="Courier New"/>
                <a:cs typeface="Courier New"/>
              </a:rPr>
              <a:t>    MergedMap = Table.NestedJoin(Source, {</a:t>
            </a:r>
            <a:r>
              <a:rPr sz="1050" b="0" i="0">
                <a:solidFill>
                  <a:srgbClr val="A31515"/>
                </a:solidFill>
                <a:latin typeface="Courier New"/>
                <a:ea typeface="Courier New"/>
                <a:cs typeface="Courier New"/>
              </a:rPr>
              <a:t>"fin_store_code"</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map_store_finance, {</a:t>
            </a:r>
            <a:r>
              <a:rPr sz="1050" b="0" i="0">
                <a:solidFill>
                  <a:srgbClr val="A31515"/>
                </a:solidFill>
                <a:latin typeface="Courier New"/>
                <a:ea typeface="Courier New"/>
                <a:cs typeface="Courier New"/>
              </a:rPr>
              <a:t>"fin_store_code"</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"map"</a:t>
            </a:r>
            <a:r>
              <a:rPr sz="1050" b="0" i="0">
                <a:solidFill>
                  <a:srgbClr val="24292F"/>
                </a:solidFill>
                <a:latin typeface="Courier New"/>
                <a:ea typeface="Courier New"/>
                <a:cs typeface="Courier New"/>
              </a:rPr>
              <a:t>, JoinKind.LeftOuter),</a:t>
            </a:r>
          </a:p>
          <a:p>
            <a:pPr algn="l">
              <a:buNone/>
            </a:pPr>
            <a:r>
              <a:rPr sz="1050" b="0" i="0">
                <a:solidFill>
                  <a:srgbClr val="24292F"/>
                </a:solidFill>
                <a:latin typeface="Courier New"/>
                <a:ea typeface="Courier New"/>
                <a:cs typeface="Courier New"/>
              </a:rPr>
              <a:t>    ExpandedMap = Table.ExpandTableColumn(MergedMap, </a:t>
            </a:r>
            <a:r>
              <a:rPr sz="1050" b="0" i="0">
                <a:solidFill>
                  <a:srgbClr val="A31515"/>
                </a:solidFill>
                <a:latin typeface="Courier New"/>
                <a:ea typeface="Courier New"/>
                <a:cs typeface="Courier New"/>
              </a:rPr>
              <a:t>"map"</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"store_key"</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"valid_from"</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1">
                <a:solidFill>
                  <a:srgbClr val="6A737D"/>
                </a:solidFill>
                <a:latin typeface="Courier New"/>
                <a:ea typeface="Courier New"/>
                <a:cs typeface="Courier New"/>
              </a:rPr>
              <a:t>// giữ mã có hiệu lực tại ngày hạch toán (S38: GBR-03 -&gt; GBR-03N từ 01/07/2019)</a:t>
            </a:r>
          </a:p>
          <a:p>
            <a:pPr algn="l">
              <a:buNone/>
            </a:pPr>
            <a:r>
              <a:rPr sz="1050" b="0" i="0">
                <a:solidFill>
                  <a:srgbClr val="24292F"/>
                </a:solidFill>
                <a:latin typeface="Courier New"/>
                <a:ea typeface="Courier New"/>
                <a:cs typeface="Courier New"/>
              </a:rPr>
              <a:t>    FilteredValid = Table.SelectRows(ExpandedMap,</a:t>
            </a:r>
          </a:p>
          <a:p>
            <a:pPr algn="l">
              <a:buNone/>
            </a:pPr>
            <a:r>
              <a:rPr sz="1050" b="0" i="0">
                <a:solidFill>
                  <a:srgbClr val="24292F"/>
                </a:solidFill>
                <a:latin typeface="Courier New"/>
                <a:ea typeface="Courier New"/>
                <a:cs typeface="Courier New"/>
              </a:rPr>
              <a:t>        each </a:t>
            </a:r>
            <a:r>
              <a:rPr sz="1050" b="0" i="0">
                <a:solidFill>
                  <a:srgbClr val="0F6E56"/>
                </a:solidFill>
                <a:latin typeface="Courier New"/>
                <a:ea typeface="Courier New"/>
                <a:cs typeface="Courier New"/>
              </a:rPr>
              <a:t>[posting_date]</a:t>
            </a:r>
            <a:r>
              <a:rPr sz="1050" b="0" i="0">
                <a:solidFill>
                  <a:srgbClr val="24292F"/>
                </a:solidFill>
                <a:latin typeface="Courier New"/>
                <a:ea typeface="Courier New"/>
                <a:cs typeface="Courier New"/>
              </a:rPr>
              <a:t> &gt;= </a:t>
            </a:r>
            <a:r>
              <a:rPr sz="1050" b="0" i="0">
                <a:solidFill>
                  <a:srgbClr val="0F6E56"/>
                </a:solidFill>
                <a:latin typeface="Courier New"/>
                <a:ea typeface="Courier New"/>
                <a:cs typeface="Courier New"/>
              </a:rPr>
              <a:t>[valid_from]</a:t>
            </a:r>
            <a:r>
              <a:rPr sz="1050" b="0" i="0">
                <a:solidFill>
                  <a:srgbClr val="24292F"/>
                </a:solidFill>
                <a:latin typeface="Courier New"/>
                <a:ea typeface="Courier New"/>
                <a:cs typeface="Courier New"/>
              </a:rPr>
              <a:t> and </a:t>
            </a:r>
            <a:r>
              <a:rPr sz="1050" b="0" i="0">
                <a:solidFill>
                  <a:srgbClr val="0F6E56"/>
                </a:solidFill>
                <a:latin typeface="Courier New"/>
                <a:ea typeface="Courier New"/>
                <a:cs typeface="Courier New"/>
              </a:rPr>
              <a:t>[posting_date]</a:t>
            </a:r>
            <a:r>
              <a:rPr sz="1050" b="0" i="0">
                <a:solidFill>
                  <a:srgbClr val="24292F"/>
                </a:solidFill>
                <a:latin typeface="Courier New"/>
                <a:ea typeface="Courier New"/>
                <a:cs typeface="Courier New"/>
              </a:rPr>
              <a:t> &lt;= </a:t>
            </a:r>
            <a:r>
              <a:rPr sz="1050" b="0" i="0">
                <a:solidFill>
                  <a:srgbClr val="0F6E56"/>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RemovedColumns = Table.RemoveColumns(FilteredValid, {</a:t>
            </a:r>
            <a:r>
              <a:rPr sz="1050" b="0" i="0">
                <a:solidFill>
                  <a:srgbClr val="A31515"/>
                </a:solidFill>
                <a:latin typeface="Courier New"/>
                <a:ea typeface="Courier New"/>
                <a:cs typeface="Courier New"/>
              </a:rPr>
              <a:t>"valid_from"</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1">
                <a:solidFill>
                  <a:srgbClr val="6A737D"/>
                </a:solidFill>
                <a:latin typeface="Courier New"/>
                <a:ea typeface="Courier New"/>
                <a:cs typeface="Courier New"/>
              </a:rPr>
              <a:t>// HQ-ADJ: store_key = null -&gt; không thuộc cửa hàng nào</a:t>
            </a:r>
          </a:p>
          <a:p>
            <a:pPr algn="l">
              <a:buNone/>
            </a:pPr>
            <a:r>
              <a:rPr sz="1050" b="0" i="0">
                <a:solidFill>
                  <a:srgbClr val="24292F"/>
                </a:solidFill>
                <a:latin typeface="Courier New"/>
                <a:ea typeface="Courier New"/>
                <a:cs typeface="Courier New"/>
              </a:rPr>
              <a:t>    ChangedType = Table.TransformColumnTypes(RemovedColumns,</a:t>
            </a:r>
          </a:p>
          <a:p>
            <a:pPr algn="l">
              <a:buNone/>
            </a:pP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"store_key"</a:t>
            </a:r>
            <a:r>
              <a:rPr sz="1050" b="0" i="0">
                <a:solidFill>
                  <a:srgbClr val="24292F"/>
                </a:solidFill>
                <a:latin typeface="Courier New"/>
                <a:ea typeface="Courier New"/>
                <a:cs typeface="Courier New"/>
              </a:rPr>
              <a:t>, Int64.Type}})</a:t>
            </a:r>
          </a:p>
          <a:p>
            <a:pPr algn="l">
              <a:buNone/>
            </a:pPr>
            <a:r>
              <a:rPr sz="1050" b="0" i="0">
                <a:solidFill>
                  <a:srgbClr val="24292F"/>
                </a:solidFill>
                <a:latin typeface="Courier New"/>
                <a:ea typeface="Courier New"/>
                <a:cs typeface="Courier New"/>
              </a:rPr>
              <a:t>in</a:t>
            </a:r>
          </a:p>
          <a:p>
            <a:pPr algn="l">
              <a:buNone/>
            </a:pPr>
            <a:r>
              <a:rPr sz="1050" b="0" i="0">
                <a:solidFill>
                  <a:srgbClr val="24292F"/>
                </a:solidFill>
                <a:latin typeface="Courier New"/>
                <a:ea typeface="Courier New"/>
                <a:cs typeface="Courier New"/>
              </a:rPr>
              <a:t>    ChangedType</a:t>
            </a:r>
          </a:p>
        </p:txBody>
      </p:sp>
      <p:graphicFrame>
        <p:nvGraphicFramePr>
          <p:cNvPr id="144" name="Table 143"/>
          <p:cNvGraphicFramePr>
            <a:graphicFrameLocks noGrp="1"/>
          </p:cNvGraphicFramePr>
          <p:nvPr/>
        </p:nvGraphicFramePr>
        <p:xfrm>
          <a:off x="7498079" y="1371600"/>
          <a:ext cx="4343398" cy="3428999"/>
        </p:xfrm>
        <a:graphic>
          <a:graphicData uri="http://schemas.openxmlformats.org/drawingml/2006/table">
            <a:tbl>
              <a:tblPr firstRow="1">
                <a:tableStyleId>{5940675A-B579-460E-94D1-54222C63F5DA}</a:tableStyleId>
              </a:tblPr>
              <a:tblGrid>
                <a:gridCol w="462063"/>
                <a:gridCol w="2679970"/>
                <a:gridCol w="1201365"/>
              </a:tblGrid>
              <a:tr h="489857">
                <a:tc>
                  <a:txBody>
                    <a:bodyPr/>
                    <a:lstStyle/>
                    <a:p>
                      <a:pPr algn="l">
                        <a:buNone/>
                      </a:pPr>
                      <a:r>
                        <a:rPr sz="1200" b="1" i="0">
                          <a:solidFill>
                            <a:srgbClr val="FFFFFF"/>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Applied Step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89857">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Source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Merged Queries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89857">
                <a:tc>
                  <a:txBody>
                    <a:bodyPr/>
                    <a:lstStyle/>
                    <a:p>
                      <a:pPr algn="ctr">
                        <a:buNone/>
                      </a:pPr>
                      <a:r>
                        <a:rPr sz="1200" b="0" i="0">
                          <a:solidFill>
                            <a:srgbClr val="222222"/>
                          </a:solidFill>
                          <a:latin typeface="Times New Roman"/>
                          <a:ea typeface="Times New Roman"/>
                          <a:cs typeface="Times New Roman"/>
                        </a:rPr>
                        <a:t>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Expanded map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Filtered Valid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89857">
                <a:tc>
                  <a:txBody>
                    <a:bodyPr/>
                    <a:lstStyle/>
                    <a:p>
                      <a:pPr algn="ctr">
                        <a:buNone/>
                      </a:pPr>
                      <a:r>
                        <a:rPr sz="1200" b="0" i="0">
                          <a:solidFill>
                            <a:srgbClr val="222222"/>
                          </a:solidFill>
                          <a:latin typeface="Times New Roman"/>
                          <a:ea typeface="Times New Roman"/>
                          <a:cs typeface="Times New Roman"/>
                        </a:rPr>
                        <a:t>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Removed Columns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Changed Type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5" name="Rounded Rectangle 144"/>
          <p:cNvSpPr/>
          <p:nvPr/>
        </p:nvSpPr>
        <p:spPr>
          <a:xfrm>
            <a:off x="365760" y="4937760"/>
            <a:ext cx="3657600" cy="105156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finance_raw · map_store_finance</a:t>
            </a:r>
          </a:p>
          <a:p>
            <a:pPr algn="l">
              <a:buNone/>
            </a:pPr>
            <a:r>
              <a:rPr sz="1200" b="0" i="0">
                <a:solidFill>
                  <a:srgbClr val="222222"/>
                </a:solidFill>
                <a:latin typeface="Times New Roman"/>
                <a:ea typeface="Times New Roman"/>
                <a:cs typeface="Times New Roman"/>
              </a:rPr>
              <a:t>Hai query trung gian: Source → Navigation → Changed Type; nạp Only Create Connection</a:t>
            </a:r>
          </a:p>
        </p:txBody>
      </p:sp>
      <p:sp>
        <p:nvSpPr>
          <p:cNvPr id="146" name="Rounded Rectangle 145"/>
          <p:cNvSpPr/>
          <p:nvPr/>
        </p:nvSpPr>
        <p:spPr>
          <a:xfrm>
            <a:off x="4206240" y="4937760"/>
            <a:ext cx="3657600" cy="105156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Filtered Valid</a:t>
            </a:r>
          </a:p>
          <a:p>
            <a:pPr algn="l">
              <a:buNone/>
            </a:pPr>
            <a:r>
              <a:rPr sz="1200" b="0" i="0">
                <a:solidFill>
                  <a:srgbClr val="222222"/>
                </a:solidFill>
                <a:latin typeface="Times New Roman"/>
                <a:ea typeface="Times New Roman"/>
                <a:cs typeface="Times New Roman"/>
              </a:rPr>
              <a:t>posting_date nằm trong [valid_from, valid_to]: chốt an toàn khi một cửa hàng đổi mã Kế toán</a:t>
            </a:r>
          </a:p>
        </p:txBody>
      </p:sp>
      <p:sp>
        <p:nvSpPr>
          <p:cNvPr id="147" name="Rounded Rectangle 146"/>
          <p:cNvSpPr/>
          <p:nvPr/>
        </p:nvSpPr>
        <p:spPr>
          <a:xfrm>
            <a:off x="8046720" y="4937760"/>
            <a:ext cx="3657600" cy="105156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HQ-ADJ</a:t>
            </a:r>
          </a:p>
          <a:p>
            <a:pPr algn="l">
              <a:buNone/>
            </a:pPr>
            <a:r>
              <a:rPr sz="1200" b="0" i="0">
                <a:solidFill>
                  <a:srgbClr val="222222"/>
                </a:solidFill>
                <a:latin typeface="Times New Roman"/>
                <a:ea typeface="Times New Roman"/>
                <a:cs typeface="Times New Roman"/>
              </a:rPr>
              <a:t>3 dòng giữ store_key = null: không gán cho cửa hàng nào, giải thích ở tổng chuỗi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Nạp vào Data Model và cấu hình trong Power Pivot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Close &amp; Load To → </a:t>
            </a:r>
            <a:r>
              <a:rPr sz="1700" b="1" i="0">
                <a:solidFill>
                  <a:srgbClr val="2E5B31"/>
                </a:solidFill>
                <a:latin typeface="Times New Roman"/>
                <a:ea typeface="Times New Roman"/>
                <a:cs typeface="Times New Roman"/>
              </a:rPr>
              <a:t>Only Create Connection + Add to Data Model</a:t>
            </a:r>
            <a:r>
              <a:rPr sz="1700" b="0" i="0">
                <a:solidFill>
                  <a:srgbClr val="222222"/>
                </a:solidFill>
                <a:latin typeface="Times New Roman"/>
                <a:ea typeface="Times New Roman"/>
                <a:cs typeface="Times New Roman"/>
              </a:rPr>
              <a:t>; không đổ bảng 63 nghìn dòng ra sheet</a:t>
            </a:r>
          </a:p>
        </p:txBody>
      </p:sp>
      <p:sp>
        <p:nvSpPr>
          <p:cNvPr id="143" name="Oval 142"/>
          <p:cNvSpPr/>
          <p:nvPr/>
        </p:nvSpPr>
        <p:spPr>
          <a:xfrm>
            <a:off x="365760" y="1371600"/>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1</a:t>
            </a:r>
          </a:p>
        </p:txBody>
      </p:sp>
      <p:sp>
        <p:nvSpPr>
          <p:cNvPr id="144" name="TextBox 143"/>
          <p:cNvSpPr txBox="1"/>
          <p:nvPr/>
        </p:nvSpPr>
        <p:spPr>
          <a:xfrm>
            <a:off x="1005840" y="1316736"/>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Close &amp; Load To…</a:t>
            </a:r>
          </a:p>
          <a:p>
            <a:pPr algn="l">
              <a:buNone/>
            </a:pPr>
            <a:r>
              <a:rPr sz="1300" b="0" i="0">
                <a:solidFill>
                  <a:srgbClr val="222222"/>
                </a:solidFill>
                <a:latin typeface="Times New Roman"/>
                <a:ea typeface="Times New Roman"/>
                <a:cs typeface="Times New Roman"/>
              </a:rPr>
              <a:t>Dim, fact, _Measures: Only Create Connection + tick Add this data to the Data Model</a:t>
            </a:r>
          </a:p>
        </p:txBody>
      </p:sp>
      <p:sp>
        <p:nvSpPr>
          <p:cNvPr id="145" name="Oval 144"/>
          <p:cNvSpPr/>
          <p:nvPr/>
        </p:nvSpPr>
        <p:spPr>
          <a:xfrm>
            <a:off x="365760" y="2304288"/>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2</a:t>
            </a:r>
          </a:p>
        </p:txBody>
      </p:sp>
      <p:sp>
        <p:nvSpPr>
          <p:cNvPr id="146" name="TextBox 145"/>
          <p:cNvSpPr txBox="1"/>
          <p:nvPr/>
        </p:nvSpPr>
        <p:spPr>
          <a:xfrm>
            <a:off x="1005840" y="2249424"/>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Query trung gian</a:t>
            </a:r>
          </a:p>
          <a:p>
            <a:pPr algn="l">
              <a:buNone/>
            </a:pPr>
            <a:r>
              <a:rPr sz="1300" b="0" i="0">
                <a:solidFill>
                  <a:srgbClr val="222222"/>
                </a:solidFill>
                <a:latin typeface="Times New Roman"/>
                <a:ea typeface="Times New Roman"/>
                <a:cs typeface="Times New Roman"/>
              </a:rPr>
              <a:t>finance_raw, map_store_finance: chỉ Only Create Connection</a:t>
            </a:r>
          </a:p>
        </p:txBody>
      </p:sp>
      <p:sp>
        <p:nvSpPr>
          <p:cNvPr id="147" name="Oval 146"/>
          <p:cNvSpPr/>
          <p:nvPr/>
        </p:nvSpPr>
        <p:spPr>
          <a:xfrm>
            <a:off x="365760" y="3236976"/>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3</a:t>
            </a:r>
          </a:p>
        </p:txBody>
      </p:sp>
      <p:sp>
        <p:nvSpPr>
          <p:cNvPr id="148" name="TextBox 147"/>
          <p:cNvSpPr txBox="1"/>
          <p:nvPr/>
        </p:nvSpPr>
        <p:spPr>
          <a:xfrm>
            <a:off x="1005840" y="3182112"/>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Power Pivot → Manage</a:t>
            </a:r>
          </a:p>
          <a:p>
            <a:pPr algn="l">
              <a:buNone/>
            </a:pPr>
            <a:r>
              <a:rPr sz="1300" b="0" i="0">
                <a:solidFill>
                  <a:srgbClr val="222222"/>
                </a:solidFill>
                <a:latin typeface="Times New Roman"/>
                <a:ea typeface="Times New Roman"/>
                <a:cs typeface="Times New Roman"/>
              </a:rPr>
              <a:t>Diagram View: kéo khoá dim → fact; delivery_date kéo lần 2 → inactive</a:t>
            </a:r>
          </a:p>
        </p:txBody>
      </p:sp>
      <p:sp>
        <p:nvSpPr>
          <p:cNvPr id="149" name="Oval 148"/>
          <p:cNvSpPr/>
          <p:nvPr/>
        </p:nvSpPr>
        <p:spPr>
          <a:xfrm>
            <a:off x="365760" y="4169664"/>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4</a:t>
            </a:r>
          </a:p>
        </p:txBody>
      </p:sp>
      <p:sp>
        <p:nvSpPr>
          <p:cNvPr id="150" name="TextBox 149"/>
          <p:cNvSpPr txBox="1"/>
          <p:nvPr/>
        </p:nvSpPr>
        <p:spPr>
          <a:xfrm>
            <a:off x="1005840" y="4114800"/>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Mark as Date Table</a:t>
            </a:r>
          </a:p>
          <a:p>
            <a:pPr algn="l">
              <a:buNone/>
            </a:pPr>
            <a:r>
              <a:rPr sz="1300" b="0" i="0">
                <a:solidFill>
                  <a:srgbClr val="222222"/>
                </a:solidFill>
                <a:latin typeface="Times New Roman"/>
                <a:ea typeface="Times New Roman"/>
                <a:cs typeface="Times New Roman"/>
              </a:rPr>
              <a:t>dim_date → cột date; Sort by Column: month_label theo month_id</a:t>
            </a:r>
          </a:p>
        </p:txBody>
      </p:sp>
      <p:sp>
        <p:nvSpPr>
          <p:cNvPr id="151" name="Oval 150"/>
          <p:cNvSpPr/>
          <p:nvPr/>
        </p:nvSpPr>
        <p:spPr>
          <a:xfrm>
            <a:off x="365760" y="5102352"/>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5</a:t>
            </a:r>
          </a:p>
        </p:txBody>
      </p:sp>
      <p:sp>
        <p:nvSpPr>
          <p:cNvPr id="152" name="TextBox 151"/>
          <p:cNvSpPr txBox="1"/>
          <p:nvPr/>
        </p:nvSpPr>
        <p:spPr>
          <a:xfrm>
            <a:off x="1005840" y="5047488"/>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Hide from Client Tools</a:t>
            </a:r>
          </a:p>
          <a:p>
            <a:pPr algn="l">
              <a:buNone/>
            </a:pPr>
            <a:r>
              <a:rPr sz="1300" b="0" i="0">
                <a:solidFill>
                  <a:srgbClr val="222222"/>
                </a:solidFill>
                <a:latin typeface="Times New Roman"/>
                <a:ea typeface="Times New Roman"/>
                <a:cs typeface="Times New Roman"/>
              </a:rPr>
              <a:t>Ẩn khoá ở bảng dữ kiện và cột ghi_chu của _Measures</a:t>
            </a:r>
          </a:p>
        </p:txBody>
      </p:sp>
      <p:graphicFrame>
        <p:nvGraphicFramePr>
          <p:cNvPr id="153" name="Table 152"/>
          <p:cNvGraphicFramePr>
            <a:graphicFrameLocks noGrp="1"/>
          </p:cNvGraphicFramePr>
          <p:nvPr/>
        </p:nvGraphicFramePr>
        <p:xfrm>
          <a:off x="6675120" y="1371600"/>
          <a:ext cx="5166360" cy="3291840"/>
        </p:xfrm>
        <a:graphic>
          <a:graphicData uri="http://schemas.openxmlformats.org/drawingml/2006/table">
            <a:tbl>
              <a:tblPr firstRow="1">
                <a:tableStyleId>{5940675A-B579-460E-94D1-54222C63F5DA}</a:tableStyleId>
              </a:tblPr>
              <a:tblGrid>
                <a:gridCol w="3566160"/>
                <a:gridCol w="1600200"/>
              </a:tblGrid>
              <a:tr h="548640">
                <a:tc>
                  <a:txBody>
                    <a:bodyPr/>
                    <a:lstStyle/>
                    <a:p>
                      <a:pPr algn="l">
                        <a:buNone/>
                      </a:pPr>
                      <a:r>
                        <a:rPr sz="1200" b="1" i="0">
                          <a:solidFill>
                            <a:srgbClr val="FFFFFF"/>
                          </a:solidFill>
                          <a:latin typeface="Times New Roman"/>
                          <a:ea typeface="Times New Roman"/>
                          <a:cs typeface="Times New Roman"/>
                        </a:rPr>
                        <a:t>Kiểm trong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Phải 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48640">
                <a:tc>
                  <a:txBody>
                    <a:bodyPr/>
                    <a:lstStyle/>
                    <a:p>
                      <a:pPr algn="l">
                        <a:buNone/>
                      </a:pPr>
                      <a:r>
                        <a:rPr sz="1200" b="0" i="0">
                          <a:solidFill>
                            <a:srgbClr val="222222"/>
                          </a:solidFill>
                          <a:latin typeface="Times New Roman"/>
                          <a:ea typeface="Times New Roman"/>
                          <a:cs typeface="Times New Roman"/>
                        </a:rPr>
                        <a:t>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fact_finance (3 dòng HQ-ADJ trống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PivotTable Data Model: đơn COMPLETED 2020 (Distinct Count)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PivotTable Data Model: Σ fact_finance[net_revenue]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54" name="Rounded Rectangle 153"/>
          <p:cNvSpPr/>
          <p:nvPr/>
        </p:nvSpPr>
        <p:spPr>
          <a:xfrm>
            <a:off x="6675120" y="4800600"/>
            <a:ext cx="5166360" cy="1188720"/>
          </a:xfrm>
          <a:prstGeom prst="roundRect">
            <a:avLst>
              <a:gd name="adj" fmla="val 6000"/>
            </a:avLst>
          </a:prstGeom>
          <a:solidFill>
            <a:srgbClr val="DEEAF6"/>
          </a:solidFill>
          <a:ln w="15875">
            <a:solidFill>
              <a:srgbClr val="123A7A"/>
            </a:solidFill>
          </a:ln>
          <a:effectLst/>
        </p:spPr>
        <p:txBody>
          <a:bodyPr rtlCol="0" anchor="ctr" wrap="square" lIns="109728" tIns="36576" rIns="109728" bIns="36576"/>
          <a:lstStyle/>
          <a:p>
            <a:pPr algn="l">
              <a:buNone/>
            </a:pPr>
            <a:r>
              <a:rPr sz="1300" b="1" i="0">
                <a:solidFill>
                  <a:srgbClr val="123A7A"/>
                </a:solidFill>
                <a:latin typeface="Times New Roman"/>
                <a:ea typeface="Times New Roman"/>
                <a:cs typeface="Times New Roman"/>
              </a:rPr>
              <a:t>Excel không có cửa sổ chạy truy vấn DAX: </a:t>
            </a:r>
            <a:r>
              <a:rPr sz="1300" b="0" i="0">
                <a:solidFill>
                  <a:srgbClr val="222222"/>
                </a:solidFill>
                <a:latin typeface="Times New Roman"/>
                <a:ea typeface="Times New Roman"/>
                <a:cs typeface="Times New Roman"/>
              </a:rPr>
              <a:t>kiểm mô hình bằng PivotTable From Data Model hoặc một ô CUBEVALUE trước khi viết số đo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Kế toán,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Kế toán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Kế toán: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Kế toán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Kế toán trễ hơn ở các tháng có nhiều đơn online giao sang tháng sau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Kế toán tính theo ngày giao: đơn đặt cuối tháng, giao đầu tháng sau sẽ "nhảy" sang tháng khác.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mãi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mãi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Kế toán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số đo: 21 số đo bắt buộc, số đo sau dùng lại số đo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Gross Sales</a:t>
            </a:r>
          </a:p>
        </p:txBody>
      </p:sp>
      <p:sp>
        <p:nvSpPr>
          <p:cNvPr id="146" name="Rounded Rectangle 145"/>
          <p:cNvSpPr/>
          <p:nvPr/>
        </p:nvSpPr>
        <p:spPr>
          <a:xfrm>
            <a:off x="502920"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Discounts</a:t>
            </a:r>
          </a:p>
        </p:txBody>
      </p:sp>
      <p:sp>
        <p:nvSpPr>
          <p:cNvPr id="147" name="Rounded Rectangle 146"/>
          <p:cNvSpPr/>
          <p:nvPr/>
        </p:nvSpPr>
        <p:spPr>
          <a:xfrm>
            <a:off x="502920"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Sales</a:t>
            </a:r>
          </a:p>
        </p:txBody>
      </p:sp>
      <p:sp>
        <p:nvSpPr>
          <p:cNvPr id="148" name="Rounded Rectangle 147"/>
          <p:cNvSpPr/>
          <p:nvPr/>
        </p:nvSpPr>
        <p:spPr>
          <a:xfrm>
            <a:off x="502920"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Returns</a:t>
            </a:r>
          </a:p>
        </p:txBody>
      </p:sp>
      <p:sp>
        <p:nvSpPr>
          <p:cNvPr id="149" name="Rounded Rectangle 148"/>
          <p:cNvSpPr/>
          <p:nvPr/>
        </p:nvSpPr>
        <p:spPr>
          <a:xfrm>
            <a:off x="502920"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Orders</a:t>
            </a:r>
          </a:p>
        </p:txBody>
      </p:sp>
      <p:sp>
        <p:nvSpPr>
          <p:cNvPr id="154" name="Rounded Rectangle 153"/>
          <p:cNvSpPr/>
          <p:nvPr/>
        </p:nvSpPr>
        <p:spPr>
          <a:xfrm>
            <a:off x="2816351"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Units</a:t>
            </a:r>
          </a:p>
        </p:txBody>
      </p:sp>
      <p:sp>
        <p:nvSpPr>
          <p:cNvPr id="155" name="Rounded Rectangle 154"/>
          <p:cNvSpPr/>
          <p:nvPr/>
        </p:nvSpPr>
        <p:spPr>
          <a:xfrm>
            <a:off x="2816351"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AOV</a:t>
            </a:r>
          </a:p>
        </p:txBody>
      </p:sp>
      <p:sp>
        <p:nvSpPr>
          <p:cNvPr id="156" name="Rounded Rectangle 155"/>
          <p:cNvSpPr/>
          <p:nvPr/>
        </p:nvSpPr>
        <p:spPr>
          <a:xfrm>
            <a:off x="2816351"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ASP</a:t>
            </a:r>
          </a:p>
        </p:txBody>
      </p:sp>
      <p:sp>
        <p:nvSpPr>
          <p:cNvPr id="157" name="Rounded Rectangle 156"/>
          <p:cNvSpPr/>
          <p:nvPr/>
        </p:nvSpPr>
        <p:spPr>
          <a:xfrm>
            <a:off x="2816351"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Kế toán &amp; Δ</a:t>
            </a:r>
          </a:p>
        </p:txBody>
      </p:sp>
      <p:sp>
        <p:nvSpPr>
          <p:cNvPr id="161" name="Rounded Rectangle 160"/>
          <p:cNvSpPr/>
          <p:nvPr/>
        </p:nvSpPr>
        <p:spPr>
          <a:xfrm>
            <a:off x="5129784"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Finance Net Revenue</a:t>
            </a:r>
          </a:p>
        </p:txBody>
      </p:sp>
      <p:sp>
        <p:nvSpPr>
          <p:cNvPr id="162" name="Rounded Rectangle 161"/>
          <p:cNvSpPr/>
          <p:nvPr/>
        </p:nvSpPr>
        <p:spPr>
          <a:xfrm>
            <a:off x="5129784"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a:t>
            </a:r>
          </a:p>
        </p:txBody>
      </p:sp>
      <p:sp>
        <p:nvSpPr>
          <p:cNvPr id="163" name="Rounded Rectangle 162"/>
          <p:cNvSpPr/>
          <p:nvPr/>
        </p:nvSpPr>
        <p:spPr>
          <a:xfrm>
            <a:off x="5129784"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 %</a:t>
            </a:r>
          </a:p>
        </p:txBody>
      </p:sp>
      <p:sp>
        <p:nvSpPr>
          <p:cNvPr id="164" name="Rounded Rectangle 163"/>
          <p:cNvSpPr/>
          <p:nvPr/>
        </p:nvSpPr>
        <p:spPr>
          <a:xfrm>
            <a:off x="5129784"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tuyệt đối</a:t>
            </a:r>
          </a:p>
        </p:txBody>
      </p:sp>
      <p:sp>
        <p:nvSpPr>
          <p:cNvPr id="165" name="Rounded Rectangle 164"/>
          <p:cNvSpPr/>
          <p:nvPr/>
        </p:nvSpPr>
        <p:spPr>
          <a:xfrm>
            <a:off x="5129784"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Vượt ngưỡng</a:t>
            </a:r>
          </a:p>
        </p:txBody>
      </p:sp>
      <p:sp>
        <p:nvSpPr>
          <p:cNvPr id="166" name="Rounded Rectangle 165"/>
          <p:cNvSpPr/>
          <p:nvPr/>
        </p:nvSpPr>
        <p:spPr>
          <a:xfrm>
            <a:off x="5129784" y="527608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Số cửa hàng vượt ngưỡng</a:t>
            </a:r>
          </a:p>
        </p:txBody>
      </p:sp>
      <p:sp>
        <p:nvSpPr>
          <p:cNvPr id="167" name="Right Arrow 166"/>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8" name="Rounded Rectangle 167"/>
          <p:cNvSpPr/>
          <p:nvPr/>
        </p:nvSpPr>
        <p:spPr>
          <a:xfrm>
            <a:off x="7306056"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9" name="Rounded Rectangle 168"/>
          <p:cNvSpPr/>
          <p:nvPr/>
        </p:nvSpPr>
        <p:spPr>
          <a:xfrm>
            <a:off x="7306056"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Quy đổi online</a:t>
            </a:r>
          </a:p>
        </p:txBody>
      </p:sp>
      <p:sp>
        <p:nvSpPr>
          <p:cNvPr id="170" name="Rounded Rectangle 169"/>
          <p:cNvSpPr/>
          <p:nvPr/>
        </p:nvSpPr>
        <p:spPr>
          <a:xfrm>
            <a:off x="7443216"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Net Sales (cơ sở Finance)</a:t>
            </a:r>
          </a:p>
        </p:txBody>
      </p:sp>
      <p:sp>
        <p:nvSpPr>
          <p:cNvPr id="171" name="Rounded Rectangle 170"/>
          <p:cNvSpPr/>
          <p:nvPr/>
        </p:nvSpPr>
        <p:spPr>
          <a:xfrm>
            <a:off x="7443216"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Δ sau quy đổi</a:t>
            </a:r>
          </a:p>
        </p:txBody>
      </p:sp>
      <p:sp>
        <p:nvSpPr>
          <p:cNvPr id="172" name="Right Arrow 171"/>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3" name="Rounded Rectangle 172"/>
          <p:cNvSpPr/>
          <p:nvPr/>
        </p:nvSpPr>
        <p:spPr>
          <a:xfrm>
            <a:off x="9619488"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74" name="Rounded Rectangle 173"/>
          <p:cNvSpPr/>
          <p:nvPr/>
        </p:nvSpPr>
        <p:spPr>
          <a:xfrm>
            <a:off x="9619488"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So sánh kỳ</a:t>
            </a:r>
          </a:p>
        </p:txBody>
      </p:sp>
      <p:sp>
        <p:nvSpPr>
          <p:cNvPr id="175" name="Rounded Rectangle 174"/>
          <p:cNvSpPr/>
          <p:nvPr/>
        </p:nvSpPr>
        <p:spPr>
          <a:xfrm>
            <a:off x="9756648"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LM</a:t>
            </a:r>
          </a:p>
        </p:txBody>
      </p:sp>
      <p:sp>
        <p:nvSpPr>
          <p:cNvPr id="176" name="Rounded Rectangle 175"/>
          <p:cNvSpPr/>
          <p:nvPr/>
        </p:nvSpPr>
        <p:spPr>
          <a:xfrm>
            <a:off x="9756648"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SPLY</a:t>
            </a:r>
          </a:p>
        </p:txBody>
      </p:sp>
      <p:sp>
        <p:nvSpPr>
          <p:cNvPr id="177" name="Rounded Rectangle 176"/>
          <p:cNvSpPr/>
          <p:nvPr/>
        </p:nvSpPr>
        <p:spPr>
          <a:xfrm>
            <a:off x="9756648"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YTD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Tạo số đo trong Power Pivot; % thay đổi và câu Điểm chính bằng công thức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DAX chỉ tính số; </a:t>
            </a:r>
            <a:r>
              <a:rPr sz="1700" b="1" i="0">
                <a:solidFill>
                  <a:srgbClr val="123A7A"/>
                </a:solidFill>
                <a:latin typeface="Times New Roman"/>
                <a:ea typeface="Times New Roman"/>
                <a:cs typeface="Times New Roman"/>
              </a:rPr>
              <a:t>chữ và % đặt ở ô Excel</a:t>
            </a:r>
            <a:r>
              <a:rPr sz="1700" b="0" i="0">
                <a:solidFill>
                  <a:srgbClr val="222222"/>
                </a:solidFill>
                <a:latin typeface="Times New Roman"/>
                <a:ea typeface="Times New Roman"/>
                <a:cs typeface="Times New Roman"/>
              </a:rPr>
              <a:t> trỏ vào các ô CUBEVALUE – dễ sửa, đúng sở trường Excel</a:t>
            </a:r>
          </a:p>
        </p:txBody>
      </p:sp>
      <p:sp>
        <p:nvSpPr>
          <p:cNvPr id="143" name="Rounded Rectangle 142"/>
          <p:cNvSpPr/>
          <p:nvPr/>
        </p:nvSpPr>
        <p:spPr>
          <a:xfrm>
            <a:off x="365760" y="1371600"/>
            <a:ext cx="5120640" cy="17830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512064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1 · Hộp thoại</a:t>
            </a:r>
          </a:p>
        </p:txBody>
      </p:sp>
      <p:sp>
        <p:nvSpPr>
          <p:cNvPr id="145" name="TextBox 144"/>
          <p:cNvSpPr txBox="1"/>
          <p:nvPr/>
        </p:nvSpPr>
        <p:spPr>
          <a:xfrm>
            <a:off x="457200" y="184708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Measures → New Measure…</a:t>
            </a:r>
          </a:p>
          <a:p>
            <a:pPr algn="l" marL="182880" indent="-182880">
              <a:spcAft>
                <a:spcPts val="300"/>
              </a:spcAft>
              <a:buFont typeface="Arial"/>
              <a:buChar char="•"/>
            </a:pPr>
            <a:r>
              <a:rPr sz="1300" b="0" i="0">
                <a:solidFill>
                  <a:srgbClr val="222222"/>
                </a:solidFill>
                <a:latin typeface="Times New Roman"/>
                <a:ea typeface="Times New Roman"/>
                <a:cs typeface="Times New Roman"/>
              </a:rPr>
              <a:t>Table name: _Measures · đặt tên · dán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Check formula → chọn Format → OK</a:t>
            </a:r>
          </a:p>
        </p:txBody>
      </p:sp>
      <p:sp>
        <p:nvSpPr>
          <p:cNvPr id="146" name="Rounded Rectangle 145"/>
          <p:cNvSpPr/>
          <p:nvPr/>
        </p:nvSpPr>
        <p:spPr>
          <a:xfrm>
            <a:off x="365760" y="3291840"/>
            <a:ext cx="5120640" cy="178308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47" name="Rounded Rectangle 146"/>
          <p:cNvSpPr/>
          <p:nvPr/>
        </p:nvSpPr>
        <p:spPr>
          <a:xfrm>
            <a:off x="365760" y="3291840"/>
            <a:ext cx="5120640" cy="41148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2 · Calculation Area</a:t>
            </a:r>
          </a:p>
        </p:txBody>
      </p:sp>
      <p:sp>
        <p:nvSpPr>
          <p:cNvPr id="148" name="TextBox 147"/>
          <p:cNvSpPr txBox="1"/>
          <p:nvPr/>
        </p:nvSpPr>
        <p:spPr>
          <a:xfrm>
            <a:off x="457200" y="376732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Manage → tab _Measures</a:t>
            </a:r>
          </a:p>
          <a:p>
            <a:pPr algn="l" marL="182880" indent="-182880">
              <a:spcAft>
                <a:spcPts val="300"/>
              </a:spcAft>
              <a:buFont typeface="Arial"/>
              <a:buChar char="•"/>
            </a:pPr>
            <a:r>
              <a:rPr sz="1300" b="0" i="0">
                <a:solidFill>
                  <a:srgbClr val="222222"/>
                </a:solidFill>
                <a:latin typeface="Times New Roman"/>
                <a:ea typeface="Times New Roman"/>
                <a:cs typeface="Times New Roman"/>
              </a:rPr>
              <a:t>Bấm ô trống dưới lưới, dán nguyên dòng Tên :=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Nhanh khi dán cả nhóm từ measures.dax</a:t>
            </a:r>
          </a:p>
        </p:txBody>
      </p:sp>
      <p:sp>
        <p:nvSpPr>
          <p:cNvPr id="149" name="Rounded Rectangle 148"/>
          <p:cNvSpPr/>
          <p:nvPr/>
        </p:nvSpPr>
        <p:spPr>
          <a:xfrm>
            <a:off x="365760" y="5257800"/>
            <a:ext cx="5120640" cy="731520"/>
          </a:xfrm>
          <a:prstGeom prst="roundRect">
            <a:avLst>
              <a:gd name="adj" fmla="val 6000"/>
            </a:avLst>
          </a:prstGeom>
          <a:solidFill>
            <a:srgbClr val="FBE5D6"/>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Khác công cụ BI chuyên dụng: </a:t>
            </a:r>
            <a:r>
              <a:rPr sz="1200" b="0" i="0">
                <a:solidFill>
                  <a:srgbClr val="222222"/>
                </a:solidFill>
                <a:latin typeface="Times New Roman"/>
                <a:ea typeface="Times New Roman"/>
                <a:cs typeface="Times New Roman"/>
              </a:rPr>
              <a:t>không có thư mục hiển thị số đo, không có cửa sổ chạy DAX – kiểm bằng PivotTable</a:t>
            </a:r>
          </a:p>
        </p:txBody>
      </p:sp>
      <p:sp>
        <p:nvSpPr>
          <p:cNvPr id="150" name="Rounded Rectangle 149"/>
          <p:cNvSpPr/>
          <p:nvPr/>
        </p:nvSpPr>
        <p:spPr>
          <a:xfrm>
            <a:off x="5669280" y="1371600"/>
            <a:ext cx="6172200" cy="37947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1">
                <a:solidFill>
                  <a:srgbClr val="6A737D"/>
                </a:solidFill>
                <a:latin typeface="Courier New"/>
                <a:ea typeface="Courier New"/>
                <a:cs typeface="Courier New"/>
              </a:rPr>
              <a:t>// Khối ô CUBEVALUE (sheet _pivot)</a:t>
            </a:r>
          </a:p>
          <a:p>
            <a:pPr algn="l">
              <a:buNone/>
            </a:pPr>
            <a:r>
              <a:rPr sz="1000" b="0" i="0">
                <a:solidFill>
                  <a:srgbClr val="24292F"/>
                </a:solidFill>
                <a:latin typeface="Courier New"/>
                <a:ea typeface="Courier New"/>
                <a:cs typeface="Courier New"/>
              </a:rPr>
              <a:t>Z2 =</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,Slicer_month,1)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,Slicer_year,1)</a:t>
            </a:r>
          </a:p>
          <a:p>
            <a:pPr algn="l">
              <a:buNone/>
            </a:pPr>
            <a:r>
              <a:rPr sz="1000" b="0" i="0">
                <a:solidFill>
                  <a:srgbClr val="24292F"/>
                </a:solidFill>
                <a:latin typeface="Courier New"/>
                <a:ea typeface="Courier New"/>
                <a:cs typeface="Courier New"/>
              </a:rPr>
              <a:t>Z3 =</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Z4  … </a:t>
            </a:r>
            <a:r>
              <a:rPr sz="1000" b="0" i="0">
                <a:solidFill>
                  <a:srgbClr val="0F6E56"/>
                </a:solidFill>
                <a:latin typeface="Courier New"/>
                <a:ea typeface="Courier New"/>
                <a:cs typeface="Courier New"/>
              </a:rPr>
              <a:t>[Net Revenue LM]</a:t>
            </a:r>
            <a:r>
              <a:rPr sz="1000" b="0" i="0">
                <a:solidFill>
                  <a:srgbClr val="24292F"/>
                </a:solidFill>
                <a:latin typeface="Courier New"/>
                <a:ea typeface="Courier New"/>
                <a:cs typeface="Courier New"/>
              </a:rPr>
              <a:t>      Z5  … </a:t>
            </a:r>
            <a:r>
              <a:rPr sz="1000" b="0" i="0">
                <a:solidFill>
                  <a:srgbClr val="0F6E56"/>
                </a:solidFill>
                <a:latin typeface="Courier New"/>
                <a:ea typeface="Courier New"/>
                <a:cs typeface="Courier New"/>
              </a:rPr>
              <a:t>[Net Revenue SPLY]</a:t>
            </a:r>
          </a:p>
          <a:p>
            <a:pPr algn="l">
              <a:buNone/>
            </a:pPr>
            <a:r>
              <a:rPr sz="1000" b="0" i="0">
                <a:solidFill>
                  <a:srgbClr val="24292F"/>
                </a:solidFill>
                <a:latin typeface="Courier New"/>
                <a:ea typeface="Courier New"/>
                <a:cs typeface="Courier New"/>
              </a:rPr>
              <a:t>Z6 =</a:t>
            </a:r>
            <a:r>
              <a:rPr sz="1000" b="1" i="0">
                <a:solidFill>
                  <a:srgbClr val="0550AE"/>
                </a:solidFill>
                <a:latin typeface="Courier New"/>
                <a:ea typeface="Courier New"/>
                <a:cs typeface="Courier New"/>
              </a:rPr>
              <a:t>IFERROR</a:t>
            </a:r>
            <a:r>
              <a:rPr sz="1000" b="0" i="0">
                <a:solidFill>
                  <a:srgbClr val="24292F"/>
                </a:solidFill>
                <a:latin typeface="Courier New"/>
                <a:ea typeface="Courier New"/>
                <a:cs typeface="Courier New"/>
              </a:rPr>
              <a:t>(Z3/Z4-1,</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     Z7 =</a:t>
            </a:r>
            <a:r>
              <a:rPr sz="1000" b="1" i="0">
                <a:solidFill>
                  <a:srgbClr val="0550AE"/>
                </a:solidFill>
                <a:latin typeface="Courier New"/>
                <a:ea typeface="Courier New"/>
                <a:cs typeface="Courier New"/>
              </a:rPr>
              <a:t>IFERROR</a:t>
            </a:r>
            <a:r>
              <a:rPr sz="1000" b="0" i="0">
                <a:solidFill>
                  <a:srgbClr val="24292F"/>
                </a:solidFill>
                <a:latin typeface="Courier New"/>
                <a:ea typeface="Courier New"/>
                <a:cs typeface="Courier New"/>
              </a:rPr>
              <a:t>(Z3/Z5-1,</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t>
            </a:r>
          </a:p>
          <a:p>
            <a:pPr algn="l">
              <a:buNone/>
            </a:pPr>
            <a:r>
              <a:rPr sz="1000" b="0" i="1">
                <a:solidFill>
                  <a:srgbClr val="6A737D"/>
                </a:solidFill>
                <a:latin typeface="Courier New"/>
                <a:ea typeface="Courier New"/>
                <a:cs typeface="Courier New"/>
              </a:rPr>
              <a:t>// Câu Điểm chính = công thức Excel thường</a:t>
            </a:r>
          </a:p>
          <a:p>
            <a:pPr algn="l">
              <a:buNone/>
            </a:pP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"Net Revenue "</a:t>
            </a:r>
            <a:r>
              <a:rPr sz="1000" b="0" i="0">
                <a:solidFill>
                  <a:srgbClr val="24292F"/>
                </a:solidFill>
                <a:latin typeface="Courier New"/>
                <a:ea typeface="Courier New"/>
                <a:cs typeface="Courier New"/>
              </a:rPr>
              <a:t>&amp;Z2&amp;</a:t>
            </a:r>
            <a:r>
              <a:rPr sz="1000" b="0" i="0">
                <a:solidFill>
                  <a:srgbClr val="A31515"/>
                </a:solidFill>
                <a:latin typeface="Courier New"/>
                <a:ea typeface="Courier New"/>
                <a:cs typeface="Courier New"/>
              </a:rPr>
              <a:t>" đạt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(Z3/1000,1)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nghìn USD —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(Z6&gt;=0,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(Z6)*100,1)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tháng trước,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(Z7&gt;=0,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(Z7)*100,1)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cùng kỳ năm trước."</a:t>
            </a:r>
          </a:p>
        </p:txBody>
      </p:sp>
      <p:sp>
        <p:nvSpPr>
          <p:cNvPr id="151" name="Rounded Rectangle 150"/>
          <p:cNvSpPr/>
          <p:nvPr/>
        </p:nvSpPr>
        <p:spPr>
          <a:xfrm>
            <a:off x="5669280" y="5303520"/>
            <a:ext cx="6172200" cy="68580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12/2020: </a:t>
            </a:r>
            <a:r>
              <a:rPr sz="1200" b="0" i="1">
                <a:solidFill>
                  <a:srgbClr val="222222"/>
                </a:solidFill>
                <a:latin typeface="Times New Roman"/>
                <a:ea typeface="Times New Roman"/>
                <a:cs typeface="Times New Roman"/>
              </a:rPr>
              <a:t>“Net Revenue 12/2020 đạt 606,1 nghìn USD — +154,6% so với tháng trước, −73,2% so với cùng kỳ năm trước.”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số đo;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fact_sales_line[gross_amount]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tạo ở Power Query</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gross_amount</a:t>
            </a:r>
            <a:r>
              <a:rPr sz="1300" b="0" i="0">
                <a:solidFill>
                  <a:srgbClr val="222222"/>
                </a:solidFill>
                <a:latin typeface="Times New Roman"/>
                <a:ea typeface="Times New Roman"/>
                <a:cs typeface="Times New Roman"/>
              </a:rPr>
              <a:t> = quantity × unit_price đã tính ở Power Query, số đo chỉ cần SUM</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 + KEEPFILTERS</a:t>
            </a:r>
            <a:r>
              <a:rPr sz="1300" b="0" i="0">
                <a:solidFill>
                  <a:srgbClr val="222222"/>
                </a:solidFill>
                <a:latin typeface="Times New Roman"/>
                <a:ea typeface="Times New Roman"/>
                <a:cs typeface="Times New Roman"/>
              </a:rPr>
              <a:t> thêm điều kiện COMPLETED cho mọi pivot, vẫn giữ slicer</a:t>
            </a:r>
          </a:p>
          <a:p>
            <a:pPr algn="l" marL="182880" indent="-182880">
              <a:spcAft>
                <a:spcPts val="600"/>
              </a:spcAft>
              <a:buFont typeface="Arial"/>
              <a:buChar char="•"/>
            </a:pPr>
            <a:r>
              <a:rPr sz="1300" b="1" i="0">
                <a:solidFill>
                  <a:srgbClr val="222222"/>
                </a:solidFill>
                <a:latin typeface="Times New Roman"/>
                <a:ea typeface="Times New Roman"/>
                <a:cs typeface="Times New Roman"/>
              </a:rPr>
              <a:t>Cú pháp Excel </a:t>
            </a:r>
            <a:r>
              <a:rPr sz="1300" b="1" i="0">
                <a:solidFill>
                  <a:srgbClr val="123A7A"/>
                </a:solidFill>
                <a:latin typeface="Times New Roman"/>
                <a:ea typeface="Times New Roman"/>
                <a:cs typeface="Times New Roman"/>
              </a:rPr>
              <a:t>Tên := công thức</a:t>
            </a:r>
            <a:r>
              <a:rPr sz="1300" b="0" i="0">
                <a:solidFill>
                  <a:srgbClr val="222222"/>
                </a:solidFill>
                <a:latin typeface="Times New Roman"/>
                <a:ea typeface="Times New Roman"/>
                <a:cs typeface="Times New Roman"/>
              </a:rPr>
              <a:t> – dán vào bảng _Measures (Power Pivot)</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(QC đã kiểm)</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1">
                <a:solidFill>
                  <a:srgbClr val="6A737D"/>
                </a:solidFill>
                <a:latin typeface="Courier New"/>
                <a:ea typeface="Courier New"/>
                <a:cs typeface="Courier New"/>
              </a:rPr>
              <a:t>// % so tháng trước: tính ở ô Excel  =Z3/Z4-1</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Vượt ngưỡng :=                      </a:t>
            </a:r>
            <a:r>
              <a:rPr sz="1300" b="0" i="1">
                <a:solidFill>
                  <a:srgbClr val="6A737D"/>
                </a:solidFill>
                <a:latin typeface="Courier New"/>
                <a:ea typeface="Courier New"/>
                <a:cs typeface="Courier New"/>
              </a:rPr>
              <a:t>// 1 = ô vượt ngưỡng</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1, 0 )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cửa hàng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[Vượt ngưỡng]</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Context transition: </a:t>
            </a:r>
            <a:r>
              <a:rPr sz="1300" b="0" i="0">
                <a:solidFill>
                  <a:srgbClr val="222222"/>
                </a:solidFill>
                <a:latin typeface="Times New Roman"/>
                <a:ea typeface="Times New Roman"/>
                <a:cs typeface="Times New Roman"/>
              </a:rPr>
              <a:t>số đo trong SUMX được tính lại cho từng cặp tháng ×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tổng chuỗi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đổi online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(cơ sở Finance)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inactive delivery_date chỉ trong số đo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Kế toán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quy đổi online còn 10.276 USD → phần còn lại nằm ở kênh cửa hàng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Thứ tự đọc: </a:t>
            </a:r>
            <a:r>
              <a:rPr sz="1700" b="1" i="0">
                <a:solidFill>
                  <a:srgbClr val="2E5B3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 thẻ KPI → biểu đồ có </a:t>
            </a:r>
            <a:r>
              <a:rPr sz="1700" b="1" i="0">
                <a:solidFill>
                  <a:srgbClr val="2E5B31"/>
                </a:solidFill>
                <a:latin typeface="Times New Roman"/>
                <a:ea typeface="Times New Roman"/>
                <a:cs typeface="Times New Roman"/>
              </a:rPr>
              <a:t>tiêu đề nêu kết luận</a:t>
            </a:r>
            <a:r>
              <a:rPr sz="1700" b="0" i="0">
                <a:solidFill>
                  <a:srgbClr val="222222"/>
                </a:solidFill>
                <a:latin typeface="Times New Roman"/>
                <a:ea typeface="Times New Roman"/>
                <a:cs typeface="Times New Roman"/>
              </a:rPr>
              <a:t> → bảng chi tiết</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80" y="2205082"/>
            <a:ext cx="2606040" cy="2264955"/>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Tháng này bán được bao nhiêu, khớp Kế toán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182087"/>
            <a:ext cx="2606040" cy="2310944"/>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201249"/>
            <a:ext cx="2606040" cy="2272620"/>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238615"/>
            <a:ext cx="2606040" cy="2197888"/>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Từ số đo đến dashboard Excel: PivotTable, PivotChart, Slicer, CUBEVALUE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Ảnh ở slide trước là </a:t>
            </a:r>
            <a:r>
              <a:rPr sz="1700" b="1" i="0">
                <a:solidFill>
                  <a:srgbClr val="123A7A"/>
                </a:solidFill>
                <a:latin typeface="Times New Roman"/>
                <a:ea typeface="Times New Roman"/>
                <a:cs typeface="Times New Roman"/>
              </a:rPr>
              <a:t>bản HTML tham chiếu</a:t>
            </a:r>
            <a:r>
              <a:rPr sz="1700" b="0" i="0">
                <a:solidFill>
                  <a:srgbClr val="222222"/>
                </a:solidFill>
                <a:latin typeface="Times New Roman"/>
                <a:ea typeface="Times New Roman"/>
                <a:cs typeface="Times New Roman"/>
              </a:rPr>
              <a:t>; trong Excel mỗi khối dựng bằng một trong 4 đối tượng dưới đây</a:t>
            </a:r>
          </a:p>
        </p:txBody>
      </p:sp>
      <p:sp>
        <p:nvSpPr>
          <p:cNvPr id="143" name="Rounded Rectangle 142"/>
          <p:cNvSpPr/>
          <p:nvPr/>
        </p:nvSpPr>
        <p:spPr>
          <a:xfrm>
            <a:off x="365760" y="1371600"/>
            <a:ext cx="2697480" cy="27432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Slicer</a:t>
            </a:r>
          </a:p>
        </p:txBody>
      </p:sp>
      <p:sp>
        <p:nvSpPr>
          <p:cNvPr id="145" name="TextBox 144"/>
          <p:cNvSpPr txBox="1"/>
          <p:nvPr/>
        </p:nvSpPr>
        <p:spPr>
          <a:xfrm>
            <a:off x="457200" y="1874519"/>
            <a:ext cx="2514600" cy="4114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Bộ lọc dùng chung</a:t>
            </a:r>
          </a:p>
        </p:txBody>
      </p:sp>
      <p:sp>
        <p:nvSpPr>
          <p:cNvPr id="146" name="TextBox 145"/>
          <p:cNvSpPr txBox="1"/>
          <p:nvPr/>
        </p:nvSpPr>
        <p:spPr>
          <a:xfrm>
            <a:off x="45720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Slicer (Data Model): Năm, Tháng, Kênh, Quốc gia</a:t>
            </a:r>
          </a:p>
          <a:p>
            <a:pPr algn="l" marL="182880" indent="-182880">
              <a:spcAft>
                <a:spcPts val="300"/>
              </a:spcAft>
              <a:buFont typeface="Arial"/>
              <a:buChar char="•"/>
            </a:pPr>
            <a:r>
              <a:rPr sz="1200" b="0" i="0">
                <a:solidFill>
                  <a:srgbClr val="222222"/>
                </a:solidFill>
                <a:latin typeface="Times New Roman"/>
                <a:ea typeface="Times New Roman"/>
                <a:cs typeface="Times New Roman"/>
              </a:rPr>
              <a:t>Copy sang sheet khác = dùng chung bộ lọc</a:t>
            </a:r>
          </a:p>
          <a:p>
            <a:pPr algn="l" marL="182880" indent="-182880">
              <a:spcAft>
                <a:spcPts val="300"/>
              </a:spcAft>
              <a:buFont typeface="Arial"/>
              <a:buChar char="•"/>
            </a:pPr>
            <a:r>
              <a:rPr sz="1200" b="0" i="0">
                <a:solidFill>
                  <a:srgbClr val="222222"/>
                </a:solidFill>
                <a:latin typeface="Times New Roman"/>
                <a:ea typeface="Times New Roman"/>
                <a:cs typeface="Times New Roman"/>
              </a:rPr>
              <a:t>Report Connections: chọn pivot bị lọc</a:t>
            </a:r>
          </a:p>
        </p:txBody>
      </p:sp>
      <p:sp>
        <p:nvSpPr>
          <p:cNvPr id="147" name="Rounded Rectangle 146"/>
          <p:cNvSpPr/>
          <p:nvPr/>
        </p:nvSpPr>
        <p:spPr>
          <a:xfrm>
            <a:off x="3246120" y="1371600"/>
            <a:ext cx="2697480" cy="27432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324612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CUBEVALUE</a:t>
            </a:r>
          </a:p>
        </p:txBody>
      </p:sp>
      <p:sp>
        <p:nvSpPr>
          <p:cNvPr id="149" name="TextBox 148"/>
          <p:cNvSpPr txBox="1"/>
          <p:nvPr/>
        </p:nvSpPr>
        <p:spPr>
          <a:xfrm>
            <a:off x="3337560" y="1874519"/>
            <a:ext cx="2514600" cy="4114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câu Điểm chính, tiêu đề</a:t>
            </a:r>
          </a:p>
        </p:txBody>
      </p:sp>
      <p:sp>
        <p:nvSpPr>
          <p:cNvPr id="150" name="TextBox 149"/>
          <p:cNvSpPr txBox="1"/>
          <p:nvPr/>
        </p:nvSpPr>
        <p:spPr>
          <a:xfrm>
            <a:off x="333756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Một ô = một số đo theo slicer</a:t>
            </a:r>
          </a:p>
          <a:p>
            <a:pPr algn="l" marL="182880" indent="-182880">
              <a:spcAft>
                <a:spcPts val="300"/>
              </a:spcAft>
              <a:buFont typeface="Arial"/>
              <a:buChar char="•"/>
            </a:pPr>
            <a:r>
              <a:rPr sz="1200" b="0" i="0">
                <a:solidFill>
                  <a:srgbClr val="222222"/>
                </a:solidFill>
                <a:latin typeface="Times New Roman"/>
                <a:ea typeface="Times New Roman"/>
                <a:cs typeface="Times New Roman"/>
              </a:rPr>
              <a:t>Đọc được số đo chuỗi</a:t>
            </a:r>
          </a:p>
          <a:p>
            <a:pPr algn="l" marL="182880" indent="-182880">
              <a:spcAft>
                <a:spcPts val="300"/>
              </a:spcAft>
              <a:buFont typeface="Arial"/>
              <a:buChar char="•"/>
            </a:pPr>
            <a:r>
              <a:rPr sz="1200" b="0" i="0">
                <a:solidFill>
                  <a:srgbClr val="222222"/>
                </a:solidFill>
                <a:latin typeface="Times New Roman"/>
                <a:ea typeface="Times New Roman"/>
                <a:cs typeface="Times New Roman"/>
              </a:rPr>
              <a:t>Đặt tự do, định dạng như ô thường</a:t>
            </a:r>
          </a:p>
        </p:txBody>
      </p:sp>
      <p:sp>
        <p:nvSpPr>
          <p:cNvPr id="151" name="Rounded Rectangle 150"/>
          <p:cNvSpPr/>
          <p:nvPr/>
        </p:nvSpPr>
        <p:spPr>
          <a:xfrm>
            <a:off x="6126480" y="1371600"/>
            <a:ext cx="2697480" cy="27432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2" name="Rounded Rectangle 151"/>
          <p:cNvSpPr/>
          <p:nvPr/>
        </p:nvSpPr>
        <p:spPr>
          <a:xfrm>
            <a:off x="612648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PivotTable</a:t>
            </a:r>
          </a:p>
        </p:txBody>
      </p:sp>
      <p:sp>
        <p:nvSpPr>
          <p:cNvPr id="153" name="TextBox 152"/>
          <p:cNvSpPr txBox="1"/>
          <p:nvPr/>
        </p:nvSpPr>
        <p:spPr>
          <a:xfrm>
            <a:off x="6217920" y="1874519"/>
            <a:ext cx="2514600" cy="4114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Bảng chi tiết, nguồn biểu đồ</a:t>
            </a:r>
          </a:p>
        </p:txBody>
      </p:sp>
      <p:sp>
        <p:nvSpPr>
          <p:cNvPr id="154" name="TextBox 153"/>
          <p:cNvSpPr txBox="1"/>
          <p:nvPr/>
        </p:nvSpPr>
        <p:spPr>
          <a:xfrm>
            <a:off x="621792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PivotTable → From Data Model</a:t>
            </a:r>
          </a:p>
          <a:p>
            <a:pPr algn="l" marL="182880" indent="-182880">
              <a:spcAft>
                <a:spcPts val="300"/>
              </a:spcAft>
              <a:buFont typeface="Arial"/>
              <a:buChar char="•"/>
            </a:pPr>
            <a:r>
              <a:rPr sz="1200" b="0" i="0">
                <a:solidFill>
                  <a:srgbClr val="222222"/>
                </a:solidFill>
                <a:latin typeface="Times New Roman"/>
                <a:ea typeface="Times New Roman"/>
                <a:cs typeface="Times New Roman"/>
              </a:rPr>
              <a:t>Value Filters → Top 10; data bar</a:t>
            </a:r>
          </a:p>
          <a:p>
            <a:pPr algn="l" marL="182880" indent="-182880">
              <a:spcAft>
                <a:spcPts val="300"/>
              </a:spcAft>
              <a:buFont typeface="Arial"/>
              <a:buChar char="•"/>
            </a:pPr>
            <a:r>
              <a:rPr sz="1200" b="0" i="0">
                <a:solidFill>
                  <a:srgbClr val="222222"/>
                </a:solidFill>
                <a:latin typeface="Times New Roman"/>
                <a:ea typeface="Times New Roman"/>
                <a:cs typeface="Times New Roman"/>
              </a:rPr>
              <a:t>Tắt Autofit column widths</a:t>
            </a:r>
          </a:p>
        </p:txBody>
      </p:sp>
      <p:sp>
        <p:nvSpPr>
          <p:cNvPr id="155" name="Rounded Rectangle 154"/>
          <p:cNvSpPr/>
          <p:nvPr/>
        </p:nvSpPr>
        <p:spPr>
          <a:xfrm>
            <a:off x="9006840" y="1371600"/>
            <a:ext cx="2697480" cy="274320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PivotChart / chart thường</a:t>
            </a:r>
          </a:p>
        </p:txBody>
      </p:sp>
      <p:sp>
        <p:nvSpPr>
          <p:cNvPr id="157" name="TextBox 156"/>
          <p:cNvSpPr txBox="1"/>
          <p:nvPr/>
        </p:nvSpPr>
        <p:spPr>
          <a:xfrm>
            <a:off x="9098280" y="1874519"/>
            <a:ext cx="2514600" cy="41148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Xu hướng, xếp hạng, waterfall</a:t>
            </a:r>
          </a:p>
        </p:txBody>
      </p:sp>
      <p:sp>
        <p:nvSpPr>
          <p:cNvPr id="158" name="TextBox 157"/>
          <p:cNvSpPr txBox="1"/>
          <p:nvPr/>
        </p:nvSpPr>
        <p:spPr>
          <a:xfrm>
            <a:off x="909828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PivotChart từ pivot trên sheet _pivot</a:t>
            </a:r>
          </a:p>
          <a:p>
            <a:pPr algn="l" marL="182880" indent="-182880">
              <a:spcAft>
                <a:spcPts val="300"/>
              </a:spcAft>
              <a:buFont typeface="Arial"/>
              <a:buChar char="•"/>
            </a:pPr>
            <a:r>
              <a:rPr sz="1200" b="0" i="0">
                <a:solidFill>
                  <a:srgbClr val="222222"/>
                </a:solidFill>
                <a:latin typeface="Times New Roman"/>
                <a:ea typeface="Times New Roman"/>
                <a:cs typeface="Times New Roman"/>
              </a:rPr>
              <a:t>Waterfall: chart thường từ ô CUBEVALUE</a:t>
            </a:r>
          </a:p>
          <a:p>
            <a:pPr algn="l" marL="182880" indent="-182880">
              <a:spcAft>
                <a:spcPts val="300"/>
              </a:spcAft>
              <a:buFont typeface="Arial"/>
              <a:buChar char="•"/>
            </a:pPr>
            <a:r>
              <a:rPr sz="1200" b="0" i="0">
                <a:solidFill>
                  <a:srgbClr val="222222"/>
                </a:solidFill>
                <a:latin typeface="Times New Roman"/>
                <a:ea typeface="Times New Roman"/>
                <a:cs typeface="Times New Roman"/>
              </a:rPr>
              <a:t>Field Buttons → Hide All</a:t>
            </a:r>
          </a:p>
        </p:txBody>
      </p:sp>
      <p:sp>
        <p:nvSpPr>
          <p:cNvPr id="159" name="Rounded Rectangle 158"/>
          <p:cNvSpPr/>
          <p:nvPr/>
        </p:nvSpPr>
        <p:spPr>
          <a:xfrm>
            <a:off x="365760" y="4251960"/>
            <a:ext cx="6675120" cy="17373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1">
                <a:solidFill>
                  <a:srgbClr val="6A737D"/>
                </a:solidFill>
                <a:latin typeface="Courier New"/>
                <a:ea typeface="Courier New"/>
                <a:cs typeface="Courier New"/>
              </a:rPr>
              <a:t>// Thẻ KPI và dòng so sánh (đổi theo 4 slicer)</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 LM]"</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(Z6=</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(Z6&gt;=0,</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(Z6)*100,1)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tháng trước"</a:t>
            </a:r>
            <a:r>
              <a:rPr sz="1000" b="0" i="0">
                <a:solidFill>
                  <a:srgbClr val="24292F"/>
                </a:solidFill>
                <a:latin typeface="Courier New"/>
                <a:ea typeface="Courier New"/>
                <a:cs typeface="Courier New"/>
              </a:rPr>
              <a:t>)</a:t>
            </a:r>
          </a:p>
        </p:txBody>
      </p:sp>
      <p:sp>
        <p:nvSpPr>
          <p:cNvPr id="160" name="Rounded Rectangle 159"/>
          <p:cNvSpPr/>
          <p:nvPr/>
        </p:nvSpPr>
        <p:spPr>
          <a:xfrm>
            <a:off x="7223760" y="4251960"/>
            <a:ext cx="4617720" cy="1737360"/>
          </a:xfrm>
          <a:prstGeom prst="roundRect">
            <a:avLst>
              <a:gd name="adj" fmla="val 6000"/>
            </a:avLst>
          </a:prstGeom>
          <a:solidFill>
            <a:srgbClr val="E2F0D9"/>
          </a:solidFill>
          <a:ln w="15875">
            <a:solidFill>
              <a:srgbClr val="2E5B31"/>
            </a:solidFill>
          </a:ln>
          <a:effectLst/>
        </p:spPr>
        <p:txBody>
          <a:bodyPr rtlCol="0" anchor="ctr" wrap="square" lIns="109728" tIns="27432" bIns="27432"/>
          <a:lstStyle/>
          <a:p>
            <a:pPr algn="l" marL="182880" indent="-182880">
              <a:spcAft>
                <a:spcPts val="400"/>
              </a:spcAft>
              <a:buFont typeface="Arial"/>
              <a:buChar char="•"/>
            </a:pPr>
            <a:r>
              <a:rPr sz="1200" b="1" i="0">
                <a:solidFill>
                  <a:srgbClr val="2E5B31"/>
                </a:solidFill>
                <a:latin typeface="Times New Roman"/>
                <a:ea typeface="Times New Roman"/>
                <a:cs typeface="Times New Roman"/>
              </a:rPr>
              <a:t>Tô màu nhấn bền: </a:t>
            </a:r>
            <a:r>
              <a:rPr sz="1200" b="0" i="0">
                <a:solidFill>
                  <a:srgbClr val="222222"/>
                </a:solidFill>
                <a:latin typeface="Times New Roman"/>
                <a:ea typeface="Times New Roman"/>
                <a:cs typeface="Times New Roman"/>
              </a:rPr>
              <a:t>bảng phụ 2 cột nhấn = IF(là mục lớn nhất; giá trị; 0) và nền = phần còn lại, vẽ cột chồng</a:t>
            </a:r>
          </a:p>
          <a:p>
            <a:pPr algn="l" marL="182880" indent="-182880">
              <a:buFont typeface="Arial"/>
              <a:buChar char="•"/>
            </a:pPr>
            <a:r>
              <a:rPr sz="1200" b="1" i="0">
                <a:solidFill>
                  <a:srgbClr val="2E5B31"/>
                </a:solidFill>
                <a:latin typeface="Times New Roman"/>
                <a:ea typeface="Times New Roman"/>
                <a:cs typeface="Times New Roman"/>
              </a:rPr>
              <a:t>Xu hướng 24 tháng: </a:t>
            </a:r>
            <a:r>
              <a:rPr sz="1200" b="0" i="0">
                <a:solidFill>
                  <a:srgbClr val="222222"/>
                </a:solidFill>
                <a:latin typeface="Times New Roman"/>
                <a:ea typeface="Times New Roman"/>
                <a:cs typeface="Times New Roman"/>
              </a:rPr>
              <a:t>bỏ nối slicer Năm/Tháng trong Report Connections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dựng 4 sheet: mỗi khối hình là một đối tượng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Giữ </a:t>
            </a:r>
            <a:r>
              <a:rPr sz="1700" b="1" i="0">
                <a:solidFill>
                  <a:srgbClr val="2E5B31"/>
                </a:solidFill>
                <a:latin typeface="Times New Roman"/>
                <a:ea typeface="Times New Roman"/>
                <a:cs typeface="Times New Roman"/>
              </a:rPr>
              <a:t>cùng vùng ô</a:t>
            </a:r>
            <a:r>
              <a:rPr sz="1700" b="0" i="0">
                <a:solidFill>
                  <a:srgbClr val="222222"/>
                </a:solidFill>
                <a:latin typeface="Times New Roman"/>
                <a:ea typeface="Times New Roman"/>
                <a:cs typeface="Times New Roman"/>
              </a:rPr>
              <a:t> cho Điểm chính (B8:Q9) và thẻ KPI (B11:Q14) ở cả 4 sheet để chuyển sheet không nhảy mắt</a:t>
            </a:r>
          </a:p>
        </p:txBody>
      </p:sp>
      <p:graphicFrame>
        <p:nvGraphicFramePr>
          <p:cNvPr id="143" name="Table 142"/>
          <p:cNvGraphicFramePr>
            <a:graphicFrameLocks noGrp="1"/>
          </p:cNvGraphicFramePr>
          <p:nvPr/>
        </p:nvGraphicFramePr>
        <p:xfrm>
          <a:off x="365760" y="1371600"/>
          <a:ext cx="11475720" cy="3840480"/>
        </p:xfrm>
        <a:graphic>
          <a:graphicData uri="http://schemas.openxmlformats.org/drawingml/2006/table">
            <a:tbl>
              <a:tblPr firstRow="1">
                <a:tableStyleId>{5940675A-B579-460E-94D1-54222C63F5DA}</a:tableStyleId>
              </a:tblPr>
              <a:tblGrid>
                <a:gridCol w="1371600"/>
                <a:gridCol w="3291840"/>
                <a:gridCol w="4572000"/>
                <a:gridCol w="2240280"/>
              </a:tblGrid>
              <a:tr h="768096">
                <a:tc>
                  <a:txBody>
                    <a:bodyPr/>
                    <a:lstStyle/>
                    <a:p>
                      <a:pPr algn="l">
                        <a:buNone/>
                      </a:pPr>
                      <a:r>
                        <a:rPr sz="1200" b="1" i="0">
                          <a:solidFill>
                            <a:srgbClr val="FFFFFF"/>
                          </a:solidFill>
                          <a:latin typeface="Times New Roman"/>
                          <a:ea typeface="Times New Roman"/>
                          <a:cs typeface="Times New Roman"/>
                        </a:rPr>
                        <a:t>Sheet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Điểm chính + thẻ KPI (CUBEVALUE)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Biểu đồ</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Bảng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768096">
                <a:tc>
                  <a:txBody>
                    <a:bodyPr/>
                    <a:lstStyle/>
                    <a:p>
                      <a:pPr algn="l">
                        <a:buNone/>
                      </a:pPr>
                      <a:r>
                        <a:rPr sz="1200" b="1" i="0">
                          <a:solidFill>
                            <a:srgbClr val="222222"/>
                          </a:solidFill>
                          <a:latin typeface="Times New Roman"/>
                          <a:ea typeface="Times New Roman"/>
                          <a:cs typeface="Times New Roman"/>
                        </a:rPr>
                        <a:t>Tong_quan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Orders · AOV · Return Rate · Δ 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Line 24 tháng (chart thường) · Waterfall Gross → Net · Orders, AOV · Δ theo tháng (cột chồng từ bảng phụ)</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Doanh_thu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 · AOV · 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Danh mục (cột ngang chồng từ bảng phụ: nhấn / nền) · Quốc gia (PivotChart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Kênh · Top 10 cửa hàng (data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768096">
                <a:tc>
                  <a:txBody>
                    <a:bodyPr/>
                    <a:lstStyle/>
                    <a:p>
                      <a:pPr algn="l">
                        <a:buNone/>
                      </a:pPr>
                      <a:r>
                        <a:rPr sz="1200" b="1" i="0">
                          <a:solidFill>
                            <a:srgbClr val="222222"/>
                          </a:solidFill>
                          <a:latin typeface="Times New Roman"/>
                          <a:ea typeface="Times New Roman"/>
                          <a:cs typeface="Times New Roman"/>
                        </a:rPr>
                        <a:t>Doi_soat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Kế toán · Δ · Δ sau quy đổi · Số cửa hàng vượt ngưỡng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Phân rã Δ (Waterfall) · Δ theo tháng, đỏ = vượt (cột chồng từ bảng phụ) · Δ online (PivotChart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Top 10 cửa hàng theo Δ tuyệt đối, ⚠ Vượt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Hoan_tra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 · Return Rate · Cancelled · Pending; ô ghi 120 dòng trùng đã loại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 Rate 24 tháng · Lý do (Bar) · Danh mục (Bar) · Huỷ &amp; chờ giao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365760" y="5349240"/>
            <a:ext cx="11475720" cy="6400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300" b="1" i="0">
                <a:solidFill>
                  <a:srgbClr val="123A7A"/>
                </a:solidFill>
                <a:latin typeface="Times New Roman"/>
                <a:ea typeface="Times New Roman"/>
                <a:cs typeface="Times New Roman"/>
              </a:rPr>
              <a:t>Sheet _pivot (ẩn khi nộp): </a:t>
            </a:r>
            <a:r>
              <a:rPr sz="1300" b="0" i="0">
                <a:solidFill>
                  <a:srgbClr val="222222"/>
                </a:solidFill>
                <a:latin typeface="Times New Roman"/>
                <a:ea typeface="Times New Roman"/>
                <a:cs typeface="Times New Roman"/>
              </a:rPr>
              <a:t>chứa mọi PivotTable nguồn và bảng phụ của biểu đồ; 4 sheet dashboard chỉ có ô CUBEVALUE, biểu đồ, slicer và bảng cho người xem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5299342"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417320"/>
            <a:ext cx="5207902" cy="4526280"/>
          </a:xfrm>
          <a:prstGeom prst="rect">
            <a:avLst/>
          </a:prstGeom>
        </p:spPr>
      </p:pic>
      <p:sp>
        <p:nvSpPr>
          <p:cNvPr id="145" name="Rounded Rectangle 144"/>
          <p:cNvSpPr/>
          <p:nvPr/>
        </p:nvSpPr>
        <p:spPr>
          <a:xfrm>
            <a:off x="5893702" y="1371600"/>
            <a:ext cx="594777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Kế toán không?</a:t>
            </a:r>
          </a:p>
        </p:txBody>
      </p:sp>
      <p:sp>
        <p:nvSpPr>
          <p:cNvPr id="146" name="Rounded Rectangle 145"/>
          <p:cNvSpPr/>
          <p:nvPr/>
        </p:nvSpPr>
        <p:spPr>
          <a:xfrm>
            <a:off x="5893702" y="2377440"/>
            <a:ext cx="5947777"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5893702" y="2377440"/>
            <a:ext cx="5947777"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66854" y="2834640"/>
            <a:ext cx="580147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Cột ngang xếp hạng: </a:t>
            </a:r>
            <a:r>
              <a:rPr sz="1700" b="1" i="0">
                <a:solidFill>
                  <a:srgbClr val="123A7A"/>
                </a:solidFill>
                <a:latin typeface="Times New Roman"/>
                <a:ea typeface="Times New Roman"/>
                <a:cs typeface="Times New Roman"/>
              </a:rPr>
              <a:t>một màu nhấn</a:t>
            </a:r>
            <a:r>
              <a:rPr sz="1700" b="0" i="0">
                <a:solidFill>
                  <a:srgbClr val="222222"/>
                </a:solidFill>
                <a:latin typeface="Times New Roman"/>
                <a:ea typeface="Times New Roman"/>
                <a:cs typeface="Times New Roman"/>
              </a:rPr>
              <a:t> cho mục lớn nhất, còn lại xám; ▲/▼ luôn kèm chữ, không chỉ dựa vào màu</a:t>
            </a:r>
          </a:p>
        </p:txBody>
      </p:sp>
      <p:sp>
        <p:nvSpPr>
          <p:cNvPr id="143" name="Rectangle 142"/>
          <p:cNvSpPr/>
          <p:nvPr/>
        </p:nvSpPr>
        <p:spPr>
          <a:xfrm>
            <a:off x="365760" y="1371600"/>
            <a:ext cx="5195702"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104262" cy="4526280"/>
          </a:xfrm>
          <a:prstGeom prst="rect">
            <a:avLst/>
          </a:prstGeom>
        </p:spPr>
      </p:pic>
      <p:sp>
        <p:nvSpPr>
          <p:cNvPr id="145" name="Rounded Rectangle 144"/>
          <p:cNvSpPr/>
          <p:nvPr/>
        </p:nvSpPr>
        <p:spPr>
          <a:xfrm>
            <a:off x="5790062" y="1371600"/>
            <a:ext cx="605141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5790062" y="2377440"/>
            <a:ext cx="6051417"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5790062" y="2377440"/>
            <a:ext cx="6051417"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863214" y="2834640"/>
            <a:ext cx="590511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tổng chuỗi → kênh → cửa hàng → ngày</a:t>
            </a:r>
          </a:p>
        </p:txBody>
      </p:sp>
      <p:sp>
        <p:nvSpPr>
          <p:cNvPr id="143" name="Rectangle 142"/>
          <p:cNvSpPr/>
          <p:nvPr/>
        </p:nvSpPr>
        <p:spPr>
          <a:xfrm>
            <a:off x="365760" y="1371600"/>
            <a:ext cx="5281777"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190337" cy="4526280"/>
          </a:xfrm>
          <a:prstGeom prst="rect">
            <a:avLst/>
          </a:prstGeom>
        </p:spPr>
      </p:pic>
      <p:sp>
        <p:nvSpPr>
          <p:cNvPr id="145" name="Rounded Rectangle 144"/>
          <p:cNvSpPr/>
          <p:nvPr/>
        </p:nvSpPr>
        <p:spPr>
          <a:xfrm>
            <a:off x="5876137" y="1371600"/>
            <a:ext cx="5965342"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5876137" y="2377440"/>
            <a:ext cx="5965342"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5876137" y="2377440"/>
            <a:ext cx="5965342"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49289" y="2834640"/>
            <a:ext cx="5819038"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Kế toán</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Kế toán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màu đảo</a:t>
            </a:r>
          </a:p>
        </p:txBody>
      </p:sp>
      <p:sp>
        <p:nvSpPr>
          <p:cNvPr id="143" name="Rectangle 142"/>
          <p:cNvSpPr/>
          <p:nvPr/>
        </p:nvSpPr>
        <p:spPr>
          <a:xfrm>
            <a:off x="365760" y="1371600"/>
            <a:ext cx="5458258"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png"/>
          <p:cNvPicPr>
            <a:picLocks noChangeAspect="1"/>
          </p:cNvPicPr>
          <p:nvPr/>
        </p:nvPicPr>
        <p:blipFill>
          <a:blip r:embed="rId3"/>
          <a:stretch>
            <a:fillRect/>
          </a:stretch>
        </p:blipFill>
        <p:spPr>
          <a:xfrm>
            <a:off x="411480" y="1417320"/>
            <a:ext cx="5366818" cy="4526280"/>
          </a:xfrm>
          <a:prstGeom prst="rect">
            <a:avLst/>
          </a:prstGeom>
        </p:spPr>
      </p:pic>
      <p:sp>
        <p:nvSpPr>
          <p:cNvPr id="145" name="Rounded Rectangle 144"/>
          <p:cNvSpPr/>
          <p:nvPr/>
        </p:nvSpPr>
        <p:spPr>
          <a:xfrm>
            <a:off x="6052618" y="1371600"/>
            <a:ext cx="5788861"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6052618" y="2377440"/>
            <a:ext cx="5788861"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6052618" y="2377440"/>
            <a:ext cx="5788861"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6125770" y="2834640"/>
            <a:ext cx="5642557"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Kế toán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Measure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Kế toán (đơn huỷ, thiếu ngày, VAT,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Kế toán: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Kế toán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Excel (.xlsx)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Power Query + Data Model + số đo DAX; 4 sheet: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Sửa SourceFolder → Refresh All chạy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Sales ≠ Kế toán;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Kế toán,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As-of,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Rubric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Power Query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Query đúng thứ tự, bỏ trùng, map theo hiệu lực; quan hệ, Date Table</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đổi online</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sheet Excel (12)</a:t>
            </a:r>
          </a:p>
          <a:p>
            <a:pPr algn="l" marL="182880" indent="-182880">
              <a:spcAft>
                <a:spcPts val="800"/>
              </a:spcAft>
              <a:buFont typeface="Arial"/>
              <a:buChar char=" "/>
            </a:pPr>
            <a:r>
              <a:rPr sz="1300" b="0" i="0">
                <a:solidFill>
                  <a:srgbClr val="222222"/>
                </a:solidFill>
                <a:latin typeface="Times New Roman"/>
                <a:ea typeface="Times New Roman"/>
                <a:cs typeface="Times New Roman"/>
              </a:rPr>
              <a:t>Thẻ CUBEVALUE, Pivot, biểu đồ đủ; slicer dùng chung</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caption,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As-of,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Sheet chi tiết cửa hàng – ngày, Show Details</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Kế toán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Kế toán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Kế toán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Kế toán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Kế toán theo ngày ghi sổ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as-of</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Kế toán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Kế toán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