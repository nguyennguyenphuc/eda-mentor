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6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Mở đầu" id="{FB200B35-5723-57E7-BCA2-04A696BD0C23}">
          <p14:sldIdLst>
            <p14:sldId id="256"/>
            <p14:sldId id="257"/>
          </p14:sldIdLst>
        </p14:section>
        <p14:section name="Phần 1 · Bối cảnh" id="{CA9727B0-816C-57B5-A7EE-1041D6F58670}">
          <p14:sldIdLst>
            <p14:sldId id="258"/>
            <p14:sldId id="259"/>
            <p14:sldId id="260"/>
          </p14:sldIdLst>
        </p14:section>
        <p14:section name="Phần 2 · Đề bài" id="{A83B4ECC-E86D-534D-A49C-8F82043F2318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hần 3 · KPI" id="{27970E54-C475-597F-8161-78EFCE9B5003}">
          <p14:sldIdLst>
            <p14:sldId id="267"/>
            <p14:sldId id="268"/>
            <p14:sldId id="269"/>
            <p14:sldId id="270"/>
            <p14:sldId id="271"/>
          </p14:sldIdLst>
        </p14:section>
        <p14:section name="Phần 4 · Dữ liệu &amp; modeling" id="{18F674DB-7378-55DE-BD5F-3792669B0C25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hần 5 · Khám phá dữ liệu" id="{3A7D7AE7-21E4-5C31-B7BB-761A449440DF}">
          <p14:sldIdLst>
            <p14:sldId id="278"/>
            <p14:sldId id="279"/>
            <p14:sldId id="280"/>
            <p14:sldId id="281"/>
            <p14:sldId id="282"/>
          </p14:sldIdLst>
        </p14:section>
        <p14:section name="Phần 6 · DAX" id="{8AE14257-564C-5899-AD89-0D155765DAC5}">
          <p14:sldIdLst>
            <p14:sldId id="283"/>
            <p14:sldId id="284"/>
            <p14:sldId id="285"/>
            <p14:sldId id="286"/>
            <p14:sldId id="287"/>
          </p14:sldIdLst>
        </p14:section>
        <p14:section name="Phần 7 · Phân tích kết quả" id="{9E384DC5-995C-55E6-B0EF-B89EA27FDFFA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Phần 8 · Đầu ra &amp; chấm điểm" id="{2CB85F52-B697-5D48-9499-5FDA194CEDFA}">
          <p14:sldIdLst>
            <p14:sldId id="296"/>
            <p14:sldId id="297"/>
            <p14:sldId id="298"/>
          </p14:sldIdLst>
        </p14:section>
        <p14:section name="Phụ lục mentor – ẩn khi trình chiếu cho học viên" id="{06C17C6C-DED5-5777-8593-9B421A1CB2CA}">
          <p14:sldIdLst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(dữ liệu đơn)</c:v>
                </c:pt>
              </c:strCache>
            </c:strRef>
          </c:tx>
          <c:spPr>
            <a:solidFill>
              <a:srgbClr val="2E5B31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11,9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16,9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0,9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2021*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6.55004821</c:v>
                </c:pt>
                <c:pt idx="1">
                  <c:v>6.87307383</c:v>
                </c:pt>
                <c:pt idx="2">
                  <c:v>11.92344934</c:v>
                </c:pt>
                <c:pt idx="3">
                  <c:v>16.92423312</c:v>
                </c:pt>
                <c:pt idx="4">
                  <c:v>8.73274823</c:v>
                </c:pt>
                <c:pt idx="5">
                  <c:v>0.9053749499999999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(Finance)</c:v>
                </c:pt>
              </c:strCache>
            </c:strRef>
          </c:tx>
          <c:spPr>
            <a:solidFill>
              <a:srgbClr val="8CB86E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11,9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16,9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595959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0,9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2021*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6.464763980000001</c:v>
                </c:pt>
                <c:pt idx="1">
                  <c:v>6.90818202</c:v>
                </c:pt>
                <c:pt idx="2">
                  <c:v>11.89152855</c:v>
                </c:pt>
                <c:pt idx="3">
                  <c:v>16.94090823</c:v>
                </c:pt>
                <c:pt idx="4">
                  <c:v>8.79593491</c:v>
                </c:pt>
                <c:pt idx="5">
                  <c:v>0.93552474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(dữ liệu đơn)</c:v>
                </c:pt>
              </c:strCache>
            </c:strRef>
          </c:tx>
          <c:spPr>
            <a:ln w="28575">
              <a:solidFill>
                <a:srgbClr val="2E5B31"/>
              </a:solidFill>
            </a:ln>
          </c:spPr>
          <c:marker>
            <c:symbol val="circle"/>
            <c:size val="5"/>
            <c:spPr>
              <a:solidFill>
                <a:srgbClr val="2E5B31"/>
              </a:solidFill>
              <a:ln>
                <a:solidFill>
                  <a:srgbClr val="2E5B31"/>
                </a:solidFill>
              </a:ln>
            </c:spPr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2.263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606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01/19</c:v>
                </c:pt>
                <c:pt idx="1">
                  <c:v>02/19</c:v>
                </c:pt>
                <c:pt idx="2">
                  <c:v>03/19</c:v>
                </c:pt>
                <c:pt idx="3">
                  <c:v>04/19</c:v>
                </c:pt>
                <c:pt idx="4">
                  <c:v>05/19</c:v>
                </c:pt>
                <c:pt idx="5">
                  <c:v>06/19</c:v>
                </c:pt>
                <c:pt idx="6">
                  <c:v>07/19</c:v>
                </c:pt>
                <c:pt idx="7">
                  <c:v>08/19</c:v>
                </c:pt>
                <c:pt idx="8">
                  <c:v>09/19</c:v>
                </c:pt>
                <c:pt idx="9">
                  <c:v>10/19</c:v>
                </c:pt>
                <c:pt idx="10">
                  <c:v>11/19</c:v>
                </c:pt>
                <c:pt idx="11">
                  <c:v>12/19</c:v>
                </c:pt>
                <c:pt idx="12">
                  <c:v>01/20</c:v>
                </c:pt>
                <c:pt idx="13">
                  <c:v>02/20</c:v>
                </c:pt>
                <c:pt idx="14">
                  <c:v>03/20</c:v>
                </c:pt>
                <c:pt idx="15">
                  <c:v>04/20</c:v>
                </c:pt>
                <c:pt idx="16">
                  <c:v>05/20</c:v>
                </c:pt>
                <c:pt idx="17">
                  <c:v>06/20</c:v>
                </c:pt>
                <c:pt idx="18">
                  <c:v>07/20</c:v>
                </c:pt>
                <c:pt idx="19">
                  <c:v>08/20</c:v>
                </c:pt>
                <c:pt idx="20">
                  <c:v>09/20</c:v>
                </c:pt>
                <c:pt idx="21">
                  <c:v>10/20</c:v>
                </c:pt>
                <c:pt idx="22">
                  <c:v>11/20</c:v>
                </c:pt>
                <c:pt idx="23">
                  <c:v>12/20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1797.96887</c:v>
                </c:pt>
                <c:pt idx="1">
                  <c:v>2004.56868</c:v>
                </c:pt>
                <c:pt idx="2">
                  <c:v>742.70609</c:v>
                </c:pt>
                <c:pt idx="3">
                  <c:v>139.51809</c:v>
                </c:pt>
                <c:pt idx="4">
                  <c:v>1514.71303</c:v>
                </c:pt>
                <c:pt idx="5">
                  <c:v>1317.2358800000002</c:v>
                </c:pt>
                <c:pt idx="6">
                  <c:v>1322.89155</c:v>
                </c:pt>
                <c:pt idx="7">
                  <c:v>1339.30325</c:v>
                </c:pt>
                <c:pt idx="8">
                  <c:v>1430.22698</c:v>
                </c:pt>
                <c:pt idx="9">
                  <c:v>1488.3058700000001</c:v>
                </c:pt>
                <c:pt idx="10">
                  <c:v>1563.37986</c:v>
                </c:pt>
                <c:pt idx="11">
                  <c:v>2263.4149700000003</c:v>
                </c:pt>
                <c:pt idx="12">
                  <c:v>1911.3349200000002</c:v>
                </c:pt>
                <c:pt idx="13">
                  <c:v>2158.2621799999997</c:v>
                </c:pt>
                <c:pt idx="14">
                  <c:v>614.1452099999999</c:v>
                </c:pt>
                <c:pt idx="15">
                  <c:v>202.94221</c:v>
                </c:pt>
                <c:pt idx="16">
                  <c:v>837.31026</c:v>
                </c:pt>
                <c:pt idx="17">
                  <c:v>714.3334</c:v>
                </c:pt>
                <c:pt idx="18">
                  <c:v>477.06367</c:v>
                </c:pt>
                <c:pt idx="19">
                  <c:v>378.42989</c:v>
                </c:pt>
                <c:pt idx="20">
                  <c:v>357.63703000000004</c:v>
                </c:pt>
                <c:pt idx="21">
                  <c:v>237.12771</c:v>
                </c:pt>
                <c:pt idx="22">
                  <c:v>238.03668</c:v>
                </c:pt>
                <c:pt idx="23">
                  <c:v>606.1250699999999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 (Finance)</c:v>
                </c:pt>
              </c:strCache>
            </c:strRef>
          </c:tx>
          <c:spPr>
            <a:ln w="22225">
              <a:solidFill>
                <a:srgbClr val="C55A11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01/19</c:v>
                </c:pt>
                <c:pt idx="1">
                  <c:v>02/19</c:v>
                </c:pt>
                <c:pt idx="2">
                  <c:v>03/19</c:v>
                </c:pt>
                <c:pt idx="3">
                  <c:v>04/19</c:v>
                </c:pt>
                <c:pt idx="4">
                  <c:v>05/19</c:v>
                </c:pt>
                <c:pt idx="5">
                  <c:v>06/19</c:v>
                </c:pt>
                <c:pt idx="6">
                  <c:v>07/19</c:v>
                </c:pt>
                <c:pt idx="7">
                  <c:v>08/19</c:v>
                </c:pt>
                <c:pt idx="8">
                  <c:v>09/19</c:v>
                </c:pt>
                <c:pt idx="9">
                  <c:v>10/19</c:v>
                </c:pt>
                <c:pt idx="10">
                  <c:v>11/19</c:v>
                </c:pt>
                <c:pt idx="11">
                  <c:v>12/19</c:v>
                </c:pt>
                <c:pt idx="12">
                  <c:v>01/20</c:v>
                </c:pt>
                <c:pt idx="13">
                  <c:v>02/20</c:v>
                </c:pt>
                <c:pt idx="14">
                  <c:v>03/20</c:v>
                </c:pt>
                <c:pt idx="15">
                  <c:v>04/20</c:v>
                </c:pt>
                <c:pt idx="16">
                  <c:v>05/20</c:v>
                </c:pt>
                <c:pt idx="17">
                  <c:v>06/20</c:v>
                </c:pt>
                <c:pt idx="18">
                  <c:v>07/20</c:v>
                </c:pt>
                <c:pt idx="19">
                  <c:v>08/20</c:v>
                </c:pt>
                <c:pt idx="20">
                  <c:v>09/20</c:v>
                </c:pt>
                <c:pt idx="21">
                  <c:v>10/20</c:v>
                </c:pt>
                <c:pt idx="22">
                  <c:v>11/20</c:v>
                </c:pt>
                <c:pt idx="23">
                  <c:v>12/20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1848.06513</c:v>
                </c:pt>
                <c:pt idx="1">
                  <c:v>1953.1373</c:v>
                </c:pt>
                <c:pt idx="2">
                  <c:v>838.0922800000001</c:v>
                </c:pt>
                <c:pt idx="3">
                  <c:v>111.56246</c:v>
                </c:pt>
                <c:pt idx="4">
                  <c:v>1487.64784</c:v>
                </c:pt>
                <c:pt idx="5">
                  <c:v>1350.83665</c:v>
                </c:pt>
                <c:pt idx="6">
                  <c:v>1337.4678600000002</c:v>
                </c:pt>
                <c:pt idx="7">
                  <c:v>1275.1990700000001</c:v>
                </c:pt>
                <c:pt idx="8">
                  <c:v>1465.91527</c:v>
                </c:pt>
                <c:pt idx="9">
                  <c:v>1483.3001399999998</c:v>
                </c:pt>
                <c:pt idx="10">
                  <c:v>1543.51486</c:v>
                </c:pt>
                <c:pt idx="11">
                  <c:v>2246.16937</c:v>
                </c:pt>
                <c:pt idx="12">
                  <c:v>1951.6841399999998</c:v>
                </c:pt>
                <c:pt idx="13">
                  <c:v>2129.45535</c:v>
                </c:pt>
                <c:pt idx="14">
                  <c:v>680.02625</c:v>
                </c:pt>
                <c:pt idx="15">
                  <c:v>156.01443</c:v>
                </c:pt>
                <c:pt idx="16">
                  <c:v>864.51761</c:v>
                </c:pt>
                <c:pt idx="17">
                  <c:v>715.61251</c:v>
                </c:pt>
                <c:pt idx="18">
                  <c:v>498.40886</c:v>
                </c:pt>
                <c:pt idx="19">
                  <c:v>378.21194</c:v>
                </c:pt>
                <c:pt idx="20">
                  <c:v>353.07253000000003</c:v>
                </c:pt>
                <c:pt idx="21">
                  <c:v>244.31874</c:v>
                </c:pt>
                <c:pt idx="22">
                  <c:v>232.45920999999998</c:v>
                </c:pt>
                <c:pt idx="23">
                  <c:v>592.15334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Cửa hàng (POS)</c:v>
                </c:pt>
              </c:strCache>
            </c:strRef>
          </c:tx>
          <c:spPr>
            <a:solidFill>
              <a:srgbClr val="2E5B31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83,5%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82,2%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80,4%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78,9%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78,2%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0.8351813790926098</c:v>
                </c:pt>
                <c:pt idx="1">
                  <c:v>0.8218381331419139</c:v>
                </c:pt>
                <c:pt idx="2">
                  <c:v>0.8036151237271278</c:v>
                </c:pt>
                <c:pt idx="3">
                  <c:v>0.7885337514562929</c:v>
                </c:pt>
                <c:pt idx="4">
                  <c:v>0.7820754563402775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Website/app</c:v>
                </c:pt>
              </c:strCache>
            </c:strRef>
          </c:tx>
          <c:spPr>
            <a:solidFill>
              <a:srgbClr val="8CB86E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16,5%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17,8%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19,6%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21,1%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21,8%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0.1648186209073902</c:v>
                </c:pt>
                <c:pt idx="1">
                  <c:v>0.1781618668580861</c:v>
                </c:pt>
                <c:pt idx="2">
                  <c:v>0.19638487627287216</c:v>
                </c:pt>
                <c:pt idx="3">
                  <c:v>0.2114662485437071</c:v>
                </c:pt>
                <c:pt idx="4">
                  <c:v>0.21792454365972247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AOV 2020</c:v>
                </c:pt>
              </c:strCache>
            </c:strRef>
          </c:tx>
          <c:spPr>
            <a:solidFill>
              <a:srgbClr val="2E5B31"/>
            </a:solidFill>
            <a:ln>
              <a:noFill/>
            </a:ln>
          </c:spPr>
          <c:dPt>
            <c:idx val="1"/>
            <c:spPr>
              <a:solidFill>
                <a:srgbClr val="8CB86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2.010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1.858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Cửa hàng (POS)</c:v>
                </c:pt>
                <c:pt idx="1">
                  <c:v>Website/app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2010.020074734119</c:v>
                </c:pt>
                <c:pt idx="1">
                  <c:v>1857.53422306959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2E5B31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149 (2%)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437 (5%)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541 (6%)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853 (10%)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1.072 (12%)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1.170 (13%)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1.207 (13%)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3.512 (39%)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Game &amp; Đồ chơi</c:v>
                </c:pt>
                <c:pt idx="1">
                  <c:v>Âm thanh</c:v>
                </c:pt>
                <c:pt idx="2">
                  <c:v>Nhạc, phim, sách nói</c:v>
                </c:pt>
                <c:pt idx="3">
                  <c:v>TV &amp; Video</c:v>
                </c:pt>
                <c:pt idx="4">
                  <c:v>Gia dụng</c:v>
                </c:pt>
                <c:pt idx="5">
                  <c:v>Máy ảnh</c:v>
                </c:pt>
                <c:pt idx="6">
                  <c:v>Điện thoại</c:v>
                </c:pt>
                <c:pt idx="7">
                  <c:v>Máy tính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149.48492000000002</c:v>
                </c:pt>
                <c:pt idx="1">
                  <c:v>437.33593</c:v>
                </c:pt>
                <c:pt idx="2">
                  <c:v>541.38284</c:v>
                </c:pt>
                <c:pt idx="3">
                  <c:v>852.6435</c:v>
                </c:pt>
                <c:pt idx="4">
                  <c:v>1072.05762</c:v>
                </c:pt>
                <c:pt idx="5">
                  <c:v>1169.7288500000002</c:v>
                </c:pt>
                <c:pt idx="6">
                  <c:v>1206.78748</c:v>
                </c:pt>
                <c:pt idx="7">
                  <c:v>3511.9921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hoàn trả</c:v>
                </c:pt>
              </c:strCache>
            </c:strRef>
          </c:tx>
          <c:spPr>
            <a:solidFill>
              <a:srgbClr val="D98C8C"/>
            </a:solidFill>
            <a:ln>
              <a:noFill/>
            </a:ln>
          </c:spPr>
          <c:dPt>
            <c:idx val="7"/>
            <c:spPr>
              <a:solidFill>
                <a:srgbClr val="C00000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2,05%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2,13%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2,14%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2,55%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2,58%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2,70%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2,84%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3,44%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Máy tính</c:v>
                </c:pt>
                <c:pt idx="1">
                  <c:v>Âm thanh</c:v>
                </c:pt>
                <c:pt idx="2">
                  <c:v>Gia dụng</c:v>
                </c:pt>
                <c:pt idx="3">
                  <c:v>Điện thoại</c:v>
                </c:pt>
                <c:pt idx="4">
                  <c:v>Máy ảnh</c:v>
                </c:pt>
                <c:pt idx="5">
                  <c:v>TV &amp; Video</c:v>
                </c:pt>
                <c:pt idx="6">
                  <c:v>Nhạc, phim, sách nói</c:v>
                </c:pt>
                <c:pt idx="7">
                  <c:v>Game &amp; Đồ chơi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0.020473536942181614</c:v>
                </c:pt>
                <c:pt idx="1">
                  <c:v>0.02125613141367095</c:v>
                </c:pt>
                <c:pt idx="2">
                  <c:v>0.02143155327789191</c:v>
                </c:pt>
                <c:pt idx="3">
                  <c:v>0.025491348319258332</c:v>
                </c:pt>
                <c:pt idx="4">
                  <c:v>0.025802492603307168</c:v>
                </c:pt>
                <c:pt idx="5">
                  <c:v>0.02701180505099728</c:v>
                </c:pt>
                <c:pt idx="6">
                  <c:v>0.0283964670915687</c:v>
                </c:pt>
                <c:pt idx="7">
                  <c:v>0.03439022477986408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Giảm giá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0,5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10,9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22,9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33,3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34,4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0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37,0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Mùa xuân (SPRING5)</c:v>
                </c:pt>
                <c:pt idx="1">
                  <c:v>Black Friday (BF15)</c:v>
                </c:pt>
                <c:pt idx="2">
                  <c:v>Giáng sinh (XMAS10)</c:v>
                </c:pt>
                <c:pt idx="3">
                  <c:v>Back to school (BTS10)</c:v>
                </c:pt>
                <c:pt idx="4">
                  <c:v>Năm mới (NEWYEAR5)</c:v>
                </c:pt>
                <c:pt idx="5">
                  <c:v>Ưu đãi đặt online (WEB10)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0.5241399999999999</c:v>
                </c:pt>
                <c:pt idx="1">
                  <c:v>10.883899999999999</c:v>
                </c:pt>
                <c:pt idx="2">
                  <c:v>22.85443</c:v>
                </c:pt>
                <c:pt idx="3">
                  <c:v>33.327400000000004</c:v>
                </c:pt>
                <c:pt idx="4">
                  <c:v>34.41312</c:v>
                </c:pt>
                <c:pt idx="5">
                  <c:v>36.971669999999996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Số đơn</c:v>
                </c:pt>
              </c:strCache>
            </c:strRef>
          </c:tx>
          <c:spPr>
            <a:solidFill>
              <a:srgbClr val="123A7A"/>
            </a:solidFill>
            <a:ln>
              <a:noFill/>
            </a:ln>
          </c:spPr>
          <c:dPt>
            <c:idx val="0"/>
            <c:spPr>
              <a:solidFill>
                <a:srgbClr val="2E5B31"/>
              </a:solidFill>
            </c:spPr>
          </c:dPt>
          <c:dPt>
            <c:idx val="1"/>
            <c:spPr>
              <a:solidFill>
                <a:srgbClr val="C00000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25.639 (97,4%)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658 (2,5%)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29 (0,1%)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CANCELLED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25639</c:v>
                </c:pt>
                <c:pt idx="1">
                  <c:v>658</c:v>
                </c:pt>
                <c:pt idx="2">
                  <c:v>29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numFmt formatCode="#,##0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Net Revenue đơn</c:v>
                </c:pt>
                <c:pt idx="1">
                  <c:v>Online lệch thời điểm</c:v>
                </c:pt>
                <c:pt idx="2">
                  <c:v>Hoàn tiền trễ</c:v>
                </c:pt>
                <c:pt idx="3">
                  <c:v>Đơn huỷ vẫn ghi nhận</c:v>
                </c:pt>
                <c:pt idx="4">
                  <c:v>Thiếu dữ liệu ngày</c:v>
                </c:pt>
                <c:pt idx="5">
                  <c:v>Doanh thu gồm VAT</c:v>
                </c:pt>
                <c:pt idx="6">
                  <c:v>Ghi trùng bút toán</c:v>
                </c:pt>
                <c:pt idx="7">
                  <c:v>Finance cửa hàng + online</c:v>
                </c:pt>
                <c:pt idx="8">
                  <c:v>HQ-ADJ</c:v>
                </c:pt>
                <c:pt idx="9">
                  <c:v>Finance toàn chuỗi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8732.748230000001</c:v>
                </c:pt>
                <c:pt idx="2">
                  <c:v>8789.493970000001</c:v>
                </c:pt>
                <c:pt idx="3">
                  <c:v>8789.493970000001</c:v>
                </c:pt>
                <c:pt idx="4">
                  <c:v>8784.32774</c:v>
                </c:pt>
                <c:pt idx="5">
                  <c:v>8784.32774</c:v>
                </c:pt>
                <c:pt idx="6">
                  <c:v>8787.229370000001</c:v>
                </c:pt>
                <c:pt idx="7">
                  <c:v>0</c:v>
                </c:pt>
                <c:pt idx="8">
                  <c:v>8795.93491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Tổng</c:v>
                </c:pt>
              </c:strCache>
            </c:strRef>
          </c:tx>
          <c:spPr>
            <a:solidFill>
              <a:srgbClr val="123A7A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8.733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8.797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8.796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Net Revenue đơn</c:v>
                </c:pt>
                <c:pt idx="1">
                  <c:v>Online lệch thời điểm</c:v>
                </c:pt>
                <c:pt idx="2">
                  <c:v>Hoàn tiền trễ</c:v>
                </c:pt>
                <c:pt idx="3">
                  <c:v>Đơn huỷ vẫn ghi nhận</c:v>
                </c:pt>
                <c:pt idx="4">
                  <c:v>Thiếu dữ liệu ngày</c:v>
                </c:pt>
                <c:pt idx="5">
                  <c:v>Doanh thu gồm VAT</c:v>
                </c:pt>
                <c:pt idx="6">
                  <c:v>Ghi trùng bút toán</c:v>
                </c:pt>
                <c:pt idx="7">
                  <c:v>Finance cửa hàng + online</c:v>
                </c:pt>
                <c:pt idx="8">
                  <c:v>HQ-ADJ</c:v>
                </c:pt>
                <c:pt idx="9">
                  <c:v>Finance toàn chuỗi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8732.748230000001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8797.37041</c:v>
                </c:pt>
                <c:pt idx="8">
                  <c:v>0</c:v>
                </c:pt>
                <c:pt idx="9">
                  <c:v>8795.93491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Tăng</c:v>
                </c:pt>
              </c:strCache>
            </c:strRef>
          </c:tx>
          <c:spPr>
            <a:solidFill>
              <a:srgbClr val="2E5B31"/>
            </a:solidFill>
            <a:ln>
              <a:noFill/>
            </a:ln>
          </c:spPr>
          <c:dLbls>
            <c:dLbl>
              <c:idx val="1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+59,7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+17,0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+2,9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+10,1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Net Revenue đơn</c:v>
                </c:pt>
                <c:pt idx="1">
                  <c:v>Online lệch thời điểm</c:v>
                </c:pt>
                <c:pt idx="2">
                  <c:v>Hoàn tiền trễ</c:v>
                </c:pt>
                <c:pt idx="3">
                  <c:v>Đơn huỷ vẫn ghi nhận</c:v>
                </c:pt>
                <c:pt idx="4">
                  <c:v>Thiếu dữ liệu ngày</c:v>
                </c:pt>
                <c:pt idx="5">
                  <c:v>Doanh thu gồm VAT</c:v>
                </c:pt>
                <c:pt idx="6">
                  <c:v>Ghi trùng bút toán</c:v>
                </c:pt>
                <c:pt idx="7">
                  <c:v>Finance cửa hàng + online</c:v>
                </c:pt>
                <c:pt idx="8">
                  <c:v>HQ-ADJ</c:v>
                </c:pt>
                <c:pt idx="9">
                  <c:v>Finance toàn chuỗi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59.68278</c:v>
                </c:pt>
                <c:pt idx="2">
                  <c:v>0</c:v>
                </c:pt>
                <c:pt idx="3">
                  <c:v>17.00268</c:v>
                </c:pt>
                <c:pt idx="4">
                  <c:v>0</c:v>
                </c:pt>
                <c:pt idx="5">
                  <c:v>2.90163</c:v>
                </c:pt>
                <c:pt idx="6">
                  <c:v>10.14104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Giảm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</c:spPr>
          <c:dLbls>
            <c:dLbl>
              <c:idx val="2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−2,9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−22,2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00" b="1" i="0">
                        <a:solidFill>
                          <a:srgbClr val="22222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−1,4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Net Revenue đơn</c:v>
                </c:pt>
                <c:pt idx="1">
                  <c:v>Online lệch thời điểm</c:v>
                </c:pt>
                <c:pt idx="2">
                  <c:v>Hoàn tiền trễ</c:v>
                </c:pt>
                <c:pt idx="3">
                  <c:v>Đơn huỷ vẫn ghi nhận</c:v>
                </c:pt>
                <c:pt idx="4">
                  <c:v>Thiếu dữ liệu ngày</c:v>
                </c:pt>
                <c:pt idx="5">
                  <c:v>Doanh thu gồm VAT</c:v>
                </c:pt>
                <c:pt idx="6">
                  <c:v>Ghi trùng bút toán</c:v>
                </c:pt>
                <c:pt idx="7">
                  <c:v>Finance cửa hàng + online</c:v>
                </c:pt>
                <c:pt idx="8">
                  <c:v>HQ-ADJ</c:v>
                </c:pt>
                <c:pt idx="9">
                  <c:v>Finance toàn chuỗi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2.93704</c:v>
                </c:pt>
                <c:pt idx="3">
                  <c:v>0</c:v>
                </c:pt>
                <c:pt idx="4">
                  <c:v>22.16891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1.4355</c:v>
                </c:pt>
                <c:pt idx="9">
                  <c:v>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0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820.0"/>
          <c:min val="866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1pPr>
            <a:lvl2pPr marL="0" marR="0" lvl="1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2pPr>
            <a:lvl3pPr marL="0" marR="0" lvl="2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3pPr>
            <a:lvl4pPr marL="0" marR="0" lvl="3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4pPr>
            <a:lvl5pPr marL="0" marR="0" lvl="4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5pPr>
            <a:lvl6pPr marL="0" marR="0" lvl="5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6pPr>
            <a:lvl7pPr marL="0" marR="0" lvl="6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7pPr>
            <a:lvl8pPr marL="0" marR="0" lvl="7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8pPr>
            <a:lvl9pPr marL="0" marR="0" lvl="8" indent="0" algn="ctr">
              <a:spcBef>
                <a:spcPts val="0"/>
              </a:spcBef>
              <a:buNone/>
              <a:defRPr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-2512" y="738391"/>
            <a:ext cx="12192000" cy="136156"/>
          </a:xfrm>
          <a:prstGeom prst="rect">
            <a:avLst/>
          </a:prstGeom>
          <a:solidFill>
            <a:srgbClr val="D89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3" descr="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103" y="47409"/>
            <a:ext cx="1815898" cy="718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-2512" y="738391"/>
            <a:ext cx="12192000" cy="136156"/>
          </a:xfrm>
          <a:prstGeom prst="rect">
            <a:avLst/>
          </a:prstGeom>
          <a:solidFill>
            <a:srgbClr val="D89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86690" y="93504"/>
            <a:ext cx="13677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15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19.png"/><Relationship Id="rId8" Type="http://schemas.openxmlformats.org/officeDocument/2006/relationships/image" Target="../media/image38.png"/><Relationship Id="rId9" Type="http://schemas.openxmlformats.org/officeDocument/2006/relationships/image" Target="../media/image11.png"/><Relationship Id="rId10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chart" Target="../charts/chart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24959" y="1172886"/>
            <a:ext cx="12167041" cy="148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A6FF"/>
              </a:buClr>
              <a:buSzPts val="4800"/>
              <a:buFont typeface="Times New Roman"/>
              <a:buNone/>
            </a:pPr>
            <a:r>
              <a:rPr lang="vi-VN" b="1">
                <a:solidFill>
                  <a:srgbClr val="2FA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EDA MENTORSHIP</a:t>
            </a:r>
            <a:endParaRPr b="1">
              <a:solidFill>
                <a:srgbClr val="2FA6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1759047" y="275942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sz="36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Project 1</a:t>
            </a:r>
            <a:endParaRPr sz="3600" b="1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None/>
            </a:pPr>
            <a:endParaRPr b="1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147249" y="6488668"/>
            <a:ext cx="5044752" cy="369332"/>
          </a:xfrm>
          <a:prstGeom prst="rect">
            <a:avLst/>
          </a:prstGeom>
          <a:solidFill>
            <a:srgbClr val="F8D6F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Proofreaders &amp; QA/QC: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2237591" y="4588698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 extrusionOk="0">
                <a:moveTo>
                  <a:pt x="647780" y="323890"/>
                </a:moveTo>
                <a:cubicBezTo>
                  <a:pt x="647780" y="502747"/>
                  <a:pt x="502787" y="647740"/>
                  <a:pt x="323930" y="647740"/>
                </a:cubicBezTo>
                <a:cubicBezTo>
                  <a:pt x="145073" y="647740"/>
                  <a:pt x="80" y="502747"/>
                  <a:pt x="80" y="323890"/>
                </a:cubicBezTo>
                <a:cubicBezTo>
                  <a:pt x="80" y="145033"/>
                  <a:pt x="145073" y="40"/>
                  <a:pt x="323930" y="40"/>
                </a:cubicBezTo>
                <a:cubicBezTo>
                  <a:pt x="502787" y="40"/>
                  <a:pt x="647780" y="145033"/>
                  <a:pt x="647780" y="323890"/>
                </a:cubicBezTo>
                <a:close/>
              </a:path>
            </a:pathLst>
          </a:cu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3228191" y="4341048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 extrusionOk="0">
                <a:moveTo>
                  <a:pt x="80" y="40"/>
                </a:moveTo>
                <a:lnTo>
                  <a:pt x="80" y="1143040"/>
                </a:lnTo>
              </a:path>
            </a:pathLst>
          </a:custGeom>
          <a:noFill/>
          <a:ln w="14275" cap="flat" cmpd="sng">
            <a:solidFill>
              <a:srgbClr val="E0C89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327251" y="4245798"/>
            <a:ext cx="1278255" cy="43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spc="0">
                <a:solidFill>
                  <a:srgbClr val="B886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Mentor: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327250" y="4731580"/>
            <a:ext cx="22920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spc="0">
                <a:solidFill>
                  <a:srgbClr val="1C36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Vũ Quang Huy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3327251" y="5118288"/>
            <a:ext cx="2591364" cy="39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spc="0">
                <a:solidFill>
                  <a:srgbClr val="1C36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 Nguyễn Vân Anh</a:t>
            </a:r>
            <a:endParaRPr/>
          </a:p>
        </p:txBody>
      </p:sp>
      <p:pic>
        <p:nvPicPr>
          <p:cNvPr id="100" name="Google Shape;100;p13" descr="Graduation cap Generic Flat icon | Magnific (trước đây là Freepik)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59047" y="4189736"/>
            <a:ext cx="1478669" cy="147866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/>
          <p:nvPr/>
        </p:nvSpPr>
        <p:spPr>
          <a:xfrm>
            <a:off x="6598699" y="4720143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 extrusionOk="0">
                <a:moveTo>
                  <a:pt x="648320" y="323880"/>
                </a:moveTo>
                <a:cubicBezTo>
                  <a:pt x="648320" y="502737"/>
                  <a:pt x="503327" y="647730"/>
                  <a:pt x="324470" y="647730"/>
                </a:cubicBezTo>
                <a:cubicBezTo>
                  <a:pt x="145613" y="647730"/>
                  <a:pt x="620" y="502737"/>
                  <a:pt x="620" y="323880"/>
                </a:cubicBezTo>
                <a:cubicBezTo>
                  <a:pt x="620" y="145023"/>
                  <a:pt x="145613" y="30"/>
                  <a:pt x="324470" y="30"/>
                </a:cubicBezTo>
                <a:cubicBezTo>
                  <a:pt x="503327" y="30"/>
                  <a:pt x="648320" y="145023"/>
                  <a:pt x="648320" y="323880"/>
                </a:cubicBezTo>
                <a:close/>
              </a:path>
            </a:pathLst>
          </a:cu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7156878" y="4245805"/>
            <a:ext cx="338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1" spc="0">
                <a:solidFill>
                  <a:srgbClr val="2E8B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Guardian:</a:t>
            </a:r>
            <a:endParaRPr/>
          </a:p>
        </p:txBody>
      </p:sp>
      <p:pic>
        <p:nvPicPr>
          <p:cNvPr id="108" name="Google Shape;108;p13" descr="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235" y="73262"/>
            <a:ext cx="2479685" cy="98154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3327251" y="5484048"/>
            <a:ext cx="2591364" cy="39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1C3664"/>
                </a:solidFill>
                <a:latin typeface="Times New Roman"/>
                <a:cs typeface="Times New Roman"/>
                <a:sym typeface="Times New Roman"/>
              </a:rPr>
              <a:t>Đinh Lan Hương</a:t>
            </a:r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371600" y="3310128"/>
            <a:ext cx="9445752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200" b="0" i="1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Kết quả bán hàng và đối soát doanh thu · Nexa 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538135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6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9164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Bối cảnh bán lẻ và đối soát doanh thu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" y="153619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2608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277063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6052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400507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9496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Nguồn dữ liệu và data modeling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523951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9164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53619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92608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77063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416052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400507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5394960"/>
            <a:ext cx="5257800" cy="868680"/>
          </a:xfrm>
          <a:prstGeom prst="roundRect">
            <a:avLst>
              <a:gd name="adj" fmla="val 20000"/>
            </a:avLst>
          </a:prstGeom>
          <a:solidFill>
            <a:srgbClr val="FBE4D4"/>
          </a:solidFill>
          <a:ln w="19050">
            <a:solidFill>
              <a:srgbClr val="BF9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9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Báo cáo đầu ra và thang chấm điểm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5239512"/>
            <a:ext cx="1371600" cy="310896"/>
          </a:xfrm>
          <a:prstGeom prst="roundRect">
            <a:avLst>
              <a:gd name="adj" fmla="val 20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PHẦN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Bối cảnh bán lẻ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Tình huống thực tế: còn 10 phút trước cuộc họp với Finance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Muốn tin con số doanh thu, trước hết phải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khớp được số của mình với số Finance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417320"/>
            <a:ext cx="3200400" cy="32461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463040" y="1554480"/>
            <a:ext cx="1005840" cy="100584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5" name="Picture 1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324" y="1775764"/>
            <a:ext cx="563270" cy="56327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502920" y="2606040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8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Còn </a:t>
            </a:r>
            <a:r>
              <a:rPr sz="18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10 phút</a:t>
            </a:r>
            <a:r>
              <a:rPr sz="18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trước họp</a:t>
            </a:r>
          </a:p>
          <a:p>
            <a:pPr algn="ctr">
              <a:buNone/>
            </a:pPr>
            <a:r>
              <a:rPr sz="18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với Finance</a:t>
            </a:r>
          </a:p>
        </p:txBody>
      </p:sp>
      <p:pic>
        <p:nvPicPr>
          <p:cNvPr id="147" name="Picture 1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310128"/>
            <a:ext cx="731520" cy="73152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502920" y="4069080"/>
            <a:ext cx="29260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4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Sales Manager cần trả lời nhanh 3 câu hỏi</a:t>
            </a:r>
          </a:p>
        </p:txBody>
      </p:sp>
      <p:sp>
        <p:nvSpPr>
          <p:cNvPr id="149" name="Right Arrow 148"/>
          <p:cNvSpPr/>
          <p:nvPr/>
        </p:nvSpPr>
        <p:spPr>
          <a:xfrm>
            <a:off x="3611880" y="2788920"/>
            <a:ext cx="320040" cy="411480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3977639" y="141732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087368" y="1691640"/>
            <a:ext cx="457200" cy="45720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2" name="Oval 151"/>
          <p:cNvSpPr/>
          <p:nvPr/>
        </p:nvSpPr>
        <p:spPr>
          <a:xfrm>
            <a:off x="4645152" y="1645920"/>
            <a:ext cx="548640" cy="54864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3" name="Picture 1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2" y="1766620"/>
            <a:ext cx="307238" cy="307238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5303520" y="1472184"/>
            <a:ext cx="347472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Quy mô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Tháng này Nexa Home thực sự bán được bao nhiêu (Net Revenue, số đơn)?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977639" y="251460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087368" y="2788920"/>
            <a:ext cx="457200" cy="45720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7" name="Oval 156"/>
          <p:cNvSpPr/>
          <p:nvPr/>
        </p:nvSpPr>
        <p:spPr>
          <a:xfrm>
            <a:off x="4645152" y="2743200"/>
            <a:ext cx="548640" cy="54864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5852" y="2863900"/>
            <a:ext cx="307238" cy="307238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5303520" y="2569464"/>
            <a:ext cx="347472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Chất lượng doanh thu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Bao nhiêu bị mất vì giảm giá, hoàn trả, đơn huỷ?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977639" y="361188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4087368" y="38862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858768"/>
            <a:ext cx="512064" cy="512064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5303520" y="3666744"/>
            <a:ext cx="347472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Khớp số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Vì sao số của Sales khác số Finance xác nhận? Chênh ở đâu, bao nhiêu?</a:t>
            </a:r>
          </a:p>
        </p:txBody>
      </p:sp>
      <p:sp>
        <p:nvSpPr>
          <p:cNvPr id="164" name="Right Arrow 163"/>
          <p:cNvSpPr/>
          <p:nvPr/>
        </p:nvSpPr>
        <p:spPr>
          <a:xfrm>
            <a:off x="8869680" y="2788920"/>
            <a:ext cx="320040" cy="411480"/>
          </a:xfrm>
          <a:prstGeom prst="rightArrow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9235440" y="1417320"/>
            <a:ext cx="2587752" cy="324612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030968" y="1554480"/>
            <a:ext cx="1005840" cy="100584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2252" y="1775764"/>
            <a:ext cx="563270" cy="56327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9326880" y="2651760"/>
            <a:ext cx="2404872" cy="6858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8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Data Analyst</a:t>
            </a:r>
          </a:p>
          <a:p>
            <a:pPr algn="ctr">
              <a:buNone/>
            </a:pPr>
            <a:r>
              <a:rPr sz="18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bán lẻ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326880" y="3337560"/>
            <a:ext cx="2404872" cy="12801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Tính KPI từ dữ liệu đơn hàng, đối chiếu với Finance và giải thích từng chênh lệch vượt ngưỡng bằng con số</a:t>
            </a:r>
          </a:p>
        </p:txBody>
      </p:sp>
      <p:sp>
        <p:nvSpPr>
          <p:cNvPr id="170" name="Pentagon 169"/>
          <p:cNvSpPr/>
          <p:nvPr/>
        </p:nvSpPr>
        <p:spPr>
          <a:xfrm>
            <a:off x="384048" y="4983480"/>
            <a:ext cx="2240280" cy="868680"/>
          </a:xfrm>
          <a:prstGeom prst="homePlate">
            <a:avLst>
              <a:gd name="adj" fmla="val 2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Doanh thu hình thành thế nào</a:t>
            </a:r>
          </a:p>
        </p:txBody>
      </p:sp>
      <p:sp>
        <p:nvSpPr>
          <p:cNvPr id="171" name="Chevron 170"/>
          <p:cNvSpPr/>
          <p:nvPr/>
        </p:nvSpPr>
        <p:spPr>
          <a:xfrm>
            <a:off x="2670048" y="4983480"/>
            <a:ext cx="2240280" cy="868680"/>
          </a:xfrm>
          <a:prstGeom prst="chevron">
            <a:avLst>
              <a:gd name="adj" fmla="val 25000"/>
            </a:avLst>
          </a:prstGeom>
          <a:solidFill>
            <a:srgbClr val="548235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Hai hệ thống ghi nhận khác nhau</a:t>
            </a:r>
          </a:p>
        </p:txBody>
      </p:sp>
      <p:sp>
        <p:nvSpPr>
          <p:cNvPr id="172" name="Chevron 171"/>
          <p:cNvSpPr/>
          <p:nvPr/>
        </p:nvSpPr>
        <p:spPr>
          <a:xfrm>
            <a:off x="4956048" y="4983480"/>
            <a:ext cx="2240280" cy="868680"/>
          </a:xfrm>
          <a:prstGeom prst="chevron">
            <a:avLst>
              <a:gd name="adj" fmla="val 2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Vai trò DA và Finance</a:t>
            </a:r>
          </a:p>
        </p:txBody>
      </p:sp>
      <p:sp>
        <p:nvSpPr>
          <p:cNvPr id="173" name="Chevron 172"/>
          <p:cNvSpPr/>
          <p:nvPr/>
        </p:nvSpPr>
        <p:spPr>
          <a:xfrm>
            <a:off x="7242048" y="4983480"/>
            <a:ext cx="2240280" cy="868680"/>
          </a:xfrm>
          <a:prstGeom prst="chevron">
            <a:avLst>
              <a:gd name="adj" fmla="val 25000"/>
            </a:avLst>
          </a:prstGeom>
          <a:solidFill>
            <a:srgbClr val="548235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Xây dashboard 4 trang</a:t>
            </a:r>
          </a:p>
        </p:txBody>
      </p:sp>
      <p:sp>
        <p:nvSpPr>
          <p:cNvPr id="174" name="Chevron 173"/>
          <p:cNvSpPr/>
          <p:nvPr/>
        </p:nvSpPr>
        <p:spPr>
          <a:xfrm>
            <a:off x="9528048" y="4983480"/>
            <a:ext cx="2240280" cy="868680"/>
          </a:xfrm>
          <a:prstGeom prst="chevron">
            <a:avLst>
              <a:gd name="adj" fmla="val 2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274320" tIns="18288" rIns="182880" bIns="18288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Giải thích chênh lệch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Bối cảnh bán lẻ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Nexa Home bán hàng thế nào và doanh thu đi qua những bước nào?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đơn hàng chỉ thành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doanh thu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khi đã hoàn tất; hoàn trả làm giảm doanh thu ở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tháng trả hàng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65760" y="1417320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8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66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5760" y="1947672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(POS)</a:t>
            </a:r>
          </a:p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tại 8 quốc gia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246120" y="137160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246120" y="1417320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8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246120" y="1947672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kênh online</a:t>
            </a:r>
          </a:p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website/app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26480" y="137160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26480" y="1417320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8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2.517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26480" y="1947672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sản phẩm</a:t>
            </a:r>
          </a:p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điện tử, gia dụng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006840" y="1371600"/>
            <a:ext cx="26974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006840" y="1417320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28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26.326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06840" y="1947672"/>
            <a:ext cx="269748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hàng</a:t>
            </a:r>
          </a:p>
          <a:p>
            <a:pPr algn="ctr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01/2016 → 20/02/2021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65760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05840" y="2926080"/>
            <a:ext cx="731520" cy="73152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74" y="3087014"/>
            <a:ext cx="409651" cy="409651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411480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1 · Đặt hàng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38912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order_date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POS: trả tiền, nhận hàng ngay</a:t>
            </a:r>
          </a:p>
        </p:txBody>
      </p:sp>
      <p:sp>
        <p:nvSpPr>
          <p:cNvPr id="160" name="Right Arrow 159"/>
          <p:cNvSpPr/>
          <p:nvPr/>
        </p:nvSpPr>
        <p:spPr>
          <a:xfrm>
            <a:off x="2395728" y="4069080"/>
            <a:ext cx="2743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2697479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3337559" y="2926080"/>
            <a:ext cx="731520" cy="731520"/>
          </a:xfrm>
          <a:prstGeom prst="ellipse">
            <a:avLst/>
          </a:prstGeom>
          <a:solidFill>
            <a:srgbClr val="0F6E56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494" y="3087014"/>
            <a:ext cx="409651" cy="409651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2743199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2 · Giao hàng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770632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delivery_date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chỉ đơn online</a:t>
            </a:r>
          </a:p>
        </p:txBody>
      </p:sp>
      <p:sp>
        <p:nvSpPr>
          <p:cNvPr id="166" name="Right Arrow 165"/>
          <p:cNvSpPr/>
          <p:nvPr/>
        </p:nvSpPr>
        <p:spPr>
          <a:xfrm>
            <a:off x="4727448" y="4069080"/>
            <a:ext cx="2743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5029200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8" name="Picture 16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926080"/>
            <a:ext cx="731520" cy="73152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5074920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3 · Hoàn tất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02352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order_status = COMPLETED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(huỷ, đang giao: không tính)</a:t>
            </a:r>
          </a:p>
        </p:txBody>
      </p:sp>
      <p:sp>
        <p:nvSpPr>
          <p:cNvPr id="171" name="Right Arrow 170"/>
          <p:cNvSpPr/>
          <p:nvPr/>
        </p:nvSpPr>
        <p:spPr>
          <a:xfrm>
            <a:off x="7059168" y="4069080"/>
            <a:ext cx="2743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7360919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8000999" y="292608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934" y="3087014"/>
            <a:ext cx="409651" cy="409651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7406640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4 · Hoàn trả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434071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return_date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trừ vào tháng trả hàng</a:t>
            </a:r>
          </a:p>
        </p:txBody>
      </p:sp>
      <p:sp>
        <p:nvSpPr>
          <p:cNvPr id="177" name="Right Arrow 176"/>
          <p:cNvSpPr/>
          <p:nvPr/>
        </p:nvSpPr>
        <p:spPr>
          <a:xfrm>
            <a:off x="9390888" y="4069080"/>
            <a:ext cx="274320" cy="36576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9692640" y="2788920"/>
            <a:ext cx="2011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332719" y="2926080"/>
            <a:ext cx="731520" cy="73152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80" name="Picture 17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3654" y="3087014"/>
            <a:ext cx="409651" cy="409651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9738360" y="3749039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5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5 · Finance ghi nhận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765792" y="4160520"/>
            <a:ext cx="1865376" cy="1645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posting_date</a:t>
            </a:r>
          </a:p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 ngày bán · online ngày giao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Bối cảnh bán lẻ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Vì sao số đơn hàng khác số Finance và ai làm gì trong đối soát?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Chênh lệch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không phải lúc nào cũng là lỗi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phải tách lệch thời điểm, lệch quy tắc và lỗi thật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5623560" cy="22402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02920" y="141732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6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Cùng một giao dịch, hai cách ghi sổ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2920" y="1828800"/>
            <a:ext cx="109728" cy="731520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" y="1810512"/>
            <a:ext cx="521208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Dữ liệu đơn hàng (POS, website)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theo ngày đặt hàng, có cả đơn huỷ, đơn đang giao, dòng trùng do lỗi tải dữ liệu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02920" y="2697480"/>
            <a:ext cx="109728" cy="7315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85800" y="2679192"/>
            <a:ext cx="521208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File Finance (finance_revenue.xlsx)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theo ngày hạch toán: online khi giao xong, hoàn tiền khi Finance xử lý; mã cửa hàng riêng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65760" y="3749039"/>
            <a:ext cx="5623560" cy="224028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02920" y="379476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6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Nếu không đối soát thì sao?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2920" y="4206240"/>
            <a:ext cx="5394960" cy="1737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Sales báo cáo một số, Finance báo cáo số khác → lãnh đạo không biết tin số nào</a:t>
            </a:r>
          </a:p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Thưởng doanh số, chỉ tiêu cửa hàng tính trên số sai</a:t>
            </a:r>
          </a:p>
          <a:p>
            <a:pPr algn="l" marL="182880" indent="-18288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Lỗi thật (ghi trùng, thiếu dữ liệu, sai thuế) bị che lấp trong tổng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63640" y="1371600"/>
            <a:ext cx="54864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6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Ba vai trò trong một vòng đối soát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263640" y="182880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400800" y="2103120"/>
            <a:ext cx="685800" cy="68580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253996"/>
            <a:ext cx="384048" cy="384048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7223760" y="1874519"/>
            <a:ext cx="4526280" cy="11430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Data Analyst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Tính KPI từ dữ liệu đơn · ghép với Finance theo tháng × cửa hàng × kênh · lập bảng giải thích chênh lệch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263640" y="320040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400800" y="3474720"/>
            <a:ext cx="685800" cy="68580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9" name="Picture 15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3625596"/>
            <a:ext cx="384048" cy="384048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7223760" y="3246120"/>
            <a:ext cx="4526280" cy="11430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Finance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Cung cấp số đã xác nhận · xác nhận nguyên nhân phía sổ sách (bút toán trùng, thiếu dữ liệu, VAT)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263640" y="4572000"/>
            <a:ext cx="55778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864608"/>
            <a:ext cx="640080" cy="64008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7223760" y="4617720"/>
            <a:ext cx="4526280" cy="11430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Cửa hàng / E-commerce</a:t>
            </a:r>
          </a:p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Xác nhận trạng thái đơn, ngày giao, hoàn trả khi DA hỏi lại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Hai sản phẩm cần nộp, 3 bộ lọc dùng chung và 4 trang dashboard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trang có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yêu cầu tối thiểu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và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gợi ý mở rộng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ở các slide sau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5577840" cy="59436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640080" tIns="18288" bIns="18288"/>
          <a:lstStyle/>
          <a:p>
            <a:pPr algn="l">
              <a:buNone/>
            </a:pPr>
            <a:r>
              <a:rPr sz="16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  File Power BI</a:t>
            </a:r>
            <a:r>
              <a:rPr sz="16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– dashboard gồm 4 trang</a:t>
            </a:r>
          </a:p>
        </p:txBody>
      </p:sp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4752"/>
            <a:ext cx="457200" cy="45720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6263640" y="1371600"/>
            <a:ext cx="5577840" cy="59436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640080" tIns="18288" bIns="18288"/>
          <a:lstStyle/>
          <a:p>
            <a:pPr algn="l">
              <a:buNone/>
            </a:pPr>
            <a:r>
              <a:rPr sz="16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  Báo cáo phân tích</a:t>
            </a:r>
            <a:r>
              <a:rPr sz="16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– 8 phần theo guild_report_template</a:t>
            </a:r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44752"/>
            <a:ext cx="457200" cy="4572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365760" y="210312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Bộ lọc dùng chung cho cả 4 trang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65760" y="246888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615184"/>
            <a:ext cx="475488" cy="47548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051560" y="2487168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Tháng báo cáo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Chọn một · mặc định 12/2020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206240" y="246888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2615184"/>
            <a:ext cx="475488" cy="47548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4892040" y="2487168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Kênh bán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Tất cả · Cửa hàng (POS) · Website/app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046720" y="246888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2615184"/>
            <a:ext cx="475488" cy="475488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8732520" y="2487168"/>
            <a:ext cx="292608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Quốc gia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Tất cả hoặc 1 trong 8 quốc gia + Online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5760" y="338328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Bốn trang dashboard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6576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344168" y="3840480"/>
            <a:ext cx="731520" cy="73152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5102" y="4001414"/>
            <a:ext cx="409651" cy="409651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457200" y="4617720"/>
            <a:ext cx="25146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6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Tổng quan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75488" y="4983480"/>
            <a:ext cx="2478024" cy="9601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6 thẻ KPI · Net Revenue đơn vs Finance · số đơn · Gross → Net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24612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224528" y="3840480"/>
            <a:ext cx="731520" cy="7315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5462" y="4001414"/>
            <a:ext cx="409651" cy="409651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3337560" y="4617720"/>
            <a:ext cx="25146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6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Doanh thu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55848" y="4983480"/>
            <a:ext cx="2478024" cy="9601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 thẻ · bảng kênh · danh mục · quốc gia · AOV · Top 10 cửa hàng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12648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104888" y="3840480"/>
            <a:ext cx="731520" cy="73152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5822" y="4001414"/>
            <a:ext cx="409651" cy="409651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6217920" y="4617720"/>
            <a:ext cx="25146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6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Đối soát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4983480"/>
            <a:ext cx="2478024" cy="9601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 thẻ · Δ theo tháng · bảng cửa hàng có cờ · Δ POS và online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00684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985248" y="384048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75" name="Picture 17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6182" y="4001414"/>
            <a:ext cx="409651" cy="40965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9098280" y="4617720"/>
            <a:ext cx="25146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6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Hoàn trả &amp; chất lượng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116567" y="4983480"/>
            <a:ext cx="2478024" cy="9601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 thẻ · lý do trả · tỷ lệ theo danh mục · huỷ/đang giao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Tổng quan: 6 thẻ KPI và 3 biểu đồ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Tổng quan: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6 thẻ KPI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ở trên,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3 biểu đồ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ở dưới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11475720" cy="502920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37160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Trang 1 · Tổng quan</a:t>
            </a:r>
            <a:r>
              <a:rPr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·   Câu hỏi trang trả lời: </a:t>
            </a: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Tháng này bán được bao nhiêu và có khớp Finance không?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196596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Thẻ KPI (mỗi thẻ: giá trị + so với tháng trước + so với cùng kỳ năm trước)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2331720"/>
            <a:ext cx="1798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2359152"/>
            <a:ext cx="161544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 Sales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301240" y="2331720"/>
            <a:ext cx="1798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392680" y="2359152"/>
            <a:ext cx="161544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36720" y="2331720"/>
            <a:ext cx="1798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328160" y="2359152"/>
            <a:ext cx="161544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đơn hoàn tất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đơn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172200" y="2331720"/>
            <a:ext cx="1798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263640" y="2359152"/>
            <a:ext cx="161544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AOV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USD/đơn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107680" y="2331720"/>
            <a:ext cx="1798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199120" y="2359152"/>
            <a:ext cx="161544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ASP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USD/sản phẩm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0043160" y="2331720"/>
            <a:ext cx="1798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134600" y="2359152"/>
            <a:ext cx="161544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Chênh lệch Finance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USD · % · số ô vượt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Biểu đồ và bảng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65760" y="3749039"/>
            <a:ext cx="3733799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9" name="Picture 1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40579"/>
            <a:ext cx="457200" cy="45720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024128" y="3776472"/>
            <a:ext cx="300228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Line chart Net Revenue: đơn vs Finance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24 tháng 01/2019–12/2020, hai đường; không bị slicer Tháng lọc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236720" y="3749039"/>
            <a:ext cx="3733799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448" y="4640579"/>
            <a:ext cx="457200" cy="457200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4895088" y="3776472"/>
            <a:ext cx="300228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Line chart số đơn hoàn tất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Theo tháng đặt hàng, cùng 24 tháng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107680" y="3749039"/>
            <a:ext cx="3733799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7408" y="4640579"/>
            <a:ext cx="457200" cy="45720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8766048" y="3776472"/>
            <a:ext cx="300228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Waterfall Gross → Net Revenue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Tháng đang chọn: Gross − Giảm giá − Hoàn trả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Doanh thu: doanh thu đến từ kênh, danh mục, quốc gia nào?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thu: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bảng kênh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, 3 biểu đồ cơ cấu và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Top 10 cửa hàng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1147572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137160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Trang 2 · Doanh thu</a:t>
            </a:r>
            <a:r>
              <a:rPr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·   Câu hỏi trang trả lời: </a:t>
            </a: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Doanh thu tập trung ở đâu, kênh nào tăng?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196596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Thẻ KPI (mỗi thẻ: giá trị + so với tháng trước + so với cùng kỳ năm trước)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2331720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2359152"/>
            <a:ext cx="548640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172200" y="2331720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263640" y="2359152"/>
            <a:ext cx="548640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sản phẩm bán (Units)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sản phẩm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Biểu đồ và bảng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65760" y="3749039"/>
            <a:ext cx="373379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1" name="Picture 1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046220"/>
            <a:ext cx="457200" cy="4572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024128" y="3776472"/>
            <a:ext cx="3002280" cy="99669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Bảng doanh thu theo kênh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Sales, tỷ trọng, số đơn, tháng trước, cùng kỳ, thay đổi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236720" y="3749039"/>
            <a:ext cx="373379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448" y="4046220"/>
            <a:ext cx="457200" cy="4572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4895088" y="3776472"/>
            <a:ext cx="3002280" cy="99669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Pie cơ cấu danh mục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 theo category, tối đa 7 lát + Khác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107680" y="3749039"/>
            <a:ext cx="373379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7" name="Picture 15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7408" y="4046220"/>
            <a:ext cx="457200" cy="45720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8766048" y="3776472"/>
            <a:ext cx="3002280" cy="99669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Treemap quốc gia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 theo country (Online là một ô)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65760" y="4937759"/>
            <a:ext cx="373379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5234940"/>
            <a:ext cx="457200" cy="45720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1024128" y="4965192"/>
            <a:ext cx="3002280" cy="99669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Bar AOV theo kênh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 và Website/app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236720" y="4937759"/>
            <a:ext cx="373379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3" name="Picture 16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6448" y="5234940"/>
            <a:ext cx="457200" cy="45720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4895088" y="4965192"/>
            <a:ext cx="3002280" cy="99669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Bảng Top 10 cửa hàng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Sales, số đơn, tháng trước, cùng kỳ, ▲/▼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Đối soát: số của mình lệch Finance bao nhiêu, ở đâu?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Đối soát: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 = Finance − dữ liệu đơn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cờ khi |Δ| &gt;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200 USD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và |Δ%| &gt;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11475720" cy="502920"/>
          </a:xfrm>
          <a:prstGeom prst="rect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137160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Trang 3 · Đối soát</a:t>
            </a:r>
            <a:r>
              <a:rPr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·   Câu hỏi trang trả lời: </a:t>
            </a: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Chênh lệch nằm ở cửa hàng nào, tháng nào, kênh nào?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196596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Thẻ KPI (mỗi thẻ: giá trị + so với tháng trước + so với cùng kỳ năm trước)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 (đơn)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26898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36042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 (Finance)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7220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6364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Chênh lệch Δ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USD · Δ% · Δ sau quy đổi online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07542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6686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ô vượt ngưỡng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tháng × cửa hàng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Biểu đồ và bảng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6576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40579"/>
            <a:ext cx="457200" cy="45720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2412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Line chart Δ theo tháng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gốc và Δ sau khi quy online về ngày giao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26898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4640579"/>
            <a:ext cx="457200" cy="457200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392734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Bảng đối soát theo cửa hàng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Đơn, Finance, Δ, Δ%, Δ sau quy đổi, cờ Vượt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7220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640579"/>
            <a:ext cx="457200" cy="45720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683056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Line chart Δ kênh POS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Theo tháng, USD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07542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5148" y="4640579"/>
            <a:ext cx="457200" cy="4572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73378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Line chart Δ kênh online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Gốc và sau quy về delivery_date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Hoàn trả &amp; chất lượng: bao nhiêu doanh thu bị mất?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Tỷ lệ hoàn trả tăng là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tín hiệu xấu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hiển thị màu đảo, thay đổi bằng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điểm 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11475720" cy="5029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137160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Trang 4 · Hoàn trả &amp; chất lượng</a:t>
            </a:r>
            <a:r>
              <a:rPr sz="15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·   Câu hỏi trang trả lời: </a:t>
            </a: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Doanh thu có "sạch" không: trả hàng, huỷ đơn, dữ liệu lỗi?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1965960"/>
            <a:ext cx="109728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Thẻ KPI (mỗi thẻ: giá trị + so với tháng trước + so với cùng kỳ năm trước)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6576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5720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Giá trị hoàn trả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nghìn USD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26898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36042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Tỷ lệ hoàn trả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% · thay đổi tính bằng điểm %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7220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26364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huỷ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đơn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075420" y="2331720"/>
            <a:ext cx="27660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166860" y="2359152"/>
            <a:ext cx="25831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Dòng trùng đã loại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dòng · kèm số đơn PENDING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Biểu đồ và bảng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6576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640579"/>
            <a:ext cx="457200" cy="45720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2412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Pie giá trị hoàn trả theo lý do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Lỗi sản phẩm, giao nhầm, giao trễ, đổi ý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26898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4640579"/>
            <a:ext cx="457200" cy="457200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392734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Bảng tỷ lệ hoàn trả theo danh mục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Sales, hoàn trả, tỷ lệ, tháng trước, cùng kỳ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17220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1" name="Picture 16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640579"/>
            <a:ext cx="457200" cy="45720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683056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Line chart tỷ lệ hoàn trả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Theo tháng, %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075420" y="3749039"/>
            <a:ext cx="27660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5148" y="4640579"/>
            <a:ext cx="457200" cy="4572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733788" y="3776472"/>
            <a:ext cx="2034540" cy="2185416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Line chart đơn huỷ và đang giao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Theo tháng đặt hàng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Đề bài xây dựng dashboard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Bảng tự rà soát mức độ hoàn thiện sản phẩm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Tự rà soát: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Bắt buộc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Nên có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Sáng tạo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3657600" cy="50292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Bắt buộc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75488" y="1965960"/>
            <a:ext cx="3474720" cy="3931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Bỏ 120 dòng trùng, chỉ tính đơn COMPLETED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 trang đủ thẻ KPI, biểu đồ, bảng theo yêu cầu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3 slicer dùng chung, đồng bộ cả 4 trang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Thẻ KPI so với tháng trước và cùng tháng năm trước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Map Finance theo valid_from / valid_to, tách HQ-ADJ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đối soát có cờ vượt ngưỡng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206240" y="137160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4206240" y="1371600"/>
            <a:ext cx="3657600" cy="50292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Nên có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15968" y="1965960"/>
            <a:ext cx="3474720" cy="3931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online sau khi quy về delivery_date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Line chart không bị slicer Tháng lọc (đủ 24 tháng)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Caption "Hình N" cho mỗi biểu đồ, bảng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rõ đơn vị: USD, nghìn USD, %, điểm %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Nút Đặt lại và điều hướng giữa 4 trang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Màu đảo cho hoàn trả, ▲/▼ ở cột thay đổi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046720" y="137160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8046720" y="1371600"/>
            <a:ext cx="3657600" cy="50292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Sáng tạo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156448" y="1965960"/>
            <a:ext cx="3474720" cy="3931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Drill-through "Chi tiết cửa hàng – ngày"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Tooltip Δ theo ngày khi rê chuột vào ô vượt ngưỡng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giải thích chênh lệch: tổng nguyên nhân = Δ</a:t>
            </a:r>
          </a:p>
          <a:p>
            <a:pPr algn="l" marL="274320" indent="-274320">
              <a:spcAft>
                <a:spcPts val="700"/>
              </a:spcAft>
              <a:buFont typeface="Arial"/>
              <a:buChar char="☐"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Dùng fx_rate, unit_cost, dim_customer (bảng bổ sung)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Cây KPI: từ Gross Sales đến chênh lệch với Finance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Hiểu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định nghĩa và thứ tự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trước, viết DAX sau: Gross → Net Sales → Net Revenue → Δ Finance</a:t>
            </a:r>
          </a:p>
        </p:txBody>
      </p:sp>
      <p:pic>
        <p:nvPicPr>
          <p:cNvPr id="143" name="Picture 142" descr="04_cay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8" y="1325880"/>
            <a:ext cx="10806243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Nhóm doanh thu: định nghĩa, công thức và một ví dụ tính tay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Net Revenue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là con số đem đi đối soát; Net Sales là mẫu số chung của AOV, ASP, tỷ lệ hoàn trả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Gross Sales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212848" y="146304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Σ quantity × unit_price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37760" y="1417320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COMPLETED, đã bỏ dòng trùng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65760" y="2304288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65760" y="2304288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Discounts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212848" y="2395728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Σ discount_amount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37760" y="2350008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Khuyến mãi theo promo_code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65760" y="3236976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365760" y="3236976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Sales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212848" y="3328416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Gross Sales − Discounts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937760" y="3282696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sau giảm giá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65760" y="4169664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365760" y="4169664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Returns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212848" y="4261104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Σ return_amount theo return_date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937760" y="4215384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Trừ vào tháng trả hàng, không phải tháng bán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65760" y="5102352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365760" y="5102352"/>
            <a:ext cx="1737360" cy="822960"/>
          </a:xfrm>
          <a:prstGeom prst="roundRect">
            <a:avLst>
              <a:gd name="adj" fmla="val 6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Revenue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212848" y="5193792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Net Sales − Returns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937760" y="5148072"/>
            <a:ext cx="2057400" cy="7315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 số so với Finance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269480" y="1371600"/>
            <a:ext cx="4572000" cy="46177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7269480" y="1371600"/>
            <a:ext cx="457200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Ví dụ tính tay (sheet sample_transactions)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406640" y="1901952"/>
            <a:ext cx="4297680" cy="7315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Đơn 690000 · cửa hàng POS · 6 dòng · mã BF15 (giảm 15%)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406640" y="2514600"/>
            <a:ext cx="4297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498079" y="2542032"/>
            <a:ext cx="219456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Gross Sales</a:t>
            </a:r>
          </a:p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Σ quantity × unit_price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601200" y="2542032"/>
            <a:ext cx="201168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r">
              <a:buNone/>
            </a:pP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5.509,99 USD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406640" y="3383280"/>
            <a:ext cx="4297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498079" y="3410712"/>
            <a:ext cx="219456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5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− Discounts</a:t>
            </a:r>
          </a:p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Σ discount_amount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601200" y="3410712"/>
            <a:ext cx="201168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r">
              <a:buNone/>
            </a:pP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826,50 USD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7406640" y="4251960"/>
            <a:ext cx="4297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498079" y="4279392"/>
            <a:ext cx="219456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5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= Net Sales</a:t>
            </a:r>
          </a:p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Gross − Discounts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601200" y="4279392"/>
            <a:ext cx="2011680" cy="694944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r">
              <a:buNone/>
            </a:pP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4.683,49 USD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406640" y="5120640"/>
            <a:ext cx="429768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Kiểm tra: 826,50 / 5.509,99 = 15,0% ≈ 15% khuyến mãi. Đơn này không có hoàn trả nên Net Revenue = Net Sales.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Nhóm đơn hàng và giá: Orders, Units, AOV, ASP, Return Rate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Orders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đếm đơn, không đếm dòng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AOV, ASP và tỷ lệ hoàn trả đều chia cho Net Sales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7223757" cy="301751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14777"/>
                <a:gridCol w="2720057"/>
                <a:gridCol w="1962008"/>
                <a:gridCol w="1426915"/>
              </a:tblGrid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KPI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Công thức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chú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Giá trị 12/2020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Orders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DISTINCTCOUNT(order_number)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COMPLETED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310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 quantity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COMPLETED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2.359 sản phẩm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AOV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Sales / Orders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Giá trị trung bình mỗi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1.986,49 USD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Sales / Units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Giá bán trung bình mỗi sản phẩm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261,05 USD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 Rate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Returns / Net Sales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Tăng là xấu, đo bằng điểm 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1,57%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365760" y="4480560"/>
            <a:ext cx="722376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Kiểm chứng: AOV = 615.811,74 / 310 = 1.986,49 USD/đơn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818120" y="1371600"/>
            <a:ext cx="4023360" cy="46177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7818120" y="1371600"/>
            <a:ext cx="402336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Bốn mốc thời gian</a:t>
            </a:r>
          </a:p>
        </p:txBody>
      </p:sp>
      <p:sp>
        <p:nvSpPr>
          <p:cNvPr id="147" name="Oval 146"/>
          <p:cNvSpPr/>
          <p:nvPr/>
        </p:nvSpPr>
        <p:spPr>
          <a:xfrm>
            <a:off x="7955279" y="196596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458200" y="1892807"/>
            <a:ext cx="329184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Tháng báo cáo</a:t>
            </a: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 12/2020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chọn trên slicer</a:t>
            </a:r>
          </a:p>
        </p:txBody>
      </p:sp>
      <p:sp>
        <p:nvSpPr>
          <p:cNvPr id="149" name="Oval 148"/>
          <p:cNvSpPr/>
          <p:nvPr/>
        </p:nvSpPr>
        <p:spPr>
          <a:xfrm>
            <a:off x="7955279" y="2834639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458200" y="2761487"/>
            <a:ext cx="329184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Tháng trước (LM)</a:t>
            </a: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 11/2020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so sánh gần nhất</a:t>
            </a:r>
          </a:p>
        </p:txBody>
      </p:sp>
      <p:sp>
        <p:nvSpPr>
          <p:cNvPr id="151" name="Oval 150"/>
          <p:cNvSpPr/>
          <p:nvPr/>
        </p:nvSpPr>
        <p:spPr>
          <a:xfrm>
            <a:off x="7955279" y="370332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458200" y="3630168"/>
            <a:ext cx="329184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Cùng kỳ năm trước (SPLY)</a:t>
            </a: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 12/2019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loại bỏ yếu tố mùa vụ</a:t>
            </a:r>
          </a:p>
        </p:txBody>
      </p:sp>
      <p:sp>
        <p:nvSpPr>
          <p:cNvPr id="153" name="Oval 152"/>
          <p:cNvSpPr/>
          <p:nvPr/>
        </p:nvSpPr>
        <p:spPr>
          <a:xfrm>
            <a:off x="7955279" y="457200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458200" y="4498848"/>
            <a:ext cx="329184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Lũy kế năm (YTD)</a:t>
            </a: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 01–12/2020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cộng dồn từ tháng 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955279" y="5440680"/>
            <a:ext cx="379476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Δ% = (Hiện tại − Kỳ so sánh) / Kỳ so sánh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65760" y="4892040"/>
            <a:ext cx="7223760" cy="109728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137160" tIns="36576" rIns="137160" bIns="36576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Bẫy thường gặp: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đếm COUNT(order_number) trên bảng dòng → số đơn bị nhân theo số sản phẩm trong đơn; tính AOV trên Gross thay vì Net Sales → AOV cao hơn thực tế.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Quy tắc trạng thái đơn và quy tắc ghi nhận của Finance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Chỉ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COMPLETED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vào doanh thu; Finance ghi online theo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ngày giao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, hoàn tiền theo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ngày hạch toán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65760" y="132588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Trạng thái đơn (dim_order_status)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173736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365760" y="173736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COMPLETED</a:t>
            </a:r>
          </a:p>
          <a:p>
            <a:pPr algn="ctr"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25.639 đơn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148840" y="1764792"/>
            <a:ext cx="3749039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Tính doanh thu: </a:t>
            </a: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Có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đã thanh toán (POS) hoặc đã giao thành công (online)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65760" y="2761488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65760" y="2761488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CANCELLED</a:t>
            </a:r>
          </a:p>
          <a:p>
            <a:pPr algn="ctr"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658 đơn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48840" y="2788920"/>
            <a:ext cx="3749039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Tính doanh thu: </a:t>
            </a: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Không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Khách huỷ hoặc thanh toán thất bại; loại khỏi mọi KPI doanh thu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65760" y="3785616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365760" y="3785616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PENDING</a:t>
            </a:r>
          </a:p>
          <a:p>
            <a:pPr algn="ctr"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 đơn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148840" y="3813048"/>
            <a:ext cx="3749039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Tính doanh thu: </a:t>
            </a: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Không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online chưa giao tại ngày trích dữ liệu 20/02/2021; chưa đủ điều kiện ghi nhận doanh thu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5760" y="4846320"/>
            <a:ext cx="557784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Tổng 26.326 đơn = 25.639 + 658 + 29. PENDING là đơn online chưa giao tại ngày trích 20/02/2021.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132588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Finance ghi nhận khi nào?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263640" y="1737360"/>
            <a:ext cx="5577840" cy="941832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00800" y="1764792"/>
            <a:ext cx="5349240" cy="8961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POS · Retail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nhận doanh thu tại ngày đặt hàng (khách thanh toán và nhận hàng ngay)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263640" y="2788920"/>
            <a:ext cx="5577840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00800" y="2816351"/>
            <a:ext cx="5349240" cy="8961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ONLINE · E-commerce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Ghi nhận doanh thu tại ngày giao hàng thành công (delivery_date)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6263640" y="3840479"/>
            <a:ext cx="5577840" cy="941832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400800" y="3867911"/>
            <a:ext cx="5349240" cy="8961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Hoàn tiền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Finance hạch toán vào ngày xử lý, có thể trễ vài ngày sau return_date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263640" y="4892040"/>
            <a:ext cx="5577840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00800" y="4919472"/>
            <a:ext cx="5349240" cy="8961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VAT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net_revenue chưa gồm VAT; vat_amount = 10% × net_revenue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Hệ thống chỉ số KPI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Chênh lệch Δ và ngưỡng cho phép: khi nào phải giải thích?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Chỉ ô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tháng × cửa hàng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vượt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cả hai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điều kiện mới bắt buộc giải thích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6400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 Finance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94560" y="1399032"/>
            <a:ext cx="45262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Finance Net Revenue − Net Revenue (đơn)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Dương: Finance ghi cao hơn dữ liệu đơn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65760" y="2395728"/>
            <a:ext cx="6400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365760" y="2395728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Δ 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94560" y="2423160"/>
            <a:ext cx="45262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/ |Finance Net Revenue|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Chia cho trị tuyệt đối để giữ dấu của Δ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65760" y="3419856"/>
            <a:ext cx="6400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365760" y="3419856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Cờ vượt ngưỡng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194560" y="3447288"/>
            <a:ext cx="4526280" cy="8686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|Δ| &gt; 200 USD  VÀ  |Δ%| &gt; 1%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Xét ở mức tháng × cửa hàng (store_key 0 = online)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5760" y="4526280"/>
            <a:ext cx="6400800" cy="146304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875">
            <a:solidFill>
              <a:srgbClr val="2E5B31"/>
            </a:solidFill>
          </a:ln>
          <a:effectLst/>
        </p:spPr>
        <p:txBody>
          <a:bodyPr rtlCol="0" anchor="t" wrap="square" lIns="137160" tIns="54864" rIns="137160" bIns="36576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Vì sao cần cả hai điều kiện?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lớn: lệch 300 USD có thể chỉ 0,1% → làm tròn, không đáng giải thích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nhỏ: lệch 5% nhưng chỉ 50 USD → không đáng công truy vết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995160" y="1371600"/>
            <a:ext cx="4846320" cy="46177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995160" y="1371600"/>
            <a:ext cx="484632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Ví dụ thật, tháng 12/2020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132320" y="196596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269480" y="2011679"/>
            <a:ext cx="4343400" cy="1737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Cửa hàng S62 (United States)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Đơn: 6.191,92 · Finance: 6.278,89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= </a:t>
            </a: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+86,97 USD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· Δ% = </a:t>
            </a: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+1,4%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1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Trong ngưỡng: ghi nhận, không bắt buộc giải thích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132320" y="393192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269480" y="3977639"/>
            <a:ext cx="4343400" cy="1737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Cửa hàng S12 (France)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Đơn: 20.853,35 · Finance: 30.994,39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= </a:t>
            </a: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+10.141,04 USD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· Δ% = </a:t>
            </a: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+32,7%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Vượt ngưỡng: phải tìm nguyên nhân và số tiền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data modeling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Pipeline dữ liệu: từ file nguồn đến dashboard và báo cáo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Học viên làm 5 bước: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Power Query → Mô hình → DAX → Dashboard → Báo cáo</a:t>
            </a:r>
          </a:p>
        </p:txBody>
      </p:sp>
      <p:pic>
        <p:nvPicPr>
          <p:cNvPr id="143" name="Picture 142" descr="01_pipeline_du_li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1" y="1325880"/>
            <a:ext cx="1103277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data modeling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Cấu trúc bộ dữ liệu Nexa Home và hai bảng fact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bảng có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hạt dữ liệu (grain)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khác nhau: dòng sản phẩm, lần trả hàng, ngày × mã cửa hàng Finance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65760" y="1371600"/>
            <a:ext cx="1005840" cy="9601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>
              <a:buNone/>
            </a:pPr>
            <a:r>
              <a:rPr sz="26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25880" y="1389888"/>
            <a:ext cx="169164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file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Dataset + Finance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246120" y="13716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246120" y="1371600"/>
            <a:ext cx="1005840" cy="9601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>
              <a:buNone/>
            </a:pPr>
            <a:r>
              <a:rPr sz="26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2 + 1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206240" y="1389888"/>
            <a:ext cx="169164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fact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đơn · trả hàng · Finance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126480" y="13716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126480" y="1371600"/>
            <a:ext cx="1005840" cy="9601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>
              <a:buNone/>
            </a:pPr>
            <a:r>
              <a:rPr sz="26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086600" y="1389888"/>
            <a:ext cx="169164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dim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ngày, cửa hàng, sản phẩm…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006840" y="137160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006840" y="1371600"/>
            <a:ext cx="1005840" cy="9601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ctr">
              <a:buNone/>
            </a:pPr>
            <a:r>
              <a:rPr sz="26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966960" y="1389888"/>
            <a:ext cx="1691640" cy="9144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map</a:t>
            </a:r>
          </a:p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mã Finance → store_key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65760" y="251460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365760" y="2514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fact_sales_line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63.004 dòng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57200" y="3017520"/>
            <a:ext cx="3474720" cy="2926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Hạt dữ liệu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sản phẩm trong một đơn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Trường chính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order_number · line_item · order_date · delivery_date · store_key · channel_code · product_key · quantity · unit_price · promo_code · discount_amount · order_status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Lưu ý: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Có 120 dòng trùng hoàn toàn cần loại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206240" y="251460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4206240" y="2514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fact_return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2.430 dòng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297680" y="3017520"/>
            <a:ext cx="3474720" cy="2926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Hạt dữ liệu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lần trả hàng của một dòng bán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Trường chính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return_id · order_number · line_item · return_date · return_qty · return_amount · return_reason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Lưu ý: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có store_key: lấy qua order_number + line_item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046720" y="251460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8046720" y="2514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finance_revenue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  19.400 dòng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138160" y="3017520"/>
            <a:ext cx="3474720" cy="2926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Hạt dữ liệu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ngày hạch toán × một mã cửa hàng Finance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Trường chính</a:t>
            </a:r>
          </a:p>
          <a:p>
            <a:pPr algn="l">
              <a:buNone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posting_date · fin_store_code · fin_channel · entry_type · revenue_recognized · refunds · net_revenue · vat_amount</a:t>
            </a:r>
          </a:p>
          <a:p>
            <a:pPr algn="l">
              <a:spcBef>
                <a:spcPts val="600"/>
              </a:spcBef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Lưu ý: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fin_store_code ≠ store_key: phải map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data modeling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Các bảng dim và bảng hỗ trợ: dùng để lọc, nhóm và quy đổi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dim_date phải được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Mark as date table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để dùng DATEADD, SAMEPERIODLASTYEAR, DATESYTD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dim_date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1.917</a:t>
            </a:r>
          </a:p>
        </p:txBody>
      </p:sp>
      <p:pic>
        <p:nvPicPr>
          <p:cNvPr id="145" name="Picture 1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38528"/>
            <a:ext cx="411480" cy="41148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932688" y="187451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ngày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251460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date · month_id · month_label · year · has_data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246120" y="137160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324612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dim_store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67</a:t>
            </a:r>
          </a:p>
        </p:txBody>
      </p:sp>
      <p:pic>
        <p:nvPicPr>
          <p:cNvPr id="150" name="Picture 1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938528"/>
            <a:ext cx="411480" cy="41148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3813048" y="187451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cửa hàng (0 = Online)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37560" y="251460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store_key · store_code · channel_code · country · region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126480" y="137160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612648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dim_product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2.517</a:t>
            </a:r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938528"/>
            <a:ext cx="411480" cy="41148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693408" y="187451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Một dòng = một sản phẩm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217920" y="251460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product_key · category · subcategory · brand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006840" y="1371600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900684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7F7F7F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dim_customer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15.266</a:t>
            </a:r>
          </a:p>
        </p:txBody>
      </p:sp>
      <p:pic>
        <p:nvPicPr>
          <p:cNvPr id="160" name="Picture 1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1938528"/>
            <a:ext cx="411480" cy="41148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9573767" y="187451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bổ sung (sáng tạo)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098280" y="251460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customer_key · country · continent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6576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365760" y="3749039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dim_channel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2</a:t>
            </a:r>
          </a:p>
        </p:txBody>
      </p:sp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15968"/>
            <a:ext cx="411480" cy="41148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932688" y="425195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 / ONLINE + quy tắc ghi nhận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7200" y="489204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channel_code · fin_channel · revenue_recognition_rule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24612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3246120" y="3749039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dim_promotion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7</a:t>
            </a:r>
          </a:p>
        </p:txBody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4315968"/>
            <a:ext cx="411480" cy="411480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3813048" y="425195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Mã khuyến mãi và % giảm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337560" y="489204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promo_code · promo_name · discount_pct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12648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6126480" y="3749039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dim_order_status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3</a:t>
            </a:r>
          </a:p>
        </p:txBody>
      </p:sp>
      <p:pic>
        <p:nvPicPr>
          <p:cNvPr id="175" name="Picture 17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4315968"/>
            <a:ext cx="411480" cy="41148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6693408" y="425195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Trạng thái và có tính doanh thu không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217920" y="489204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order_status · count_in_revenue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006840" y="3749039"/>
            <a:ext cx="26974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9006840" y="3749039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45720" tIns="18288" rIns="45720" bIns="18288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map_store_finance</a:t>
            </a:r>
            <a:r>
              <a:rPr sz="1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· 69</a:t>
            </a:r>
          </a:p>
        </p:txBody>
      </p:sp>
      <p:pic>
        <p:nvPicPr>
          <p:cNvPr id="180" name="Picture 17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280" y="4315968"/>
            <a:ext cx="411480" cy="411480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9573767" y="4251959"/>
            <a:ext cx="2084831" cy="59436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Mã Finance → store_key theo hiệu lực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098280" y="4892040"/>
            <a:ext cx="2514600" cy="10515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2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fin_store_code · store_key · valid_from · valid_to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data modeling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Mô hình dữ liệu dạng star schema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Quan hệ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1 → nhiều, lọc một chiều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delivery_date là quan hệ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inactive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, bật bằng USERELATIONSHIP</a:t>
            </a:r>
          </a:p>
        </p:txBody>
      </p:sp>
      <p:pic>
        <p:nvPicPr>
          <p:cNvPr id="143" name="Picture 142" descr="02_mo_hinh_du_lie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99" y="1298448"/>
            <a:ext cx="6887641" cy="4754880"/>
          </a:xfrm>
          <a:prstGeom prst="rect">
            <a:avLst/>
          </a:prstGeom>
        </p:spPr>
      </p:pic>
      <p:sp>
        <p:nvSpPr>
          <p:cNvPr id="144" name="Rounded Rectangle 143"/>
          <p:cNvSpPr/>
          <p:nvPr/>
        </p:nvSpPr>
        <p:spPr>
          <a:xfrm>
            <a:off x="8138160" y="1371600"/>
            <a:ext cx="3703320" cy="46177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8138160" y="1371600"/>
            <a:ext cx="370332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dựng trong Power BI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229600" y="1920240"/>
            <a:ext cx="352044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fact_sales_line[order_date]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dim_date: active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fact_sales_line[delivery_date]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dim_date: inactive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fact_return[return_date]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→ dim_date: active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fact_return: merge store_key, channel_code, product_key từ fact_sales_line trong Power Query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fact_finance: map store_key trong Power Query, nối dim_date theo posting_date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nối 2 bảng fact trực tiếp với nhau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data modeling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map_store_finance: quy đổi mã cửa hàng Finance theo ngày hiệu lực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Join chỉ theo fin_store_code là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chưa đủ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phải thêm điều kiện posting_date nằm trong [valid_from, valid_to]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11475717" cy="2286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24880"/>
                <a:gridCol w="1117105"/>
                <a:gridCol w="1320215"/>
                <a:gridCol w="1320215"/>
                <a:gridCol w="6093302"/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fin_store_code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store_key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valid_from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valid_to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chú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ECOM-01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01/01/2016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31/12/2099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AUS-01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01/01/2016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31/12/2099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GBR-03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01/01/2016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30/06/2019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Mã cũ, ngừng dùng sau khi đổi hệ thống kế toán cửa hàng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GBR-03N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01/07/2019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31/12/2099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Mã mới từ 01/07/2019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HQ-ADJ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01/01/2016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31/12/2099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Bút toán điều chỉnh tại văn phòng chính, không thuộc cửa hàng nào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144" name="Rounded Rectangle 143"/>
          <p:cNvSpPr/>
          <p:nvPr/>
        </p:nvSpPr>
        <p:spPr>
          <a:xfrm>
            <a:off x="365760" y="38404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365760" y="384048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Bẫy 1 · Đổi mã cửa hàng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5488" y="4343400"/>
            <a:ext cx="3438144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38 dùng mã GBR-03 đến 30/06/2019, sau đó GBR-03N. Map không theo hiệu lực → doanh thu từ 07/2019 thành "không xác định cửa hàng" hoặc bị nhân đôi.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206240" y="38404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4206240" y="384048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Bẫy 2 · Dòng HQ-ADJ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315968" y="4343400"/>
            <a:ext cx="3438144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Bút toán điều chỉnh tại văn phòng chính, store_key trống. Không gán vào cửa hàng nào; giải thích ở cấp tổng chuỗi.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046720" y="38404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8046720" y="384048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làm trong Power Query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156448" y="4343400"/>
            <a:ext cx="3438144" cy="1600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Merge finance với map theo fin_store_code → lọc posting_date ≥ valid_from và ≤ valid_to → kiểm tra số dòng vẫn = 19.400.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Nguồn dữ liệu và data modeling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Quy tắc làm sạch và số dòng phải khớp sau khi nạp (QC_Summary)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Chưa khớp số dòng thì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chưa tính KPI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mọi sai lệch phía sau đều bắt đầu từ bước này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7680960" cy="46177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651760"/>
                <a:gridCol w="1828800"/>
                <a:gridCol w="3200400"/>
              </a:tblGrid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Kiểm tra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Kết quả cần khớp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chú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fact_sales_line nạp vào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63.004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Gồm dòng trùng cài sẵn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Bỏ dòng trùng hoàn toàn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− 120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Còn 62.884 dòng; khoá order_number + line_item duy nhất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Tổng số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26.326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Đếm phân biệt order_number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COMPLETED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25.639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Chỉ nhóm này vào KPI doanh thu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CANCELLED / PENDING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658 / 29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Loại khỏi KPI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fact_return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2.430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Mỗi dòng khớp 1 dòng bán COMPLETED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finance_revenue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19.400 dòng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Sau khi map vẫn đủ số dòng, không nhân đôi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dim_store / dim_product / dim_date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67 / 2.517 / 1.917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dim_date phủ 01/01/2016 → 31/03/2021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4" name="Rounded Rectangle 143"/>
          <p:cNvSpPr/>
          <p:nvPr/>
        </p:nvSpPr>
        <p:spPr>
          <a:xfrm>
            <a:off x="8275320" y="1371600"/>
            <a:ext cx="3566160" cy="46177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8275320" y="1371600"/>
            <a:ext cx="356616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Ba quy tắc làm sạch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66760" y="1920240"/>
            <a:ext cx="338328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1. Bỏ trùng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Power Query → Remove Duplicates trên toàn bộ cột</a:t>
            </a:r>
          </a:p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2. Lọc trạng thái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Giữ dữ liệu đủ cột, lọc COMPLETED trong measure để vẫn đếm được đơn huỷ</a:t>
            </a:r>
          </a:p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3. Đúng kiểu dữ liệu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Ngày là Date, tiền là Decimal, store_key là Whole Number ở mọi bảng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Doanh thu theo năm: dữ liệu đơn và Finance, 2016–2021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Hai nguồn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gần khớp ở cấp năm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chênh lệch chỉ lộ ra khi xuống tháng × cửa hàng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758952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758952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Revenue theo năm (triệu USD)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11480" y="5678424"/>
            <a:ext cx="749808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1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* 2021: chỉ đến 20/02/2021</a:t>
            </a:r>
          </a:p>
        </p:txBody>
      </p:sp>
      <p:graphicFrame>
        <p:nvGraphicFramePr>
          <p:cNvPr id="146" name="Chart 145"/>
          <p:cNvGraphicFramePr>
            <a:graphicFrameLocks noGrp="1"/>
          </p:cNvGraphicFramePr>
          <p:nvPr/>
        </p:nvGraphicFramePr>
        <p:xfrm>
          <a:off x="457200" y="1737360"/>
          <a:ext cx="740664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7" name="Rounded Rectangle 146"/>
          <p:cNvSpPr/>
          <p:nvPr/>
        </p:nvSpPr>
        <p:spPr>
          <a:xfrm>
            <a:off x="8183879" y="1371600"/>
            <a:ext cx="365760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8183879" y="1371600"/>
            <a:ext cx="365760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Đọc nhanh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75320" y="1920240"/>
            <a:ext cx="347472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2020: 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8,73 triệu USD</a:t>
            </a:r>
            <a:r>
              <a:rPr sz="1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, −48,4% so với 2019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đơn: 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8.842 → 4.528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AOV gần như đi ngang: 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1.965 → 1.975 USD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4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Lệch Finance − đơn 2020: 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+63.187 USD</a:t>
            </a: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(+0,72%)</a:t>
            </a:r>
          </a:p>
          <a:p>
            <a:pPr algn="l">
              <a:spcBef>
                <a:spcPts val="400"/>
              </a:spcBef>
              <a:buNone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Câu hỏi: </a:t>
            </a:r>
            <a:r>
              <a:rPr sz="14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giảm do ít đơn hơn hay đơn nhỏ hơn?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Xu hướng theo tháng 2019–2020: hai đường gần như chồng nhau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Đỉnh cuối năm, đáy tháng 4; năm </a:t>
            </a:r>
            <a:r>
              <a:rPr sz="17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sụt mạnh từ tháng 3 – cần nêu bối cảnh khi viết báo cáo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822960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822960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Revenue theo tháng (nghìn USD)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11480" y="5678424"/>
            <a:ext cx="81381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100" b="0" i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Dữ liệu đơn: Net Sales theo order_date − Returns theo return_date. Finance: theo posting_date.</a:t>
            </a:r>
          </a:p>
        </p:txBody>
      </p:sp>
      <p:graphicFrame>
        <p:nvGraphicFramePr>
          <p:cNvPr id="146" name="Chart 145"/>
          <p:cNvGraphicFramePr>
            <a:graphicFrameLocks noGrp="1"/>
          </p:cNvGraphicFramePr>
          <p:nvPr/>
        </p:nvGraphicFramePr>
        <p:xfrm>
          <a:off x="457200" y="1737360"/>
          <a:ext cx="80467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8778240" y="1371600"/>
            <a:ext cx="3063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5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Ba điều cần thấy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778240" y="1783080"/>
            <a:ext cx="3063240" cy="128016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869680" y="1828800"/>
            <a:ext cx="2880360" cy="11887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Đỉnh 12/19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2.263 nghìn USD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778240" y="3200400"/>
            <a:ext cx="3063240" cy="128016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869680" y="3246120"/>
            <a:ext cx="2880360" cy="11887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Tháng báo cáo 12/2020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606 nghìn USD, Finance 592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778240" y="4617720"/>
            <a:ext cx="3063240" cy="128016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869680" y="4663440"/>
            <a:ext cx="2880360" cy="11887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Online lệch thời điểm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Đường Finance trễ hơn ở các tháng có nhiều đơn online giao sang tháng sau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Kênh bán: cửa hàng chiếm phần lớn, online có quy tắc ghi nhận riêng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Online chỉ chiếm khoảng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22%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Net Sales nhưng là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nguồn chênh lệch lớn nhất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khi đối soát theo tháng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658368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658368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Tỷ trọng Net Sales theo kênh</a:t>
            </a:r>
          </a:p>
        </p:txBody>
      </p:sp>
      <p:graphicFrame>
        <p:nvGraphicFramePr>
          <p:cNvPr id="145" name="Chart 144"/>
          <p:cNvGraphicFramePr>
            <a:graphicFrameLocks noGrp="1"/>
          </p:cNvGraphicFramePr>
          <p:nvPr/>
        </p:nvGraphicFramePr>
        <p:xfrm>
          <a:off x="457200" y="1737360"/>
          <a:ext cx="64008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6" name="Rectangle 145"/>
          <p:cNvSpPr/>
          <p:nvPr/>
        </p:nvSpPr>
        <p:spPr>
          <a:xfrm>
            <a:off x="7178040" y="1371600"/>
            <a:ext cx="466344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178040" y="1371600"/>
            <a:ext cx="466344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AOV theo kênh năm 2020 (USD/đơn)</a:t>
            </a:r>
          </a:p>
        </p:txBody>
      </p:sp>
      <p:graphicFrame>
        <p:nvGraphicFramePr>
          <p:cNvPr id="148" name="Chart 147"/>
          <p:cNvGraphicFramePr>
            <a:graphicFrameLocks noGrp="1"/>
          </p:cNvGraphicFramePr>
          <p:nvPr/>
        </p:nvGraphicFramePr>
        <p:xfrm>
          <a:off x="7269480" y="1737360"/>
          <a:ext cx="448056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9" name="Rounded Rectangle 148"/>
          <p:cNvSpPr/>
          <p:nvPr/>
        </p:nvSpPr>
        <p:spPr>
          <a:xfrm>
            <a:off x="7178040" y="4343400"/>
            <a:ext cx="4663440" cy="16459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137160" tIns="36576" rIns="137160" bIns="36576"/>
          <a:lstStyle/>
          <a:p>
            <a:pPr algn="l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Vì sao online quan trọng khi đối soát? </a:t>
            </a:r>
          </a:p>
          <a:p>
            <a:pPr algn="l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Dữ liệu đơn tính theo ngày đặt, Finance tính theo ngày giao: đơn đặt cuối tháng, giao đầu tháng sau sẽ "nhảy" sang tháng khác.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Danh mục năm 2020: ai tạo doanh thu, ai bị trả hàng nhiều?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Danh mục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lớn nhất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chưa chắc có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tỷ lệ hoàn trả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cao nhất: đọc hai biểu đồ cùng nhau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566928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5669280" cy="329184"/>
          </a:xfrm>
          <a:prstGeom prst="rect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Net Sales theo danh mục 2020 (nghìn USD)</a:t>
            </a:r>
          </a:p>
        </p:txBody>
      </p:sp>
      <p:graphicFrame>
        <p:nvGraphicFramePr>
          <p:cNvPr id="145" name="Chart 144"/>
          <p:cNvGraphicFramePr>
            <a:graphicFrameLocks noGrp="1"/>
          </p:cNvGraphicFramePr>
          <p:nvPr/>
        </p:nvGraphicFramePr>
        <p:xfrm>
          <a:off x="457200" y="1737360"/>
          <a:ext cx="54864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6" name="Rectangle 145"/>
          <p:cNvSpPr/>
          <p:nvPr/>
        </p:nvSpPr>
        <p:spPr>
          <a:xfrm>
            <a:off x="6263640" y="1371600"/>
            <a:ext cx="557784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263640" y="1371600"/>
            <a:ext cx="5577840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Tỷ lệ hoàn trả = Returns / Net Sales, 2020</a:t>
            </a:r>
          </a:p>
        </p:txBody>
      </p:sp>
      <p:graphicFrame>
        <p:nvGraphicFramePr>
          <p:cNvPr id="148" name="Chart 147"/>
          <p:cNvGraphicFramePr>
            <a:graphicFrameLocks noGrp="1"/>
          </p:cNvGraphicFramePr>
          <p:nvPr/>
        </p:nvGraphicFramePr>
        <p:xfrm>
          <a:off x="6355080" y="1737360"/>
          <a:ext cx="5394960" cy="41605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Khám phá dữ liệu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Khuyến mãi và trạng thái đơn: doanh thu bị "bào mòn" ở đâu?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Giảm giá năm </a:t>
            </a:r>
            <a:r>
              <a:rPr sz="17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138.975 USD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sz="17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1,5%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Gross Sales); đơn huỷ và đang giao phải loại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603504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6035040" cy="32918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Giá trị giảm giá theo chương trình 2020 (nghìn USD)</a:t>
            </a:r>
          </a:p>
        </p:txBody>
      </p:sp>
      <p:graphicFrame>
        <p:nvGraphicFramePr>
          <p:cNvPr id="145" name="Chart 144"/>
          <p:cNvGraphicFramePr>
            <a:graphicFrameLocks noGrp="1"/>
          </p:cNvGraphicFramePr>
          <p:nvPr/>
        </p:nvGraphicFramePr>
        <p:xfrm>
          <a:off x="457200" y="1737360"/>
          <a:ext cx="585216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6" name="Rectangle 145"/>
          <p:cNvSpPr/>
          <p:nvPr/>
        </p:nvSpPr>
        <p:spPr>
          <a:xfrm>
            <a:off x="6629400" y="1371600"/>
            <a:ext cx="521208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629400" y="1371600"/>
            <a:ext cx="5212080" cy="329184"/>
          </a:xfrm>
          <a:prstGeom prst="rect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Số đơn theo trạng thái, toàn bộ dữ liệu</a:t>
            </a:r>
          </a:p>
        </p:txBody>
      </p:sp>
      <p:graphicFrame>
        <p:nvGraphicFramePr>
          <p:cNvPr id="148" name="Chart 147"/>
          <p:cNvGraphicFramePr>
            <a:graphicFrameLocks noGrp="1"/>
          </p:cNvGraphicFramePr>
          <p:nvPr/>
        </p:nvGraphicFramePr>
        <p:xfrm>
          <a:off x="6720840" y="1737360"/>
          <a:ext cx="502920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9" name="Rounded Rectangle 148"/>
          <p:cNvSpPr/>
          <p:nvPr/>
        </p:nvSpPr>
        <p:spPr>
          <a:xfrm>
            <a:off x="6629400" y="4343400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37160" tIns="36576" rIns="137160" bIns="36576"/>
          <a:lstStyle/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18,8%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Gross Sales 2020 đến từ dòng có khuyến mãi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PENDING đều là đơn online đặt sát ngày trích dữ liệu: tính nhầm → doanh thu cao hơn Finance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Bản đồ measure: viết theo thứ tự, measure sau dùng lại measure trước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viết lại công thức: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[Net Revenue] = [Net Sales] − [Returns]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– sửa một chỗ, đúng mọi nơi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· Doanh thu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02920" y="201168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Gross Sales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02920" y="278892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Discounts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02920" y="356616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Net Sales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02920" y="434340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Returns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02920" y="512064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Net Revenue</a:t>
            </a:r>
          </a:p>
        </p:txBody>
      </p:sp>
      <p:sp>
        <p:nvSpPr>
          <p:cNvPr id="150" name="Right Arrow 149"/>
          <p:cNvSpPr/>
          <p:nvPr/>
        </p:nvSpPr>
        <p:spPr>
          <a:xfrm>
            <a:off x="2551176" y="3520440"/>
            <a:ext cx="128016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2679191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2679191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0F6E56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· Đơn &amp; giá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816351" y="201168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Orders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816351" y="278892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Units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816351" y="356616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AOV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816351" y="434340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ASP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816351" y="512064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0F6E56"/>
                </a:solidFill>
                <a:latin typeface="Times New Roman"/>
                <a:ea typeface="Times New Roman"/>
                <a:cs typeface="Times New Roman"/>
              </a:rPr>
              <a:t>Return Rate</a:t>
            </a:r>
          </a:p>
        </p:txBody>
      </p:sp>
      <p:sp>
        <p:nvSpPr>
          <p:cNvPr id="158" name="Right Arrow 157"/>
          <p:cNvSpPr/>
          <p:nvPr/>
        </p:nvSpPr>
        <p:spPr>
          <a:xfrm>
            <a:off x="4864608" y="3520440"/>
            <a:ext cx="128016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4992624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4992624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· Thời gian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129784" y="201168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… LM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129784" y="278892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… SPLY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129784" y="356616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… YTD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129784" y="434340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% vs LM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129784" y="512064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% vs SPLY</a:t>
            </a:r>
          </a:p>
        </p:txBody>
      </p:sp>
      <p:sp>
        <p:nvSpPr>
          <p:cNvPr id="166" name="Right Arrow 165"/>
          <p:cNvSpPr/>
          <p:nvPr/>
        </p:nvSpPr>
        <p:spPr>
          <a:xfrm>
            <a:off x="7178040" y="3520440"/>
            <a:ext cx="128016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7306056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7306056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 · Finance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443216" y="201168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Finance Net Revenue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443216" y="278892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 Finance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443216" y="356616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Δ Finance %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7443216" y="434340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Cờ vượt ngưỡng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7443216" y="512064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Số ô vượt ngưỡng</a:t>
            </a:r>
          </a:p>
        </p:txBody>
      </p:sp>
      <p:sp>
        <p:nvSpPr>
          <p:cNvPr id="174" name="Right Arrow 173"/>
          <p:cNvSpPr/>
          <p:nvPr/>
        </p:nvSpPr>
        <p:spPr>
          <a:xfrm>
            <a:off x="9491472" y="3520440"/>
            <a:ext cx="128016" cy="32004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9619488" y="1371600"/>
            <a:ext cx="21762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9619488" y="1371600"/>
            <a:ext cx="2176272" cy="50292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 · Quy đổi online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756648" y="201168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Net Sales (ngày giao)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756648" y="278892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Net Sales (cơ sở Finance)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756648" y="3566160"/>
            <a:ext cx="1901952" cy="59436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Δ sau quy đổi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DAX nhóm doanh thu: từ Gross Sales đến Net Revenue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Lọc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order_status = "COMPLETED"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ngay trong measure; Returns dùng quan hệ ngày trả hàng của fact_return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6949440" cy="4617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Gross Sales 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SUMX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fact_sales_line,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fact_sales_line[quantity]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*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fact_sales_line[unit_price]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fact_sales_line[order_status]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"COMPLETED"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Discounts 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fact_sales_line[discount_amount]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fact_sales_line[order_status]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"COMPLETED"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Sales =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[Gross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[Discounts]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Returns 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fact_return[return_amount]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  </a:t>
            </a:r>
            <a:r>
              <a:rPr sz="1300" b="0" i="1">
                <a:solidFill>
                  <a:srgbClr val="6A737D"/>
                </a:solidFill>
                <a:latin typeface="Courier New"/>
                <a:ea typeface="Courier New"/>
                <a:cs typeface="Courier New"/>
              </a:rPr>
              <a:t>// theo return_date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Revenue =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[Returns]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543800" y="1371600"/>
            <a:ext cx="42976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543800" y="1371600"/>
            <a:ext cx="42976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35240" y="1920240"/>
            <a:ext cx="411480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SUMX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nhân quantity × unit_price từng dòng rồi mới cộng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CALCULATE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thêm điều kiện COMPLETED cho mọi visual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Returns không lọc trạng thái: mọi dòng trả hàng đều thuộc đơn COMPLETED (QC đã kiểm)</a:t>
            </a:r>
          </a:p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Kiểm chứng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12/2020: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 640.551,11 − Discounts 24.739,37 = Net Sales 615.811,74; − Returns 9.686,67 = Net Revenue 606.125,07 USD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DAX nhóm đơn hàng, giá và so sánh thời gian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DIVIDE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thay cho dấu /; time intelligence cần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dim_date đã Mark as date table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5669280" cy="4617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Orders 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DISTINCTCOUNT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fact_sales_line[order_number]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fact_sales_line[order_status]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"COMPLETED"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Units 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fact_sales_line[quantity]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fact_sales_line[order_status]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"COMPLETED"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AOV 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DIVIDE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[Orders]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ASP 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DIVIDE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[Units]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Return Rate 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DIVIDE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[Returns]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17920" y="1371600"/>
            <a:ext cx="5623560" cy="32461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Revenue LM =</a:t>
            </a:r>
          </a:p>
          <a:p>
            <a:pPr algn="l">
              <a:buNone/>
            </a:pP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DATEADD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dim_date[date]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-1, MONTH ) )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Revenue SPLY =</a:t>
            </a:r>
          </a:p>
          <a:p>
            <a:pPr algn="l">
              <a:buNone/>
            </a:pP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SAMEPERIODLASTYEAR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dim_date[date]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Revenue YTD =</a:t>
            </a:r>
          </a:p>
          <a:p>
            <a:pPr algn="l">
              <a:buNone/>
            </a:pP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DATESYTD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dim_date[date]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% vs LM =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DIVIDE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 LM]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          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 LM]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217920" y="4754880"/>
            <a:ext cx="5623560" cy="12344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37160" tIns="36576" rIns="137160" bIns="36576"/>
          <a:lstStyle/>
          <a:p>
            <a:pPr algn="l"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Kiểm chứng 12/2020: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 606.125, LM 238.037 → +154,6%; SPLY 2.263.415 → −73,2%; YTD 8.732.748 USD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DAX đối soát: Finance Net Revenue, Δ, Δ% và cờ vượt ngưỡng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Cờ xét ở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tháng × cửa hàng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dùng SUMX qua từng ô thay vì so tổng của cả bảng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5669280" cy="4617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Finance Net Revenue =               </a:t>
            </a:r>
            <a:r>
              <a:rPr sz="1300" b="0" i="1">
                <a:solidFill>
                  <a:srgbClr val="6A737D"/>
                </a:solidFill>
                <a:latin typeface="Courier New"/>
                <a:ea typeface="Courier New"/>
                <a:cs typeface="Courier New"/>
              </a:rPr>
              <a:t>// bỏ HQ-ADJ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fact_finance[net_revenue]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NOT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ISBLANK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fact_finance[store_key]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Δ Finance =</a:t>
            </a:r>
          </a:p>
          <a:p>
            <a:pPr algn="l">
              <a:buNone/>
            </a:pP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[Finance Net Revenue]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Revenue]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Δ Finance % 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DIVIDE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[Δ Finance]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[Finance Net Revenue]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Cờ vượt ngưỡng 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[Δ Finance]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&gt; 200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&amp;&amp;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[Δ Finance %]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&gt; 0.01,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"Vượt"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17920" y="1371600"/>
            <a:ext cx="5623560" cy="30175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Số ô vượt ngưỡng =</a:t>
            </a:r>
          </a:p>
          <a:p>
            <a:pPr algn="l">
              <a:buNone/>
            </a:pP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SUMX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CROSSJOIN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VALUES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dim_date[month_id]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),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    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VALUES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dim_store[store_key]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),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VAR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d =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[Δ Finance]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VAR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p = </a:t>
            </a:r>
            <a:r>
              <a:rPr sz="12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[Δ Finance %]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d ) &gt; 200 &amp;&amp; </a:t>
            </a:r>
            <a:r>
              <a:rPr sz="12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ABS</a:t>
            </a: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p ) &gt; 0.01, 1 )</a:t>
            </a:r>
          </a:p>
          <a:p>
            <a:pPr algn="l">
              <a:buNone/>
            </a:pPr>
            <a:r>
              <a:rPr sz="12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217920" y="4526280"/>
            <a:ext cx="5623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36576" rIns="109728" bIns="36576"/>
          <a:lstStyle/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Context transition: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measure trong SUMX được tính lại cho từng cặp tháng × cửa hàng</a:t>
            </a:r>
          </a:p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HQ-ADJ: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store_key trống nên không thuộc ô nào; báo riêng ở tổng chuỗi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Các mẫu công thức DAX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DAX quy đổi online về ngày giao bằng USERELATIONSHIP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Nếu Δ online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biến mất sau quy đổi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thì đó là lệch thời điểm, không phải lỗi dữ liệu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6766560" cy="4617720"/>
          </a:xfrm>
          <a:prstGeom prst="roundRect">
            <a:avLst>
              <a:gd name="adj" fmla="val 3000"/>
            </a:avLst>
          </a:prstGeom>
          <a:solidFill>
            <a:srgbClr val="F6F8FA"/>
          </a:solidFill>
          <a:ln w="12700">
            <a:solidFill>
              <a:srgbClr val="C9D1D9"/>
            </a:solidFill>
          </a:ln>
          <a:effectLst/>
        </p:spPr>
        <p:txBody>
          <a:bodyPr rtlCol="0" anchor="t" wrap="square" lIns="109728" tIns="73152" bIns="54864"/>
          <a:lstStyle/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Sales (ngày giao) 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USERELATIONSHIP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fact_sales_line[delivery_date]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                 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dim_date[date]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Net Sales (cơ sở Finance) =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VAR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pos 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KEEPFILTERS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fact_sales_line[channel_code]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"POS"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VAR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onl =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CALCULATE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 (ngày giao)]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KEEPFILTERS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fact_sales_line[channel_code]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1300" b="0" i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"ONLINE"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 )</a:t>
            </a:r>
          </a:p>
          <a:p>
            <a:pPr algn="l">
              <a:buNone/>
            </a:pPr>
            <a:r>
              <a:rPr sz="1300" b="1" i="0">
                <a:solidFill>
                  <a:srgbClr val="0550AE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pos + onl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buNone/>
            </a:pP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Δ sau quy đổi =</a:t>
            </a:r>
          </a:p>
          <a:p>
            <a:pPr algn="l">
              <a:buNone/>
            </a:pP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[Finance Net Revenue]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(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[Net Sales (cơ sở Finance)]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- </a:t>
            </a:r>
            <a:r>
              <a:rPr sz="1300" b="0" i="0">
                <a:solidFill>
                  <a:srgbClr val="0F6E56"/>
                </a:solidFill>
                <a:latin typeface="Courier New"/>
                <a:ea typeface="Courier New"/>
                <a:cs typeface="Courier New"/>
              </a:rPr>
              <a:t>[Returns]</a:t>
            </a:r>
            <a:r>
              <a:rPr sz="1300" b="0" i="0">
                <a:solidFill>
                  <a:srgbClr val="24292F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360920" y="1371600"/>
            <a:ext cx="44805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360920" y="1371600"/>
            <a:ext cx="448056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452360" y="1920240"/>
            <a:ext cx="429768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USERELATIONSHIP bật quan hệ inactive delivery_date chỉ trong measure này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KEEPFILTERS giữ lựa chọn của slicer Kênh, không ghi đè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 giữ ngày đặt hàng vì Finance ghi POS theo ngày bán</a:t>
            </a:r>
          </a:p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Ví dụ 12/2020: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toàn chuỗi −12.536 USD; sau quy đổi online còn 10.276 USD → phần còn lại nằm ở kênh cửa hàng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Bố cục đề xuất 4 trang dashboard (bản tham chiếu của mentor)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Bố cục lưới: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thẻ KPI ở trên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, biểu đồ ở giữa,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bảng chi tiết ở dưới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41148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Tổng quan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65760" y="1828800"/>
            <a:ext cx="26974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5" name="Picture 144" descr="dash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2649331"/>
            <a:ext cx="2606040" cy="1376456"/>
          </a:xfrm>
          <a:prstGeom prst="rect">
            <a:avLst/>
          </a:prstGeom>
        </p:spPr>
      </p:pic>
      <p:sp>
        <p:nvSpPr>
          <p:cNvPr id="146" name="Rounded Rectangle 145"/>
          <p:cNvSpPr/>
          <p:nvPr/>
        </p:nvSpPr>
        <p:spPr>
          <a:xfrm>
            <a:off x="365760" y="49834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2E5B31"/>
            </a:solidFill>
          </a:ln>
          <a:effectLst/>
        </p:spPr>
        <p:txBody>
          <a:bodyPr rtlCol="0" anchor="ctr" wrap="square" tIns="27432" rIns="73152" bIns="27432"/>
          <a:lstStyle/>
          <a:p>
            <a:pPr algn="l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Câu hỏi để khai phá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Tháng này bán được bao nhiêu, khớp Finance chưa?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246120" y="1371600"/>
            <a:ext cx="2697480" cy="41148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Doanh thu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246120" y="1828800"/>
            <a:ext cx="26974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9" name="Picture 148" descr="dash_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39" y="2277444"/>
            <a:ext cx="2606040" cy="2120231"/>
          </a:xfrm>
          <a:prstGeom prst="rect">
            <a:avLst/>
          </a:prstGeom>
        </p:spPr>
      </p:pic>
      <p:sp>
        <p:nvSpPr>
          <p:cNvPr id="150" name="Rounded Rectangle 149"/>
          <p:cNvSpPr/>
          <p:nvPr/>
        </p:nvSpPr>
        <p:spPr>
          <a:xfrm>
            <a:off x="3246120" y="49834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txBody>
          <a:bodyPr rtlCol="0" anchor="ctr" wrap="square" tIns="27432" rIns="73152" bIns="27432"/>
          <a:lstStyle/>
          <a:p>
            <a:pPr algn="l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Câu hỏi để khai phá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đến từ kênh, danh mục, quốc gia nào?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126480" y="1371600"/>
            <a:ext cx="2697480" cy="41148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Đối soát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126480" y="1828800"/>
            <a:ext cx="26974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3" name="Picture 152" descr="dash_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316045"/>
            <a:ext cx="2606040" cy="2043029"/>
          </a:xfrm>
          <a:prstGeom prst="rect">
            <a:avLst/>
          </a:prstGeom>
        </p:spPr>
      </p:pic>
      <p:sp>
        <p:nvSpPr>
          <p:cNvPr id="154" name="Rounded Rectangle 153"/>
          <p:cNvSpPr/>
          <p:nvPr/>
        </p:nvSpPr>
        <p:spPr>
          <a:xfrm>
            <a:off x="6126480" y="49834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2700">
            <a:solidFill>
              <a:srgbClr val="123A7A"/>
            </a:solidFill>
          </a:ln>
          <a:effectLst/>
        </p:spPr>
        <p:txBody>
          <a:bodyPr rtlCol="0" anchor="ctr" wrap="square" tIns="27432" rIns="7315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để khai phá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Lệch ở cửa hàng nào, tháng nào, kênh nào?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006840" y="1371600"/>
            <a:ext cx="2697480" cy="41148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Hoàn trả &amp; chất lượng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006840" y="1828800"/>
            <a:ext cx="26974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7" name="Picture 156" descr="dash_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2316045"/>
            <a:ext cx="2606040" cy="2043029"/>
          </a:xfrm>
          <a:prstGeom prst="rect">
            <a:avLst/>
          </a:prstGeom>
        </p:spPr>
      </p:pic>
      <p:sp>
        <p:nvSpPr>
          <p:cNvPr id="158" name="Rounded Rectangle 157"/>
          <p:cNvSpPr/>
          <p:nvPr/>
        </p:nvSpPr>
        <p:spPr>
          <a:xfrm>
            <a:off x="9006840" y="49834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8D7D7"/>
          </a:solidFill>
          <a:ln w="12700">
            <a:solidFill>
              <a:srgbClr val="C00000"/>
            </a:solidFill>
          </a:ln>
          <a:effectLst/>
        </p:spPr>
        <p:txBody>
          <a:bodyPr rtlCol="0" anchor="ctr" wrap="square" tIns="27432" rIns="73152" bIns="27432"/>
          <a:lstStyle/>
          <a:p>
            <a:pPr algn="l">
              <a:buNone/>
            </a:pP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Câu hỏi để khai phá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Bao nhiêu doanh thu bị mất, vì sao?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Tổng quan, tháng 12/2020: 6 thẻ KPI và 3 biểu đồ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Thẻ KPI =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giá trị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so với tháng trước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so với cùng kỳ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một mốc so sánh không đủ kết luận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768096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dash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76146"/>
            <a:ext cx="7589520" cy="4008626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8275320" y="1371600"/>
            <a:ext cx="3566159" cy="8686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của đề bài</a:t>
            </a:r>
          </a:p>
          <a:p>
            <a:pPr algn="l">
              <a:buNone/>
            </a:pPr>
            <a:r>
              <a:rPr sz="1300" b="1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Tháng này bán được bao nhiêu và có khớp Finance không?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275320" y="2377440"/>
            <a:ext cx="356615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8275320" y="2377440"/>
            <a:ext cx="3566159" cy="41148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348472" y="2834640"/>
            <a:ext cx="3419855" cy="3108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Revenue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606,1 nghìn USD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+154,6% so với 11/2020, −73,2% so với 12/2019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đơn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310 (cùng kỳ 1.223)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nhưng </a:t>
            </a: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AOV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1.986 USD tăng +4,9% → giảm do ít đơn, không do đơn nhỏ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 → Net: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giảm giá 24,7, hoàn trả 9,7 nghìn USD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Finance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−12.536 USD (−2,11%), </a:t>
            </a: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 ô vượt ngưỡng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chưa gồm HQ-ADJ −1.436 USD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Doanh thu, tháng 12/2020: kênh, danh mục, quốc gia, cửa hàng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so sánh luôn kèm cột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Thay đổi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▲ xanh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là tăng,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▼ đỏ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là giảm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565482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dash_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5563385" cy="452628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6249185" y="1371600"/>
            <a:ext cx="5592294" cy="8686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của đề bài</a:t>
            </a:r>
          </a:p>
          <a:p>
            <a:pPr algn="l">
              <a:buNone/>
            </a:pPr>
            <a:r>
              <a:rPr sz="1300" b="1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tập trung ở đâu, kênh nào tăng?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249185" y="2377440"/>
            <a:ext cx="5592294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6249185" y="2377440"/>
            <a:ext cx="5592294" cy="41148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22337" y="2834640"/>
            <a:ext cx="5445990" cy="3108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Cửa hàng (POS)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460,9 nghìn USD = 74,8% Net Sales; online 154,9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Online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+272,3% so với tháng trước, POS +130,6%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Máy tính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chiếm 43,4% Net Sales – danh mục lớn nhất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AOV theo kênh: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POS 2.058, online 1.801 USD/đơn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Top 10: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đọc cột Thay đổi; ô "–" là cửa hàng không bán ở kỳ so sánh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Đối soát, tháng 12/2020: Δ ở đâu và có biến mất sau quy đổi không?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Đối soát theo thứ tự: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tổng chuỗi → kênh → cửa hàng → ngày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5865054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dash_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5773614" cy="452628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6459414" y="1371600"/>
            <a:ext cx="5382065" cy="8686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của đề bài</a:t>
            </a:r>
          </a:p>
          <a:p>
            <a:pPr algn="l">
              <a:buNone/>
            </a:pPr>
            <a:r>
              <a:rPr sz="1300" b="1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Chênh lệch nằm ở cửa hàng nào, tháng nào, kênh nào?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459414" y="2377440"/>
            <a:ext cx="5382065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6459414" y="2377440"/>
            <a:ext cx="5382065" cy="41148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32566" y="2834640"/>
            <a:ext cx="5235761" cy="3108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toàn chuỗi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−12.536 USD = −2,11% trên Finance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Online: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−22.812 USD (−17,5%), về 0 sau khi quy về ngày giao → lệch thời điểm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S12: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Finance cao hơn 10.141 USD (32,7%), không đổi sau quy đổi → phải xem từng posting_date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Còn lại: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48 cửa hàng có số liệu khác đều trong ngưỡng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Mẹo: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xếp bảng theo |Δ| giảm dần, chỉ đào sâu các dòng có cờ Vượt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Trang Hoàn trả &amp; chất lượng, tháng 12/2020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Tỷ lệ hoàn trả đo bằng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điểm %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tăng là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xấu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nên dùng màu đảo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768096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dash_s4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17117"/>
            <a:ext cx="7589520" cy="4326684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8275320" y="1371600"/>
            <a:ext cx="3566159" cy="86868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109728" tIns="27432" bIns="27432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Câu hỏi của đề bài</a:t>
            </a:r>
          </a:p>
          <a:p>
            <a:pPr algn="l">
              <a:buNone/>
            </a:pPr>
            <a:r>
              <a:rPr sz="1300" b="1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Doanh thu có "sạch" không: trả hàng, huỷ đơn, dữ liệu lỗi?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275320" y="2377440"/>
            <a:ext cx="3566159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8275320" y="2377440"/>
            <a:ext cx="3566159" cy="41148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Cách đọc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348472" y="2834640"/>
            <a:ext cx="3419855" cy="3108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Hoàn trả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9.687 USD, tỷ lệ 1,57%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(+0,16 điểm % so với 11/2020, −0,72 điểm % so với 12/2019)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Lý do lớn nhất: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Giao nhầm hàng (38,3% giá trị trả trong tháng)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Danh mục: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đọc tỷ lệ cùng quy mô; danh mục nhỏ dễ có tỷ lệ cao do ít đơn</a:t>
            </a:r>
          </a:p>
          <a:p>
            <a:pPr algn="l" marL="182880" indent="-182880"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Chất lượng dữ liệu: </a:t>
            </a: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120 dòng trùng đã loại, 29 đơn PENDING tại ngày trích (20/02/2021)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Quy trình đối soát 8 bước: từ hai nguồn đến bảng giải thích chênh lệch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nguyên nhân phải có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số tiền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tổng các nguyên nhân = Δ, phần chưa giải thích = 0</a:t>
            </a:r>
          </a:p>
        </p:txBody>
      </p:sp>
      <p:pic>
        <p:nvPicPr>
          <p:cNvPr id="143" name="Picture 142" descr="03_quy_trinh_doi_so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8448"/>
            <a:ext cx="7022482" cy="4754880"/>
          </a:xfrm>
          <a:prstGeom prst="rect">
            <a:avLst/>
          </a:prstGeom>
        </p:spPr>
      </p:pic>
      <p:sp>
        <p:nvSpPr>
          <p:cNvPr id="144" name="Rounded Rectangle 143"/>
          <p:cNvSpPr/>
          <p:nvPr/>
        </p:nvSpPr>
        <p:spPr>
          <a:xfrm>
            <a:off x="7616842" y="1371600"/>
            <a:ext cx="4224637" cy="461772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616842" y="1371600"/>
            <a:ext cx="4224637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Tóm tắt 8 bước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708282" y="1901952"/>
            <a:ext cx="4041757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Bỏ dòng trùng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Giữ đơn COMPLETED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Gross − Discounts = Net Sales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4.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Net Sales − Returns = Net Revenue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5.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Map Finance → store_key theo hiệu lực, tách HQ-ADJ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6.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Ghép tháng × store_key, tính Δ và Δ%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7.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Ô vượt ngưỡng: xem theo ngày và theo kênh</a:t>
            </a:r>
          </a:p>
          <a:p>
            <a:pPr algn="l">
              <a:spcAft>
                <a:spcPts val="500"/>
              </a:spcAft>
              <a:buNone/>
            </a:pPr>
            <a:r>
              <a:rPr sz="13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8. </a:t>
            </a: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giải thích: tổng nguyên nhân = 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Bảng cầu nối năm 2020: khung học viên cần điền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Hai đầu cầu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tính được từ dữ liệu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; phần giữa là bài làm: mỗi dòng = một nguyên nhân + số tiền + bằng chứng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7863838" cy="46177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615558"/>
                <a:gridCol w="1536612"/>
                <a:gridCol w="2711668"/>
              </a:tblGrid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Bước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Số tiền (USD)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Bằng chứng cần đưa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Revenue dữ liệu đơn 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8.732.748,23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 [Net Revenue]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Lệch thời điểm online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 online trước / sau quy về delivery_date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Hoàn tiền hạch toán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Cặp Δ trái dấu ở 2 tháng liền kề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Nguyên nhân phía Finance (đơn huỷ, thiếu ngày, VAT, ghi trùng…)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hàng, ngày, posting_date cụ thể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= Finance Net Revenue (cửa hàng + online)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8.797.370,41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 net_revenue đã map store_key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± Điều chỉnh HQ-ADJ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−1.435,50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Dòng fin_store_code = HQ-ADJ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= Finance Net Revenue toàn chuỗi 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8.795.934,91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Σ net_revenue cả 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144" name="Rounded Rectangle 143"/>
          <p:cNvSpPr/>
          <p:nvPr/>
        </p:nvSpPr>
        <p:spPr>
          <a:xfrm>
            <a:off x="8458200" y="1371600"/>
            <a:ext cx="3383280" cy="461772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8458200" y="1371600"/>
            <a:ext cx="338328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Tự kiểm tra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49640" y="1920240"/>
            <a:ext cx="3200400" cy="4023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spcAft>
                <a:spcPts val="800"/>
              </a:spcAft>
              <a:buNone/>
            </a:pPr>
            <a:r>
              <a:rPr sz="13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Tổng cần giải thích: </a:t>
            </a: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+64.622,18 USD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Cộng các dòng ± phải ra đúng số này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Lệch thời điểm cộng cả năm gần 0 nhưng từng tháng rất lớn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nguyên nhân phía Finance: ghi cửa hàng, ngày, số tiền</a:t>
            </a:r>
          </a:p>
          <a:p>
            <a:pPr algn="l" marL="182880" indent="-182880"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Không "ép" phần dư vào một dòng "khác"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Phân tích kết quả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Viết kết luận: Finding – Insight – Recommendation – Limitation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Mỗi kết luận có một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con số trên dashboard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làm chỗ dựa; khuyến nghị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tương xứng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bằng chứng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2697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36576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Finding</a:t>
            </a:r>
          </a:p>
        </p:txBody>
      </p:sp>
      <p:sp>
        <p:nvSpPr>
          <p:cNvPr id="145" name="Oval 144"/>
          <p:cNvSpPr/>
          <p:nvPr/>
        </p:nvSpPr>
        <p:spPr>
          <a:xfrm>
            <a:off x="1325880" y="1965960"/>
            <a:ext cx="777240" cy="77724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872" y="2136952"/>
            <a:ext cx="435254" cy="435254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457200" y="2834640"/>
            <a:ext cx="25146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Dữ liệu cho thấy gì, ở nhóm nào, chênh bao nhiêu, tại ngày nào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57200" y="3977639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tIns="54864" bIns="36576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Ví dụ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Δ online 12/2020 = −22.812 USD; về 0 khi tính theo ngày giao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246120" y="1371600"/>
            <a:ext cx="2697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324612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Insight</a:t>
            </a:r>
          </a:p>
        </p:txBody>
      </p:sp>
      <p:sp>
        <p:nvSpPr>
          <p:cNvPr id="151" name="Oval 150"/>
          <p:cNvSpPr/>
          <p:nvPr/>
        </p:nvSpPr>
        <p:spPr>
          <a:xfrm>
            <a:off x="4206240" y="1965960"/>
            <a:ext cx="777240" cy="77724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232" y="2136952"/>
            <a:ext cx="435254" cy="435254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3337560" y="2834640"/>
            <a:ext cx="25146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Ý nghĩa với kinh doanh, không nhắc lại số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337560" y="3977639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tIns="54864" bIns="36576"/>
          <a:lstStyle/>
          <a:p>
            <a:pPr algn="l">
              <a:buNone/>
            </a:pPr>
            <a:r>
              <a:rPr sz="12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Ví dụ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Chênh online là lệch thời điểm ghi nhận, không phải doanh thu bị mất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126480" y="1371600"/>
            <a:ext cx="2697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612648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Recommendation</a:t>
            </a:r>
          </a:p>
        </p:txBody>
      </p:sp>
      <p:sp>
        <p:nvSpPr>
          <p:cNvPr id="157" name="Oval 156"/>
          <p:cNvSpPr/>
          <p:nvPr/>
        </p:nvSpPr>
        <p:spPr>
          <a:xfrm>
            <a:off x="7086600" y="1965960"/>
            <a:ext cx="777240" cy="77724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58" name="Picture 1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592" y="2136952"/>
            <a:ext cx="435254" cy="435254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6217920" y="2834640"/>
            <a:ext cx="25146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Ai làm gì, theo dõi chỉ số nào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217920" y="3977639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tIns="54864" bIns="36576"/>
          <a:lstStyle/>
          <a:p>
            <a:pPr algn="l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Ví dụ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Báo cáo tháng dùng Net Revenue theo cơ sở Finance; Finance kiểm tra bút toán ở ô vượt ngưỡng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006840" y="1371600"/>
            <a:ext cx="269748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9006840" y="1371600"/>
            <a:ext cx="2697480" cy="457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Limitation</a:t>
            </a:r>
          </a:p>
        </p:txBody>
      </p:sp>
      <p:sp>
        <p:nvSpPr>
          <p:cNvPr id="163" name="Oval 162"/>
          <p:cNvSpPr/>
          <p:nvPr/>
        </p:nvSpPr>
        <p:spPr>
          <a:xfrm>
            <a:off x="9966960" y="1965960"/>
            <a:ext cx="777240" cy="7772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7952" y="2136952"/>
            <a:ext cx="435254" cy="435254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098280" y="2834640"/>
            <a:ext cx="25146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ctr">
              <a:buNone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Giới hạn có thể ảnh hưởng kết luận và bước kiểm tra tiếp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098280" y="3977639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tIns="54864" bIns="36576"/>
          <a:lstStyle/>
          <a:p>
            <a:pPr algn="l">
              <a:buNone/>
            </a:pPr>
            <a:r>
              <a:rPr sz="12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Ví dụ</a:t>
            </a:r>
          </a:p>
          <a:p>
            <a:pPr algn="l">
              <a:buNone/>
            </a:pPr>
            <a:r>
              <a:rPr sz="1200" b="0" i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Dữ liệu đến 20/02/2021: đơn PENDING và hoàn tiền cuối tháng có thể làm số thay đổi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Báo cáo đầu ra và thang chấm điểm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Hai sản phẩm cần nộp và cấu trúc báo cáo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Báo cáo bám theo </a:t>
            </a:r>
            <a:r>
              <a:rPr sz="17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guild_report_template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8 phần + Phụ lục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3931920" cy="210312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9050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640080" cy="640080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234440" y="1508760"/>
            <a:ext cx="2971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1  File Power BI (.pbix)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2920" y="2240280"/>
            <a:ext cx="3703320" cy="11887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Dashboard 4 trang: Tổng quan, Doanh thu, Đối soát, Hoàn trả &amp; chất lượng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65760" y="361188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49039"/>
            <a:ext cx="640080" cy="64008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234440" y="3749039"/>
            <a:ext cx="2971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2  Báo cáo phân tích (PDF)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2920" y="4434840"/>
            <a:ext cx="370332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4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8 phần kèm Phụ lục bảng cầu nối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65760" y="5120640"/>
            <a:ext cx="3931920" cy="9144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74320" indent="-274320">
              <a:buFont typeface="Arial"/>
              <a:buChar char="☐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File mở được và làm mới được</a:t>
            </a:r>
          </a:p>
          <a:p>
            <a:pPr algn="l" marL="274320" indent="-274320">
              <a:buFont typeface="Arial"/>
              <a:buChar char="☐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Số trong báo cáo khớp dashboard</a:t>
            </a:r>
          </a:p>
          <a:p>
            <a:pPr algn="l" marL="274320" indent="-274320">
              <a:buFont typeface="Arial"/>
              <a:buChar char="☐"/>
            </a:pPr>
            <a:r>
              <a:rPr sz="12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Bảng cầu nối có phần chưa giải thích = 0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526280" y="1371600"/>
            <a:ext cx="7315200" cy="457200"/>
          </a:xfrm>
          <a:prstGeom prst="roundRect">
            <a:avLst>
              <a:gd name="adj" fmla="val 15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Cấu trúc báo cáo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526280" y="1965960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599432" y="205740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56632" y="2002536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Problem &amp; Analytical Questions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99432" y="2560320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Vì sao số Sales ≠ Finance; 2–4 câu hỏi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995160" y="1965960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068312" y="205740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II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25512" y="2002536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Data &amp; Preparation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068312" y="2560320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Nguồn, phạm vi, làm sạch, số dòng QC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464040" y="1965960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537192" y="2057400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III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994392" y="2002536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Exploratory Analysis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537192" y="2560320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Xu hướng, kênh, danh mục, hoàn trả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526280" y="3310128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599432" y="3401568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IV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56632" y="3346704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Main Analysis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99432" y="3904488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Đối soát tháng × cửa hàng × kênh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995160" y="3310128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068312" y="3401568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525512" y="3346704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Key Findings &amp; Insights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068312" y="3904488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Nguyên nhân + số tiền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464040" y="3310128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537192" y="3401568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994392" y="3346704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Recommendations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537192" y="3904488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Ai làm gì với Finance, cửa hàng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4526280" y="4654296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599432" y="4745736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VII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056632" y="4690872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Limitations &amp; Next Steps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599432" y="5248656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As-of, PENDING, giả định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6995160" y="4654296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A7A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068312" y="4745736"/>
            <a:ext cx="411480" cy="411480"/>
          </a:xfrm>
          <a:prstGeom prst="ellipse">
            <a:avLst/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VIII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525512" y="4690872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068312" y="5248656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Nguồn dữ liệu, tài liệu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464040" y="4654296"/>
            <a:ext cx="233172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E5B31"/>
            </a:solidFill>
            <a:prstDash val="dash"/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537192" y="4745736"/>
            <a:ext cx="411480" cy="411480"/>
          </a:xfrm>
          <a:prstGeom prst="ellipse">
            <a:avLst/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994392" y="4690872"/>
            <a:ext cx="178308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algn="l">
              <a:buNone/>
            </a:pPr>
            <a:r>
              <a:rPr sz="12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Phụ lục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537192" y="5248656"/>
            <a:ext cx="2194560" cy="5943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100" b="0" i="0">
                <a:solidFill>
                  <a:srgbClr val="595959"/>
                </a:solidFill>
                <a:latin typeface="Times New Roman"/>
                <a:ea typeface="Times New Roman"/>
                <a:cs typeface="Times New Roman"/>
              </a:rPr>
              <a:t>Bảng cầu nối, danh sách ô vượt ngưỡng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Báo cáo đầu ra và thang chấm điểm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Thang chấm điểm 100 điểm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09760" y="868680"/>
            <a:ext cx="2606040" cy="3200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r">
              <a:buNone/>
            </a:pPr>
            <a:r>
              <a:rPr sz="1200" b="0" i="1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Sales Project 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Rubric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100 điểm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40 kỹ thuật · 40 báo cáo · 20 sáng tạo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65760" y="1371600"/>
            <a:ext cx="3566160" cy="868680"/>
          </a:xfrm>
          <a:prstGeom prst="roundRect">
            <a:avLst>
              <a:gd name="adj" fmla="val 10000"/>
            </a:avLst>
          </a:prstGeom>
          <a:solidFill>
            <a:srgbClr val="2E5B3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40 điểm</a:t>
            </a:r>
          </a:p>
          <a:p>
            <a:pPr algn="ctr">
              <a:buNone/>
            </a:pPr>
            <a:r>
              <a:rPr sz="13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Kỹ thuật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2331720"/>
            <a:ext cx="3566160" cy="36576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15875">
            <a:solidFill>
              <a:srgbClr val="2E5B3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7200" y="2423160"/>
            <a:ext cx="3383279" cy="3520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buClr>
                <a:srgbClr val="2E5B31"/>
              </a:buClr>
              <a:buFont typeface="Arial"/>
              <a:buChar char="•"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Làm sạch &amp; mô hình (10)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Bỏ trùng, COMPLETED, map theo hiệu lực, quan hệ đúng</a:t>
            </a:r>
          </a:p>
          <a:p>
            <a:pPr algn="l" marL="182880" indent="-182880">
              <a:buClr>
                <a:srgbClr val="2E5B31"/>
              </a:buClr>
              <a:buFont typeface="Arial"/>
              <a:buChar char="•"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DAX (12)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KPI khớp số kiểm tra; Δ, cờ, quy đổi online</a:t>
            </a:r>
          </a:p>
          <a:p>
            <a:pPr algn="l" marL="182880" indent="-182880">
              <a:buClr>
                <a:srgbClr val="2E5B31"/>
              </a:buClr>
              <a:buFont typeface="Arial"/>
              <a:buChar char="•"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Dashboard 4 trang (12)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Đủ thẻ, biểu đồ, bảng; slicer đồng bộ</a:t>
            </a:r>
          </a:p>
          <a:p>
            <a:pPr algn="l" marL="182880" indent="-182880">
              <a:buClr>
                <a:srgbClr val="2E5B31"/>
              </a:buClr>
              <a:buFont typeface="Arial"/>
              <a:buChar char="•"/>
            </a:pPr>
            <a:r>
              <a:rPr sz="14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Trải nghiệm (6)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vị, caption, màu, điều hướng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091940" y="137160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123A7A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40 điểm</a:t>
            </a:r>
          </a:p>
          <a:p>
            <a:pPr algn="ctr">
              <a:buNone/>
            </a:pPr>
            <a:r>
              <a:rPr sz="13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Báo cáo phân tích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091940" y="2331720"/>
            <a:ext cx="4846320" cy="365760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 w="15875">
            <a:solidFill>
              <a:srgbClr val="123A7A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183380" y="2423160"/>
            <a:ext cx="4663440" cy="3520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buClr>
                <a:srgbClr val="123A7A"/>
              </a:buClr>
              <a:buFont typeface="Arial"/>
              <a:buChar char="•"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Cấu trúc 8 phần (8)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Theo template, từ câu hỏi đến kết luận</a:t>
            </a:r>
          </a:p>
          <a:p>
            <a:pPr algn="l" marL="182880" indent="-182880">
              <a:buClr>
                <a:srgbClr val="123A7A"/>
              </a:buClr>
              <a:buFont typeface="Arial"/>
              <a:buChar char="•"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Đối soát (16)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Giải thích mọi ô vượt ngưỡng; cầu nối còn lại = 0</a:t>
            </a:r>
          </a:p>
          <a:p>
            <a:pPr algn="l" marL="182880" indent="-182880">
              <a:buClr>
                <a:srgbClr val="123A7A"/>
              </a:buClr>
              <a:buFont typeface="Arial"/>
              <a:buChar char="•"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Lập luận (10)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Finding → Insight → Recommendation có số làm chỗ dựa</a:t>
            </a:r>
          </a:p>
          <a:p>
            <a:pPr algn="l" marL="182880" indent="-182880">
              <a:buClr>
                <a:srgbClr val="123A7A"/>
              </a:buClr>
              <a:buFont typeface="Arial"/>
              <a:buChar char="•"/>
            </a:pPr>
            <a:r>
              <a:rPr sz="1400" b="1" i="0">
                <a:solidFill>
                  <a:srgbClr val="123A7A"/>
                </a:solidFill>
                <a:latin typeface="Times New Roman"/>
                <a:ea typeface="Times New Roman"/>
                <a:cs typeface="Times New Roman"/>
              </a:rPr>
              <a:t>Giới hạn (6)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As-of, PENDING, giả định ghi nhận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098280" y="137160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C55A11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20 điểm</a:t>
            </a:r>
          </a:p>
          <a:p>
            <a:pPr algn="ctr">
              <a:buNone/>
            </a:pPr>
            <a:r>
              <a:rPr sz="13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Sáng tạo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098280" y="233172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189719" y="2423160"/>
            <a:ext cx="2560320" cy="3520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182880" indent="-182880">
              <a:buClr>
                <a:srgbClr val="C55A11"/>
              </a:buClr>
              <a:buFont typeface="Arial"/>
              <a:buChar char="•"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Vượt gợi ý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Drill-through cửa hàng – ngày, tooltip</a:t>
            </a:r>
          </a:p>
          <a:p>
            <a:pPr algn="l" marL="182880" indent="-182880">
              <a:buClr>
                <a:srgbClr val="C55A11"/>
              </a:buClr>
              <a:buFont typeface="Arial"/>
              <a:buChar char="•"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Bảng bổ sung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fx_rate, unit_cost, dim_customer</a:t>
            </a:r>
          </a:p>
          <a:p>
            <a:pPr algn="l" marL="182880" indent="-182880">
              <a:buClr>
                <a:srgbClr val="C55A11"/>
              </a:buClr>
              <a:buFont typeface="Arial"/>
              <a:buChar char="•"/>
            </a:pPr>
            <a:r>
              <a:rPr sz="14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Cảnh báo</a:t>
            </a:r>
          </a:p>
          <a:p>
            <a:pPr algn="l" marL="182880" indent="-182880">
              <a:spcAft>
                <a:spcPts val="800"/>
              </a:spcAft>
              <a:buFont typeface="Arial"/>
              <a:buChar char=" "/>
            </a:pPr>
            <a:r>
              <a:rPr sz="13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Theo dõi ô vượt ngưỡng hằng tháng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377440"/>
            <a:ext cx="54864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5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Hỏi &amp;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5486400" cy="9144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>
              <a:buNone/>
            </a:pPr>
            <a:r>
              <a:rPr sz="18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Sales Project 1 · Kết quả bán hàng và đối soát doanh thu</a:t>
            </a:r>
          </a:p>
        </p:txBody>
      </p:sp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Phụ lục mentor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Đáp án cầu nối năm 2020 · ẩn khi trình chiếu cho học viên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Unexplained =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0 USD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ở mọi ô tháng × cửa hàng (Instructor Key, sheet bridge_store_month)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646920" y="914400"/>
            <a:ext cx="2468880" cy="292608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DÀNH CHO MENTOR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5760" y="1371600"/>
            <a:ext cx="7498079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txBody>
          <a:bodyPr rtlCol="0" anchor="ctr" wrap="square" lIns="73152" tIns="36576" rIns="73152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65760" y="1371600"/>
            <a:ext cx="7498079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109728" tIns="18288" bIns="18288"/>
          <a:lstStyle/>
          <a:p>
            <a:pPr algn="l"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Cầu nối 2020: dữ liệu đơn → Finance (nghìn USD, trục cắt)</a:t>
            </a:r>
          </a:p>
        </p:txBody>
      </p:sp>
      <p:graphicFrame>
        <p:nvGraphicFramePr>
          <p:cNvPr id="145" name="Chart 144"/>
          <p:cNvGraphicFramePr>
            <a:graphicFrameLocks noGrp="1"/>
          </p:cNvGraphicFramePr>
          <p:nvPr/>
        </p:nvGraphicFramePr>
        <p:xfrm>
          <a:off x="457200" y="1737360"/>
          <a:ext cx="73152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8092440" y="1371600"/>
          <a:ext cx="3749040" cy="46177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103120"/>
                <a:gridCol w="1645920"/>
              </a:tblGrid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Bước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Revenue đơn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8.732.748,23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+59.682,78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−2.937,04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+17.002,68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Thiếu dữ liệu ngày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−22.168,91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 thu gồm VAT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+2.901,63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trùng bút toán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+10.141,04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Finance cửa hàng + online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8.797.370,41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HQ-ADJ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−1.435,50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9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Finance toàn chuỗi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8.795.934,91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Phụ lục mentor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32 ô vượt ngưỡng năm 2020 và nguyên nhân chính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Toàn bộ dữ liệu có 120 ô vượt ngưỡng; năm 2020: </a:t>
            </a:r>
            <a:r>
              <a:rPr sz="17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32 ô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– học viên phải giải thích đủ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646920" y="914400"/>
            <a:ext cx="2468880" cy="292608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DÀNH CHO MENTOR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298448"/>
          <a:ext cx="5669280" cy="475486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822960"/>
                <a:gridCol w="548640"/>
                <a:gridCol w="1188720"/>
                <a:gridCol w="822960"/>
                <a:gridCol w="2286000"/>
              </a:tblGrid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Tháng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Ô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 (USD)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Nguyên nhân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+41.120,82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+9,7%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+481,65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+5,9%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S57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−2.907,00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−8,5%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S66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+1.249,96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+2,5%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−17.488,29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−4,4%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S08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+677,87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+3,0%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−481,65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−2,1%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S24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−22.168,91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−123,1%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Thiếu dữ liệu ngày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S33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+301,65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+5,8%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S38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+1.475,00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+3,6%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+568,00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+1,2%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S43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+5.097,97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+6,8%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S48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+1.739,66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+5,1%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S53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+1.284,70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+2,7%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S59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−474,90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−1,1%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+67.117,99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+29,0%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6172200" y="1298448"/>
          <a:ext cx="5669280" cy="475486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822960"/>
                <a:gridCol w="548640"/>
                <a:gridCol w="1188720"/>
                <a:gridCol w="822960"/>
                <a:gridCol w="2286000"/>
              </a:tblGrid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Tháng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Ô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 (USD)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Δ%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Nguyên nhân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−568,00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−9,5%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S49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−249,99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−1,9%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S55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−249,99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−8,4%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 trễ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04/2020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−46.927,78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−263,5%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05/2020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+27.197,36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+12,5%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06/2020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−3.869,50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−2,2%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06/2020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S36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+349,99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+15,3%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06/2020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S45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+1.906,98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+7,3%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06/2020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S54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+2.901,63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+9,1%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Doanh thu gồm VAT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07/2020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+18.513,26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+13,8%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07/2020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S22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+2.831,93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+86,2%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09/2020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−4.564,50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−5,6%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+7.191,03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+11,0%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−5.577,47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−15,5%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−22.812,19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−17,5%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 lệch thời điểm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+10.141,04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+32,7%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trùng bút toán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Phụ lục mentor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Chênh lệch cài sẵn năm 2020 và nguyên nhân hệ thống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Đơn huỷ vẫn ghi nhận </a:t>
            </a:r>
            <a:r>
              <a:rPr sz="1700" b="1" i="0">
                <a:solidFill>
                  <a:srgbClr val="C55A11"/>
                </a:solidFill>
                <a:latin typeface="Times New Roman"/>
                <a:ea typeface="Times New Roman"/>
                <a:cs typeface="Times New Roman"/>
              </a:rPr>
              <a:t>nhỏ từng đơn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 nhưng cộng lại đáng kể; một số đơn rơi vào ô trong ngưỡng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646920" y="914400"/>
            <a:ext cx="2468880" cy="292608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DÀNH CHO MENTOR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11475717" cy="230428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305007"/>
                <a:gridCol w="1193474"/>
                <a:gridCol w="826251"/>
                <a:gridCol w="1652503"/>
                <a:gridCol w="4498482"/>
              </a:tblGrid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Loại (Instructor Key)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Mã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Số ca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Tác động (USD)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Cửa hàng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Finance thiếu dữ liệu 3 ngày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K26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−22.168,91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S24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huỷ vẫn được Finance ghi nhận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K15–K25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+17.002,68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S08, S22, S33, S36, S38, S43…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Bút toán ghi trùng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K28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+10.141,04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Ghi doanh thu gồm VAT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K27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+2.901,63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S54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Điều chỉnh HQ không thuộc cửa hàng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K31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−1.435,50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HQ-ADJ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365760" y="3904487"/>
          <a:ext cx="11475718" cy="208483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223064"/>
                <a:gridCol w="1468892"/>
                <a:gridCol w="5783762"/>
              </a:tblGrid>
              <a:tr h="3474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Nguyên nhân hệ thống / bẫy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Độ lớn (USD)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Cách phát hiện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Online: dữ liệu đơn theo order_date, Finance theo delivery_date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1.346.286,28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Cộng dồn cả kỳ ≈ 0, chỉ lệch ở ranh giới tháng; biến mất khi so theo delivery_date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Hoàn tiền: Returns theo return_date, Finance theo ngày hạch toán (trễ 0–3 ngày)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93.465,04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Lệch theo ngày; cuối tháng tạo chênh lệch nhỏ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120 dòng trùng trong fact_sales_line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67.493,06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Không bỏ trùng → Net Sales phía đơn cao hơn đúng số này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Đơn online PENDING tại as-of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73.105,11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Tính nhầm PENDING → cao hơn Finance đúng số này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Cửa hàng 38 đổi mã Finance GBR-03 → GBR-03N từ 01/07/2019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Không map theo hiệu lực → doanh thu từ 07/2019 thành 'không xác định cửa hàng'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740664"/>
          </a:xfrm>
          <a:prstGeom prst="rect">
            <a:avLst/>
          </a:prstGeom>
          <a:noFill/>
        </p:spPr>
        <p:txBody>
          <a:bodyPr wrap="square" lIns="1920240" tIns="18288" rIns="548640" bIns="18288" anchor="ctr"/>
          <a:lstStyle/>
          <a:p>
            <a:pPr algn="ctr">
              <a:buNone/>
            </a:pPr>
            <a:r>
              <a:rPr sz="4000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Phụ lục mentor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3" y="47409"/>
            <a:ext cx="1815898" cy="718793"/>
          </a:xfrm>
          <a:prstGeom prst="rect">
            <a:avLst/>
          </a:prstGeom>
        </p:spPr>
      </p:pic>
      <p:sp>
        <p:nvSpPr>
          <p:cNvPr id="139" name="Google Shape;139;p15"/>
          <p:cNvSpPr txBox="1">
            <a:spLocks noGrp="1"/>
          </p:cNvSpPr>
          <p:nvPr>
            <p:ph type="sldNum" idx="12"/>
          </p:nvPr>
        </p:nvSpPr>
        <p:spPr>
          <a:xfrm>
            <a:off x="11732288" y="1"/>
            <a:ext cx="457200" cy="7383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3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5720" y="850392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algn="l" marL="228600" indent="-228600">
              <a:buClr>
                <a:srgbClr val="0070C0"/>
              </a:buClr>
              <a:buFont typeface="Arial"/>
              <a:buChar char="❖"/>
            </a:pPr>
            <a:r>
              <a:rPr sz="15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Số kiểm tra KPI cho học viên: 12/2020, LM, SPLY, YTD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47472" y="6144768"/>
            <a:ext cx="11475720" cy="4572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 wrap="square" tIns="18288" bIns="18288"/>
          <a:lstStyle/>
          <a:p>
            <a:pPr algn="ctr">
              <a:buNone/>
            </a:pP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Dùng khi chấm phần </a:t>
            </a:r>
            <a:r>
              <a:rPr sz="1700" b="1" i="0">
                <a:solidFill>
                  <a:srgbClr val="2E5B31"/>
                </a:solidFill>
                <a:latin typeface="Times New Roman"/>
                <a:ea typeface="Times New Roman"/>
                <a:cs typeface="Times New Roman"/>
              </a:rPr>
              <a:t>DAX (12 điểm)</a:t>
            </a:r>
            <a:r>
              <a:rPr sz="1700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: lệch quá 0,01 USD → kiểm tra bỏ trùng, trạng thái, ngày trả hàng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646920" y="914400"/>
            <a:ext cx="2468880" cy="292608"/>
          </a:xfrm>
          <a:prstGeom prst="roundRect">
            <a:avLst>
              <a:gd name="adj" fmla="val 3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 wrap="square" lIns="73152" tIns="36576" rIns="73152" bIns="36576"/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DÀNH CHO MENTOR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65760" y="1371600"/>
          <a:ext cx="11475716" cy="46177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641237"/>
                <a:gridCol w="1730465"/>
                <a:gridCol w="1730465"/>
                <a:gridCol w="1730465"/>
                <a:gridCol w="1821542"/>
                <a:gridCol w="1821542"/>
              </a:tblGrid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KPI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LM 11/2020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SPLY 12/2019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YTD 2020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YTD 2019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E5B31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Gross Sales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640.551,11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252.950,76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2.400.312,48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9.080.387,90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17.750.417,69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Discounts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24.739,37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11.493,80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83.880,88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138.974,66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375.050,39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Sales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615.811,74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241.456,96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2.316.431,60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8.941.413,24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17.375.367,30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9.686,67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3.420,28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53.016,63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208.665,01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451.134,18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Net Revenue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606.125,07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238.036,68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2.263.414,97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8.732.748,23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16.924.233,12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Orders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4.528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2.359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1.031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33.642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66.565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AOV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1.986,49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1.665,22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1.894,06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1.974,69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1.965,09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261,05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234,20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253,91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265,78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261,03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 Rate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1,57%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1,42%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2,29%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2,33%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2,60%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Finance Net Revenue (toàn chuỗi)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592.153,34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232.459,21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2.246.169,37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8.795.934,91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16.940.908,23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16730</Words>
  <Application>Microsoft Office PowerPoint</Application>
  <PresentationFormat>Widescreen</PresentationFormat>
  <Paragraphs>1273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Algerian</vt:lpstr>
      <vt:lpstr>Arial</vt:lpstr>
      <vt:lpstr>Calibri</vt:lpstr>
      <vt:lpstr>Courier New</vt:lpstr>
      <vt:lpstr>Noto Sans Symbols</vt:lpstr>
      <vt:lpstr>Times New Roman</vt:lpstr>
      <vt:lpstr>Wingdings</vt:lpstr>
      <vt:lpstr>Office Theme</vt:lpstr>
      <vt:lpstr>EDA MENTORSHIP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Huy Vu Quang &lt;CV-SME-MASS.CB&gt;</cp:lastModifiedBy>
  <cp:revision>3</cp:revision>
  <dcterms:modified xsi:type="dcterms:W3CDTF">2026-10-10T00:34:38Z</dcterms:modified>
  <dc:title>Sales Project 1 – Kết quả bán hàng và đối soát doanh thu</dc:title>
  <dc:subject>EDA Mentorship – Nexa Home</dc:subject>
  <dc:creator>EDA Mentorship</dc:creator>
</cp:coreProperties>
</file>