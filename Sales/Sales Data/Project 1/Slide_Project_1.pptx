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6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
    <p:sldId id="310" r:id="rId5"/>
    <p:sldId id="311" r:id="rId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Mở đầu" id="{FB200B35-5723-57E7-BCA2-04A696BD0C23}">
          <p14:sldIdLst>
            <p14:sldId id="256"/>
            <p14:sldId id="257"/>
          </p14:sldIdLst>
        </p14:section>
        <p14:section name="Phần 1 · Bối cảnh" id="{CA9727B0-816C-57B5-A7EE-1041D6F58670}">
          <p14:sldIdLst>
            <p14:sldId id="258"/>
            <p14:sldId id="259"/>
            <p14:sldId id="260"/>
          </p14:sldIdLst>
        </p14:section>
        <p14:section name="Phần 2 · Đề bài" id="{A83B4ECC-E86D-534D-A49C-8F82043F2318}">
          <p14:sldIdLst>
            <p14:sldId id="261"/>
            <p14:sldId id="262"/>
            <p14:sldId id="263"/>
            <p14:sldId id="264"/>
            <p14:sldId id="265"/>
            <p14:sldId id="266"/>
            <p14:sldId id="267"/>
          </p14:sldIdLst>
        </p14:section>
        <p14:section name="Phần 3 · KPI" id="{27970E54-C475-597F-8161-78EFCE9B5003}">
          <p14:sldIdLst>
            <p14:sldId id="268"/>
            <p14:sldId id="269"/>
            <p14:sldId id="270"/>
            <p14:sldId id="271"/>
            <p14:sldId id="272"/>
            <p14:sldId id="273"/>
          </p14:sldIdLst>
        </p14:section>
        <p14:section name="Phần 4 · Dữ liệu &amp; modeling" id="{18F674DB-7378-55DE-BD5F-3792669B0C25}">
          <p14:sldIdLst>
            <p14:sldId id="274"/>
            <p14:sldId id="275"/>
            <p14:sldId id="276"/>
            <p14:sldId id="277"/>
            <p14:sldId id="278"/>
            <p14:sldId id="279"/>
            <p14:sldId id="280"/>
            <p14:sldId id="281"/>
            <p14:sldId id="282"/>
            <p14:sldId id="283"/>
          </p14:sldIdLst>
        </p14:section>
        <p14:section name="Phần 5 · Khám phá dữ liệu" id="{3A7D7AE7-21E4-5C31-B7BB-761A449440DF}">
          <p14:sldIdLst>
            <p14:sldId id="284"/>
            <p14:sldId id="285"/>
            <p14:sldId id="286"/>
            <p14:sldId id="287"/>
            <p14:sldId id="288"/>
          </p14:sldIdLst>
        </p14:section>
        <p14:section name="Phần 6 · DAX" id="{8AE14257-564C-5899-AD89-0D155765DAC5}">
          <p14:sldIdLst>
            <p14:sldId id="289"/>
            <p14:sldId id="290"/>
            <p14:sldId id="291"/>
            <p14:sldId id="292"/>
            <p14:sldId id="293"/>
            <p14:sldId id="294"/>
          </p14:sldIdLst>
        </p14:section>
        <p14:section name="Phần 7 · Phân tích kết quả" id="{9E384DC5-995C-55E6-B0EF-B89EA27FDFFA}">
          <p14:sldIdLst>
            <p14:sldId id="295"/>
            <p14:sldId id="296"/>
            <p14:sldId id="297"/>
            <p14:sldId id="298"/>
            <p14:sldId id="299"/>
            <p14:sldId id="300"/>
            <p14:sldId id="301"/>
            <p14:sldId id="302"/>
            <p14:sldId id="303"/>
            <p14:sldId id="304"/>
          </p14:sldIdLst>
        </p14:section>
        <p14:section name="Phần 8 · Đầu ra &amp; chấm điểm" id="{2CB85F52-B697-5D48-9499-5FDA194CEDFA}">
          <p14:sldIdLst>
            <p14:sldId id="305"/>
            <p14:sldId id="306"/>
            <p14:sldId id="307"/>
          </p14:sldIdLst>
        </p14:section>
        <p14:section name="Phụ lục mentor – ẩn khi trình chiếu cho học viên" id="{06C17C6C-DED5-5777-8593-9B421A1CB2CA}">
          <p14:sldIdLst>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56.xml"/><Relationship Id="rId5" Type="http://schemas.openxmlformats.org/officeDocument/2006/relationships/slide" Target="slides/slide55.xml"/><Relationship Id="rId6" Type="http://schemas.openxmlformats.org/officeDocument/2006/relationships/slide" Target="slides/slide5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Net Revenue (dữ liệu đơn)</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6,6</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8,7</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Sheet1!$B$2:$B$7</c:f>
              <c:numCache>
                <c:formatCode>General</c:formatCode>
                <c:ptCount val="6"/>
                <c:pt idx="0">
                  <c:v>6.55004821</c:v>
                </c:pt>
                <c:pt idx="1">
                  <c:v>6.87307383</c:v>
                </c:pt>
                <c:pt idx="2">
                  <c:v>11.92344934</c:v>
                </c:pt>
                <c:pt idx="3">
                  <c:v>16.92423312</c:v>
                </c:pt>
                <c:pt idx="4">
                  <c:v>8.73274823</c:v>
                </c:pt>
                <c:pt idx="5">
                  <c:v>0.9053749499999999</c:v>
                </c:pt>
              </c:numCache>
            </c:numRef>
          </c:val>
        </c:ser>
        <c:ser>
          <c:idx val="1"/>
          <c:order val="1"/>
          <c:tx>
            <c:strRef>
              <c:f>Sheet1!$C$1</c:f>
              <c:strCache>
                <c:ptCount val="1"/>
                <c:pt idx="0">
                  <c:v>Net Revenue (Finance)</c:v>
                </c:pt>
              </c:strCache>
            </c:strRef>
          </c:tx>
          <c:spPr>
            <a:solidFill>
              <a:srgbClr val="8CB86E"/>
            </a:solidFill>
            <a:ln>
              <a:noFill/>
            </a:ln>
          </c:spPr>
          <c:dLbls>
            <c:dLbl>
              <c:idx val="0"/>
              <c:tx>
                <c:rich>
                  <a:bodyPr/>
                  <a:lstStyle/>
                  <a:p>
                    <a:r>
                      <a:rPr sz="1100" b="0" i="0">
                        <a:solidFill>
                          <a:srgbClr val="595959"/>
                        </a:solidFill>
                        <a:latin typeface="Times New Roman"/>
                        <a:ea typeface="Times New Roman"/>
                        <a:cs typeface="Times New Roman"/>
                      </a:rPr>
                      <a:t>6,5</a:t>
                    </a:r>
                  </a:p>
                </c:rich>
              </c:tx>
              <c:dLblPos val="outEnd"/>
              <c:showLegendKey val="0"/>
              <c:showVal val="1"/>
              <c:showCatName val="0"/>
              <c:showSerName val="0"/>
              <c:showPercent val="0"/>
              <c:showBubbleSize val="0"/>
            </c:dLbl>
            <c:dLbl>
              <c:idx val="1"/>
              <c:tx>
                <c:rich>
                  <a:bodyPr/>
                  <a:lstStyle/>
                  <a:p>
                    <a:r>
                      <a:rPr sz="1100" b="0" i="0">
                        <a:solidFill>
                          <a:srgbClr val="595959"/>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595959"/>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595959"/>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595959"/>
                        </a:solidFill>
                        <a:latin typeface="Times New Roman"/>
                        <a:ea typeface="Times New Roman"/>
                        <a:cs typeface="Times New Roman"/>
                      </a:rPr>
                      <a:t>8,8</a:t>
                    </a:r>
                  </a:p>
                </c:rich>
              </c:tx>
              <c:dLblPos val="outEnd"/>
              <c:showLegendKey val="0"/>
              <c:showVal val="1"/>
              <c:showCatName val="0"/>
              <c:showSerName val="0"/>
              <c:showPercent val="0"/>
              <c:showBubbleSize val="0"/>
            </c:dLbl>
            <c:dLbl>
              <c:idx val="5"/>
              <c:tx>
                <c:rich>
                  <a:bodyPr/>
                  <a:lstStyle/>
                  <a:p>
                    <a:r>
                      <a:rPr sz="1100" b="0" i="0">
                        <a:solidFill>
                          <a:srgbClr val="595959"/>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Sheet1!$C$2:$C$7</c:f>
              <c:numCache>
                <c:formatCode>General</c:formatCode>
                <c:ptCount val="6"/>
                <c:pt idx="0">
                  <c:v>6.464763980000001</c:v>
                </c:pt>
                <c:pt idx="1">
                  <c:v>6.90818202</c:v>
                </c:pt>
                <c:pt idx="2">
                  <c:v>11.89152855</c:v>
                </c:pt>
                <c:pt idx="3">
                  <c:v>16.94090823</c:v>
                </c:pt>
                <c:pt idx="4">
                  <c:v>8.79593491</c:v>
                </c:pt>
                <c:pt idx="5">
                  <c:v>0.93552474</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Net Revenue (dữ liệu đơn)</c:v>
                </c:pt>
              </c:strCache>
            </c:strRef>
          </c:tx>
          <c:spPr>
            <a:ln w="28575">
              <a:solidFill>
                <a:srgbClr val="2E5B31"/>
              </a:solidFill>
            </a:ln>
          </c:spPr>
          <c:marker>
            <c:symbol val="circle"/>
            <c:size val="5"/>
            <c:spPr>
              <a:solidFill>
                <a:srgbClr val="2E5B31"/>
              </a:solidFill>
              <a:ln>
                <a:solidFill>
                  <a:srgbClr val="2E5B31"/>
                </a:solidFill>
              </a:ln>
            </c:spPr>
          </c:marker>
          <c:dLbls>
            <c:dLbl>
              <c:idx val="11"/>
              <c:tx>
                <c:rich>
                  <a:bodyPr/>
                  <a:lstStyle/>
                  <a:p>
                    <a:r>
                      <a:rPr sz="1100" b="1" i="0">
                        <a:solidFill>
                          <a:srgbClr val="222222"/>
                        </a:solidFill>
                        <a:latin typeface="Times New Roman"/>
                        <a:ea typeface="Times New Roman"/>
                        <a:cs typeface="Times New Roman"/>
                      </a:rPr>
                      <a:t>2.263</a:t>
                    </a:r>
                  </a:p>
                </c:rich>
              </c:tx>
              <c:dLblPos val="t"/>
              <c:showLegendKey val="0"/>
              <c:showVal val="1"/>
              <c:showCatName val="0"/>
              <c:showSerName val="0"/>
              <c:showPercent val="0"/>
              <c:showBubbleSize val="0"/>
            </c:dLbl>
            <c:dLbl>
              <c:idx val="23"/>
              <c:tx>
                <c:rich>
                  <a:bodyPr/>
                  <a:lstStyle/>
                  <a:p>
                    <a:r>
                      <a:rPr sz="1100" b="1" i="0">
                        <a:solidFill>
                          <a:srgbClr val="222222"/>
                        </a:solidFill>
                        <a:latin typeface="Times New Roman"/>
                        <a:ea typeface="Times New Roman"/>
                        <a:cs typeface="Times New Roman"/>
                      </a:rPr>
                      <a:t>606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Sheet1!$B$2:$B$25</c:f>
              <c:numCache>
                <c:formatCode>General</c:formatCode>
                <c:ptCount val="24"/>
                <c:pt idx="0">
                  <c:v>1797.96887</c:v>
                </c:pt>
                <c:pt idx="1">
                  <c:v>2004.56868</c:v>
                </c:pt>
                <c:pt idx="2">
                  <c:v>742.70609</c:v>
                </c:pt>
                <c:pt idx="3">
                  <c:v>139.51809</c:v>
                </c:pt>
                <c:pt idx="4">
                  <c:v>1514.71303</c:v>
                </c:pt>
                <c:pt idx="5">
                  <c:v>1317.2358800000002</c:v>
                </c:pt>
                <c:pt idx="6">
                  <c:v>1322.89155</c:v>
                </c:pt>
                <c:pt idx="7">
                  <c:v>1339.30325</c:v>
                </c:pt>
                <c:pt idx="8">
                  <c:v>1430.22698</c:v>
                </c:pt>
                <c:pt idx="9">
                  <c:v>1488.3058700000001</c:v>
                </c:pt>
                <c:pt idx="10">
                  <c:v>1563.37986</c:v>
                </c:pt>
                <c:pt idx="11">
                  <c:v>2263.4149700000003</c:v>
                </c:pt>
                <c:pt idx="12">
                  <c:v>1911.3349200000002</c:v>
                </c:pt>
                <c:pt idx="13">
                  <c:v>2158.2621799999997</c:v>
                </c:pt>
                <c:pt idx="14">
                  <c:v>614.1452099999999</c:v>
                </c:pt>
                <c:pt idx="15">
                  <c:v>202.94221</c:v>
                </c:pt>
                <c:pt idx="16">
                  <c:v>837.31026</c:v>
                </c:pt>
                <c:pt idx="17">
                  <c:v>714.3334</c:v>
                </c:pt>
                <c:pt idx="18">
                  <c:v>477.06367</c:v>
                </c:pt>
                <c:pt idx="19">
                  <c:v>378.42989</c:v>
                </c:pt>
                <c:pt idx="20">
                  <c:v>357.63703000000004</c:v>
                </c:pt>
                <c:pt idx="21">
                  <c:v>237.12771</c:v>
                </c:pt>
                <c:pt idx="22">
                  <c:v>238.03668</c:v>
                </c:pt>
                <c:pt idx="23">
                  <c:v>606.1250699999999</c:v>
                </c:pt>
              </c:numCache>
            </c:numRef>
          </c:val>
          <c:smooth val="0"/>
        </c:ser>
        <c:ser>
          <c:idx val="1"/>
          <c:order val="1"/>
          <c:tx>
            <c:strRef>
              <c:f>Sheet1!$C$1</c:f>
              <c:strCache>
                <c:ptCount val="1"/>
                <c:pt idx="0">
                  <c:v>Net Revenue (Finance)</c:v>
                </c:pt>
              </c:strCache>
            </c:strRef>
          </c:tx>
          <c:spPr>
            <a:ln w="22225">
              <a:solidFill>
                <a:srgbClr val="C55A11"/>
              </a:solidFill>
              <a:prstDash val="dash"/>
            </a:ln>
          </c:spPr>
          <c:marker>
            <c:symbol val="none"/>
          </c:marker>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Sheet1!$C$2:$C$25</c:f>
              <c:numCache>
                <c:formatCode>General</c:formatCode>
                <c:ptCount val="24"/>
                <c:pt idx="0">
                  <c:v>1848.06513</c:v>
                </c:pt>
                <c:pt idx="1">
                  <c:v>1953.1373</c:v>
                </c:pt>
                <c:pt idx="2">
                  <c:v>838.0922800000001</c:v>
                </c:pt>
                <c:pt idx="3">
                  <c:v>111.56246</c:v>
                </c:pt>
                <c:pt idx="4">
                  <c:v>1487.64784</c:v>
                </c:pt>
                <c:pt idx="5">
                  <c:v>1350.83665</c:v>
                </c:pt>
                <c:pt idx="6">
                  <c:v>1337.4678600000002</c:v>
                </c:pt>
                <c:pt idx="7">
                  <c:v>1275.1990700000001</c:v>
                </c:pt>
                <c:pt idx="8">
                  <c:v>1465.91527</c:v>
                </c:pt>
                <c:pt idx="9">
                  <c:v>1483.3001399999998</c:v>
                </c:pt>
                <c:pt idx="10">
                  <c:v>1543.51486</c:v>
                </c:pt>
                <c:pt idx="11">
                  <c:v>2246.16937</c:v>
                </c:pt>
                <c:pt idx="12">
                  <c:v>1951.6841399999998</c:v>
                </c:pt>
                <c:pt idx="13">
                  <c:v>2129.45535</c:v>
                </c:pt>
                <c:pt idx="14">
                  <c:v>680.02625</c:v>
                </c:pt>
                <c:pt idx="15">
                  <c:v>156.01443</c:v>
                </c:pt>
                <c:pt idx="16">
                  <c:v>864.51761</c:v>
                </c:pt>
                <c:pt idx="17">
                  <c:v>715.61251</c:v>
                </c:pt>
                <c:pt idx="18">
                  <c:v>498.40886</c:v>
                </c:pt>
                <c:pt idx="19">
                  <c:v>378.21194</c:v>
                </c:pt>
                <c:pt idx="20">
                  <c:v>353.07253000000003</c:v>
                </c:pt>
                <c:pt idx="21">
                  <c:v>244.31874</c:v>
                </c:pt>
                <c:pt idx="22">
                  <c:v>232.45920999999998</c:v>
                </c:pt>
                <c:pt idx="23">
                  <c:v>592.15334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40495176"/>
        <c:crosses val="autoZero"/>
        <c:auto val="1"/>
        <c:lblAlgn val="ctr"/>
        <c:lblOffset val="100"/>
        <c:noMultiLvlLbl val="0"/>
      </c:catAx>
      <c:valAx>
        <c:axId val="2140495176"/>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118791784"/>
        <c:crosses val="autoZero"/>
      </c:valAx>
    </c:plotArea>
    <c:legend>
      <c:legendPos val="t"/>
      <c:layout/>
      <c:overlay val="0"/>
      <c:txPr>
        <a:bodyPr/>
        <a:lstStyle/>
        <a:p>
          <a:pPr>
            <a:defRPr sz="1200">
              <a:latin typeface="Times New Roman"/>
            </a:defRPr>
          </a:pPr>
        </a:p>
      </c:txPr>
    </c:legend>
    <c:plotVisOnly val="1"/>
    <c:dispBlanksAs val="gap"/>
    <c:showDLblsOverMax val="0"/>
  </c:chart>
  <c:txPr>
    <a:bodyPr/>
    <a:lstStyle/>
    <a:p>
      <a:pPr>
        <a:defRPr sz="1200">
          <a:solidFill>
            <a:srgbClr val="595959"/>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Cửa hàng (POS)</c:v>
                </c:pt>
              </c:strCache>
            </c:strRef>
          </c:tx>
          <c:spPr>
            <a:solidFill>
              <a:srgbClr val="2E5B31"/>
            </a:solidFill>
            <a:ln>
              <a:noFill/>
            </a:ln>
          </c:spPr>
          <c:dLbls>
            <c:dLbl>
              <c:idx val="0"/>
              <c:tx>
                <c:rich>
                  <a:bodyPr/>
                  <a:lstStyle/>
                  <a:p>
                    <a:r>
                      <a:rPr sz="1100" b="1" i="0">
                        <a:solidFill>
                          <a:srgbClr val="FFFFFF"/>
                        </a:solidFill>
                        <a:latin typeface="Times New Roman"/>
                        <a:ea typeface="Times New Roman"/>
                        <a:cs typeface="Times New Roman"/>
                      </a:rPr>
                      <a:t>83,5%</a:t>
                    </a:r>
                  </a:p>
                </c:rich>
              </c:tx>
              <c:dLblPos val="ctr"/>
              <c:showLegendKey val="0"/>
              <c:showVal val="1"/>
              <c:showCatName val="0"/>
              <c:showSerName val="0"/>
              <c:showPercent val="0"/>
              <c:showBubbleSize val="0"/>
            </c:dLbl>
            <c:dLbl>
              <c:idx val="1"/>
              <c:tx>
                <c:rich>
                  <a:bodyPr/>
                  <a:lstStyle/>
                  <a:p>
                    <a:r>
                      <a:rPr sz="1100" b="1" i="0">
                        <a:solidFill>
                          <a:srgbClr val="FFFFFF"/>
                        </a:solidFill>
                        <a:latin typeface="Times New Roman"/>
                        <a:ea typeface="Times New Roman"/>
                        <a:cs typeface="Times New Roman"/>
                      </a:rPr>
                      <a:t>82,2%</a:t>
                    </a:r>
                  </a:p>
                </c:rich>
              </c:tx>
              <c:dLblPos val="ctr"/>
              <c:showLegendKey val="0"/>
              <c:showVal val="1"/>
              <c:showCatName val="0"/>
              <c:showSerName val="0"/>
              <c:showPercent val="0"/>
              <c:showBubbleSize val="0"/>
            </c:dLbl>
            <c:dLbl>
              <c:idx val="2"/>
              <c:tx>
                <c:rich>
                  <a:bodyPr/>
                  <a:lstStyle/>
                  <a:p>
                    <a:r>
                      <a:rPr sz="1100" b="1" i="0">
                        <a:solidFill>
                          <a:srgbClr val="FFFFFF"/>
                        </a:solidFill>
                        <a:latin typeface="Times New Roman"/>
                        <a:ea typeface="Times New Roman"/>
                        <a:cs typeface="Times New Roman"/>
                      </a:rPr>
                      <a:t>80,4%</a:t>
                    </a:r>
                  </a:p>
                </c:rich>
              </c:tx>
              <c:dLblPos val="ctr"/>
              <c:showLegendKey val="0"/>
              <c:showVal val="1"/>
              <c:showCatName val="0"/>
              <c:showSerName val="0"/>
              <c:showPercent val="0"/>
              <c:showBubbleSize val="0"/>
            </c:dLbl>
            <c:dLbl>
              <c:idx val="3"/>
              <c:tx>
                <c:rich>
                  <a:bodyPr/>
                  <a:lstStyle/>
                  <a:p>
                    <a:r>
                      <a:rPr sz="1100" b="1" i="0">
                        <a:solidFill>
                          <a:srgbClr val="FFFFFF"/>
                        </a:solidFill>
                        <a:latin typeface="Times New Roman"/>
                        <a:ea typeface="Times New Roman"/>
                        <a:cs typeface="Times New Roman"/>
                      </a:rPr>
                      <a:t>78,9%</a:t>
                    </a:r>
                  </a:p>
                </c:rich>
              </c:tx>
              <c:dLblPos val="ctr"/>
              <c:showLegendKey val="0"/>
              <c:showVal val="1"/>
              <c:showCatName val="0"/>
              <c:showSerName val="0"/>
              <c:showPercent val="0"/>
              <c:showBubbleSize val="0"/>
            </c:dLbl>
            <c:dLbl>
              <c:idx val="4"/>
              <c:tx>
                <c:rich>
                  <a:bodyPr/>
                  <a:lstStyle/>
                  <a:p>
                    <a:r>
                      <a:rPr sz="1100" b="1" i="0">
                        <a:solidFill>
                          <a:srgbClr val="FFFFFF"/>
                        </a:solidFill>
                        <a:latin typeface="Times New Roman"/>
                        <a:ea typeface="Times New Roman"/>
                        <a:cs typeface="Times New Roman"/>
                      </a:rPr>
                      <a:t>78,2%</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Sheet1!$B$2:$B$6</c:f>
              <c:numCache>
                <c:formatCode>General</c:formatCode>
                <c:ptCount val="5"/>
                <c:pt idx="0">
                  <c:v>0.8351813790926098</c:v>
                </c:pt>
                <c:pt idx="1">
                  <c:v>0.8218381331419139</c:v>
                </c:pt>
                <c:pt idx="2">
                  <c:v>0.8036151237271278</c:v>
                </c:pt>
                <c:pt idx="3">
                  <c:v>0.7885337514562929</c:v>
                </c:pt>
                <c:pt idx="4">
                  <c:v>0.7820754563402775</c:v>
                </c:pt>
              </c:numCache>
            </c:numRef>
          </c:val>
        </c:ser>
        <c:ser>
          <c:idx val="1"/>
          <c:order val="1"/>
          <c:tx>
            <c:strRef>
              <c:f>Sheet1!$C$1</c:f>
              <c:strCache>
                <c:ptCount val="1"/>
                <c:pt idx="0">
                  <c:v>Website/app</c:v>
                </c:pt>
              </c:strCache>
            </c:strRef>
          </c:tx>
          <c:spPr>
            <a:solidFill>
              <a:srgbClr val="8CB86E"/>
            </a:solidFill>
            <a:ln>
              <a:noFill/>
            </a:ln>
          </c:spPr>
          <c:dLbls>
            <c:dLbl>
              <c:idx val="0"/>
              <c:tx>
                <c:rich>
                  <a:bodyPr/>
                  <a:lstStyle/>
                  <a:p>
                    <a:r>
                      <a:rPr sz="1100" b="1" i="0">
                        <a:solidFill>
                          <a:srgbClr val="222222"/>
                        </a:solidFill>
                        <a:latin typeface="Times New Roman"/>
                        <a:ea typeface="Times New Roman"/>
                        <a:cs typeface="Times New Roman"/>
                      </a:rPr>
                      <a:t>16,5%</a:t>
                    </a:r>
                  </a:p>
                </c:rich>
              </c:tx>
              <c:dLblPos val="ctr"/>
              <c:showLegendKey val="0"/>
              <c:showVal val="1"/>
              <c:showCatName val="0"/>
              <c:showSerName val="0"/>
              <c:showPercent val="0"/>
              <c:showBubbleSize val="0"/>
            </c:dLbl>
            <c:dLbl>
              <c:idx val="1"/>
              <c:tx>
                <c:rich>
                  <a:bodyPr/>
                  <a:lstStyle/>
                  <a:p>
                    <a:r>
                      <a:rPr sz="1100" b="1" i="0">
                        <a:solidFill>
                          <a:srgbClr val="222222"/>
                        </a:solidFill>
                        <a:latin typeface="Times New Roman"/>
                        <a:ea typeface="Times New Roman"/>
                        <a:cs typeface="Times New Roman"/>
                      </a:rPr>
                      <a:t>17,8%</a:t>
                    </a:r>
                  </a:p>
                </c:rich>
              </c:tx>
              <c:dLblPos val="ctr"/>
              <c:showLegendKey val="0"/>
              <c:showVal val="1"/>
              <c:showCatName val="0"/>
              <c:showSerName val="0"/>
              <c:showPercent val="0"/>
              <c:showBubbleSize val="0"/>
            </c:dLbl>
            <c:dLbl>
              <c:idx val="2"/>
              <c:tx>
                <c:rich>
                  <a:bodyPr/>
                  <a:lstStyle/>
                  <a:p>
                    <a:r>
                      <a:rPr sz="1100" b="1" i="0">
                        <a:solidFill>
                          <a:srgbClr val="222222"/>
                        </a:solidFill>
                        <a:latin typeface="Times New Roman"/>
                        <a:ea typeface="Times New Roman"/>
                        <a:cs typeface="Times New Roman"/>
                      </a:rPr>
                      <a:t>19,6%</a:t>
                    </a:r>
                  </a:p>
                </c:rich>
              </c:tx>
              <c:dLblPos val="ctr"/>
              <c:showLegendKey val="0"/>
              <c:showVal val="1"/>
              <c:showCatName val="0"/>
              <c:showSerName val="0"/>
              <c:showPercent val="0"/>
              <c:showBubbleSize val="0"/>
            </c:dLbl>
            <c:dLbl>
              <c:idx val="3"/>
              <c:tx>
                <c:rich>
                  <a:bodyPr/>
                  <a:lstStyle/>
                  <a:p>
                    <a:r>
                      <a:rPr sz="1100" b="1" i="0">
                        <a:solidFill>
                          <a:srgbClr val="222222"/>
                        </a:solidFill>
                        <a:latin typeface="Times New Roman"/>
                        <a:ea typeface="Times New Roman"/>
                        <a:cs typeface="Times New Roman"/>
                      </a:rPr>
                      <a:t>21,1%</a:t>
                    </a:r>
                  </a:p>
                </c:rich>
              </c:tx>
              <c:dLblPos val="ctr"/>
              <c:showLegendKey val="0"/>
              <c:showVal val="1"/>
              <c:showCatName val="0"/>
              <c:showSerName val="0"/>
              <c:showPercent val="0"/>
              <c:showBubbleSize val="0"/>
            </c:dLbl>
            <c:dLbl>
              <c:idx val="4"/>
              <c:tx>
                <c:rich>
                  <a:bodyPr/>
                  <a:lstStyle/>
                  <a:p>
                    <a:r>
                      <a:rPr sz="1100" b="1" i="0">
                        <a:solidFill>
                          <a:srgbClr val="222222"/>
                        </a:solidFill>
                        <a:latin typeface="Times New Roman"/>
                        <a:ea typeface="Times New Roman"/>
                        <a:cs typeface="Times New Roman"/>
                      </a:rPr>
                      <a:t>21,8%</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Sheet1!$C$2:$C$6</c:f>
              <c:numCache>
                <c:formatCode>General</c:formatCode>
                <c:ptCount val="5"/>
                <c:pt idx="0">
                  <c:v>0.1648186209073902</c:v>
                </c:pt>
                <c:pt idx="1">
                  <c:v>0.1781618668580861</c:v>
                </c:pt>
                <c:pt idx="2">
                  <c:v>0.19638487627287216</c:v>
                </c:pt>
                <c:pt idx="3">
                  <c:v>0.2114662485437071</c:v>
                </c:pt>
                <c:pt idx="4">
                  <c:v>0.21792454365972247</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AOV 2020</c:v>
                </c:pt>
              </c:strCache>
            </c:strRef>
          </c:tx>
          <c:spPr>
            <a:solidFill>
              <a:srgbClr val="2E5B31"/>
            </a:solidFill>
            <a:ln>
              <a:noFill/>
            </a:ln>
          </c:spPr>
          <c:dPt>
            <c:idx val="1"/>
            <c:spPr>
              <a:solidFill>
                <a:srgbClr val="8CB86E"/>
              </a:solidFill>
            </c:spPr>
          </c:dPt>
          <c:dLbls>
            <c:dLbl>
              <c:idx val="0"/>
              <c:tx>
                <c:rich>
                  <a:bodyPr/>
                  <a:lstStyle/>
                  <a:p>
                    <a:r>
                      <a:rPr sz="1200" b="1" i="0">
                        <a:solidFill>
                          <a:srgbClr val="222222"/>
                        </a:solidFill>
                        <a:latin typeface="Times New Roman"/>
                        <a:ea typeface="Times New Roman"/>
                        <a:cs typeface="Times New Roman"/>
                      </a:rPr>
                      <a:t>2.010</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1.858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Cửa hàng (POS)</c:v>
                </c:pt>
                <c:pt idx="1">
                  <c:v>Website/app</c:v>
                </c:pt>
              </c:strCache>
            </c:strRef>
          </c:cat>
          <c:val>
            <c:numRef>
              <c:f>Sheet1!$B$2:$B$3</c:f>
              <c:numCache>
                <c:formatCode>General</c:formatCode>
                <c:ptCount val="2"/>
                <c:pt idx="0">
                  <c:v>2010.020074734119</c:v>
                </c:pt>
                <c:pt idx="1">
                  <c:v>1857.53422306959</c:v>
                </c:pt>
              </c:numCache>
            </c:numRef>
          </c:val>
        </c:ser>
        <c:gapWidth val="5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Net Sales</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149 (2%)</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437 (5%)</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541 (6%)</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853 (10%)</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1.072 (12%)</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1.170 (13%)</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1.207 (13%)</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3.512 (39%)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Game &amp; Đồ chơi</c:v>
                </c:pt>
                <c:pt idx="1">
                  <c:v>Âm thanh</c:v>
                </c:pt>
                <c:pt idx="2">
                  <c:v>Nhạc, phim, sách nói</c:v>
                </c:pt>
                <c:pt idx="3">
                  <c:v>TV &amp; Video</c:v>
                </c:pt>
                <c:pt idx="4">
                  <c:v>Gia dụng</c:v>
                </c:pt>
                <c:pt idx="5">
                  <c:v>Máy ảnh</c:v>
                </c:pt>
                <c:pt idx="6">
                  <c:v>Điện thoại</c:v>
                </c:pt>
                <c:pt idx="7">
                  <c:v>Máy tính</c:v>
                </c:pt>
              </c:strCache>
            </c:strRef>
          </c:cat>
          <c:val>
            <c:numRef>
              <c:f>Sheet1!$B$2:$B$9</c:f>
              <c:numCache>
                <c:formatCode>General</c:formatCode>
                <c:ptCount val="8"/>
                <c:pt idx="0">
                  <c:v>149.48492000000002</c:v>
                </c:pt>
                <c:pt idx="1">
                  <c:v>437.33593</c:v>
                </c:pt>
                <c:pt idx="2">
                  <c:v>541.38284</c:v>
                </c:pt>
                <c:pt idx="3">
                  <c:v>852.6435</c:v>
                </c:pt>
                <c:pt idx="4">
                  <c:v>1072.05762</c:v>
                </c:pt>
                <c:pt idx="5">
                  <c:v>1169.7288500000002</c:v>
                </c:pt>
                <c:pt idx="6">
                  <c:v>1206.78748</c:v>
                </c:pt>
                <c:pt idx="7">
                  <c:v>3511.9921</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Tỷ lệ hoàn trả</c:v>
                </c:pt>
              </c:strCache>
            </c:strRef>
          </c:tx>
          <c:spPr>
            <a:solidFill>
              <a:srgbClr val="D98C8C"/>
            </a:solidFill>
            <a:ln>
              <a:noFill/>
            </a:ln>
          </c:spPr>
          <c:dPt>
            <c:idx val="7"/>
            <c:spPr>
              <a:solidFill>
                <a:srgbClr val="C00000"/>
              </a:solidFill>
            </c:spPr>
          </c:dPt>
          <c:dLbls>
            <c:dLbl>
              <c:idx val="0"/>
              <c:tx>
                <c:rich>
                  <a:bodyPr/>
                  <a:lstStyle/>
                  <a:p>
                    <a:r>
                      <a:rPr sz="1100" b="0" i="0">
                        <a:solidFill>
                          <a:srgbClr val="222222"/>
                        </a:solidFill>
                        <a:latin typeface="Times New Roman"/>
                        <a:ea typeface="Times New Roman"/>
                        <a:cs typeface="Times New Roman"/>
                      </a:rPr>
                      <a:t>2,05%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2,13%</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2,14%</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2,55%</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2,58%</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2,70%</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2,84%</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Máy tính</c:v>
                </c:pt>
                <c:pt idx="1">
                  <c:v>Âm thanh</c:v>
                </c:pt>
                <c:pt idx="2">
                  <c:v>Gia dụng</c:v>
                </c:pt>
                <c:pt idx="3">
                  <c:v>Điện thoại</c:v>
                </c:pt>
                <c:pt idx="4">
                  <c:v>Máy ảnh</c:v>
                </c:pt>
                <c:pt idx="5">
                  <c:v>TV &amp; Video</c:v>
                </c:pt>
                <c:pt idx="6">
                  <c:v>Nhạc, phim, sách nói</c:v>
                </c:pt>
                <c:pt idx="7">
                  <c:v>Game &amp; Đồ chơi</c:v>
                </c:pt>
              </c:strCache>
            </c:strRef>
          </c:cat>
          <c:val>
            <c:numRef>
              <c:f>Sheet1!$B$2:$B$9</c:f>
              <c:numCache>
                <c:formatCode>General</c:formatCode>
                <c:ptCount val="8"/>
                <c:pt idx="0">
                  <c:v>0.020473536942181614</c:v>
                </c:pt>
                <c:pt idx="1">
                  <c:v>0.02125613141367095</c:v>
                </c:pt>
                <c:pt idx="2">
                  <c:v>0.02143155327789191</c:v>
                </c:pt>
                <c:pt idx="3">
                  <c:v>0.025491348319258332</c:v>
                </c:pt>
                <c:pt idx="4">
                  <c:v>0.025802492603307168</c:v>
                </c:pt>
                <c:pt idx="5">
                  <c:v>0.02701180505099728</c:v>
                </c:pt>
                <c:pt idx="6">
                  <c:v>0.0283964670915687</c:v>
                </c:pt>
                <c:pt idx="7">
                  <c:v>0.03439022477986408</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Giảm giá</c:v>
                </c:pt>
              </c:strCache>
            </c:strRef>
          </c:tx>
          <c:spPr>
            <a:solidFill>
              <a:srgbClr val="C55A11"/>
            </a:solidFill>
            <a:ln>
              <a:noFill/>
            </a:ln>
          </c:spPr>
          <c:dLbls>
            <c:dLbl>
              <c:idx val="0"/>
              <c:tx>
                <c:rich>
                  <a:bodyPr/>
                  <a:lstStyle/>
                  <a:p>
                    <a:r>
                      <a:rPr sz="1100" b="0" i="0">
                        <a:solidFill>
                          <a:srgbClr val="222222"/>
                        </a:solidFill>
                        <a:latin typeface="Times New Roman"/>
                        <a:ea typeface="Times New Roman"/>
                        <a:cs typeface="Times New Roman"/>
                      </a:rPr>
                      <a:t>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10,9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22,9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33,3</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37,0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Mùa xuân (SPRING5)</c:v>
                </c:pt>
                <c:pt idx="1">
                  <c:v>Black Friday (BF15)</c:v>
                </c:pt>
                <c:pt idx="2">
                  <c:v>Giáng sinh (XMAS10)</c:v>
                </c:pt>
                <c:pt idx="3">
                  <c:v>Back to school (BTS10)</c:v>
                </c:pt>
                <c:pt idx="4">
                  <c:v>Năm mới (NEWYEAR5)</c:v>
                </c:pt>
                <c:pt idx="5">
                  <c:v>Ưu đãi đặt online (WEB10)</c:v>
                </c:pt>
              </c:strCache>
            </c:strRef>
          </c:cat>
          <c:val>
            <c:numRef>
              <c:f>Sheet1!$B$2:$B$7</c:f>
              <c:numCache>
                <c:formatCode>General</c:formatCode>
                <c:ptCount val="6"/>
                <c:pt idx="0">
                  <c:v>0.5241399999999999</c:v>
                </c:pt>
                <c:pt idx="1">
                  <c:v>10.883899999999999</c:v>
                </c:pt>
                <c:pt idx="2">
                  <c:v>22.85443</c:v>
                </c:pt>
                <c:pt idx="3">
                  <c:v>33.327400000000004</c:v>
                </c:pt>
                <c:pt idx="4">
                  <c:v>34.41312</c:v>
                </c:pt>
                <c:pt idx="5">
                  <c:v>36.971669999999996</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Số đơn</c:v>
                </c:pt>
              </c:strCache>
            </c:strRef>
          </c:tx>
          <c:spPr>
            <a:solidFill>
              <a:srgbClr val="123A7A"/>
            </a:solidFill>
            <a:ln>
              <a:noFill/>
            </a:ln>
          </c:spPr>
          <c:dPt>
            <c:idx val="0"/>
            <c:spPr>
              <a:solidFill>
                <a:srgbClr val="2E5B31"/>
              </a:solidFill>
            </c:spPr>
          </c:dPt>
          <c:dPt>
            <c:idx val="1"/>
            <c:spPr>
              <a:solidFill>
                <a:srgbClr val="C00000"/>
              </a:solidFill>
            </c:spPr>
          </c:dPt>
          <c:dPt>
            <c:idx val="2"/>
            <c:spPr>
              <a:solidFill>
                <a:srgbClr val="C55A11"/>
              </a:solidFill>
            </c:spPr>
          </c:dPt>
          <c:dLbls>
            <c:dLbl>
              <c:idx val="0"/>
              <c:tx>
                <c:rich>
                  <a:bodyPr/>
                  <a:lstStyle/>
                  <a:p>
                    <a:r>
                      <a:rPr sz="1200" b="1" i="0">
                        <a:solidFill>
                          <a:srgbClr val="222222"/>
                        </a:solidFill>
                        <a:latin typeface="Times New Roman"/>
                        <a:ea typeface="Times New Roman"/>
                        <a:cs typeface="Times New Roman"/>
                      </a:rPr>
                      <a:t>25.639 (97,4%)</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658 (2,5%)</a:t>
                    </a:r>
                  </a:p>
                </c:rich>
              </c:tx>
              <c:dLblPos val="outEnd"/>
              <c:showLegendKey val="0"/>
              <c:showVal val="1"/>
              <c:showCatName val="0"/>
              <c:showSerName val="0"/>
              <c:showPercent val="0"/>
              <c:showBubbleSize val="0"/>
            </c:dLbl>
            <c:dLbl>
              <c:idx val="2"/>
              <c:tx>
                <c:rich>
                  <a:bodyPr/>
                  <a:lstStyle/>
                  <a:p>
                    <a:r>
                      <a:rPr sz="1200" b="1" i="0">
                        <a:solidFill>
                          <a:srgbClr val="222222"/>
                        </a:solidFill>
                        <a:latin typeface="Times New Roman"/>
                        <a:ea typeface="Times New Roman"/>
                        <a:cs typeface="Times New Roman"/>
                      </a:rPr>
                      <a:t>29 (0,1%)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COMPLETED</c:v>
                </c:pt>
                <c:pt idx="1">
                  <c:v>CANCELLED</c:v>
                </c:pt>
                <c:pt idx="2">
                  <c:v>PENDING</c:v>
                </c:pt>
              </c:strCache>
            </c:strRef>
          </c:cat>
          <c:val>
            <c:numRef>
              <c:f>Sheet1!$B$2:$B$4</c:f>
              <c:numCache>
                <c:formatCode>General</c:formatCode>
                <c:ptCount val="3"/>
                <c:pt idx="0">
                  <c:v>25639</c:v>
                </c:pt>
                <c:pt idx="1">
                  <c:v>658</c:v>
                </c:pt>
                <c:pt idx="2">
                  <c:v>29</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Sheet1!$B$2:$B$11</c:f>
              <c:numCache>
                <c:formatCode>General</c:formatCode>
                <c:ptCount val="10"/>
                <c:pt idx="0">
                  <c:v>0</c:v>
                </c:pt>
                <c:pt idx="1">
                  <c:v>8732.748230000001</c:v>
                </c:pt>
                <c:pt idx="2">
                  <c:v>8789.493970000001</c:v>
                </c:pt>
                <c:pt idx="3">
                  <c:v>8789.493970000001</c:v>
                </c:pt>
                <c:pt idx="4">
                  <c:v>8784.32774</c:v>
                </c:pt>
                <c:pt idx="5">
                  <c:v>8784.32774</c:v>
                </c:pt>
                <c:pt idx="6">
                  <c:v>8787.229370000001</c:v>
                </c:pt>
                <c:pt idx="7">
                  <c:v>0</c:v>
                </c:pt>
                <c:pt idx="8">
                  <c:v>8795.93491</c:v>
                </c:pt>
                <c:pt idx="9">
                  <c:v>0</c:v>
                </c:pt>
              </c:numCache>
            </c:numRef>
          </c:val>
        </c:ser>
        <c:ser>
          <c:idx val="1"/>
          <c:order val="1"/>
          <c:tx>
            <c:strRef>
              <c:f>Sheet1!$C$1</c:f>
              <c:strCache>
                <c:ptCount val="1"/>
                <c:pt idx="0">
                  <c:v>Tổng</c:v>
                </c:pt>
              </c:strCache>
            </c:strRef>
          </c:tx>
          <c:spPr>
            <a:solidFill>
              <a:srgbClr val="123A7A"/>
            </a:solidFill>
            <a:ln>
              <a:noFill/>
            </a:ln>
          </c:spPr>
          <c:dLbls>
            <c:dLbl>
              <c:idx val="0"/>
              <c:tx>
                <c:rich>
                  <a:bodyPr/>
                  <a:lstStyle/>
                  <a:p>
                    <a:r>
                      <a:rPr sz="1000" b="1" i="0">
                        <a:solidFill>
                          <a:srgbClr val="FFFFFF"/>
                        </a:solidFill>
                        <a:latin typeface="Times New Roman"/>
                        <a:ea typeface="Times New Roman"/>
                        <a:cs typeface="Times New Roman"/>
                      </a:rPr>
                      <a:t>8.733</a:t>
                    </a:r>
                  </a:p>
                </c:rich>
              </c:tx>
              <c:dLblPos val="inEnd"/>
              <c:showLegendKey val="0"/>
              <c:showVal val="1"/>
              <c:showCatName val="0"/>
              <c:showSerName val="0"/>
              <c:showPercent val="0"/>
              <c:showBubbleSize val="0"/>
            </c:dLbl>
            <c:dLbl>
              <c:idx val="7"/>
              <c:tx>
                <c:rich>
                  <a:bodyPr/>
                  <a:lstStyle/>
                  <a:p>
                    <a:r>
                      <a:rPr sz="1000" b="1" i="0">
                        <a:solidFill>
                          <a:srgbClr val="FFFFFF"/>
                        </a:solidFill>
                        <a:latin typeface="Times New Roman"/>
                        <a:ea typeface="Times New Roman"/>
                        <a:cs typeface="Times New Roman"/>
                      </a:rPr>
                      <a:t>8.797</a:t>
                    </a:r>
                  </a:p>
                </c:rich>
              </c:tx>
              <c:dLblPos val="inEnd"/>
              <c:showLegendKey val="0"/>
              <c:showVal val="1"/>
              <c:showCatName val="0"/>
              <c:showSerName val="0"/>
              <c:showPercent val="0"/>
              <c:showBubbleSize val="0"/>
            </c:dLbl>
            <c:dLbl>
              <c:idx val="9"/>
              <c:tx>
                <c:rich>
                  <a:bodyPr/>
                  <a:lstStyle/>
                  <a:p>
                    <a:r>
                      <a:rPr sz="1000" b="1" i="0">
                        <a:solidFill>
                          <a:srgbClr val="FFFFFF"/>
                        </a:solidFill>
                        <a:latin typeface="Times New Roman"/>
                        <a:ea typeface="Times New Roman"/>
                        <a:cs typeface="Times New Roman"/>
                      </a:rPr>
                      <a:t>8.796</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Sheet1!$C$2:$C$11</c:f>
              <c:numCache>
                <c:formatCode>General</c:formatCode>
                <c:ptCount val="10"/>
                <c:pt idx="0">
                  <c:v>8732.748230000001</c:v>
                </c:pt>
                <c:pt idx="1">
                  <c:v>0</c:v>
                </c:pt>
                <c:pt idx="2">
                  <c:v>0</c:v>
                </c:pt>
                <c:pt idx="3">
                  <c:v>0</c:v>
                </c:pt>
                <c:pt idx="4">
                  <c:v>0</c:v>
                </c:pt>
                <c:pt idx="5">
                  <c:v>0</c:v>
                </c:pt>
                <c:pt idx="6">
                  <c:v>0</c:v>
                </c:pt>
                <c:pt idx="7">
                  <c:v>8797.37041</c:v>
                </c:pt>
                <c:pt idx="8">
                  <c:v>0</c:v>
                </c:pt>
                <c:pt idx="9">
                  <c:v>8795.93491</c:v>
                </c:pt>
              </c:numCache>
            </c:numRef>
          </c:val>
        </c:ser>
        <c:ser>
          <c:idx val="2"/>
          <c:order val="2"/>
          <c:tx>
            <c:strRef>
              <c:f>Sheet1!$D$1</c:f>
              <c:strCache>
                <c:ptCount val="1"/>
                <c:pt idx="0">
                  <c:v>Tăng</c:v>
                </c:pt>
              </c:strCache>
            </c:strRef>
          </c:tx>
          <c:spPr>
            <a:solidFill>
              <a:srgbClr val="2E5B31"/>
            </a:solidFill>
            <a:ln>
              <a:noFill/>
            </a:ln>
          </c:spPr>
          <c:dLbls>
            <c:dLbl>
              <c:idx val="1"/>
              <c:tx>
                <c:rich>
                  <a:bodyPr/>
                  <a:lstStyle/>
                  <a:p>
                    <a:r>
                      <a:rPr sz="1000" b="1" i="0">
                        <a:solidFill>
                          <a:srgbClr val="FFFFFF"/>
                        </a:solidFill>
                        <a:latin typeface="Times New Roman"/>
                        <a:ea typeface="Times New Roman"/>
                        <a:cs typeface="Times New Roman"/>
                      </a:rPr>
                      <a:t>+59,7</a:t>
                    </a:r>
                  </a:p>
                </c:rich>
              </c:tx>
              <c:dLblPos val="ctr"/>
              <c:showLegendKey val="0"/>
              <c:showVal val="1"/>
              <c:showCatName val="0"/>
              <c:showSerName val="0"/>
              <c:showPercent val="0"/>
              <c:showBubbleSize val="0"/>
            </c:dLbl>
            <c:dLbl>
              <c:idx val="3"/>
              <c:tx>
                <c:rich>
                  <a:bodyPr/>
                  <a:lstStyle/>
                  <a:p>
                    <a:r>
                      <a:rPr sz="1000" b="1" i="0">
                        <a:solidFill>
                          <a:srgbClr val="FFFFFF"/>
                        </a:solidFill>
                        <a:latin typeface="Times New Roman"/>
                        <a:ea typeface="Times New Roman"/>
                        <a:cs typeface="Times New Roman"/>
                      </a:rPr>
                      <a:t>+17,0</a:t>
                    </a:r>
                  </a:p>
                </c:rich>
              </c:tx>
              <c:dLblPos val="ctr"/>
              <c:showLegendKey val="0"/>
              <c:showVal val="1"/>
              <c:showCatName val="0"/>
              <c:showSerName val="0"/>
              <c:showPercent val="0"/>
              <c:showBubbleSize val="0"/>
            </c:dLbl>
            <c:dLbl>
              <c:idx val="5"/>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6"/>
              <c:tx>
                <c:rich>
                  <a:bodyPr/>
                  <a:lstStyle/>
                  <a:p>
                    <a:r>
                      <a:rPr sz="1000" b="1" i="0">
                        <a:solidFill>
                          <a:srgbClr val="FFFFFF"/>
                        </a:solidFill>
                        <a:latin typeface="Times New Roman"/>
                        <a:ea typeface="Times New Roman"/>
                        <a:cs typeface="Times New Roman"/>
                      </a:rPr>
                      <a:t>+10,1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Sheet1!$D$2:$D$11</c:f>
              <c:numCache>
                <c:formatCode>General</c:formatCode>
                <c:ptCount val="10"/>
                <c:pt idx="0">
                  <c:v>0</c:v>
                </c:pt>
                <c:pt idx="1">
                  <c:v>59.68278</c:v>
                </c:pt>
                <c:pt idx="2">
                  <c:v>0</c:v>
                </c:pt>
                <c:pt idx="3">
                  <c:v>17.00268</c:v>
                </c:pt>
                <c:pt idx="4">
                  <c:v>0</c:v>
                </c:pt>
                <c:pt idx="5">
                  <c:v>2.90163</c:v>
                </c:pt>
                <c:pt idx="6">
                  <c:v>10.14104</c:v>
                </c:pt>
                <c:pt idx="7">
                  <c:v>0</c:v>
                </c:pt>
                <c:pt idx="8">
                  <c:v>0</c:v>
                </c:pt>
                <c:pt idx="9">
                  <c:v>0</c:v>
                </c:pt>
              </c:numCache>
            </c:numRef>
          </c:val>
        </c:ser>
        <c:ser>
          <c:idx val="3"/>
          <c:order val="3"/>
          <c:tx>
            <c:strRef>
              <c:f>Sheet1!$E$1</c:f>
              <c:strCache>
                <c:ptCount val="1"/>
                <c:pt idx="0">
                  <c:v>Giảm</c:v>
                </c:pt>
              </c:strCache>
            </c:strRef>
          </c:tx>
          <c:spPr>
            <a:solidFill>
              <a:srgbClr val="C00000"/>
            </a:solidFill>
            <a:ln>
              <a:noFill/>
            </a:ln>
          </c:spPr>
          <c:dLbls>
            <c:dLbl>
              <c:idx val="2"/>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4"/>
              <c:tx>
                <c:rich>
                  <a:bodyPr/>
                  <a:lstStyle/>
                  <a:p>
                    <a:r>
                      <a:rPr sz="1000" b="1" i="0">
                        <a:solidFill>
                          <a:srgbClr val="FFFFFF"/>
                        </a:solidFill>
                        <a:latin typeface="Times New Roman"/>
                        <a:ea typeface="Times New Roman"/>
                        <a:cs typeface="Times New Roman"/>
                      </a:rPr>
                      <a:t>−22,2</a:t>
                    </a:r>
                  </a:p>
                </c:rich>
              </c:tx>
              <c:dLblPos val="ctr"/>
              <c:showLegendKey val="0"/>
              <c:showVal val="1"/>
              <c:showCatName val="0"/>
              <c:showSerName val="0"/>
              <c:showPercent val="0"/>
              <c:showBubbleSize val="0"/>
            </c:dLbl>
            <c:dLbl>
              <c:idx val="8"/>
              <c:tx>
                <c:rich>
                  <a:bodyPr/>
                  <a:lstStyle/>
                  <a:p>
                    <a:r>
                      <a:rPr sz="1000" b="1" i="0">
                        <a:solidFill>
                          <a:srgbClr val="222222"/>
                        </a:solidFill>
                        <a:latin typeface="Times New Roman"/>
                        <a:ea typeface="Times New Roman"/>
                        <a:cs typeface="Times New Roman"/>
                      </a:rPr>
                      <a:t>−1,4</a:t>
                    </a:r>
                  </a:p>
                </c:rich>
              </c:tx>
              <c:dLblPos val="inBase"/>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Sheet1!$E$2:$E$11</c:f>
              <c:numCache>
                <c:formatCode>General</c:formatCode>
                <c:ptCount val="10"/>
                <c:pt idx="0">
                  <c:v>0</c:v>
                </c:pt>
                <c:pt idx="1">
                  <c:v>0</c:v>
                </c:pt>
                <c:pt idx="2">
                  <c:v>2.93704</c:v>
                </c:pt>
                <c:pt idx="3">
                  <c:v>0</c:v>
                </c:pt>
                <c:pt idx="4">
                  <c:v>22.16891</c:v>
                </c:pt>
                <c:pt idx="5">
                  <c:v>0</c:v>
                </c:pt>
                <c:pt idx="6">
                  <c:v>0</c:v>
                </c:pt>
                <c:pt idx="7">
                  <c:v>0</c:v>
                </c:pt>
                <c:pt idx="8">
                  <c:v>1.4355</c:v>
                </c:pt>
                <c:pt idx="9">
                  <c:v>0</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000">
                <a:latin typeface="Times New Roman"/>
              </a:defRPr>
            </a:pPr>
          </a:p>
        </c:txPr>
        <c:crossAx val="-2113994440"/>
        <c:crosses val="autoZero"/>
        <c:auto val="1"/>
        <c:lblAlgn val="ctr"/>
        <c:lblOffset val="100"/>
        <c:noMultiLvlLbl val="0"/>
      </c:catAx>
      <c:valAx>
        <c:axId val="-2113994440"/>
        <c:scaling>
          <c:max val="8820.0"/>
          <c:min val="866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dispBlanksAs val="gap"/>
  </c:chart>
  <c:txPr>
    <a:bodyPr/>
    <a:lstStyle/>
    <a:p>
      <a:pPr>
        <a:defRPr sz="1000">
          <a:solidFill>
            <a:srgbClr val="595959"/>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vi-V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Giới thiệu buổi học: Project 1 của nhóm Sales Operations, tình huống Nexa Home – chuỗi bán lẻ điện máy bán qua cửa hàng (POS) và website/app. Mục tiêu: học viên dựng dashboard Excel 4 sheet (Power Query, Power Pivot, DAX) từ dữ liệu đơn hàng, tính đúng Gross Sales, Net Revenue, số đơn, AOV, ASP, rồi đối soát với file doanh thu Kế toán và giải thích các chênh lệch vượt ngưỡng. Đây là project đầu tiên nên mentor hỗ trợ nhiều (khoảng 80 %): đi cùng học viên qua từng bước, học viên tự làm phần giải thích chênh lệch. Giới thiệu mentor và quy ước hỏi đáp trong buổi.</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Mạch buổi học (≈ 195 phút): hiểu bối cảnh bán lẻ và vì sao phải đối soát (15') → đề bài dashboard (20') → hệ thống KPI (20') → dữ liệu, Power Query và mô hình (40') → khám phá dữ liệu (15') → mẫu DAX (35') → dựng dashboard Excel, đọc kết quả và lập luận (40') → sản phẩm nộp và chấm điểm (10'). Nhấn mạnh: phần 3 và 4 là nền móng; sai định nghĩa KPI hoặc sai số dòng sau khi nạp thì mọi con số phía sau đều sai, kể cả bảng đối soát.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1 · khoảng 15 phút.) Mở bằng tình huống: 10 phút nữa họp với Kế toán, Trưởng phòng Kinh doanh cần trả lời 3 câu: tháng này thực sự bán được bao nhiêu; bao nhiêu bị mất vì giảm giá, hoàn trả, huỷ đơn; và vì sao số của Sales khác số Kế toán đã xác nhận. Vai trò của Data Analyst là trả lời cả ba bằng con số kiểm chứng được. Hỏi lớp: “Nếu số của bạn lệch Kế toán 2 %, bạn tin số nào? Cần gì để thuyết phục người kia?” – dẫn sang ý: phải giải thích được chênh lệch đến từ đâu, bao nhiêu tiền.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Quy mô dữ liệu: 66 cửa hàng ở 8 quốc gia cộng một kênh online, 2.517 sản phẩm, 26.326 đơn từ 01/2016 đến 20/02/2021. Đi qua 5 bước của một đơn: đặt hàng (order_date; POS trả tiền và nhận hàng ngay), giao hàng (delivery_date, chỉ online), hoàn tất (chỉ đơn COMPLETED mới là doanh thu), hoàn trả (trừ vào tháng trả hàng, không phải tháng bán), Kế toán ghi nhận (posting_date). Ý chính cần chốt: cùng một đơn có thể rơi vào hai tháng khác nhau tuỳ theo mốc ngày mà mỗi bên dùng.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ghi sổ cho cùng một giao dịch: dữ liệu đơn ghi theo ngày đặt và còn lẫn đơn huỷ, đơn đang giao, dòng trùng; Kế toán ghi theo ngày ghi sổ, online khi giao xong, hoàn tiền khi xử lý, dùng mã cửa hàng riêng. Vì vậy chênh lệch không mặc định là lỗi: có lệch thời điểm, lệch quy tắc và lỗi thật. Nếu không đối soát: hai phòng báo hai số, thưởng doanh số tính sai, lỗi thật bị che trong tổng. Giới thiệu ba vai trò trong vòng đối soát: DA lập bảng chênh lệch, Kế toán xác nhận phía sổ sách, cửa hàng/e-commerce xác nhận trạng thái đơn khi DA hỏi lại.</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2 · khoảng 20 phút.) Hai sản phẩm: file Excel .xlsx (Power Query + Data Model + 4 sheet dashboard) và báo cáo 8 phần theo guild_report_template. Slicer dùng chung cho cả 4 sheet: Năm + Tháng báo cáo (chọn một, mặc định 12/2020), Kênh bán, Quốc gia; thẻ KPI đọc slicer qua CUBEVALUE. Bốn sheet (mỗi sheet là một trang) đi theo một mạch kể chuyện: chuyện gì xảy ra (Tổng quan) → doanh thu đến từ đâu → lệch Kế toán ở đâu → doanh thu có sạch không. Lưu ý kênh online không thuộc quốc gia nào: khi chọn một quốc gia thì online bị loại khỏi phạm vi.</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1 trả lời: tháng này bán được bao nhiêu, vì sao tăng/giảm, có khớp Kế toán không. Mở đầu bằng câu Điểm chính ghép bằng công thức Excel từ các ô số. Năm thẻ: Net Revenue, số đơn, AOV, tỷ lệ hoàn trả, chênh lệch Kế toán. Biểu đồ: đường Net Revenue 24 tháng màu xám với tháng chọn tô xanh và điểm cùng kỳ được ghi chú; waterfall Gross → Net; hai biểu đồ nhỏ số đơn và AOV đặt cạnh nhau (không dùng hai trục trên một biểu đồ) để thấy ngay doanh thu giảm vì ít đơn; và cột Δ sau quy đổi theo tháng để dẫn sang trang Đối soát.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2 trả lời: doanh thu tập trung ở đâu, kênh nào tăng. Bốn thẻ: Net Sales, Units, tỷ trọng online, giảm giá trên Gross. Danh mục và quốc gia vẽ bằng cột ngang xếp hạng: mục lớn nhất tô xanh, còn lại xám, nhãn giá trị và % ở cuối thanh. Giải thích vì sao bỏ pie/treemap: mắt so sánh độ dài chính xác hơn góc hay diện tích. Bảng kênh có AOV, so với tháng trước và cùng kỳ; Top 10 cửa hàng có thanh nhỏ trong ô.</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3 là trọng tâm. Δ = Kế toán − dữ liệu đơn; cờ ⚠ khi |Δ| &gt; 200 USD và |Δ %| &gt; 1% ở mức tháng × cửa hàng. Biểu đồ phân rã Δ của tháng chọn: phần lệch thời điểm online (xám) → từng cửa hàng vượt ngưỡng (đỏ) → phần còn lại. Cột Δ sau quy đổi theo tháng chỉ tô đỏ những tháng có cửa hàng vượt ngưỡng. Bảng cửa hàng xếp theo |Δ|. Hỏi lớp: “Vì sao màu đỏ chỉ dùng cho vượt ngưỡng?” – để mắt người xem đi thẳng tới chỗ cần điều tra.</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4 trả lời: doanh thu có “sạch” không. Thẻ giá trị hoàn trả, tỷ lệ hoàn trả (thay đổi đo bằng điểm %), đơn huỷ, dòng trùng đã loại kèm số đơn đang giao. Đường tỷ lệ hoàn trả 24 tháng, cột ngang lý do trả hàng và cột ngang tỷ lệ hoàn trả theo danh mục, nhãn kèm Net Sales để không kết luận vội với danh mục nhỏ. Màu đảo: tỷ lệ hoàn trả tăng là xấu nên ▲ hiển thị màu cam.</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Checklist để học viên tự chấm trước khi nộp, chia 3 mức. Bắt buộc: bỏ 120 dòng trùng, chỉ tính COMPLETED, đủ 4 sheet, slicer dùng chung, map Kế toán theo hiệu lực, có cờ vượt ngưỡng. Nên có: Δ sau quy đổi online, line chart đủ 24 tháng, tiêu đề hành động và câu Điểm chính, đơn vị rõ, xám + một màu nhấn. Sáng tạo: sheet chi tiết cửa hàng – ngày, Show Details trên PivotTable, bảng giải thích chênh lệch có tổng nguyên nhân bằng Δ, dùng bảng bổ sung.</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Sáu bài học của Cole Nussbaumer Knaflic áp vào dashboard này. (1) Bối cảnh: người xem là Trưởng phòng Kinh doanh và Kế toán trước họp chốt số – viết kết luận thành một câu. (2) Chọn hình: đường cho xu hướng, cột ngang cho xếp hạng, bảng cho chi tiết. (3) Gỡ rối: bỏ khung, nền màu, chú giải thừa. (4) Dẫn mắt: xám cho bối cảnh, một màu nhấn, đỏ chỉ cho vấn đề. (5) Thiết kế: căn thẳng, số thống nhất, màu an toàn cho người mù màu. (6) Kể chuyện: tiêu đề nêu kết luận, nguồn và ngày dữ liệu ở chân trang. Hoạt động: cho học viên sửa một tiêu đề mô tả thành tiêu đề hành động.</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3 · khoảng 20 phút.) Trước khi vào KPI, thống nhất cách gọi. Doanh thu theo Chuẩn mực kế toán VAS 14 và chế độ kế toán Thông tư 99/2025/TT-BTC (thay Thông tư 200 từ 01/01/2026): doanh thu bán hàng trừ các khoản giảm trừ doanh thu (chiết khấu thương mại, hàng bán bị trả lại) ra doanh thu thuần – trong file và số đo là Gross Sales, Discounts, Returns, Net Revenue. "Kế toán" trong tên file và số đo chính là phòng Tài chính – Kế toán. Tên menu Excel ghi theo giao diện tiếng Việt của Microsoft kèm tiếng Anh, vì máy học viên có thể dùng một trong hai.</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cây KPI từ trái sang phải: Gross Sales trừ giảm giá ra Net Sales, trừ hoàn trả ra Net Revenue, rồi so với Finance Net Revenue ra Δ và cờ ngưỡng. Nhánh trên: Orders và Units là mẫu số của AOV và ASP, với tử số chung là Net Sales. Thông điệp: hiểu định nghĩa và thứ tự trước, viết DAX sau.</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5 chỉ tiêu nhóm doanh thu và phạm vi: chỉ đơn COMPLETED, đã bỏ dòng trùng; Returns tính theo ngày trả hàng. Làm ví dụ tính tay ở khung bên phải (sheet sample_transactions): đơn POS dùng mã BF15, Gross 5.509,99 USD, giảm giá 826,50 USD, đúng 15 %, ra Net Sales 4.683,49 USD; không có hoàn trả nên Net Revenue bằng Net Sales. Hoạt động: cho học viên tự mở sheet, lọc order_number này và tính lại bằng Excel trước khi viết DAX. Chốt: Net Revenue là số đem đi đối soát.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Orders đếm phân biệt order_number, không đếm dòng. Tháng 12/2020: 310 đơn, 2.359 sản phẩm, AOV 1.986,49 USD/đơn, ASP 261,05 USD/sản phẩm, tỷ lệ hoàn trả 1,57%. Giới thiệu bốn mốc thời gian: tháng báo cáo, tháng trước (LM), cùng kỳ năm trước (SPLY) và lũy kế năm (YTD). Bẫy hay gặp: COUNT trên bảng dòng làm số đơn tăng gấp nhiều lần; tính AOV trên Gross thay vì Net Sales làm AOV cao hơn thực tế.</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trạng thái: COMPLETED 25.639 đơn (tính doanh thu), CANCELLED 658 đơn và PENDING 29 đơn (không tính). PENDING là đơn online chưa giao tại ngày trích dữ liệu 20/02/2021. Phía Kế toán: POS ghi nhận ngày bán, online ghi nhận ngày giao, hoàn tiền ghi theo ngày xử lý (có thể trễ vài ngày), net_revenue chưa gồm VAT 10 %. Hỏi lớp: “Nếu so số của mình với cột total_incl_vat thì chuyện gì xảy ra?” – mọi ô sẽ lệch khoảng 10 %.</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vì sao cần cả hai điều kiện: cửa hàng lớn lệch 300 USD có thể chỉ 0,1 % – không đáng truy; cửa hàng nhỏ lệch 5 % nhưng chỉ 50 USD – cũng không đáng công. Hai ví dụ thật tháng 12/2020: một cửa hàng lệch dưới 200 USD nên trong ngưỡng; cửa hàng S12 lệch +10.141 USD (+32,7%) nên bắt buộc tìm nguyên nhân. Không nói trước nguyên nhân của S12; để học viên tự tìm ở trang Đối soát.</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4 · khoảng 40 phút.) Đọc sơ đồ theo ba làn: mentor chuẩn bị dữ liệu (nguồn Global Electronics Retailer), học viên làm 5 bước trong Excel (Power Query → Data Model → DAX trong Power Pivot → 4 sheet dashboard → báo cáo), và các điểm kiểm tra (QC_Summary, số đối soát, rubric). Nhấn mạnh hai file đầu vào của học viên: dataset và finance_revenue.xlsx.</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file, ba bảng dữ kiện với ba grain khác nhau: fact_sales_line 63.004 dòng, mỗi dòng là một sản phẩm trong một đơn; fact_return 2.430 dòng, mỗi dòng một lần trả hàng; finance_revenue 19.400 dòng, mỗi dòng một ngày × một mã cửa hàng Kế toán. Ba lưu ý: có 120 dòng trùng hoàn toàn cần loại; fact_return không có store_key nên phải lấy qua order_number + line_item; fin_store_code không phải store_key nên phải map.</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nhanh qua các dim: dim_date (một dòng một ngày, phải Mark as date table), dim_store (store_key 0 là online), dim_product, dim_channel kèm quy tắc ghi nhận, dim_promotion, dim_order_status (có tính doanh thu không) và map_store_finance. dim_customer và fx_rate là bảng bổ sung cho phần sáng tạo, không bắt buộc. Hỏi lớp: “Muốn so tháng này với tháng trước bằng DATEADD thì cần gì?” – cần bảng ngày liên tục và đã đánh dấu.</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Mô hình hình sao, quan hệ 1 → nhiều, lọc một chiều. dim_date nối fact_sales_line qua order_date (active) và delivery_date (inactive, bật bằng USERELATIONSHIP khi cần quy online về ngày giao); nối fact_return qua return_date và fact_finance qua posting_date. Hai bảng dữ kiện không nối trực tiếp với nhau, chúng gặp nhau qua dim_date và dim_store. dim_channel nối vào dim_store để slicer Kênh lọc được cả Kế toán và hoàn trả. Trong Excel: Power Pivot → Manage → Diagram View, kéo khoá từ dim sang fact; kéo dim_date lần hai sang delivery_date thì Excel tự để quan hệ đó inactive. Phần làm trong Power Query: merge store_key vào fact_return, map store_key cho Kế toán.</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map có hiệu lực theo ngày. Bẫy 1: cửa hàng 38 dùng mã GBR-03 đến 30/06/2019, sau đó GBR-03N; nếu gõ tay bảng mã theo mã cũ thì doanh thu từ 07/2019 không gắn được cửa hàng. Luôn dùng map_store_finance và lọc posting_date trong [valid_from, valid_to] – với dữ liệu hiện tại bước lọc giữ nguyên số dòng, nó là chốt an toàn khi Kế toán còn hạch toán mã cũ sau ngày đổi. Bẫy 2: dòng HQ-ADJ là bút toán ở văn phòng chính, store_key trống, không gán cho cửa hàng nào mà giải thích ở cấp tổng chuỗi. Kiểm tra sau merge: số dòng Kế toán vẫn đúng 19.400.</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Chưa khớp số dòng thì chưa tính KPI. Sau khi nạp: 63.004 dòng, bỏ 120 dòng trùng còn 62.884; tổng 26.326 đơn trong đó 25.639 COMPLETED. Ba quy tắc: bỏ trùng trên toàn bộ cột; lọc COMPLETED trong số đo chứ không xoá dòng (để vẫn đếm được đơn huỷ); đặt đúng kiểu dữ liệu (ngày là Date, tiền là Fixed decimal, store_key là Whole Number ở mọi bảng). Hoạt động: học viên đối chiếu số dòng của mình với QC_Summary ngay tại lớp.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Sơ đồ: mỗi làn là một query, mỗi ô là một Applied Step, số dưới ô là số dòng sau bước. Mọi bước làm bằng chuột trong Power Query Editor, Excel tự ghi lại thành Applied Steps. Chỉ cần hai lượt Get Data: lượt 1 chọn cùng lúc mọi Table trong file dataset (Navigator → Select multiple items), lượt 2 lấy finance_revenue.xlsx. Làm sạch theo thứ tự dim → fact_sales_line → fact_return → finance_raw, map_store_finance → fact_finance vì query sau dùng query trước. Ô cam là ba chỗ hay sai: Removed Duplicates, Merged Queries và Filtered Rows – dừng lại kiểm số dòng ngay sau các bước này. Đổi máy: Data Source Settings → Change Source rồi Refresh All.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Demo trực tiếp. fact_sales_line: chọn Table tbl_fact_sales_line (không chọn sheet), kiểm kiểu cột, Ctrl+A rồi Remove Duplicates – 63.004 → 62.884 dòng – rồi thêm gross_amount bằng Add Column → Standard → Multiply và net_amount bằng Subtract (chọn gross_amount trước). fact_return: Merge Queries với fact_sales_line theo hai cột order_number + line_item (giữ Ctrl để chọn, cùng thứ tự ở hai bảng), mở rộng lấy store_key, channel_code, product_key; số dòng giữ 2.430. Hỏi lớp: “Nếu ghép trước khi bỏ trùng thì sao?” – dòng trả hàng có thể bị nhân đôi. Hoạt động: học viên tự làm, so tên bước ở khung Applied Steps với slide.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fact_finance tạo bằng Reference từ finance_raw, Merge với map_store_finance theo fin_store_code, mở rộng store_key, valid_from, valid_to. Điều kiện ngày hiệu lực làm bằng Conditional Column (ô Value chọn Select a column để so hai cột ngày), rồi lọc hieu_luc = 1 và bỏ 3 cột phụ – không cần gõ công thức. Số dòng giữ 19.400 ở mọi bước; 3 dòng HQ-ADJ có store_key trống là đúng thiết kế. finance_raw và map_store_finance chỉ là query trung gian.</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Close &amp; Load To… chọn Only Create Connection và tick Add this data to the Data Model – không đổ bảng ra sheet vì 63 nghìn dòng làm file nặng mà không dùng tới. Hai query trung gian chỉ tạo connection. Trong Power Pivot: tạo quan hệ, Mark as Date Table, Sort by Column cho month_label, ẩn khoá ở bảng dữ kiện. Excel không có cửa sổ chạy truy vấn DAX nên kiểm mô hình bằng PivotTable From Data Model: đơn COMPLETED năm 2020 phải ra 4.528. Đây là lúc dừng lại cho cả lớp đối chiếu số dòng trước khi sang DAX.</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5 · khoảng 15 phút.) Ở cấp năm hai nguồn gần khớp. Năm 2020 Net Revenue 8,73 triệu USD, giảm 48,4% so với 2019. Số đơn giảm từ 8.842 xuống 4.528 trong khi AOV gần như đi ngang (1.965 → 1.975 USD). Hỏi lớp: “Doanh thu giảm do ít đơn hơn hay đơn nhỏ hơn?” – đáp án: do ít đơn. Năm 2021 chỉ có dữ liệu đến 20/02 nên không so sánh trực tiếp.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đường gần như chồng nhau; đỉnh cuối năm, đáy tháng 4. Năm 2020 sụt mạnh từ tháng 3: khi viết báo cáo, học viên cần nêu bối cảnh thay vì chỉ mô tả số. Tháng báo cáo 12/2020: Net Revenue 606 nghìn USD. Chỉ ra chỗ đường Kế toán lệch đường dữ liệu đơn ở các tháng có nhiều đơn online giao sang tháng sau – đây là gợi ý đầu tiên cho phần đối soát.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Online chỉ chiếm khoảng một phần năm Net Sales nhưng là nguồn chênh lệch lớn nhất khi đối soát theo tháng, vì dữ liệu đơn tính theo ngày đặt còn Kế toán tính theo ngày giao. Đơn đặt cuối tháng, giao đầu tháng sau sẽ “nhảy” sang tháng khác. AOV online thấp hơn cửa hàng. Hỏi lớp: “Cộng cả năm thì lệch thời điểm online còn bao nhiêu?” – gần bằng 0, chỉ còn phần ở hai đầu năm.</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hai biểu đồ cùng nhau: danh mục lớn nhất (máy tính) chưa chắc có tỷ lệ hoàn trả cao nhất. Danh mục nhỏ dễ có tỷ lệ cao vì ít đơn, nên khi viết báo cáo phải nêu cả quy mô lẫn tỷ lệ. Gợi ý câu hỏi phân tích cho báo cáo: danh mục nào vừa lớn vừa có tỷ lệ hoàn trả tăng.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Giảm giá năm 2020 là 138.975 USD, khoảng 1,5% Gross Sales; chương trình lớn nhất là ưu đãi đặt online. Biểu đồ trạng thái cho thấy phần lớn đơn COMPLETED; đơn huỷ và đơn đang giao phải loại. Đơn PENDING đều là đơn online đặt sát ngày trích dữ liệu: nếu tính nhầm, doanh thu phía đơn sẽ cao hơn Kế toán.</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6 · khoảng 35 phút.) Bộ bắt buộc chỉ có 21 số đo, chia 5 nhóm theo thứ tự: doanh thu → đơn &amp; giá → Kế toán và chênh lệch → quy đổi online → so sánh kỳ; 8 số đo nâng cao để riêng cho phần sáng tạo. Số đo sau dùng lại số đo trước, ví dụ [Net Revenue] = [Net Sales] − [Returns]: sửa định nghĩa ở một chỗ thì đúng ở mọi nơi. Đặt tất cả trong bảng _Measures, tạo theo đúng thứ tự trên slide. Mỗi số đo mới kiểm ngay bằng PivotTable hoặc một ô CUBEVALUE trước khi dùng tiếp.</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tạo số đo: hộp thoại Power Pivot → Measures → New Measure (chọn bảng _Measures, đặt tên, gõ công thức, chọn định dạng) hoặc gõ “Tên := công thức” vào Calculation Area dưới bảng _Measures. Gõ đúng tên như trên slide vì ô CUBEVALUE gọi số đo theo tên. DAX chỉ tính số; % thay đổi và câu Điểm chính là công thức Excel thường (FIXED, &amp;) trỏ vào các ô CUBEVALUE; CUBERANKEDMEMBER đọc tháng đang chọn trên slicer. Demo trực tiếp tháng 12/2020.</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Gross Sales là doanh thu bán hàng, Discounts là chiết khấu thương mại, Returns là hàng bán bị trả lại, Net Revenue là doanh thu thuần. gross_amount (quantity × unit_price) đã tính ở Power Query nên Gross Sales chỉ cần SUM; CALCULATE với KEEPFILTERS thêm điều kiện COMPLETED cho mọi pivot mà vẫn giữ lựa chọn của slicer. Cú pháp trong Excel là “Tên := công thức”. Returns không lọc trạng thái vì mọi dòng trả hàng đều thuộc đơn COMPLETED (QC đã kiểm). Kiểm chứng tháng 12/2020: Gross 640.551,11 − Discounts 24.739,37 = Net Sales 615.811,74; trừ Returns 9.686,67 ra Net Revenue 606.125,07 USD. Cho học viên gõ và đối chiếu số trong lớp.</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DIVIDE thay cho dấu “/” để tránh lỗi chia cho 0. Time intelligence (DATEADD, SAMEPERIODLASTYEAR, DATESYTD) chỉ chạy đúng khi dim_date đã Mark as date table. Kiểm chứng tháng 12/2020: Net Revenue 606.125 USD; tháng trước 238.037 (+154,6%); cùng kỳ 2.263.415 (−73,2%); YTD 8.732.748 USD. Với tỷ lệ (Return Rate) so sánh bằng điểm %, không dùng %.</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Finance Net Revenue loại các dòng HQ-ADJ (store_key trống). Δ = Kế toán − Net Revenue; Δ % chia cho trị tuyệt đối của Kế toán để giữ dấu. [Vượt ngưỡng] trả về 1/0 cho từng ô tháng × cửa hàng; [Số cửa hàng vượt ngưỡng] dùng SUMX qua CROSSJOIN tháng × cửa hàng – context transition tính lại số đo cho từng ô, nên đúng cả khi chọn một tháng lẫn cả năm. Nhấn mạnh: không so tổng của cả bảng, vì các lệch trái dấu sẽ triệt tiêu nhau.</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USERELATIONSHIP bật quan hệ inactive delivery_date chỉ trong số đo này; KEEPFILTERS giữ lựa chọn của slicer Kênh. POS giữ ngày đặt hàng vì Kế toán ghi POS theo ngày bán. Ví dụ tháng 12/2020: Δ toàn chuỗi −12.536 USD; sau quy đổi online phần còn lại nằm ở kênh cửa hàng. Thông điệp: nếu Δ online biến mất sau quy đổi thì đó là lệch thời điểm, không phải lỗi dữ liệu.</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7 · khoảng 40 phút.) Mở trực tiếp file Nexa_Sales_P1_Dashboard.xlsx – dashboard tham chiếu dựng đúng các bước của bài (Power Query, Mô hình Dữ liệu, DAX, slicer, PivotTable, CUBEVALUE); học viên dựng lại bố cục này theo 2 slide tiếp theo và so số với file đó. Thứ tự đọc mỗi sheet: câu Điểm chính → thẻ KPI → biểu đồ có tiêu đề nêu kết luận → bảng chi tiết. Luôn bắt đầu từ câu hỏi của trang, không bắt đầu từ biểu đồ.</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đối tượng Excel đủ dựng cả 4 sheet. Slicer từ Mô hình Dữ liệu (Năm, Tháng, Kênh, Quốc gia), copy sang sheet khác là dùng chung bộ lọc; Report Connections nối slicer với mọi PivotTable trên _pivot. Biểu đồ 24 tháng lấy số từ bảng phụ CUBEVALUE theo month_id, chỉ truyền slicer Kênh và Quốc gia nên luôn đủ 24 tháng. CUBEVALUE đưa một số đo ra một ô theo slicer; các ô đó là nguyên liệu cho thẻ KPI, % thay đổi và câu Điểm chính viết bằng công thức Excel. PivotTable From Data Model cho bảng xếp hạng và bảng chi tiết (Top 10). Waterfall vẽ bằng loại biểu đồ Waterfall của Excel từ các ô CUBEVALUE, cột cuối Set as total. Mẹo tô màu nhấn: bảng phụ hai cột (nhấn = IF là mục lớn nhất, nền = phần còn lại) rồi vẽ cột chồng.</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này là “bản vẽ thi công” của 4 sheet. Đặt mọi PivotTable nguồn, ô CUBEVALUE và bảng phụ ở sheet _pivot (ẩn khi nộp); 4 sheet dashboard chỉ chứa slicer, thẻ KPI, biểu đồ và bảng cho người xem. Giữ cùng vùng ô cho câu Điểm chính và thẻ KPI ở mọi sheet. Hoạt động: mỗi nhóm dựng sheet Tong_quan trong 20 phút, so số với file Nexa_Sales_P1_Dashboard.xlsx ở tháng 12/2020.</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thẻ: Net Revenue 606,1 nghìn USD, +154,6% so với 11/2020, −73,2% so với 12/2019. Số đơn 310 so với 1.223 cùng kỳ, nhưng AOV 1.986 USD tăng +4,9% → doanh thu giảm vì ít đơn, không phải vì đơn nhỏ. Δ Finance −12.536 USD (−2,11%), chưa gồm HQ-ADJ −1.436 USD. Thông điệp: một mốc so sánh không đủ để kết luận.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câu Điểm chính: máy tính dẫn đầu, Mỹ là thị trường lớn nhất. Cột ngang xếp hạng cho thấy ngay mục lớn nhất (tô xanh) mà không cần đọc chú giải. Bảng kênh: cửa hàng chiếm khoảng ba phần tư Net Sales; cả hai kênh tăng mạnh so với tháng trước nhưng giảm sâu so với cùng kỳ; AOV cửa hàng cao hơn online. Hỏi lớp: “Tăng so với tháng trước có phải tin tốt không khi cùng kỳ giảm hơn 70 %?”</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Đối soát theo thứ tự: tổng chuỗi → kênh → cửa hàng → ngày. Tháng 12/2020: Δ toàn chuỗi −12.536 USD. Kênh online lệch −22.812 USD và về 0 sau khi quy về ngày giao → lệch thời điểm. Cửa hàng S12 lệch +10.141 USD và không đổi sau quy đổi → phải xuống từng posting_date để tìm. Mẹo: xếp bảng theo |Δ| giảm dần, chỉ đào sâu các dòng có cờ Vượt. Không nói đáp án của S12 – để học viên tự tìm trong finance_revenue.xlsx.</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Hoàn trả tháng 12/2020: 9.687 USD, tỷ lệ 1,57%; thay đổi tính bằng điểm % so với tháng trước và cùng kỳ. Lý do trả hàng lớn nhất trong tháng là giao nhầm hàng. Khi đọc bảng danh mục, đọc tỷ lệ cùng quy mô. Chất lượng dữ liệu: 120 dòng trùng đã loại và 29 đơn PENDING tại ngày trích – hai con số này nên xuất hiện trong phần Data &amp; Preparation của báo cáo.</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8 bước theo sơ đồ: bỏ trùng, giữ COMPLETED, tính Net Sales và Net Revenue phía đơn; map Kế toán theo hiệu lực và tách HQ-ADJ; ghép theo tháng × cửa hàng, tính Δ và Δ %; với ô vượt ngưỡng thì xem theo ngày và theo kênh; cuối cùng lập bảng giải thích. Quy tắc vàng: mỗi nguyên nhân phải có số tiền, tổng các nguyên nhân bằng Δ, phần chưa giải thích bằng 0. Bảy nguyên nhân cần dò trong khung bên phải sơ đồ là gợi ý hướng tìm, không phải danh sách đáp án theo từng ô.</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Khung học viên phải điền. Hai đầu cầu tính được: Net Revenue dữ liệu đơn năm 2020 8.732.748,23 và Finance Net Revenue các cửa hàng 8.797.370,41 USD, tổng cần giải thích +64.622,18 USD. Phần giữa là bài làm: mỗi dòng một nguyên nhân, số tiền và bằng chứng. Gợi ý: lệch thời điểm online cộng cả năm gần 0 nhưng từng tháng rất lớn; nguyên nhân phía Kế toán phải ghi rõ cửa hàng, ngày, số tiền. Không “ép” phần dư vào một dòng “khác”.</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tầng kết luận. Finding: dữ liệu cho thấy gì, ở đâu, bao nhiêu. Insight: ý nghĩa với kinh doanh, không nhắc lại số. Recommendation: ai làm gì, theo dõi chỉ số nào. Limitation: giới hạn ảnh hưởng kết luận và bước kiểm tra tiếp. Dùng ví dụ trên slide (Δ online về 0 khi tính theo ngày giao → lệch thời điểm, không phải doanh thu bị mất). Hoạt động: mỗi nhóm viết một bộ 4 câu cho một ô vượt ngưỡng của chính mình.</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8 · khoảng 10 phút.) Nộp file Excel .xlsx: đổi đường dẫn nguồn (Data Source Settings) rồi Refresh All phải chạy được, cùng báo cáo PDF 8 phần theo guild_report_template, phụ lục có bảng cầu nối và danh sách ô vượt ngưỡng. Phần IV (Main Analysis) là đối soát tháng × cửa hàng × kênh; phần VII nêu as-of 20/02/2021, đơn PENDING và các giả định ghi nhận. Số trong báo cáo phải khớp dashboard.</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Rubric 100 điểm: 40 kỹ thuật (Power Query và mô hình 10, DAX 12, dashboard 4 sheet Excel 12, trải nghiệm 6), 40 báo cáo (cấu trúc 8, đối soát 16, lập luận 10, giới hạn 6) và 20 sáng tạo (sheet chi tiết cửa hàng – ngày, bảng bổ sung, cảnh báo ô vượt ngưỡng hằng tháng). Phần đối soát 16 điểm: giải thích đủ mọi ô vượt ngưỡng năm 2020 và cầu nối còn lại bằng 0. Nhắc học viên dùng checklist ở slide tự rà soát trước khi nộp.</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Mở phần hỏi đáp. Câu hỏi thường gặp: (1) Có cần giải thích ô trong ngưỡng không? – Không bắt buộc. (2) HQ-ADJ đặt ở đâu? – Ở tổng chuỗi, không gán cửa hàng. (3) Dùng total_incl_vat được không? – Không, so với net_revenue. (4) Có được sửa dữ liệu gốc không? – Không; mọi xử lý làm trong Power Query và ghi lại trong báo cáo. Nhắc hạn nộp và kênh hỏi bài.</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Cầu nối 2020: dữ liệu đơn 8.732.748,23; lệch thời điểm online +59.682,78; hoàn tiền trễ −2.937,04; đơn huỷ vẫn ghi nhận +17.002,68 (11 đơn); Kế toán thiếu dữ liệu −22.168,91 (cửa hàng S24); VAT +2.901,63 (S54, 06/2020); ghi trùng +10.141,04 (S12, 10/12/2020); ra Kế toán cửa hàng 8.797.370,41; cộng HQ-ADJ −1.435,50 ra tổng Kế toán. Còn lại chưa giải thích bằng 0 ở mọi ô. Khi chấm, chấp nhận gộp lệch thời điểm và trễ hoàn tiền thành một dòng nếu có giải thích.</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Năm 2020 có 32 ô vượt ngưỡng (toàn kỳ 120). Mọi ô online (ONL) là lệch thời điểm; các cặp ô trái dấu ở hai tháng liền kề của cùng cửa hàng (ví dụ S16 01–02/2020) là hoàn tiền hạch toán trễ; các ô dương lẻ ở cửa hàng là đơn huỷ vẫn được ghi nhận; S24 02/2020 âm lớn là thiếu dữ liệu; S54 06/2020 là VAT; S12 12/2020 là ghi trùng. Gợi ý dẫn dắt khi học viên bí: “Δ của ô này có bằng giá trị một đơn CANCELLED nào cùng ngày không?”</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Cách phát hiện từng loại: thiếu dữ liệu (S24, −22.168,91 USD) – Kế toán không có dòng ở ngày cửa hàng có bán; đơn huỷ vẫn ghi nhận – ghép đơn CANCELLED với posting_date cùng cửa hàng; ghi trùng (S12, +10.141,04 USD) – hai dòng Kế toán giống hệt nhau; VAT (S54, +2.901,63 USD) – cả tháng cao hơn khoảng 10 %. Bẫy phía đơn: không bỏ trùng thì Net Sales toàn kỳ cao hơn 67.493,06 USD; tính nhầm PENDING thì cao hơn 73.105,11 USD.</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Dùng khi chấm phần DAX (12 điểm). Lệch quá 0,01 USD thì kiểm theo thứ tự: đã bỏ dòng trùng chưa, đã lọc COMPLETED chưa, Returns có theo return_date không, Orders có đếm phân biệt không. Số mốc tháng 12/2020: Net Revenue 606.125,07, Orders 310; YTD 2020 Net Revenue 8.732.748,23 USD.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91425" tIns="45700" rIns="91425" bIns="45700" anchor="ctr" anchorCtr="0">
            <a:noAutofit/>
          </a:bodyPr>
          <a:lstStyle>
            <a:lvl1pPr marL="0" marR="0" lvl="0" indent="0" algn="ctr">
              <a:spcBef>
                <a:spcPts val="0"/>
              </a:spcBef>
              <a:buNone/>
              <a:defRPr sz="1800">
                <a:solidFill>
                  <a:srgbClr val="0C0C0C"/>
                </a:solidFill>
                <a:latin typeface="Algerian"/>
                <a:ea typeface="Algerian"/>
                <a:cs typeface="Algerian"/>
                <a:sym typeface="Algerian"/>
              </a:defRPr>
            </a:lvl1pPr>
            <a:lvl2pPr marL="0" marR="0" lvl="1" indent="0" algn="ctr">
              <a:spcBef>
                <a:spcPts val="0"/>
              </a:spcBef>
              <a:buNone/>
              <a:defRPr sz="1800">
                <a:solidFill>
                  <a:srgbClr val="0C0C0C"/>
                </a:solidFill>
                <a:latin typeface="Algerian"/>
                <a:ea typeface="Algerian"/>
                <a:cs typeface="Algerian"/>
                <a:sym typeface="Algerian"/>
              </a:defRPr>
            </a:lvl2pPr>
            <a:lvl3pPr marL="0" marR="0" lvl="2" indent="0" algn="ctr">
              <a:spcBef>
                <a:spcPts val="0"/>
              </a:spcBef>
              <a:buNone/>
              <a:defRPr sz="1800">
                <a:solidFill>
                  <a:srgbClr val="0C0C0C"/>
                </a:solidFill>
                <a:latin typeface="Algerian"/>
                <a:ea typeface="Algerian"/>
                <a:cs typeface="Algerian"/>
                <a:sym typeface="Algerian"/>
              </a:defRPr>
            </a:lvl3pPr>
            <a:lvl4pPr marL="0" marR="0" lvl="3" indent="0" algn="ctr">
              <a:spcBef>
                <a:spcPts val="0"/>
              </a:spcBef>
              <a:buNone/>
              <a:defRPr sz="1800">
                <a:solidFill>
                  <a:srgbClr val="0C0C0C"/>
                </a:solidFill>
                <a:latin typeface="Algerian"/>
                <a:ea typeface="Algerian"/>
                <a:cs typeface="Algerian"/>
                <a:sym typeface="Algerian"/>
              </a:defRPr>
            </a:lvl4pPr>
            <a:lvl5pPr marL="0" marR="0" lvl="4" indent="0" algn="ctr">
              <a:spcBef>
                <a:spcPts val="0"/>
              </a:spcBef>
              <a:buNone/>
              <a:defRPr sz="1800">
                <a:solidFill>
                  <a:srgbClr val="0C0C0C"/>
                </a:solidFill>
                <a:latin typeface="Algerian"/>
                <a:ea typeface="Algerian"/>
                <a:cs typeface="Algerian"/>
                <a:sym typeface="Algerian"/>
              </a:defRPr>
            </a:lvl5pPr>
            <a:lvl6pPr marL="0" marR="0" lvl="5" indent="0" algn="ctr">
              <a:spcBef>
                <a:spcPts val="0"/>
              </a:spcBef>
              <a:buNone/>
              <a:defRPr sz="1800">
                <a:solidFill>
                  <a:srgbClr val="0C0C0C"/>
                </a:solidFill>
                <a:latin typeface="Algerian"/>
                <a:ea typeface="Algerian"/>
                <a:cs typeface="Algerian"/>
                <a:sym typeface="Algerian"/>
              </a:defRPr>
            </a:lvl6pPr>
            <a:lvl7pPr marL="0" marR="0" lvl="6" indent="0" algn="ctr">
              <a:spcBef>
                <a:spcPts val="0"/>
              </a:spcBef>
              <a:buNone/>
              <a:defRPr sz="1800">
                <a:solidFill>
                  <a:srgbClr val="0C0C0C"/>
                </a:solidFill>
                <a:latin typeface="Algerian"/>
                <a:ea typeface="Algerian"/>
                <a:cs typeface="Algerian"/>
                <a:sym typeface="Algerian"/>
              </a:defRPr>
            </a:lvl7pPr>
            <a:lvl8pPr marL="0" marR="0" lvl="7" indent="0" algn="ctr">
              <a:spcBef>
                <a:spcPts val="0"/>
              </a:spcBef>
              <a:buNone/>
              <a:defRPr sz="1800">
                <a:solidFill>
                  <a:srgbClr val="0C0C0C"/>
                </a:solidFill>
                <a:latin typeface="Algerian"/>
                <a:ea typeface="Algerian"/>
                <a:cs typeface="Algerian"/>
                <a:sym typeface="Algerian"/>
              </a:defRPr>
            </a:lvl8pPr>
            <a:lvl9pPr marL="0" marR="0" lvl="8" indent="0" algn="ctr">
              <a:spcBef>
                <a:spcPts val="0"/>
              </a:spcBef>
              <a:buNone/>
              <a:defRPr sz="1800">
                <a:solidFill>
                  <a:srgbClr val="0C0C0C"/>
                </a:solidFill>
                <a:latin typeface="Algerian"/>
                <a:ea typeface="Algerian"/>
                <a:cs typeface="Algerian"/>
                <a:sym typeface="Algerian"/>
              </a:defRPr>
            </a:lvl9pPr>
          </a:lstStyle>
          <a:p>
            <a:pPr marL="0" lvl="0" indent="0" algn="ctr" rtl="0">
              <a:spcBef>
                <a:spcPts val="0"/>
              </a:spcBef>
              <a:spcAft>
                <a:spcPts val="0"/>
              </a:spcAft>
              <a:buNone/>
            </a:pPr>
            <a:fld id="{00000000-1234-1234-1234-123412341234}" type="slidenum">
              <a:rPr lang="vi-VN"/>
              <a:t>‹#›</a:t>
            </a:fld>
            <a:endParaRPr/>
          </a:p>
        </p:txBody>
      </p:sp>
      <p:sp>
        <p:nvSpPr>
          <p:cNvPr id="27" name="Google Shape;27;p3"/>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8" name="Google Shape;28;p3" descr="Logo"/>
          <p:cNvPicPr preferRelativeResize="0"/>
          <p:nvPr/>
        </p:nvPicPr>
        <p:blipFill rotWithShape="1">
          <a:blip r:embed="rId2">
            <a:alphaModFix/>
          </a:blip>
          <a:srcRect/>
          <a:stretch/>
        </p:blipFill>
        <p:spPr>
          <a:xfrm>
            <a:off x="89103" y="47409"/>
            <a:ext cx="1815898" cy="71879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2" name="Google Shape;3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
        <p:nvSpPr>
          <p:cNvPr id="35" name="Google Shape;35;p4"/>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8" name="Google Shape;48;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6"/>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2"/>
        <p:cNvGrpSpPr/>
        <p:nvPr/>
      </p:nvGrpSpPr>
      <p:grpSpPr>
        <a:xfrm>
          <a:off x="0" y="0"/>
          <a:ext cx="0" cy="0"/>
          <a:chOff x="0" y="0"/>
          <a:chExt cx="0" cy="0"/>
        </a:xfrm>
      </p:grpSpPr>
      <p:sp>
        <p:nvSpPr>
          <p:cNvPr id="53" name="Google Shape;5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8"/>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4" name="Google Shape;64;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9"/>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0"/>
          <p:cNvSpPr>
            <a:spLocks noGrp="1"/>
          </p:cNvSpPr>
          <p:nvPr>
            <p:ph type="pic" idx="2"/>
          </p:nvPr>
        </p:nvSpPr>
        <p:spPr>
          <a:xfrm>
            <a:off x="5183188" y="987425"/>
            <a:ext cx="6172200" cy="4873625"/>
          </a:xfrm>
          <a:prstGeom prst="rect">
            <a:avLst/>
          </a:prstGeom>
          <a:noFill/>
          <a:ln>
            <a:noFill/>
          </a:ln>
        </p:spPr>
      </p:sp>
      <p:sp>
        <p:nvSpPr>
          <p:cNvPr id="71" name="Google Shape;71;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2" name="Google Shape;72;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0"/>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5"/>
        <p:cNvGrpSpPr/>
        <p:nvPr/>
      </p:nvGrpSpPr>
      <p:grpSpPr>
        <a:xfrm>
          <a:off x="0" y="0"/>
          <a:ext cx="0" cy="0"/>
          <a:chOff x="0" y="0"/>
          <a:chExt cx="0" cy="0"/>
        </a:xfrm>
      </p:grpSpPr>
      <p:sp>
        <p:nvSpPr>
          <p:cNvPr id="76" name="Google Shape;76;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vi-V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12.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23.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9.png"/><Relationship Id="rId8" Type="http://schemas.openxmlformats.org/officeDocument/2006/relationships/image" Target="../media/image36.png"/><Relationship Id="rId9" Type="http://schemas.openxmlformats.org/officeDocument/2006/relationships/image" Target="../media/image11.png"/><Relationship Id="rId10" Type="http://schemas.openxmlformats.org/officeDocument/2006/relationships/image" Target="../media/image7.png"/><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9.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2" name="Google Shape;92;p13"/>
          <p:cNvSpPr txBox="1">
            <a:spLocks noGrp="1"/>
          </p:cNvSpPr>
          <p:nvPr>
            <p:ph type="ctrTitle"/>
          </p:nvPr>
        </p:nvSpPr>
        <p:spPr>
          <a:xfrm>
            <a:off x="24959" y="1172886"/>
            <a:ext cx="12167041" cy="148575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2FA6FF"/>
              </a:buClr>
              <a:buSzPts val="4800"/>
              <a:buFont typeface="Times New Roman"/>
              <a:buNone/>
            </a:pPr>
            <a:r>
              <a:rPr lang="vi-VN" b="1">
                <a:solidFill>
                  <a:srgbClr val="2FA6FF"/>
                </a:solidFill>
                <a:latin typeface="Times New Roman"/>
                <a:ea typeface="Times New Roman"/>
                <a:cs typeface="Times New Roman"/>
                <a:sym typeface="Times New Roman"/>
              </a:rPr>
              <a:t>EDA MENTORSHIP</a:t>
            </a:r>
            <a:endParaRPr b="1">
              <a:solidFill>
                <a:srgbClr val="2FA6FF"/>
              </a:solidFill>
              <a:latin typeface="Times New Roman"/>
              <a:ea typeface="Times New Roman"/>
              <a:cs typeface="Times New Roman"/>
              <a:sym typeface="Times New Roman"/>
            </a:endParaRPr>
          </a:p>
        </p:txBody>
      </p:sp>
      <p:sp>
        <p:nvSpPr>
          <p:cNvPr id="93" name="Google Shape;93;p13"/>
          <p:cNvSpPr txBox="1">
            <a:spLocks noGrp="1"/>
          </p:cNvSpPr>
          <p:nvPr>
            <p:ph type="subTitle" idx="1"/>
          </p:nvPr>
        </p:nvSpPr>
        <p:spPr>
          <a:xfrm>
            <a:off x="1759047" y="2759426"/>
            <a:ext cx="9144000" cy="1655762"/>
          </a:xfrm>
          <a:prstGeom prst="rect">
            <a:avLst/>
          </a:prstGeom>
          <a:noFill/>
          <a:ln>
            <a:noFill/>
          </a:ln>
        </p:spPr>
        <p:txBody>
          <a:bodyPr spcFirstLastPara="1" wrap="square" lIns="91425" tIns="45700" rIns="91425" bIns="45700" anchor="t" anchorCtr="0">
            <a:normAutofit/>
          </a:bodyPr>
          <a:lstStyle/>
          <a:p>
            <a:pPr marL="0" lvl="0" indent="0" algn="ctr" rtl="0">
              <a:spcBef>
                <a:spcPts val="1000"/>
              </a:spcBef>
              <a:spcAft>
                <a:spcPts val="0"/>
              </a:spcAft>
              <a:buClr>
                <a:schemeClr val="dk1"/>
              </a:buClr>
              <a:buSzPts val="1100"/>
              <a:buFont typeface="Arial"/>
              <a:buNone/>
            </a:pPr>
            <a:r>
              <a:rPr lang="vi-VN" sz="3600" b="1">
                <a:solidFill>
                  <a:srgbClr val="00B050"/>
                </a:solidFill>
                <a:latin typeface="Times New Roman"/>
                <a:ea typeface="Times New Roman"/>
                <a:cs typeface="Times New Roman"/>
                <a:sym typeface="Times New Roman"/>
              </a:rPr>
              <a:t>Sales Project 1</a:t>
            </a:r>
            <a:endParaRPr sz="3600" b="1">
              <a:solidFill>
                <a:srgbClr val="00B050"/>
              </a:solidFill>
              <a:latin typeface="Times New Roman"/>
              <a:ea typeface="Times New Roman"/>
              <a:cs typeface="Times New Roman"/>
              <a:sym typeface="Times New Roman"/>
            </a:endParaRPr>
          </a:p>
          <a:p>
            <a:pPr marL="0" lvl="0" indent="0" algn="l" rtl="0">
              <a:lnSpc>
                <a:spcPct val="90000"/>
              </a:lnSpc>
              <a:spcBef>
                <a:spcPts val="0"/>
              </a:spcBef>
              <a:spcAft>
                <a:spcPts val="0"/>
              </a:spcAft>
              <a:buClr>
                <a:srgbClr val="00B050"/>
              </a:buClr>
              <a:buSzPts val="2400"/>
              <a:buNone/>
            </a:pPr>
            <a:endParaRPr b="1">
              <a:solidFill>
                <a:srgbClr val="00B050"/>
              </a:solidFill>
              <a:latin typeface="Times New Roman"/>
              <a:ea typeface="Times New Roman"/>
              <a:cs typeface="Times New Roman"/>
              <a:sym typeface="Times New Roman"/>
            </a:endParaRPr>
          </a:p>
        </p:txBody>
      </p:sp>
      <p:sp>
        <p:nvSpPr>
          <p:cNvPr id="94" name="Google Shape;94;p13"/>
          <p:cNvSpPr txBox="1"/>
          <p:nvPr/>
        </p:nvSpPr>
        <p:spPr>
          <a:xfrm>
            <a:off x="7147249" y="6488668"/>
            <a:ext cx="5044752" cy="369332"/>
          </a:xfrm>
          <a:prstGeom prst="rect">
            <a:avLst/>
          </a:prstGeom>
          <a:solidFill>
            <a:srgbClr val="F8D6FC"/>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vi-VN" sz="1800" b="0" i="0" u="none" strike="noStrike" cap="none">
                <a:solidFill>
                  <a:schemeClr val="dk1"/>
                </a:solidFill>
                <a:latin typeface="Times New Roman"/>
                <a:ea typeface="Times New Roman"/>
                <a:cs typeface="Times New Roman"/>
                <a:sym typeface="Times New Roman"/>
              </a:rPr>
              <a:t>Proofreaders &amp; QA/QC:</a:t>
            </a:r>
            <a:endParaRPr sz="1800" b="0" i="0" u="none" strike="noStrike" cap="none">
              <a:solidFill>
                <a:schemeClr val="dk1"/>
              </a:solidFill>
              <a:latin typeface="Times New Roman"/>
              <a:ea typeface="Times New Roman"/>
              <a:cs typeface="Times New Roman"/>
              <a:sym typeface="Times New Roman"/>
            </a:endParaRPr>
          </a:p>
        </p:txBody>
      </p:sp>
      <p:sp>
        <p:nvSpPr>
          <p:cNvPr id="95" name="Google Shape;95;p13"/>
          <p:cNvSpPr/>
          <p:nvPr/>
        </p:nvSpPr>
        <p:spPr>
          <a:xfrm>
            <a:off x="2237591" y="4588698"/>
            <a:ext cx="647700" cy="647700"/>
          </a:xfrm>
          <a:custGeom>
            <a:avLst/>
            <a:gdLst/>
            <a:ahLst/>
            <a:cxnLst/>
            <a:rect l="l" t="t" r="r" b="b"/>
            <a:pathLst>
              <a:path w="647700" h="647700" extrusionOk="0">
                <a:moveTo>
                  <a:pt x="647780" y="323890"/>
                </a:moveTo>
                <a:cubicBezTo>
                  <a:pt x="647780" y="502747"/>
                  <a:pt x="502787" y="647740"/>
                  <a:pt x="323930" y="647740"/>
                </a:cubicBezTo>
                <a:cubicBezTo>
                  <a:pt x="145073" y="647740"/>
                  <a:pt x="80" y="502747"/>
                  <a:pt x="80" y="323890"/>
                </a:cubicBezTo>
                <a:cubicBezTo>
                  <a:pt x="80" y="145033"/>
                  <a:pt x="145073" y="40"/>
                  <a:pt x="323930" y="40"/>
                </a:cubicBezTo>
                <a:cubicBezTo>
                  <a:pt x="502787" y="40"/>
                  <a:pt x="647780" y="145033"/>
                  <a:pt x="647780" y="32389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3"/>
          <p:cNvSpPr/>
          <p:nvPr/>
        </p:nvSpPr>
        <p:spPr>
          <a:xfrm>
            <a:off x="3228191" y="4341048"/>
            <a:ext cx="9525" cy="1143000"/>
          </a:xfrm>
          <a:custGeom>
            <a:avLst/>
            <a:gdLst/>
            <a:ahLst/>
            <a:cxnLst/>
            <a:rect l="l" t="t" r="r" b="b"/>
            <a:pathLst>
              <a:path w="9525" h="1143000" extrusionOk="0">
                <a:moveTo>
                  <a:pt x="80" y="40"/>
                </a:moveTo>
                <a:lnTo>
                  <a:pt x="80" y="1143040"/>
                </a:lnTo>
              </a:path>
            </a:pathLst>
          </a:custGeom>
          <a:noFill/>
          <a:ln w="14275" cap="flat" cmpd="sng">
            <a:solidFill>
              <a:srgbClr val="E0C898"/>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13"/>
          <p:cNvSpPr txBox="1"/>
          <p:nvPr/>
        </p:nvSpPr>
        <p:spPr>
          <a:xfrm>
            <a:off x="3327251" y="4245798"/>
            <a:ext cx="1278255" cy="4343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B8860B"/>
                </a:solidFill>
                <a:latin typeface="Times New Roman"/>
                <a:ea typeface="Times New Roman"/>
                <a:cs typeface="Times New Roman"/>
                <a:sym typeface="Times New Roman"/>
              </a:rPr>
              <a:t>Mentor:</a:t>
            </a:r>
            <a:endParaRPr/>
          </a:p>
        </p:txBody>
      </p:sp>
      <p:sp>
        <p:nvSpPr>
          <p:cNvPr id="98" name="Google Shape;98;p13"/>
          <p:cNvSpPr txBox="1"/>
          <p:nvPr/>
        </p:nvSpPr>
        <p:spPr>
          <a:xfrm>
            <a:off x="3327250" y="4731580"/>
            <a:ext cx="3108960" cy="39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Phúc Nguyên</a:t>
            </a:r>
            <a:endParaRPr/>
          </a:p>
        </p:txBody>
      </p:sp>
      <p:sp>
        <p:nvSpPr>
          <p:cNvPr id="99" name="Google Shape;99;p13"/>
          <p:cNvSpPr txBox="1"/>
          <p:nvPr/>
        </p:nvSpPr>
        <p:spPr>
          <a:xfrm>
            <a:off x="3327251" y="511828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Thảo Nhi</a:t>
            </a:r>
            <a:endParaRPr/>
          </a:p>
        </p:txBody>
      </p:sp>
      <p:pic>
        <p:nvPicPr>
          <p:cNvPr id="100" name="Google Shape;100;p13" descr="Graduation cap Generic Flat icon | Magnific (trước đây là Freepik)"/>
          <p:cNvPicPr preferRelativeResize="0"/>
          <p:nvPr/>
        </p:nvPicPr>
        <p:blipFill rotWithShape="1">
          <a:blip r:embed="rId2">
            <a:alphaModFix/>
          </a:blip>
          <a:srcRect/>
          <a:stretch/>
        </p:blipFill>
        <p:spPr>
          <a:xfrm>
            <a:off x="1759047" y="4189736"/>
            <a:ext cx="1478669" cy="1478669"/>
          </a:xfrm>
          <a:prstGeom prst="rect">
            <a:avLst/>
          </a:prstGeom>
          <a:noFill/>
          <a:ln>
            <a:noFill/>
          </a:ln>
        </p:spPr>
      </p:pic>
      <p:sp>
        <p:nvSpPr>
          <p:cNvPr id="101" name="Google Shape;101;p13"/>
          <p:cNvSpPr/>
          <p:nvPr/>
        </p:nvSpPr>
        <p:spPr>
          <a:xfrm>
            <a:off x="6598699" y="4720143"/>
            <a:ext cx="647700" cy="647700"/>
          </a:xfrm>
          <a:custGeom>
            <a:avLst/>
            <a:gdLst/>
            <a:ahLst/>
            <a:cxnLst/>
            <a:rect l="l" t="t" r="r" b="b"/>
            <a:pathLst>
              <a:path w="647700" h="647700" extrusionOk="0">
                <a:moveTo>
                  <a:pt x="648320" y="323880"/>
                </a:moveTo>
                <a:cubicBezTo>
                  <a:pt x="648320" y="502737"/>
                  <a:pt x="503327" y="647730"/>
                  <a:pt x="324470" y="647730"/>
                </a:cubicBezTo>
                <a:cubicBezTo>
                  <a:pt x="145613" y="647730"/>
                  <a:pt x="620" y="502737"/>
                  <a:pt x="620" y="323880"/>
                </a:cubicBezTo>
                <a:cubicBezTo>
                  <a:pt x="620" y="145023"/>
                  <a:pt x="145613" y="30"/>
                  <a:pt x="324470" y="30"/>
                </a:cubicBezTo>
                <a:cubicBezTo>
                  <a:pt x="503327" y="30"/>
                  <a:pt x="648320" y="145023"/>
                  <a:pt x="648320" y="32388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13"/>
          <p:cNvSpPr txBox="1"/>
          <p:nvPr/>
        </p:nvSpPr>
        <p:spPr>
          <a:xfrm>
            <a:off x="7156878" y="4245805"/>
            <a:ext cx="33843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2E8B57"/>
                </a:solidFill>
                <a:latin typeface="Times New Roman"/>
                <a:ea typeface="Times New Roman"/>
                <a:cs typeface="Times New Roman"/>
                <a:sym typeface="Times New Roman"/>
              </a:rPr>
              <a:t>Quality Guardian:</a:t>
            </a:r>
            <a:endParaRPr/>
          </a:p>
        </p:txBody>
      </p:sp>
      <p:pic>
        <p:nvPicPr>
          <p:cNvPr id="108" name="Google Shape;108;p13" descr="Logo"/>
          <p:cNvPicPr preferRelativeResize="0"/>
          <p:nvPr/>
        </p:nvPicPr>
        <p:blipFill rotWithShape="1">
          <a:blip r:embed="rId3">
            <a:alphaModFix/>
          </a:blip>
          <a:srcRect/>
          <a:stretch/>
        </p:blipFill>
        <p:spPr>
          <a:xfrm>
            <a:off x="309235" y="73262"/>
            <a:ext cx="2479685" cy="981542"/>
          </a:xfrm>
          <a:prstGeom prst="rect">
            <a:avLst/>
          </a:prstGeom>
          <a:noFill/>
          <a:ln>
            <a:noFill/>
          </a:ln>
        </p:spPr>
      </p:pic>
      <p:sp>
        <p:nvSpPr>
          <p:cNvPr id="109" name="Google Shape;109;p13"/>
          <p:cNvSpPr txBox="1"/>
          <p:nvPr/>
        </p:nvSpPr>
        <p:spPr>
          <a:xfrm>
            <a:off x="3327251" y="548404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a:solidFill>
                  <a:srgbClr val="1C3664"/>
                </a:solidFill>
                <a:latin typeface="Times New Roman"/>
                <a:cs typeface="Times New Roman"/>
                <a:sym typeface="Times New Roman"/>
              </a:rPr>
              <a:t>Đinh Thị Thu Hà</a:t>
            </a:r>
            <a:endParaRPr/>
          </a:p>
        </p:txBody>
      </p:sp>
      <p:sp>
        <p:nvSpPr>
          <p:cNvPr id="110" name="TextBox 109"/>
          <p:cNvSpPr txBox="1"/>
          <p:nvPr/>
        </p:nvSpPr>
        <p:spPr>
          <a:xfrm>
            <a:off x="1371600" y="3310128"/>
            <a:ext cx="9445752" cy="457200"/>
          </a:xfrm>
          <a:prstGeom prst="rect">
            <a:avLst/>
          </a:prstGeom>
          <a:noFill/>
        </p:spPr>
        <p:txBody>
          <a:bodyPr wrap="square" lIns="45720" tIns="27432" rIns="45720" bIns="27432" anchor="t"/>
          <a:lstStyle/>
          <a:p>
            <a:pPr algn="ctr">
              <a:buNone/>
            </a:pPr>
            <a:r>
              <a:rPr sz="2200" b="0" i="1">
                <a:solidFill>
                  <a:srgbClr val="123A7A"/>
                </a:solidFill>
                <a:latin typeface="Times New Roman"/>
                <a:ea typeface="Times New Roman"/>
                <a:cs typeface="Times New Roman"/>
              </a:rPr>
              <a:t>Kết quả bán hàng và đối soát doanh thu · Nexa Home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33856"/>
          </a:xfrm>
          <a:prstGeom prst="rect">
            <a:avLst/>
          </a:prstGeom>
          <a:solidFill>
            <a:srgbClr val="538135"/>
          </a:solidFill>
          <a:ln>
            <a:noFill/>
          </a:ln>
          <a:effectLst/>
        </p:spPr>
        <p:txBody>
          <a:bodyPr rtlCol="0" anchor="ctr" wrap="square" lIns="73152" tIns="36576" rIns="73152" bIns="36576"/>
          <a:lstStyle/>
          <a:p>
            <a:pPr algn="ctr">
              <a:buNone/>
            </a:pPr>
            <a:r>
              <a:rPr sz="6000" b="1" i="0">
                <a:solidFill>
                  <a:srgbClr val="FFFFFF"/>
                </a:solidFill>
                <a:latin typeface="Times New Roman"/>
                <a:ea typeface="Times New Roman"/>
                <a:cs typeface="Times New Roman"/>
              </a:rPr>
              <a:t>Outline</a:t>
            </a:r>
          </a:p>
        </p:txBody>
      </p:sp>
      <p:sp>
        <p:nvSpPr>
          <p:cNvPr id="3" name="Rounded Rectangle 2"/>
          <p:cNvSpPr/>
          <p:nvPr/>
        </p:nvSpPr>
        <p:spPr>
          <a:xfrm>
            <a:off x="68580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Bối cảnh bán lẻ và đối soát doanh thu</a:t>
            </a:r>
          </a:p>
        </p:txBody>
      </p:sp>
      <p:sp>
        <p:nvSpPr>
          <p:cNvPr id="4" name="Rounded Rectangle 3"/>
          <p:cNvSpPr/>
          <p:nvPr/>
        </p:nvSpPr>
        <p:spPr>
          <a:xfrm>
            <a:off x="42976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1</a:t>
            </a:r>
          </a:p>
        </p:txBody>
      </p:sp>
      <p:sp>
        <p:nvSpPr>
          <p:cNvPr id="5" name="Rounded Rectangle 4"/>
          <p:cNvSpPr/>
          <p:nvPr/>
        </p:nvSpPr>
        <p:spPr>
          <a:xfrm>
            <a:off x="68580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Đề bài xây dựng dashboard</a:t>
            </a:r>
          </a:p>
        </p:txBody>
      </p:sp>
      <p:sp>
        <p:nvSpPr>
          <p:cNvPr id="6" name="Rounded Rectangle 5"/>
          <p:cNvSpPr/>
          <p:nvPr/>
        </p:nvSpPr>
        <p:spPr>
          <a:xfrm>
            <a:off x="42976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2</a:t>
            </a:r>
          </a:p>
        </p:txBody>
      </p:sp>
      <p:sp>
        <p:nvSpPr>
          <p:cNvPr id="7" name="Rounded Rectangle 6"/>
          <p:cNvSpPr/>
          <p:nvPr/>
        </p:nvSpPr>
        <p:spPr>
          <a:xfrm>
            <a:off x="68580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Hệ thống chỉ số KPI</a:t>
            </a:r>
          </a:p>
        </p:txBody>
      </p:sp>
      <p:sp>
        <p:nvSpPr>
          <p:cNvPr id="8" name="Rounded Rectangle 7"/>
          <p:cNvSpPr/>
          <p:nvPr/>
        </p:nvSpPr>
        <p:spPr>
          <a:xfrm>
            <a:off x="42976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3</a:t>
            </a:r>
          </a:p>
        </p:txBody>
      </p:sp>
      <p:sp>
        <p:nvSpPr>
          <p:cNvPr id="9" name="Rounded Rectangle 8"/>
          <p:cNvSpPr/>
          <p:nvPr/>
        </p:nvSpPr>
        <p:spPr>
          <a:xfrm>
            <a:off x="68580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Nguồn dữ liệu và data modeling</a:t>
            </a:r>
          </a:p>
        </p:txBody>
      </p:sp>
      <p:sp>
        <p:nvSpPr>
          <p:cNvPr id="10" name="Rounded Rectangle 9"/>
          <p:cNvSpPr/>
          <p:nvPr/>
        </p:nvSpPr>
        <p:spPr>
          <a:xfrm>
            <a:off x="42976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4</a:t>
            </a:r>
          </a:p>
        </p:txBody>
      </p:sp>
      <p:sp>
        <p:nvSpPr>
          <p:cNvPr id="11" name="Rounded Rectangle 10"/>
          <p:cNvSpPr/>
          <p:nvPr/>
        </p:nvSpPr>
        <p:spPr>
          <a:xfrm>
            <a:off x="644652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Khám phá dữ liệu</a:t>
            </a:r>
          </a:p>
        </p:txBody>
      </p:sp>
      <p:sp>
        <p:nvSpPr>
          <p:cNvPr id="12" name="Rounded Rectangle 11"/>
          <p:cNvSpPr/>
          <p:nvPr/>
        </p:nvSpPr>
        <p:spPr>
          <a:xfrm>
            <a:off x="619048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5</a:t>
            </a:r>
          </a:p>
        </p:txBody>
      </p:sp>
      <p:sp>
        <p:nvSpPr>
          <p:cNvPr id="13" name="Rounded Rectangle 12"/>
          <p:cNvSpPr/>
          <p:nvPr/>
        </p:nvSpPr>
        <p:spPr>
          <a:xfrm>
            <a:off x="644652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Các mẫu công thức DAX</a:t>
            </a:r>
          </a:p>
        </p:txBody>
      </p:sp>
      <p:sp>
        <p:nvSpPr>
          <p:cNvPr id="14" name="Rounded Rectangle 13"/>
          <p:cNvSpPr/>
          <p:nvPr/>
        </p:nvSpPr>
        <p:spPr>
          <a:xfrm>
            <a:off x="619048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6</a:t>
            </a:r>
          </a:p>
        </p:txBody>
      </p:sp>
      <p:sp>
        <p:nvSpPr>
          <p:cNvPr id="15" name="Rounded Rectangle 14"/>
          <p:cNvSpPr/>
          <p:nvPr/>
        </p:nvSpPr>
        <p:spPr>
          <a:xfrm>
            <a:off x="644652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Phân tích kết quả</a:t>
            </a:r>
          </a:p>
        </p:txBody>
      </p:sp>
      <p:sp>
        <p:nvSpPr>
          <p:cNvPr id="16" name="Rounded Rectangle 15"/>
          <p:cNvSpPr/>
          <p:nvPr/>
        </p:nvSpPr>
        <p:spPr>
          <a:xfrm>
            <a:off x="619048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7</a:t>
            </a:r>
          </a:p>
        </p:txBody>
      </p:sp>
      <p:sp>
        <p:nvSpPr>
          <p:cNvPr id="17" name="Rounded Rectangle 16"/>
          <p:cNvSpPr/>
          <p:nvPr/>
        </p:nvSpPr>
        <p:spPr>
          <a:xfrm>
            <a:off x="644652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Báo cáo đầu ra và thang chấm điểm</a:t>
            </a:r>
          </a:p>
        </p:txBody>
      </p:sp>
      <p:sp>
        <p:nvSpPr>
          <p:cNvPr id="18" name="Rounded Rectangle 17"/>
          <p:cNvSpPr/>
          <p:nvPr/>
        </p:nvSpPr>
        <p:spPr>
          <a:xfrm>
            <a:off x="619048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Tình huống thực tế: còn 10 phút trước cuộc họp với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Muốn tin con số doanh thu, trước hết phải </a:t>
            </a:r>
            <a:r>
              <a:rPr sz="1700" b="1" i="0">
                <a:solidFill>
                  <a:srgbClr val="123A7A"/>
                </a:solidFill>
                <a:latin typeface="Times New Roman"/>
                <a:ea typeface="Times New Roman"/>
                <a:cs typeface="Times New Roman"/>
              </a:rPr>
              <a:t>khớp được số của mình với số Kế toán</a:t>
            </a:r>
          </a:p>
        </p:txBody>
      </p:sp>
      <p:sp>
        <p:nvSpPr>
          <p:cNvPr id="143" name="Rounded Rectangle 142"/>
          <p:cNvSpPr/>
          <p:nvPr/>
        </p:nvSpPr>
        <p:spPr>
          <a:xfrm>
            <a:off x="365760" y="1417320"/>
            <a:ext cx="3200400" cy="32461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4" name="Oval 143"/>
          <p:cNvSpPr/>
          <p:nvPr/>
        </p:nvSpPr>
        <p:spPr>
          <a:xfrm>
            <a:off x="1463040" y="1554480"/>
            <a:ext cx="1005840" cy="1005840"/>
          </a:xfrm>
          <a:prstGeom prst="ellipse">
            <a:avLst/>
          </a:prstGeom>
          <a:solidFill>
            <a:srgbClr val="C55A11"/>
          </a:solidFill>
          <a:ln>
            <a:noFill/>
          </a:ln>
          <a:effectLst/>
        </p:spPr>
        <p:txBody>
          <a:bodyPr rtlCol="0" anchor="ctr" wrap="square" lIns="73152" tIns="36576" rIns="73152" bIns="36576"/>
          <a:lstStyle/>
          <a:p>
            <a:pPr algn="ctr"/>
          </a:p>
        </p:txBody>
      </p:sp>
      <p:pic>
        <p:nvPicPr>
          <p:cNvPr id="145" name="Picture 144" descr="image.png"/>
          <p:cNvPicPr>
            <a:picLocks noChangeAspect="1"/>
          </p:cNvPicPr>
          <p:nvPr/>
        </p:nvPicPr>
        <p:blipFill>
          <a:blip r:embed="rId3"/>
          <a:stretch>
            <a:fillRect/>
          </a:stretch>
        </p:blipFill>
        <p:spPr>
          <a:xfrm>
            <a:off x="1684324" y="1775764"/>
            <a:ext cx="563270" cy="563270"/>
          </a:xfrm>
          <a:prstGeom prst="rect">
            <a:avLst/>
          </a:prstGeom>
        </p:spPr>
      </p:pic>
      <p:sp>
        <p:nvSpPr>
          <p:cNvPr id="146" name="TextBox 145"/>
          <p:cNvSpPr txBox="1"/>
          <p:nvPr/>
        </p:nvSpPr>
        <p:spPr>
          <a:xfrm>
            <a:off x="502920" y="2606040"/>
            <a:ext cx="2926080" cy="731520"/>
          </a:xfrm>
          <a:prstGeom prst="rect">
            <a:avLst/>
          </a:prstGeom>
          <a:noFill/>
        </p:spPr>
        <p:txBody>
          <a:bodyPr wrap="square" lIns="45720" tIns="27432" rIns="45720" bIns="27432" anchor="t"/>
          <a:lstStyle/>
          <a:p>
            <a:pPr algn="ctr">
              <a:buNone/>
            </a:pPr>
            <a:r>
              <a:rPr sz="1800" b="0" i="0">
                <a:solidFill>
                  <a:srgbClr val="222222"/>
                </a:solidFill>
                <a:latin typeface="Times New Roman"/>
                <a:ea typeface="Times New Roman"/>
                <a:cs typeface="Times New Roman"/>
              </a:rPr>
              <a:t>Còn </a:t>
            </a:r>
            <a:r>
              <a:rPr sz="1800" b="1" i="0">
                <a:solidFill>
                  <a:srgbClr val="222222"/>
                </a:solidFill>
                <a:latin typeface="Times New Roman"/>
                <a:ea typeface="Times New Roman"/>
                <a:cs typeface="Times New Roman"/>
              </a:rPr>
              <a:t>10 phút</a:t>
            </a:r>
            <a:r>
              <a:rPr sz="1800" b="0" i="0">
                <a:solidFill>
                  <a:srgbClr val="222222"/>
                </a:solidFill>
                <a:latin typeface="Times New Roman"/>
                <a:ea typeface="Times New Roman"/>
                <a:cs typeface="Times New Roman"/>
              </a:rPr>
              <a:t> trước họp</a:t>
            </a:r>
          </a:p>
          <a:p>
            <a:pPr algn="ctr">
              <a:buNone/>
            </a:pPr>
            <a:r>
              <a:rPr sz="1800" b="0" i="0">
                <a:solidFill>
                  <a:srgbClr val="222222"/>
                </a:solidFill>
                <a:latin typeface="Times New Roman"/>
                <a:ea typeface="Times New Roman"/>
                <a:cs typeface="Times New Roman"/>
              </a:rPr>
              <a:t>với Kế toán</a:t>
            </a:r>
          </a:p>
        </p:txBody>
      </p:sp>
      <p:pic>
        <p:nvPicPr>
          <p:cNvPr id="147" name="Picture 146" descr="image.png"/>
          <p:cNvPicPr>
            <a:picLocks noChangeAspect="1"/>
          </p:cNvPicPr>
          <p:nvPr/>
        </p:nvPicPr>
        <p:blipFill>
          <a:blip r:embed="rId4"/>
          <a:stretch>
            <a:fillRect/>
          </a:stretch>
        </p:blipFill>
        <p:spPr>
          <a:xfrm>
            <a:off x="1600200" y="3310128"/>
            <a:ext cx="731520" cy="731520"/>
          </a:xfrm>
          <a:prstGeom prst="rect">
            <a:avLst/>
          </a:prstGeom>
        </p:spPr>
      </p:pic>
      <p:sp>
        <p:nvSpPr>
          <p:cNvPr id="148" name="TextBox 147"/>
          <p:cNvSpPr txBox="1"/>
          <p:nvPr/>
        </p:nvSpPr>
        <p:spPr>
          <a:xfrm>
            <a:off x="502920" y="4069080"/>
            <a:ext cx="2926080" cy="548640"/>
          </a:xfrm>
          <a:prstGeom prst="rect">
            <a:avLst/>
          </a:prstGeom>
          <a:noFill/>
        </p:spPr>
        <p:txBody>
          <a:bodyPr wrap="square" lIns="45720" tIns="27432" rIns="45720" bIns="27432" anchor="t"/>
          <a:lstStyle/>
          <a:p>
            <a:pPr algn="ctr">
              <a:buNone/>
            </a:pPr>
            <a:r>
              <a:rPr sz="1400" b="0" i="0">
                <a:solidFill>
                  <a:srgbClr val="595959"/>
                </a:solidFill>
                <a:latin typeface="Times New Roman"/>
                <a:ea typeface="Times New Roman"/>
                <a:cs typeface="Times New Roman"/>
              </a:rPr>
              <a:t>Trưởng phòng Kinh doanh cần trả lời nhanh 3 câu hỏi</a:t>
            </a:r>
          </a:p>
        </p:txBody>
      </p:sp>
      <p:sp>
        <p:nvSpPr>
          <p:cNvPr id="149" name="Right Arrow 148"/>
          <p:cNvSpPr/>
          <p:nvPr/>
        </p:nvSpPr>
        <p:spPr>
          <a:xfrm>
            <a:off x="3611880" y="2788920"/>
            <a:ext cx="320040" cy="411480"/>
          </a:xfrm>
          <a:prstGeom prst="rightArrow">
            <a:avLst/>
          </a:prstGeom>
          <a:solidFill>
            <a:srgbClr val="C55A11"/>
          </a:solidFill>
          <a:ln>
            <a:noFill/>
          </a:ln>
          <a:effectLst/>
        </p:spPr>
        <p:txBody>
          <a:bodyPr rtlCol="0" anchor="ctr" wrap="square" lIns="73152" tIns="36576" rIns="73152" bIns="36576"/>
          <a:lstStyle/>
          <a:p>
            <a:pPr algn="ctr"/>
          </a:p>
        </p:txBody>
      </p:sp>
      <p:sp>
        <p:nvSpPr>
          <p:cNvPr id="150" name="Rounded Rectangle 149"/>
          <p:cNvSpPr/>
          <p:nvPr/>
        </p:nvSpPr>
        <p:spPr>
          <a:xfrm>
            <a:off x="3977639" y="1417320"/>
            <a:ext cx="4846320" cy="1005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Oval 150"/>
          <p:cNvSpPr/>
          <p:nvPr/>
        </p:nvSpPr>
        <p:spPr>
          <a:xfrm>
            <a:off x="4087368" y="1691640"/>
            <a:ext cx="457200" cy="457200"/>
          </a:xfrm>
          <a:prstGeom prst="ellipse">
            <a:avLst/>
          </a:prstGeom>
          <a:solidFill>
            <a:srgbClr val="2E5B3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1</a:t>
            </a:r>
          </a:p>
        </p:txBody>
      </p:sp>
      <p:sp>
        <p:nvSpPr>
          <p:cNvPr id="152" name="Oval 151"/>
          <p:cNvSpPr/>
          <p:nvPr/>
        </p:nvSpPr>
        <p:spPr>
          <a:xfrm>
            <a:off x="4645152" y="1645920"/>
            <a:ext cx="548640" cy="548640"/>
          </a:xfrm>
          <a:prstGeom prst="ellipse">
            <a:avLst/>
          </a:prstGeom>
          <a:solidFill>
            <a:srgbClr val="2E5B31"/>
          </a:solidFill>
          <a:ln>
            <a:noFill/>
          </a:ln>
          <a:effectLst/>
        </p:spPr>
        <p:txBody>
          <a:bodyPr rtlCol="0" anchor="ctr" wrap="square" lIns="73152" tIns="36576" rIns="73152" bIns="36576"/>
          <a:lstStyle/>
          <a:p>
            <a:pPr algn="ctr"/>
          </a:p>
        </p:txBody>
      </p:sp>
      <p:pic>
        <p:nvPicPr>
          <p:cNvPr id="153" name="Picture 152" descr="image.png"/>
          <p:cNvPicPr>
            <a:picLocks noChangeAspect="1"/>
          </p:cNvPicPr>
          <p:nvPr/>
        </p:nvPicPr>
        <p:blipFill>
          <a:blip r:embed="rId5"/>
          <a:stretch>
            <a:fillRect/>
          </a:stretch>
        </p:blipFill>
        <p:spPr>
          <a:xfrm>
            <a:off x="4765852" y="1766620"/>
            <a:ext cx="307238" cy="307238"/>
          </a:xfrm>
          <a:prstGeom prst="rect">
            <a:avLst/>
          </a:prstGeom>
        </p:spPr>
      </p:pic>
      <p:sp>
        <p:nvSpPr>
          <p:cNvPr id="154" name="TextBox 153"/>
          <p:cNvSpPr txBox="1"/>
          <p:nvPr/>
        </p:nvSpPr>
        <p:spPr>
          <a:xfrm>
            <a:off x="5303520" y="1472184"/>
            <a:ext cx="3474720" cy="9144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Quy mô</a:t>
            </a:r>
          </a:p>
          <a:p>
            <a:pPr algn="l">
              <a:buNone/>
            </a:pPr>
            <a:r>
              <a:rPr sz="1400" b="0" i="0">
                <a:solidFill>
                  <a:srgbClr val="222222"/>
                </a:solidFill>
                <a:latin typeface="Times New Roman"/>
                <a:ea typeface="Times New Roman"/>
                <a:cs typeface="Times New Roman"/>
              </a:rPr>
              <a:t>Tháng này Nexa Home thực sự bán được bao nhiêu (Net Revenue, số đơn)?</a:t>
            </a:r>
          </a:p>
        </p:txBody>
      </p:sp>
      <p:sp>
        <p:nvSpPr>
          <p:cNvPr id="155" name="Rounded Rectangle 154"/>
          <p:cNvSpPr/>
          <p:nvPr/>
        </p:nvSpPr>
        <p:spPr>
          <a:xfrm>
            <a:off x="3977639" y="2514600"/>
            <a:ext cx="4846320" cy="1005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6" name="Oval 155"/>
          <p:cNvSpPr/>
          <p:nvPr/>
        </p:nvSpPr>
        <p:spPr>
          <a:xfrm>
            <a:off x="4087368" y="2788920"/>
            <a:ext cx="457200" cy="457200"/>
          </a:xfrm>
          <a:prstGeom prst="ellipse">
            <a:avLst/>
          </a:prstGeom>
          <a:solidFill>
            <a:srgbClr val="C55A1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2</a:t>
            </a:r>
          </a:p>
        </p:txBody>
      </p:sp>
      <p:sp>
        <p:nvSpPr>
          <p:cNvPr id="157" name="Oval 156"/>
          <p:cNvSpPr/>
          <p:nvPr/>
        </p:nvSpPr>
        <p:spPr>
          <a:xfrm>
            <a:off x="4645152" y="2743200"/>
            <a:ext cx="548640" cy="548640"/>
          </a:xfrm>
          <a:prstGeom prst="ellipse">
            <a:avLst/>
          </a:prstGeom>
          <a:solidFill>
            <a:srgbClr val="C55A1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6"/>
          <a:stretch>
            <a:fillRect/>
          </a:stretch>
        </p:blipFill>
        <p:spPr>
          <a:xfrm>
            <a:off x="4765852" y="2863900"/>
            <a:ext cx="307238" cy="307238"/>
          </a:xfrm>
          <a:prstGeom prst="rect">
            <a:avLst/>
          </a:prstGeom>
        </p:spPr>
      </p:pic>
      <p:sp>
        <p:nvSpPr>
          <p:cNvPr id="159" name="TextBox 158"/>
          <p:cNvSpPr txBox="1"/>
          <p:nvPr/>
        </p:nvSpPr>
        <p:spPr>
          <a:xfrm>
            <a:off x="5303520" y="2569464"/>
            <a:ext cx="3474720" cy="9144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Chất lượng doanh thu</a:t>
            </a:r>
          </a:p>
          <a:p>
            <a:pPr algn="l">
              <a:buNone/>
            </a:pPr>
            <a:r>
              <a:rPr sz="1400" b="0" i="0">
                <a:solidFill>
                  <a:srgbClr val="222222"/>
                </a:solidFill>
                <a:latin typeface="Times New Roman"/>
                <a:ea typeface="Times New Roman"/>
                <a:cs typeface="Times New Roman"/>
              </a:rPr>
              <a:t>Bao nhiêu bị mất vì giảm giá, hoàn trả, đơn huỷ?</a:t>
            </a:r>
          </a:p>
        </p:txBody>
      </p:sp>
      <p:sp>
        <p:nvSpPr>
          <p:cNvPr id="160" name="Rounded Rectangle 159"/>
          <p:cNvSpPr/>
          <p:nvPr/>
        </p:nvSpPr>
        <p:spPr>
          <a:xfrm>
            <a:off x="3977639" y="3611880"/>
            <a:ext cx="4846320" cy="100584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1" name="Oval 160"/>
          <p:cNvSpPr/>
          <p:nvPr/>
        </p:nvSpPr>
        <p:spPr>
          <a:xfrm>
            <a:off x="4087368" y="3886200"/>
            <a:ext cx="457200" cy="457200"/>
          </a:xfrm>
          <a:prstGeom prst="ellipse">
            <a:avLst/>
          </a:prstGeom>
          <a:solidFill>
            <a:srgbClr val="C00000"/>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3</a:t>
            </a:r>
          </a:p>
        </p:txBody>
      </p:sp>
      <p:pic>
        <p:nvPicPr>
          <p:cNvPr id="162" name="Picture 161" descr="image.png"/>
          <p:cNvPicPr>
            <a:picLocks noChangeAspect="1"/>
          </p:cNvPicPr>
          <p:nvPr/>
        </p:nvPicPr>
        <p:blipFill>
          <a:blip r:embed="rId7"/>
          <a:stretch>
            <a:fillRect/>
          </a:stretch>
        </p:blipFill>
        <p:spPr>
          <a:xfrm>
            <a:off x="4663440" y="3858768"/>
            <a:ext cx="512064" cy="512064"/>
          </a:xfrm>
          <a:prstGeom prst="rect">
            <a:avLst/>
          </a:prstGeom>
        </p:spPr>
      </p:pic>
      <p:sp>
        <p:nvSpPr>
          <p:cNvPr id="163" name="TextBox 162"/>
          <p:cNvSpPr txBox="1"/>
          <p:nvPr/>
        </p:nvSpPr>
        <p:spPr>
          <a:xfrm>
            <a:off x="5303520" y="3666744"/>
            <a:ext cx="3474720" cy="914400"/>
          </a:xfrm>
          <a:prstGeom prst="rect">
            <a:avLst/>
          </a:prstGeom>
          <a:noFill/>
        </p:spPr>
        <p:txBody>
          <a:bodyPr wrap="square" lIns="45720" tIns="27432" rIns="45720" bIns="27432" anchor="ctr"/>
          <a:lstStyle/>
          <a:p>
            <a:pPr algn="l">
              <a:buNone/>
            </a:pPr>
            <a:r>
              <a:rPr sz="1400" b="1" i="0">
                <a:solidFill>
                  <a:srgbClr val="C00000"/>
                </a:solidFill>
                <a:latin typeface="Times New Roman"/>
                <a:ea typeface="Times New Roman"/>
                <a:cs typeface="Times New Roman"/>
              </a:rPr>
              <a:t>Khớp số</a:t>
            </a:r>
          </a:p>
          <a:p>
            <a:pPr algn="l">
              <a:buNone/>
            </a:pPr>
            <a:r>
              <a:rPr sz="1400" b="0" i="0">
                <a:solidFill>
                  <a:srgbClr val="222222"/>
                </a:solidFill>
                <a:latin typeface="Times New Roman"/>
                <a:ea typeface="Times New Roman"/>
                <a:cs typeface="Times New Roman"/>
              </a:rPr>
              <a:t>Vì sao số của Sales khác số Kế toán xác nhận? Chênh ở đâu, bao nhiêu?</a:t>
            </a:r>
          </a:p>
        </p:txBody>
      </p:sp>
      <p:sp>
        <p:nvSpPr>
          <p:cNvPr id="164" name="Right Arrow 163"/>
          <p:cNvSpPr/>
          <p:nvPr/>
        </p:nvSpPr>
        <p:spPr>
          <a:xfrm>
            <a:off x="8869680" y="2788920"/>
            <a:ext cx="320040" cy="411480"/>
          </a:xfrm>
          <a:prstGeom prst="rightArrow">
            <a:avLst/>
          </a:prstGeom>
          <a:solidFill>
            <a:srgbClr val="2E5B31"/>
          </a:solidFill>
          <a:ln>
            <a:noFill/>
          </a:ln>
          <a:effectLst/>
        </p:spPr>
        <p:txBody>
          <a:bodyPr rtlCol="0" anchor="ctr" wrap="square" lIns="73152" tIns="36576" rIns="73152" bIns="36576"/>
          <a:lstStyle/>
          <a:p>
            <a:pPr algn="ctr"/>
          </a:p>
        </p:txBody>
      </p:sp>
      <p:sp>
        <p:nvSpPr>
          <p:cNvPr id="165" name="Rounded Rectangle 164"/>
          <p:cNvSpPr/>
          <p:nvPr/>
        </p:nvSpPr>
        <p:spPr>
          <a:xfrm>
            <a:off x="9235440" y="1417320"/>
            <a:ext cx="2587752" cy="3246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sp>
        <p:nvSpPr>
          <p:cNvPr id="166" name="Oval 165"/>
          <p:cNvSpPr/>
          <p:nvPr/>
        </p:nvSpPr>
        <p:spPr>
          <a:xfrm>
            <a:off x="10030968" y="1554480"/>
            <a:ext cx="1005840" cy="1005840"/>
          </a:xfrm>
          <a:prstGeom prst="ellipse">
            <a:avLst/>
          </a:prstGeom>
          <a:solidFill>
            <a:srgbClr val="2E5B31"/>
          </a:solidFill>
          <a:ln>
            <a:noFill/>
          </a:ln>
          <a:effectLst/>
        </p:spPr>
        <p:txBody>
          <a:bodyPr rtlCol="0" anchor="ctr" wrap="square" lIns="73152" tIns="36576" rIns="73152" bIns="36576"/>
          <a:lstStyle/>
          <a:p>
            <a:pPr algn="ctr"/>
          </a:p>
        </p:txBody>
      </p:sp>
      <p:pic>
        <p:nvPicPr>
          <p:cNvPr id="167" name="Picture 166" descr="image.png"/>
          <p:cNvPicPr>
            <a:picLocks noChangeAspect="1"/>
          </p:cNvPicPr>
          <p:nvPr/>
        </p:nvPicPr>
        <p:blipFill>
          <a:blip r:embed="rId8"/>
          <a:stretch>
            <a:fillRect/>
          </a:stretch>
        </p:blipFill>
        <p:spPr>
          <a:xfrm>
            <a:off x="10252252" y="1775764"/>
            <a:ext cx="563270" cy="563270"/>
          </a:xfrm>
          <a:prstGeom prst="rect">
            <a:avLst/>
          </a:prstGeom>
        </p:spPr>
      </p:pic>
      <p:sp>
        <p:nvSpPr>
          <p:cNvPr id="168" name="TextBox 167"/>
          <p:cNvSpPr txBox="1"/>
          <p:nvPr/>
        </p:nvSpPr>
        <p:spPr>
          <a:xfrm>
            <a:off x="9326880" y="2651760"/>
            <a:ext cx="2404872" cy="685800"/>
          </a:xfrm>
          <a:prstGeom prst="rect">
            <a:avLst/>
          </a:prstGeom>
          <a:noFill/>
        </p:spPr>
        <p:txBody>
          <a:bodyPr wrap="square" lIns="45720" tIns="27432" rIns="45720" bIns="27432" anchor="t"/>
          <a:lstStyle/>
          <a:p>
            <a:pPr algn="ctr">
              <a:buNone/>
            </a:pPr>
            <a:r>
              <a:rPr sz="1800" b="1" i="0">
                <a:solidFill>
                  <a:srgbClr val="222222"/>
                </a:solidFill>
                <a:latin typeface="Times New Roman"/>
                <a:ea typeface="Times New Roman"/>
                <a:cs typeface="Times New Roman"/>
              </a:rPr>
              <a:t>Data Analyst</a:t>
            </a:r>
          </a:p>
          <a:p>
            <a:pPr algn="ctr">
              <a:buNone/>
            </a:pPr>
            <a:r>
              <a:rPr sz="1800" b="0" i="0">
                <a:solidFill>
                  <a:srgbClr val="222222"/>
                </a:solidFill>
                <a:latin typeface="Times New Roman"/>
                <a:ea typeface="Times New Roman"/>
                <a:cs typeface="Times New Roman"/>
              </a:rPr>
              <a:t>bán lẻ</a:t>
            </a:r>
          </a:p>
        </p:txBody>
      </p:sp>
      <p:sp>
        <p:nvSpPr>
          <p:cNvPr id="169" name="TextBox 168"/>
          <p:cNvSpPr txBox="1"/>
          <p:nvPr/>
        </p:nvSpPr>
        <p:spPr>
          <a:xfrm>
            <a:off x="9326880" y="3337560"/>
            <a:ext cx="2404872" cy="1280160"/>
          </a:xfrm>
          <a:prstGeom prst="rect">
            <a:avLst/>
          </a:prstGeom>
          <a:noFill/>
        </p:spPr>
        <p:txBody>
          <a:bodyPr wrap="square" lIns="45720" tIns="27432" rIns="45720" bIns="27432" anchor="t"/>
          <a:lstStyle/>
          <a:p>
            <a:pPr algn="ctr">
              <a:buNone/>
            </a:pPr>
            <a:r>
              <a:rPr sz="1300" b="0" i="0">
                <a:solidFill>
                  <a:srgbClr val="595959"/>
                </a:solidFill>
                <a:latin typeface="Times New Roman"/>
                <a:ea typeface="Times New Roman"/>
                <a:cs typeface="Times New Roman"/>
              </a:rPr>
              <a:t>Tính KPI từ dữ liệu đơn hàng, đối chiếu với Kế toán và giải thích từng chênh lệch vượt ngưỡng bằng con số</a:t>
            </a:r>
          </a:p>
        </p:txBody>
      </p:sp>
      <p:sp>
        <p:nvSpPr>
          <p:cNvPr id="170" name="Pentagon 169"/>
          <p:cNvSpPr/>
          <p:nvPr/>
        </p:nvSpPr>
        <p:spPr>
          <a:xfrm>
            <a:off x="384048" y="4983480"/>
            <a:ext cx="2240280" cy="868680"/>
          </a:xfrm>
          <a:prstGeom prst="homePlate">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Doanh thu hình thành thế nào</a:t>
            </a:r>
          </a:p>
        </p:txBody>
      </p:sp>
      <p:sp>
        <p:nvSpPr>
          <p:cNvPr id="171" name="Chevron 170"/>
          <p:cNvSpPr/>
          <p:nvPr/>
        </p:nvSpPr>
        <p:spPr>
          <a:xfrm>
            <a:off x="2670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Hai hệ thống ghi nhận khác nhau</a:t>
            </a:r>
          </a:p>
        </p:txBody>
      </p:sp>
      <p:sp>
        <p:nvSpPr>
          <p:cNvPr id="172" name="Chevron 171"/>
          <p:cNvSpPr/>
          <p:nvPr/>
        </p:nvSpPr>
        <p:spPr>
          <a:xfrm>
            <a:off x="4956048" y="4983480"/>
            <a:ext cx="2240280" cy="868680"/>
          </a:xfrm>
          <a:prstGeom prst="chevron">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Vai trò DA và Kế toán</a:t>
            </a:r>
          </a:p>
        </p:txBody>
      </p:sp>
      <p:sp>
        <p:nvSpPr>
          <p:cNvPr id="173" name="Chevron 172"/>
          <p:cNvSpPr/>
          <p:nvPr/>
        </p:nvSpPr>
        <p:spPr>
          <a:xfrm>
            <a:off x="7242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Xây dashboard 4 trang</a:t>
            </a:r>
          </a:p>
        </p:txBody>
      </p:sp>
      <p:sp>
        <p:nvSpPr>
          <p:cNvPr id="174" name="Chevron 173"/>
          <p:cNvSpPr/>
          <p:nvPr/>
        </p:nvSpPr>
        <p:spPr>
          <a:xfrm>
            <a:off x="9528048" y="4983480"/>
            <a:ext cx="2240280" cy="868680"/>
          </a:xfrm>
          <a:prstGeom prst="chevron">
            <a:avLst>
              <a:gd name="adj" fmla="val 25000"/>
            </a:avLst>
          </a:prstGeom>
          <a:solidFill>
            <a:srgbClr val="123A7A"/>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Giải thích chênh lệch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Nexa Home bán hàng thế nào và doanh thu đi qua những bước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Một đơn hàng chỉ thành </a:t>
            </a:r>
            <a:r>
              <a:rPr sz="1700" b="1" i="0">
                <a:solidFill>
                  <a:srgbClr val="123A7A"/>
                </a:solidFill>
                <a:latin typeface="Times New Roman"/>
                <a:ea typeface="Times New Roman"/>
                <a:cs typeface="Times New Roman"/>
              </a:rPr>
              <a:t>doanh thu</a:t>
            </a:r>
            <a:r>
              <a:rPr sz="1700" b="0" i="0">
                <a:solidFill>
                  <a:srgbClr val="222222"/>
                </a:solidFill>
                <a:latin typeface="Times New Roman"/>
                <a:ea typeface="Times New Roman"/>
                <a:cs typeface="Times New Roman"/>
              </a:rPr>
              <a:t> khi đã hoàn tất; hoàn trả làm giảm doanh thu ở </a:t>
            </a:r>
            <a:r>
              <a:rPr sz="1700" b="1" i="0">
                <a:solidFill>
                  <a:srgbClr val="C55A11"/>
                </a:solidFill>
                <a:latin typeface="Times New Roman"/>
                <a:ea typeface="Times New Roman"/>
                <a:cs typeface="Times New Roman"/>
              </a:rPr>
              <a:t>tháng trả hàng</a:t>
            </a:r>
          </a:p>
        </p:txBody>
      </p:sp>
      <p:sp>
        <p:nvSpPr>
          <p:cNvPr id="143" name="Rounded Rectangle 142"/>
          <p:cNvSpPr/>
          <p:nvPr/>
        </p:nvSpPr>
        <p:spPr>
          <a:xfrm>
            <a:off x="365760" y="1371600"/>
            <a:ext cx="2697480" cy="11430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417320"/>
            <a:ext cx="2697480" cy="548640"/>
          </a:xfrm>
          <a:prstGeom prst="rect">
            <a:avLst/>
          </a:prstGeom>
          <a:noFill/>
        </p:spPr>
        <p:txBody>
          <a:bodyPr wrap="square" lIns="45720" tIns="27432" rIns="45720" bIns="27432" anchor="t"/>
          <a:lstStyle/>
          <a:p>
            <a:pPr algn="ctr">
              <a:buNone/>
            </a:pPr>
            <a:r>
              <a:rPr sz="2800" b="1" i="0">
                <a:solidFill>
                  <a:srgbClr val="2E5B31"/>
                </a:solidFill>
                <a:latin typeface="Times New Roman"/>
                <a:ea typeface="Times New Roman"/>
                <a:cs typeface="Times New Roman"/>
              </a:rPr>
              <a:t>66</a:t>
            </a:r>
          </a:p>
        </p:txBody>
      </p:sp>
      <p:sp>
        <p:nvSpPr>
          <p:cNvPr id="145" name="TextBox 144"/>
          <p:cNvSpPr txBox="1"/>
          <p:nvPr/>
        </p:nvSpPr>
        <p:spPr>
          <a:xfrm>
            <a:off x="36576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cửa hàng (POS)</a:t>
            </a:r>
          </a:p>
          <a:p>
            <a:pPr algn="ctr">
              <a:buNone/>
            </a:pPr>
            <a:r>
              <a:rPr sz="1300" b="0" i="0">
                <a:solidFill>
                  <a:srgbClr val="595959"/>
                </a:solidFill>
                <a:latin typeface="Times New Roman"/>
                <a:ea typeface="Times New Roman"/>
                <a:cs typeface="Times New Roman"/>
              </a:rPr>
              <a:t>tại 8 quốc gia</a:t>
            </a:r>
          </a:p>
        </p:txBody>
      </p:sp>
      <p:sp>
        <p:nvSpPr>
          <p:cNvPr id="146" name="Rounded Rectangle 145"/>
          <p:cNvSpPr/>
          <p:nvPr/>
        </p:nvSpPr>
        <p:spPr>
          <a:xfrm>
            <a:off x="3246120" y="1371600"/>
            <a:ext cx="2697480" cy="11430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417320"/>
            <a:ext cx="2697480" cy="548640"/>
          </a:xfrm>
          <a:prstGeom prst="rect">
            <a:avLst/>
          </a:prstGeom>
          <a:noFill/>
        </p:spPr>
        <p:txBody>
          <a:bodyPr wrap="square" lIns="45720" tIns="27432" rIns="45720" bIns="27432" anchor="t"/>
          <a:lstStyle/>
          <a:p>
            <a:pPr algn="ctr">
              <a:buNone/>
            </a:pPr>
            <a:r>
              <a:rPr sz="2800" b="1" i="0">
                <a:solidFill>
                  <a:srgbClr val="C55A11"/>
                </a:solidFill>
                <a:latin typeface="Times New Roman"/>
                <a:ea typeface="Times New Roman"/>
                <a:cs typeface="Times New Roman"/>
              </a:rPr>
              <a:t>1</a:t>
            </a:r>
          </a:p>
        </p:txBody>
      </p:sp>
      <p:sp>
        <p:nvSpPr>
          <p:cNvPr id="148" name="TextBox 147"/>
          <p:cNvSpPr txBox="1"/>
          <p:nvPr/>
        </p:nvSpPr>
        <p:spPr>
          <a:xfrm>
            <a:off x="324612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kênh online</a:t>
            </a:r>
          </a:p>
          <a:p>
            <a:pPr algn="ctr">
              <a:buNone/>
            </a:pPr>
            <a:r>
              <a:rPr sz="1300" b="0" i="0">
                <a:solidFill>
                  <a:srgbClr val="595959"/>
                </a:solidFill>
                <a:latin typeface="Times New Roman"/>
                <a:ea typeface="Times New Roman"/>
                <a:cs typeface="Times New Roman"/>
              </a:rPr>
              <a:t>website/app</a:t>
            </a:r>
          </a:p>
        </p:txBody>
      </p:sp>
      <p:sp>
        <p:nvSpPr>
          <p:cNvPr id="149" name="Rounded Rectangle 148"/>
          <p:cNvSpPr/>
          <p:nvPr/>
        </p:nvSpPr>
        <p:spPr>
          <a:xfrm>
            <a:off x="6126480" y="1371600"/>
            <a:ext cx="2697480" cy="11430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417320"/>
            <a:ext cx="2697480" cy="548640"/>
          </a:xfrm>
          <a:prstGeom prst="rect">
            <a:avLst/>
          </a:prstGeom>
          <a:noFill/>
        </p:spPr>
        <p:txBody>
          <a:bodyPr wrap="square" lIns="45720" tIns="27432" rIns="45720" bIns="27432" anchor="t"/>
          <a:lstStyle/>
          <a:p>
            <a:pPr algn="ctr">
              <a:buNone/>
            </a:pPr>
            <a:r>
              <a:rPr sz="2800" b="1" i="0">
                <a:solidFill>
                  <a:srgbClr val="123A7A"/>
                </a:solidFill>
                <a:latin typeface="Times New Roman"/>
                <a:ea typeface="Times New Roman"/>
                <a:cs typeface="Times New Roman"/>
              </a:rPr>
              <a:t>2.517</a:t>
            </a:r>
          </a:p>
        </p:txBody>
      </p:sp>
      <p:sp>
        <p:nvSpPr>
          <p:cNvPr id="151" name="TextBox 150"/>
          <p:cNvSpPr txBox="1"/>
          <p:nvPr/>
        </p:nvSpPr>
        <p:spPr>
          <a:xfrm>
            <a:off x="612648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sản phẩm</a:t>
            </a:r>
          </a:p>
          <a:p>
            <a:pPr algn="ctr">
              <a:buNone/>
            </a:pPr>
            <a:r>
              <a:rPr sz="1300" b="0" i="0">
                <a:solidFill>
                  <a:srgbClr val="595959"/>
                </a:solidFill>
                <a:latin typeface="Times New Roman"/>
                <a:ea typeface="Times New Roman"/>
                <a:cs typeface="Times New Roman"/>
              </a:rPr>
              <a:t>điện tử, gia dụng</a:t>
            </a:r>
          </a:p>
        </p:txBody>
      </p:sp>
      <p:sp>
        <p:nvSpPr>
          <p:cNvPr id="152" name="Rounded Rectangle 151"/>
          <p:cNvSpPr/>
          <p:nvPr/>
        </p:nvSpPr>
        <p:spPr>
          <a:xfrm>
            <a:off x="9006840" y="1371600"/>
            <a:ext cx="2697480" cy="114300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3" name="TextBox 152"/>
          <p:cNvSpPr txBox="1"/>
          <p:nvPr/>
        </p:nvSpPr>
        <p:spPr>
          <a:xfrm>
            <a:off x="9006840" y="1417320"/>
            <a:ext cx="2697480" cy="548640"/>
          </a:xfrm>
          <a:prstGeom prst="rect">
            <a:avLst/>
          </a:prstGeom>
          <a:noFill/>
        </p:spPr>
        <p:txBody>
          <a:bodyPr wrap="square" lIns="45720" tIns="27432" rIns="45720" bIns="27432" anchor="t"/>
          <a:lstStyle/>
          <a:p>
            <a:pPr algn="ctr">
              <a:buNone/>
            </a:pPr>
            <a:r>
              <a:rPr sz="2800" b="1" i="0">
                <a:solidFill>
                  <a:srgbClr val="0F6E56"/>
                </a:solidFill>
                <a:latin typeface="Times New Roman"/>
                <a:ea typeface="Times New Roman"/>
                <a:cs typeface="Times New Roman"/>
              </a:rPr>
              <a:t>26.326</a:t>
            </a:r>
          </a:p>
        </p:txBody>
      </p:sp>
      <p:sp>
        <p:nvSpPr>
          <p:cNvPr id="154" name="TextBox 153"/>
          <p:cNvSpPr txBox="1"/>
          <p:nvPr/>
        </p:nvSpPr>
        <p:spPr>
          <a:xfrm>
            <a:off x="900684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đơn hàng</a:t>
            </a:r>
          </a:p>
          <a:p>
            <a:pPr algn="ctr">
              <a:buNone/>
            </a:pPr>
            <a:r>
              <a:rPr sz="1300" b="0" i="0">
                <a:solidFill>
                  <a:srgbClr val="595959"/>
                </a:solidFill>
                <a:latin typeface="Times New Roman"/>
                <a:ea typeface="Times New Roman"/>
                <a:cs typeface="Times New Roman"/>
              </a:rPr>
              <a:t>01/2016 → 20/02/2021</a:t>
            </a:r>
          </a:p>
        </p:txBody>
      </p:sp>
      <p:sp>
        <p:nvSpPr>
          <p:cNvPr id="155" name="Rounded Rectangle 154"/>
          <p:cNvSpPr/>
          <p:nvPr/>
        </p:nvSpPr>
        <p:spPr>
          <a:xfrm>
            <a:off x="365760" y="2788920"/>
            <a:ext cx="2011680" cy="31089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Oval 155"/>
          <p:cNvSpPr/>
          <p:nvPr/>
        </p:nvSpPr>
        <p:spPr>
          <a:xfrm>
            <a:off x="1005840" y="29260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1166774" y="3087014"/>
            <a:ext cx="409651" cy="409651"/>
          </a:xfrm>
          <a:prstGeom prst="rect">
            <a:avLst/>
          </a:prstGeom>
        </p:spPr>
      </p:pic>
      <p:sp>
        <p:nvSpPr>
          <p:cNvPr id="158" name="TextBox 157"/>
          <p:cNvSpPr txBox="1"/>
          <p:nvPr/>
        </p:nvSpPr>
        <p:spPr>
          <a:xfrm>
            <a:off x="411480" y="3749039"/>
            <a:ext cx="1920240" cy="411480"/>
          </a:xfrm>
          <a:prstGeom prst="rect">
            <a:avLst/>
          </a:prstGeom>
          <a:noFill/>
        </p:spPr>
        <p:txBody>
          <a:bodyPr wrap="square" lIns="45720" tIns="27432" rIns="45720" bIns="27432" anchor="t"/>
          <a:lstStyle/>
          <a:p>
            <a:pPr algn="ctr">
              <a:buNone/>
            </a:pPr>
            <a:r>
              <a:rPr sz="1500" b="1" i="0">
                <a:solidFill>
                  <a:srgbClr val="2E5B31"/>
                </a:solidFill>
                <a:latin typeface="Times New Roman"/>
                <a:ea typeface="Times New Roman"/>
                <a:cs typeface="Times New Roman"/>
              </a:rPr>
              <a:t>1 · Đặt hàng</a:t>
            </a:r>
          </a:p>
        </p:txBody>
      </p:sp>
      <p:sp>
        <p:nvSpPr>
          <p:cNvPr id="159" name="TextBox 158"/>
          <p:cNvSpPr txBox="1"/>
          <p:nvPr/>
        </p:nvSpPr>
        <p:spPr>
          <a:xfrm>
            <a:off x="43891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order_date</a:t>
            </a:r>
          </a:p>
          <a:p>
            <a:pPr algn="ctr">
              <a:spcAft>
                <a:spcPts val="400"/>
              </a:spcAft>
              <a:buNone/>
            </a:pPr>
            <a:r>
              <a:rPr sz="1300" b="0" i="0">
                <a:solidFill>
                  <a:srgbClr val="222222"/>
                </a:solidFill>
                <a:latin typeface="Times New Roman"/>
                <a:ea typeface="Times New Roman"/>
                <a:cs typeface="Times New Roman"/>
              </a:rPr>
              <a:t>POS: trả tiền, nhận hàng ngay</a:t>
            </a:r>
          </a:p>
        </p:txBody>
      </p:sp>
      <p:sp>
        <p:nvSpPr>
          <p:cNvPr id="160" name="Right Arrow 159"/>
          <p:cNvSpPr/>
          <p:nvPr/>
        </p:nvSpPr>
        <p:spPr>
          <a:xfrm>
            <a:off x="239572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1" name="Rounded Rectangle 160"/>
          <p:cNvSpPr/>
          <p:nvPr/>
        </p:nvSpPr>
        <p:spPr>
          <a:xfrm>
            <a:off x="2697479" y="2788920"/>
            <a:ext cx="2011680" cy="310896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62" name="Oval 161"/>
          <p:cNvSpPr/>
          <p:nvPr/>
        </p:nvSpPr>
        <p:spPr>
          <a:xfrm>
            <a:off x="3337559" y="2926080"/>
            <a:ext cx="731520" cy="731520"/>
          </a:xfrm>
          <a:prstGeom prst="ellipse">
            <a:avLst/>
          </a:prstGeom>
          <a:solidFill>
            <a:srgbClr val="0F6E56"/>
          </a:solidFill>
          <a:ln>
            <a:no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4"/>
          <a:stretch>
            <a:fillRect/>
          </a:stretch>
        </p:blipFill>
        <p:spPr>
          <a:xfrm>
            <a:off x="3498494" y="3087014"/>
            <a:ext cx="409651" cy="409651"/>
          </a:xfrm>
          <a:prstGeom prst="rect">
            <a:avLst/>
          </a:prstGeom>
        </p:spPr>
      </p:pic>
      <p:sp>
        <p:nvSpPr>
          <p:cNvPr id="164" name="TextBox 163"/>
          <p:cNvSpPr txBox="1"/>
          <p:nvPr/>
        </p:nvSpPr>
        <p:spPr>
          <a:xfrm>
            <a:off x="2743199" y="3749039"/>
            <a:ext cx="1920240" cy="411480"/>
          </a:xfrm>
          <a:prstGeom prst="rect">
            <a:avLst/>
          </a:prstGeom>
          <a:noFill/>
        </p:spPr>
        <p:txBody>
          <a:bodyPr wrap="square" lIns="45720" tIns="27432" rIns="45720" bIns="27432" anchor="t"/>
          <a:lstStyle/>
          <a:p>
            <a:pPr algn="ctr">
              <a:buNone/>
            </a:pPr>
            <a:r>
              <a:rPr sz="1500" b="1" i="0">
                <a:solidFill>
                  <a:srgbClr val="0F6E56"/>
                </a:solidFill>
                <a:latin typeface="Times New Roman"/>
                <a:ea typeface="Times New Roman"/>
                <a:cs typeface="Times New Roman"/>
              </a:rPr>
              <a:t>2 · Giao hàng</a:t>
            </a:r>
          </a:p>
        </p:txBody>
      </p:sp>
      <p:sp>
        <p:nvSpPr>
          <p:cNvPr id="165" name="TextBox 164"/>
          <p:cNvSpPr txBox="1"/>
          <p:nvPr/>
        </p:nvSpPr>
        <p:spPr>
          <a:xfrm>
            <a:off x="277063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delivery_date</a:t>
            </a:r>
          </a:p>
          <a:p>
            <a:pPr algn="ctr">
              <a:spcAft>
                <a:spcPts val="400"/>
              </a:spcAft>
              <a:buNone/>
            </a:pPr>
            <a:r>
              <a:rPr sz="1300" b="0" i="0">
                <a:solidFill>
                  <a:srgbClr val="222222"/>
                </a:solidFill>
                <a:latin typeface="Times New Roman"/>
                <a:ea typeface="Times New Roman"/>
                <a:cs typeface="Times New Roman"/>
              </a:rPr>
              <a:t>chỉ đơn online</a:t>
            </a:r>
          </a:p>
        </p:txBody>
      </p:sp>
      <p:sp>
        <p:nvSpPr>
          <p:cNvPr id="166" name="Right Arrow 165"/>
          <p:cNvSpPr/>
          <p:nvPr/>
        </p:nvSpPr>
        <p:spPr>
          <a:xfrm>
            <a:off x="472744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5029200" y="2788920"/>
            <a:ext cx="2011680" cy="31089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8" name="Picture 167" descr="image.png"/>
          <p:cNvPicPr>
            <a:picLocks noChangeAspect="1"/>
          </p:cNvPicPr>
          <p:nvPr/>
        </p:nvPicPr>
        <p:blipFill>
          <a:blip r:embed="rId5"/>
          <a:stretch>
            <a:fillRect/>
          </a:stretch>
        </p:blipFill>
        <p:spPr>
          <a:xfrm>
            <a:off x="5669280" y="2926080"/>
            <a:ext cx="731520" cy="731520"/>
          </a:xfrm>
          <a:prstGeom prst="rect">
            <a:avLst/>
          </a:prstGeom>
        </p:spPr>
      </p:pic>
      <p:sp>
        <p:nvSpPr>
          <p:cNvPr id="169" name="TextBox 168"/>
          <p:cNvSpPr txBox="1"/>
          <p:nvPr/>
        </p:nvSpPr>
        <p:spPr>
          <a:xfrm>
            <a:off x="5074920" y="3749039"/>
            <a:ext cx="1920240" cy="411480"/>
          </a:xfrm>
          <a:prstGeom prst="rect">
            <a:avLst/>
          </a:prstGeom>
          <a:noFill/>
        </p:spPr>
        <p:txBody>
          <a:bodyPr wrap="square" lIns="45720" tIns="27432" rIns="45720" bIns="27432" anchor="t"/>
          <a:lstStyle/>
          <a:p>
            <a:pPr algn="ctr">
              <a:buNone/>
            </a:pPr>
            <a:r>
              <a:rPr sz="1500" b="1" i="0">
                <a:solidFill>
                  <a:srgbClr val="C55A11"/>
                </a:solidFill>
                <a:latin typeface="Times New Roman"/>
                <a:ea typeface="Times New Roman"/>
                <a:cs typeface="Times New Roman"/>
              </a:rPr>
              <a:t>3 · Hoàn tất</a:t>
            </a:r>
          </a:p>
        </p:txBody>
      </p:sp>
      <p:sp>
        <p:nvSpPr>
          <p:cNvPr id="170" name="TextBox 169"/>
          <p:cNvSpPr txBox="1"/>
          <p:nvPr/>
        </p:nvSpPr>
        <p:spPr>
          <a:xfrm>
            <a:off x="510235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order_status = COMPLETED</a:t>
            </a:r>
          </a:p>
          <a:p>
            <a:pPr algn="ctr">
              <a:spcAft>
                <a:spcPts val="400"/>
              </a:spcAft>
              <a:buNone/>
            </a:pPr>
            <a:r>
              <a:rPr sz="1300" b="0" i="0">
                <a:solidFill>
                  <a:srgbClr val="222222"/>
                </a:solidFill>
                <a:latin typeface="Times New Roman"/>
                <a:ea typeface="Times New Roman"/>
                <a:cs typeface="Times New Roman"/>
              </a:rPr>
              <a:t>(huỷ, đang giao: không tính)</a:t>
            </a:r>
          </a:p>
        </p:txBody>
      </p:sp>
      <p:sp>
        <p:nvSpPr>
          <p:cNvPr id="171" name="Right Arrow 170"/>
          <p:cNvSpPr/>
          <p:nvPr/>
        </p:nvSpPr>
        <p:spPr>
          <a:xfrm>
            <a:off x="705916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2" name="Rounded Rectangle 171"/>
          <p:cNvSpPr/>
          <p:nvPr/>
        </p:nvSpPr>
        <p:spPr>
          <a:xfrm>
            <a:off x="7360919" y="2788920"/>
            <a:ext cx="2011680" cy="31089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3" name="Oval 172"/>
          <p:cNvSpPr/>
          <p:nvPr/>
        </p:nvSpPr>
        <p:spPr>
          <a:xfrm>
            <a:off x="8000999" y="29260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4" name="Picture 173" descr="image.png"/>
          <p:cNvPicPr>
            <a:picLocks noChangeAspect="1"/>
          </p:cNvPicPr>
          <p:nvPr/>
        </p:nvPicPr>
        <p:blipFill>
          <a:blip r:embed="rId6"/>
          <a:stretch>
            <a:fillRect/>
          </a:stretch>
        </p:blipFill>
        <p:spPr>
          <a:xfrm>
            <a:off x="8161934" y="3087014"/>
            <a:ext cx="409651" cy="409651"/>
          </a:xfrm>
          <a:prstGeom prst="rect">
            <a:avLst/>
          </a:prstGeom>
        </p:spPr>
      </p:pic>
      <p:sp>
        <p:nvSpPr>
          <p:cNvPr id="175" name="TextBox 174"/>
          <p:cNvSpPr txBox="1"/>
          <p:nvPr/>
        </p:nvSpPr>
        <p:spPr>
          <a:xfrm>
            <a:off x="7406640" y="3749039"/>
            <a:ext cx="1920240" cy="411480"/>
          </a:xfrm>
          <a:prstGeom prst="rect">
            <a:avLst/>
          </a:prstGeom>
          <a:noFill/>
        </p:spPr>
        <p:txBody>
          <a:bodyPr wrap="square" lIns="45720" tIns="27432" rIns="45720" bIns="27432" anchor="t"/>
          <a:lstStyle/>
          <a:p>
            <a:pPr algn="ctr">
              <a:buNone/>
            </a:pPr>
            <a:r>
              <a:rPr sz="1500" b="1" i="0">
                <a:solidFill>
                  <a:srgbClr val="C00000"/>
                </a:solidFill>
                <a:latin typeface="Times New Roman"/>
                <a:ea typeface="Times New Roman"/>
                <a:cs typeface="Times New Roman"/>
              </a:rPr>
              <a:t>4 · Hoàn trả</a:t>
            </a:r>
          </a:p>
        </p:txBody>
      </p:sp>
      <p:sp>
        <p:nvSpPr>
          <p:cNvPr id="176" name="TextBox 175"/>
          <p:cNvSpPr txBox="1"/>
          <p:nvPr/>
        </p:nvSpPr>
        <p:spPr>
          <a:xfrm>
            <a:off x="7434071"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return_date</a:t>
            </a:r>
          </a:p>
          <a:p>
            <a:pPr algn="ctr">
              <a:spcAft>
                <a:spcPts val="400"/>
              </a:spcAft>
              <a:buNone/>
            </a:pPr>
            <a:r>
              <a:rPr sz="1300" b="0" i="0">
                <a:solidFill>
                  <a:srgbClr val="222222"/>
                </a:solidFill>
                <a:latin typeface="Times New Roman"/>
                <a:ea typeface="Times New Roman"/>
                <a:cs typeface="Times New Roman"/>
              </a:rPr>
              <a:t>trừ vào tháng trả hàng</a:t>
            </a:r>
          </a:p>
        </p:txBody>
      </p:sp>
      <p:sp>
        <p:nvSpPr>
          <p:cNvPr id="177" name="Right Arrow 176"/>
          <p:cNvSpPr/>
          <p:nvPr/>
        </p:nvSpPr>
        <p:spPr>
          <a:xfrm>
            <a:off x="939088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8" name="Rounded Rectangle 177"/>
          <p:cNvSpPr/>
          <p:nvPr/>
        </p:nvSpPr>
        <p:spPr>
          <a:xfrm>
            <a:off x="9692640" y="2788920"/>
            <a:ext cx="2011680" cy="31089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79" name="Oval 178"/>
          <p:cNvSpPr/>
          <p:nvPr/>
        </p:nvSpPr>
        <p:spPr>
          <a:xfrm>
            <a:off x="10332719" y="29260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80" name="Picture 179" descr="image.png"/>
          <p:cNvPicPr>
            <a:picLocks noChangeAspect="1"/>
          </p:cNvPicPr>
          <p:nvPr/>
        </p:nvPicPr>
        <p:blipFill>
          <a:blip r:embed="rId7"/>
          <a:stretch>
            <a:fillRect/>
          </a:stretch>
        </p:blipFill>
        <p:spPr>
          <a:xfrm>
            <a:off x="10493654" y="3087014"/>
            <a:ext cx="409651" cy="409651"/>
          </a:xfrm>
          <a:prstGeom prst="rect">
            <a:avLst/>
          </a:prstGeom>
        </p:spPr>
      </p:pic>
      <p:sp>
        <p:nvSpPr>
          <p:cNvPr id="181" name="TextBox 180"/>
          <p:cNvSpPr txBox="1"/>
          <p:nvPr/>
        </p:nvSpPr>
        <p:spPr>
          <a:xfrm>
            <a:off x="9738360" y="3749039"/>
            <a:ext cx="1920240" cy="411480"/>
          </a:xfrm>
          <a:prstGeom prst="rect">
            <a:avLst/>
          </a:prstGeom>
          <a:noFill/>
        </p:spPr>
        <p:txBody>
          <a:bodyPr wrap="square" lIns="45720" tIns="27432" rIns="45720" bIns="27432" anchor="t"/>
          <a:lstStyle/>
          <a:p>
            <a:pPr algn="ctr">
              <a:buNone/>
            </a:pPr>
            <a:r>
              <a:rPr sz="1500" b="1" i="0">
                <a:solidFill>
                  <a:srgbClr val="123A7A"/>
                </a:solidFill>
                <a:latin typeface="Times New Roman"/>
                <a:ea typeface="Times New Roman"/>
                <a:cs typeface="Times New Roman"/>
              </a:rPr>
              <a:t>5 · Kế toán ghi nhận</a:t>
            </a:r>
          </a:p>
        </p:txBody>
      </p:sp>
      <p:sp>
        <p:nvSpPr>
          <p:cNvPr id="182" name="TextBox 181"/>
          <p:cNvSpPr txBox="1"/>
          <p:nvPr/>
        </p:nvSpPr>
        <p:spPr>
          <a:xfrm>
            <a:off x="976579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posting_date</a:t>
            </a:r>
          </a:p>
          <a:p>
            <a:pPr algn="ctr">
              <a:spcAft>
                <a:spcPts val="400"/>
              </a:spcAft>
              <a:buNone/>
            </a:pPr>
            <a:r>
              <a:rPr sz="1300" b="0" i="0">
                <a:solidFill>
                  <a:srgbClr val="222222"/>
                </a:solidFill>
                <a:latin typeface="Times New Roman"/>
                <a:ea typeface="Times New Roman"/>
                <a:cs typeface="Times New Roman"/>
              </a:rPr>
              <a:t>POS ngày bán · online ngày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Vì sao số đơn hàng khác số Kế toán và ai làm gì trong đối soát?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Chênh lệch </a:t>
            </a:r>
            <a:r>
              <a:rPr sz="1700" b="1" i="0">
                <a:solidFill>
                  <a:srgbClr val="C00000"/>
                </a:solidFill>
                <a:latin typeface="Times New Roman"/>
                <a:ea typeface="Times New Roman"/>
                <a:cs typeface="Times New Roman"/>
              </a:rPr>
              <a:t>không phải lúc nào cũng là lỗi</a:t>
            </a:r>
            <a:r>
              <a:rPr sz="1700" b="0" i="0">
                <a:solidFill>
                  <a:srgbClr val="222222"/>
                </a:solidFill>
                <a:latin typeface="Times New Roman"/>
                <a:ea typeface="Times New Roman"/>
                <a:cs typeface="Times New Roman"/>
              </a:rPr>
              <a:t>: phải tách lệch thời điểm, lệch quy tắc và lỗi thật</a:t>
            </a:r>
          </a:p>
        </p:txBody>
      </p:sp>
      <p:sp>
        <p:nvSpPr>
          <p:cNvPr id="143" name="Rounded Rectangle 142"/>
          <p:cNvSpPr/>
          <p:nvPr/>
        </p:nvSpPr>
        <p:spPr>
          <a:xfrm>
            <a:off x="365760" y="1371600"/>
            <a:ext cx="5623560" cy="224028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4" name="TextBox 143"/>
          <p:cNvSpPr txBox="1"/>
          <p:nvPr/>
        </p:nvSpPr>
        <p:spPr>
          <a:xfrm>
            <a:off x="502920" y="1417320"/>
            <a:ext cx="5394960" cy="365760"/>
          </a:xfrm>
          <a:prstGeom prst="rect">
            <a:avLst/>
          </a:prstGeom>
          <a:noFill/>
        </p:spPr>
        <p:txBody>
          <a:bodyPr wrap="square" lIns="45720" tIns="27432" rIns="45720" bIns="27432" anchor="t"/>
          <a:lstStyle/>
          <a:p>
            <a:pPr algn="l">
              <a:buNone/>
            </a:pPr>
            <a:r>
              <a:rPr sz="1600" b="1" i="0">
                <a:solidFill>
                  <a:srgbClr val="123A7A"/>
                </a:solidFill>
                <a:latin typeface="Times New Roman"/>
                <a:ea typeface="Times New Roman"/>
                <a:cs typeface="Times New Roman"/>
              </a:rPr>
              <a:t>Cùng một giao dịch, hai cách ghi sổ</a:t>
            </a:r>
          </a:p>
        </p:txBody>
      </p:sp>
      <p:sp>
        <p:nvSpPr>
          <p:cNvPr id="145" name="Rectangle 144"/>
          <p:cNvSpPr/>
          <p:nvPr/>
        </p:nvSpPr>
        <p:spPr>
          <a:xfrm>
            <a:off x="502920" y="1828800"/>
            <a:ext cx="109728" cy="731520"/>
          </a:xfrm>
          <a:prstGeom prst="rect">
            <a:avLst/>
          </a:prstGeom>
          <a:solidFill>
            <a:srgbClr val="2E5B31"/>
          </a:solidFill>
          <a:ln>
            <a:noFill/>
          </a:ln>
          <a:effectLst/>
        </p:spPr>
        <p:txBody>
          <a:bodyPr rtlCol="0" anchor="ctr" wrap="square" lIns="73152" tIns="36576" rIns="73152" bIns="36576"/>
          <a:lstStyle/>
          <a:p>
            <a:pPr algn="ctr"/>
          </a:p>
        </p:txBody>
      </p:sp>
      <p:sp>
        <p:nvSpPr>
          <p:cNvPr id="146" name="TextBox 145"/>
          <p:cNvSpPr txBox="1"/>
          <p:nvPr/>
        </p:nvSpPr>
        <p:spPr>
          <a:xfrm>
            <a:off x="685800" y="1810512"/>
            <a:ext cx="5212080" cy="82296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Dữ liệu đơn hàng (POS, website)</a:t>
            </a:r>
          </a:p>
          <a:p>
            <a:pPr algn="l">
              <a:buNone/>
            </a:pPr>
            <a:r>
              <a:rPr sz="1300" b="0" i="0">
                <a:solidFill>
                  <a:srgbClr val="222222"/>
                </a:solidFill>
                <a:latin typeface="Times New Roman"/>
                <a:ea typeface="Times New Roman"/>
                <a:cs typeface="Times New Roman"/>
              </a:rPr>
              <a:t>Ghi theo ngày đặt hàng, có cả đơn huỷ, đơn đang giao, dòng trùng do lỗi tải dữ liệu</a:t>
            </a:r>
          </a:p>
        </p:txBody>
      </p:sp>
      <p:sp>
        <p:nvSpPr>
          <p:cNvPr id="147" name="Rectangle 146"/>
          <p:cNvSpPr/>
          <p:nvPr/>
        </p:nvSpPr>
        <p:spPr>
          <a:xfrm>
            <a:off x="502920" y="2697480"/>
            <a:ext cx="109728" cy="731520"/>
          </a:xfrm>
          <a:prstGeom prst="rect">
            <a:avLst/>
          </a:prstGeom>
          <a:solidFill>
            <a:srgbClr val="C55A11"/>
          </a:solidFill>
          <a:ln>
            <a:noFill/>
          </a:ln>
          <a:effectLst/>
        </p:spPr>
        <p:txBody>
          <a:bodyPr rtlCol="0" anchor="ctr" wrap="square" lIns="73152" tIns="36576" rIns="73152" bIns="36576"/>
          <a:lstStyle/>
          <a:p>
            <a:pPr algn="ctr"/>
          </a:p>
        </p:txBody>
      </p:sp>
      <p:sp>
        <p:nvSpPr>
          <p:cNvPr id="148" name="TextBox 147"/>
          <p:cNvSpPr txBox="1"/>
          <p:nvPr/>
        </p:nvSpPr>
        <p:spPr>
          <a:xfrm>
            <a:off x="685800" y="2679192"/>
            <a:ext cx="5212080" cy="8229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File Kế toán (finance_revenue.xlsx)</a:t>
            </a:r>
          </a:p>
          <a:p>
            <a:pPr algn="l">
              <a:buNone/>
            </a:pPr>
            <a:r>
              <a:rPr sz="1300" b="0" i="0">
                <a:solidFill>
                  <a:srgbClr val="222222"/>
                </a:solidFill>
                <a:latin typeface="Times New Roman"/>
                <a:ea typeface="Times New Roman"/>
                <a:cs typeface="Times New Roman"/>
              </a:rPr>
              <a:t>Ghi theo ngày ghi sổ: online khi giao xong, hoàn tiền khi Kế toán xử lý; mã cửa hàng riêng</a:t>
            </a:r>
          </a:p>
        </p:txBody>
      </p:sp>
      <p:sp>
        <p:nvSpPr>
          <p:cNvPr id="149" name="Rounded Rectangle 148"/>
          <p:cNvSpPr/>
          <p:nvPr/>
        </p:nvSpPr>
        <p:spPr>
          <a:xfrm>
            <a:off x="365760" y="3749039"/>
            <a:ext cx="5623560" cy="224028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0" name="TextBox 149"/>
          <p:cNvSpPr txBox="1"/>
          <p:nvPr/>
        </p:nvSpPr>
        <p:spPr>
          <a:xfrm>
            <a:off x="502920" y="3794760"/>
            <a:ext cx="5394960" cy="365760"/>
          </a:xfrm>
          <a:prstGeom prst="rect">
            <a:avLst/>
          </a:prstGeom>
          <a:noFill/>
        </p:spPr>
        <p:txBody>
          <a:bodyPr wrap="square" lIns="45720" tIns="27432" rIns="45720" bIns="27432" anchor="t"/>
          <a:lstStyle/>
          <a:p>
            <a:pPr algn="l">
              <a:buNone/>
            </a:pPr>
            <a:r>
              <a:rPr sz="1600" b="1" i="0">
                <a:solidFill>
                  <a:srgbClr val="C55A11"/>
                </a:solidFill>
                <a:latin typeface="Times New Roman"/>
                <a:ea typeface="Times New Roman"/>
                <a:cs typeface="Times New Roman"/>
              </a:rPr>
              <a:t>Nếu không đối soát thì sao?</a:t>
            </a:r>
          </a:p>
        </p:txBody>
      </p:sp>
      <p:sp>
        <p:nvSpPr>
          <p:cNvPr id="151" name="TextBox 150"/>
          <p:cNvSpPr txBox="1"/>
          <p:nvPr/>
        </p:nvSpPr>
        <p:spPr>
          <a:xfrm>
            <a:off x="502920" y="4206240"/>
            <a:ext cx="5394960" cy="1737360"/>
          </a:xfrm>
          <a:prstGeom prst="rect">
            <a:avLst/>
          </a:prstGeom>
          <a:noFill/>
        </p:spPr>
        <p:txBody>
          <a:bodyPr wrap="square" lIns="45720" tIns="27432" rIns="45720" bIns="27432" anchor="t"/>
          <a:lstStyle/>
          <a:p>
            <a:pPr algn="l" marL="182880" indent="-182880">
              <a:spcAft>
                <a:spcPts val="400"/>
              </a:spcAft>
              <a:buFont typeface="Arial"/>
              <a:buChar char="•"/>
            </a:pPr>
            <a:r>
              <a:rPr sz="1400" b="0" i="0">
                <a:solidFill>
                  <a:srgbClr val="222222"/>
                </a:solidFill>
                <a:latin typeface="Times New Roman"/>
                <a:ea typeface="Times New Roman"/>
                <a:cs typeface="Times New Roman"/>
              </a:rPr>
              <a:t>Sales báo cáo một số, Kế toán báo cáo số khác → lãnh đạo không biết tin số nào</a:t>
            </a:r>
          </a:p>
          <a:p>
            <a:pPr algn="l" marL="182880" indent="-182880">
              <a:spcAft>
                <a:spcPts val="400"/>
              </a:spcAft>
              <a:buFont typeface="Arial"/>
              <a:buChar char="•"/>
            </a:pPr>
            <a:r>
              <a:rPr sz="1400" b="0" i="0">
                <a:solidFill>
                  <a:srgbClr val="222222"/>
                </a:solidFill>
                <a:latin typeface="Times New Roman"/>
                <a:ea typeface="Times New Roman"/>
                <a:cs typeface="Times New Roman"/>
              </a:rPr>
              <a:t>Thưởng doanh số, chỉ tiêu cửa hàng tính trên số sai</a:t>
            </a:r>
          </a:p>
          <a:p>
            <a:pPr algn="l" marL="182880" indent="-182880">
              <a:spcAft>
                <a:spcPts val="400"/>
              </a:spcAft>
              <a:buFont typeface="Arial"/>
              <a:buChar char="•"/>
            </a:pPr>
            <a:r>
              <a:rPr sz="1400" b="0" i="0">
                <a:solidFill>
                  <a:srgbClr val="222222"/>
                </a:solidFill>
                <a:latin typeface="Times New Roman"/>
                <a:ea typeface="Times New Roman"/>
                <a:cs typeface="Times New Roman"/>
              </a:rPr>
              <a:t>Lỗi thật (ghi trùng, thiếu dữ liệu, sai thuế) bị che lấp trong tổng</a:t>
            </a:r>
          </a:p>
        </p:txBody>
      </p:sp>
      <p:sp>
        <p:nvSpPr>
          <p:cNvPr id="152" name="TextBox 151"/>
          <p:cNvSpPr txBox="1"/>
          <p:nvPr/>
        </p:nvSpPr>
        <p:spPr>
          <a:xfrm>
            <a:off x="6263640" y="1371600"/>
            <a:ext cx="5486400" cy="365760"/>
          </a:xfrm>
          <a:prstGeom prst="rect">
            <a:avLst/>
          </a:prstGeom>
          <a:noFill/>
        </p:spPr>
        <p:txBody>
          <a:bodyPr wrap="square" lIns="45720" tIns="27432" rIns="45720" bIns="27432" anchor="t"/>
          <a:lstStyle/>
          <a:p>
            <a:pPr algn="l">
              <a:buNone/>
            </a:pPr>
            <a:r>
              <a:rPr sz="1600" b="1" i="0">
                <a:solidFill>
                  <a:srgbClr val="2E5B31"/>
                </a:solidFill>
                <a:latin typeface="Times New Roman"/>
                <a:ea typeface="Times New Roman"/>
                <a:cs typeface="Times New Roman"/>
              </a:rPr>
              <a:t>Ba vai trò trong một vòng đối soát</a:t>
            </a:r>
          </a:p>
        </p:txBody>
      </p:sp>
      <p:sp>
        <p:nvSpPr>
          <p:cNvPr id="153" name="Rounded Rectangle 152"/>
          <p:cNvSpPr/>
          <p:nvPr/>
        </p:nvSpPr>
        <p:spPr>
          <a:xfrm>
            <a:off x="6263640" y="1828800"/>
            <a:ext cx="5577840" cy="12344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Oval 153"/>
          <p:cNvSpPr/>
          <p:nvPr/>
        </p:nvSpPr>
        <p:spPr>
          <a:xfrm>
            <a:off x="6400800" y="2103120"/>
            <a:ext cx="685800" cy="685800"/>
          </a:xfrm>
          <a:prstGeom prst="ellipse">
            <a:avLst/>
          </a:prstGeom>
          <a:solidFill>
            <a:srgbClr val="2E5B31"/>
          </a:solidFill>
          <a:ln>
            <a:no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6551676" y="2253996"/>
            <a:ext cx="384048" cy="384048"/>
          </a:xfrm>
          <a:prstGeom prst="rect">
            <a:avLst/>
          </a:prstGeom>
        </p:spPr>
      </p:pic>
      <p:sp>
        <p:nvSpPr>
          <p:cNvPr id="156" name="TextBox 155"/>
          <p:cNvSpPr txBox="1"/>
          <p:nvPr/>
        </p:nvSpPr>
        <p:spPr>
          <a:xfrm>
            <a:off x="7223760" y="1874519"/>
            <a:ext cx="4526280" cy="11430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Data Analyst</a:t>
            </a:r>
          </a:p>
          <a:p>
            <a:pPr algn="l">
              <a:buNone/>
            </a:pPr>
            <a:r>
              <a:rPr sz="1400" b="0" i="0">
                <a:solidFill>
                  <a:srgbClr val="222222"/>
                </a:solidFill>
                <a:latin typeface="Times New Roman"/>
                <a:ea typeface="Times New Roman"/>
                <a:cs typeface="Times New Roman"/>
              </a:rPr>
              <a:t>Tính KPI từ dữ liệu đơn · ghép với Kế toán theo tháng × cửa hàng × kênh · lập bảng giải thích chênh lệch</a:t>
            </a:r>
          </a:p>
        </p:txBody>
      </p:sp>
      <p:sp>
        <p:nvSpPr>
          <p:cNvPr id="157" name="Rounded Rectangle 156"/>
          <p:cNvSpPr/>
          <p:nvPr/>
        </p:nvSpPr>
        <p:spPr>
          <a:xfrm>
            <a:off x="6263640" y="3200400"/>
            <a:ext cx="5577840" cy="12344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8" name="Oval 157"/>
          <p:cNvSpPr/>
          <p:nvPr/>
        </p:nvSpPr>
        <p:spPr>
          <a:xfrm>
            <a:off x="6400800" y="3474720"/>
            <a:ext cx="685800" cy="685800"/>
          </a:xfrm>
          <a:prstGeom prst="ellipse">
            <a:avLst/>
          </a:prstGeom>
          <a:solidFill>
            <a:srgbClr val="123A7A"/>
          </a:solidFill>
          <a:ln>
            <a:noFill/>
          </a:ln>
          <a:effectLst/>
        </p:spPr>
        <p:txBody>
          <a:bodyPr rtlCol="0" anchor="ctr" wrap="square" lIns="73152" tIns="36576" rIns="73152" bIns="36576"/>
          <a:lstStyle/>
          <a:p>
            <a:pPr algn="ctr"/>
          </a:p>
        </p:txBody>
      </p:sp>
      <p:pic>
        <p:nvPicPr>
          <p:cNvPr id="159" name="Picture 158" descr="image.png"/>
          <p:cNvPicPr>
            <a:picLocks noChangeAspect="1"/>
          </p:cNvPicPr>
          <p:nvPr/>
        </p:nvPicPr>
        <p:blipFill>
          <a:blip r:embed="rId4"/>
          <a:stretch>
            <a:fillRect/>
          </a:stretch>
        </p:blipFill>
        <p:spPr>
          <a:xfrm>
            <a:off x="6551676" y="3625596"/>
            <a:ext cx="384048" cy="384048"/>
          </a:xfrm>
          <a:prstGeom prst="rect">
            <a:avLst/>
          </a:prstGeom>
        </p:spPr>
      </p:pic>
      <p:sp>
        <p:nvSpPr>
          <p:cNvPr id="160" name="TextBox 159"/>
          <p:cNvSpPr txBox="1"/>
          <p:nvPr/>
        </p:nvSpPr>
        <p:spPr>
          <a:xfrm>
            <a:off x="7223760" y="3246120"/>
            <a:ext cx="4526280" cy="1143000"/>
          </a:xfrm>
          <a:prstGeom prst="rect">
            <a:avLst/>
          </a:prstGeom>
          <a:noFill/>
        </p:spPr>
        <p:txBody>
          <a:bodyPr wrap="square" lIns="45720" tIns="27432" rIns="45720" bIns="27432" anchor="ctr"/>
          <a:lstStyle/>
          <a:p>
            <a:pPr algn="l">
              <a:buNone/>
            </a:pPr>
            <a:r>
              <a:rPr sz="1400" b="1" i="0">
                <a:solidFill>
                  <a:srgbClr val="123A7A"/>
                </a:solidFill>
                <a:latin typeface="Times New Roman"/>
                <a:ea typeface="Times New Roman"/>
                <a:cs typeface="Times New Roman"/>
              </a:rPr>
              <a:t>Kế toán</a:t>
            </a:r>
          </a:p>
          <a:p>
            <a:pPr algn="l">
              <a:buNone/>
            </a:pPr>
            <a:r>
              <a:rPr sz="1400" b="0" i="0">
                <a:solidFill>
                  <a:srgbClr val="222222"/>
                </a:solidFill>
                <a:latin typeface="Times New Roman"/>
                <a:ea typeface="Times New Roman"/>
                <a:cs typeface="Times New Roman"/>
              </a:rPr>
              <a:t>Cung cấp số đã xác nhận · xác nhận nguyên nhân phía sổ sách (bút toán trùng, thiếu dữ liệu, VAT)</a:t>
            </a:r>
          </a:p>
        </p:txBody>
      </p:sp>
      <p:sp>
        <p:nvSpPr>
          <p:cNvPr id="161" name="Rounded Rectangle 160"/>
          <p:cNvSpPr/>
          <p:nvPr/>
        </p:nvSpPr>
        <p:spPr>
          <a:xfrm>
            <a:off x="6263640" y="4572000"/>
            <a:ext cx="5577840" cy="12344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2" name="Picture 161" descr="image.png"/>
          <p:cNvPicPr>
            <a:picLocks noChangeAspect="1"/>
          </p:cNvPicPr>
          <p:nvPr/>
        </p:nvPicPr>
        <p:blipFill>
          <a:blip r:embed="rId5"/>
          <a:stretch>
            <a:fillRect/>
          </a:stretch>
        </p:blipFill>
        <p:spPr>
          <a:xfrm>
            <a:off x="6446520" y="4864608"/>
            <a:ext cx="640080" cy="640080"/>
          </a:xfrm>
          <a:prstGeom prst="rect">
            <a:avLst/>
          </a:prstGeom>
        </p:spPr>
      </p:pic>
      <p:sp>
        <p:nvSpPr>
          <p:cNvPr id="163" name="TextBox 162"/>
          <p:cNvSpPr txBox="1"/>
          <p:nvPr/>
        </p:nvSpPr>
        <p:spPr>
          <a:xfrm>
            <a:off x="7223760" y="4617720"/>
            <a:ext cx="4526280" cy="11430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Cửa hàng / E-commerce</a:t>
            </a:r>
          </a:p>
          <a:p>
            <a:pPr algn="l">
              <a:buNone/>
            </a:pPr>
            <a:r>
              <a:rPr sz="1400" b="0" i="0">
                <a:solidFill>
                  <a:srgbClr val="222222"/>
                </a:solidFill>
                <a:latin typeface="Times New Roman"/>
                <a:ea typeface="Times New Roman"/>
                <a:cs typeface="Times New Roman"/>
              </a:rPr>
              <a:t>Xác nhận trạng thái đơn, ngày giao, hoàn trả khi DA hỏi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slicer dùng chung và 4 sheet dashboard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trang có </a:t>
            </a:r>
            <a:r>
              <a:rPr sz="1700" b="1" i="0">
                <a:solidFill>
                  <a:srgbClr val="C00000"/>
                </a:solidFill>
                <a:latin typeface="Times New Roman"/>
                <a:ea typeface="Times New Roman"/>
                <a:cs typeface="Times New Roman"/>
              </a:rPr>
              <a:t>yêu cầu tối thiểu</a:t>
            </a:r>
            <a:r>
              <a:rPr sz="1700" b="0" i="0">
                <a:solidFill>
                  <a:srgbClr val="222222"/>
                </a:solidFill>
                <a:latin typeface="Times New Roman"/>
                <a:ea typeface="Times New Roman"/>
                <a:cs typeface="Times New Roman"/>
              </a:rPr>
              <a:t> và </a:t>
            </a:r>
            <a:r>
              <a:rPr sz="1700" b="1" i="0">
                <a:solidFill>
                  <a:srgbClr val="C55A11"/>
                </a:solidFill>
                <a:latin typeface="Times New Roman"/>
                <a:ea typeface="Times New Roman"/>
                <a:cs typeface="Times New Roman"/>
              </a:rPr>
              <a:t>gợi ý mở rộng</a:t>
            </a:r>
            <a:r>
              <a:rPr sz="1700" b="0" i="0">
                <a:solidFill>
                  <a:srgbClr val="222222"/>
                </a:solidFill>
                <a:latin typeface="Times New Roman"/>
                <a:ea typeface="Times New Roman"/>
                <a:cs typeface="Times New Roman"/>
              </a:rPr>
              <a:t> ở các slide sau</a:t>
            </a:r>
          </a:p>
        </p:txBody>
      </p:sp>
      <p:sp>
        <p:nvSpPr>
          <p:cNvPr id="143" name="Rounded Rectangle 142"/>
          <p:cNvSpPr/>
          <p:nvPr/>
        </p:nvSpPr>
        <p:spPr>
          <a:xfrm>
            <a:off x="365760" y="1371600"/>
            <a:ext cx="5577840" cy="594360"/>
          </a:xfrm>
          <a:prstGeom prst="roundRect">
            <a:avLst>
              <a:gd name="adj" fmla="val 6000"/>
            </a:avLst>
          </a:prstGeom>
          <a:solidFill>
            <a:srgbClr val="E2F0D9"/>
          </a:solidFill>
          <a:ln w="19050">
            <a:solidFill>
              <a:srgbClr val="2E5B31"/>
            </a:solidFill>
          </a:ln>
          <a:effectLst/>
        </p:spPr>
        <p:txBody>
          <a:bodyPr rtlCol="0" anchor="ctr" wrap="square" lIns="640080" tIns="18288" bIns="18288"/>
          <a:lstStyle/>
          <a:p>
            <a:pPr algn="l">
              <a:buNone/>
            </a:pPr>
            <a:r>
              <a:rPr sz="1500" b="1" i="0">
                <a:solidFill>
                  <a:srgbClr val="222222"/>
                </a:solidFill>
                <a:latin typeface="Times New Roman"/>
                <a:ea typeface="Times New Roman"/>
                <a:cs typeface="Times New Roman"/>
              </a:rPr>
              <a:t>1  File Excel (.xlsx)</a:t>
            </a:r>
            <a:r>
              <a:rPr sz="1500" b="0" i="0">
                <a:solidFill>
                  <a:srgbClr val="222222"/>
                </a:solidFill>
                <a:latin typeface="Times New Roman"/>
                <a:ea typeface="Times New Roman"/>
                <a:cs typeface="Times New Roman"/>
              </a:rPr>
              <a:t> – Power Query · DAX · 4 sheet</a:t>
            </a:r>
          </a:p>
        </p:txBody>
      </p:sp>
      <p:pic>
        <p:nvPicPr>
          <p:cNvPr id="144" name="Picture 143" descr="image.png"/>
          <p:cNvPicPr>
            <a:picLocks noChangeAspect="1"/>
          </p:cNvPicPr>
          <p:nvPr/>
        </p:nvPicPr>
        <p:blipFill>
          <a:blip r:embed="rId3"/>
          <a:stretch>
            <a:fillRect/>
          </a:stretch>
        </p:blipFill>
        <p:spPr>
          <a:xfrm>
            <a:off x="457200" y="1444752"/>
            <a:ext cx="457200" cy="457200"/>
          </a:xfrm>
          <a:prstGeom prst="rect">
            <a:avLst/>
          </a:prstGeom>
        </p:spPr>
      </p:pic>
      <p:sp>
        <p:nvSpPr>
          <p:cNvPr id="145" name="Rounded Rectangle 144"/>
          <p:cNvSpPr/>
          <p:nvPr/>
        </p:nvSpPr>
        <p:spPr>
          <a:xfrm>
            <a:off x="6263640" y="1371600"/>
            <a:ext cx="5577840" cy="594360"/>
          </a:xfrm>
          <a:prstGeom prst="roundRect">
            <a:avLst>
              <a:gd name="adj" fmla="val 6000"/>
            </a:avLst>
          </a:prstGeom>
          <a:solidFill>
            <a:srgbClr val="FBE5D6"/>
          </a:solidFill>
          <a:ln w="19050">
            <a:solidFill>
              <a:srgbClr val="C55A1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2  Báo cáo phân tích</a:t>
            </a:r>
            <a:r>
              <a:rPr sz="1600" b="0" i="0">
                <a:solidFill>
                  <a:srgbClr val="222222"/>
                </a:solidFill>
                <a:latin typeface="Times New Roman"/>
                <a:ea typeface="Times New Roman"/>
                <a:cs typeface="Times New Roman"/>
              </a:rPr>
              <a:t> – 8 phần theo guild_report_template</a:t>
            </a:r>
          </a:p>
        </p:txBody>
      </p:sp>
      <p:pic>
        <p:nvPicPr>
          <p:cNvPr id="146" name="Picture 145" descr="image.png"/>
          <p:cNvPicPr>
            <a:picLocks noChangeAspect="1"/>
          </p:cNvPicPr>
          <p:nvPr/>
        </p:nvPicPr>
        <p:blipFill>
          <a:blip r:embed="rId4"/>
          <a:stretch>
            <a:fillRect/>
          </a:stretch>
        </p:blipFill>
        <p:spPr>
          <a:xfrm>
            <a:off x="6355080" y="1444752"/>
            <a:ext cx="457200" cy="457200"/>
          </a:xfrm>
          <a:prstGeom prst="rect">
            <a:avLst/>
          </a:prstGeom>
        </p:spPr>
      </p:pic>
      <p:sp>
        <p:nvSpPr>
          <p:cNvPr id="147" name="TextBox 146"/>
          <p:cNvSpPr txBox="1"/>
          <p:nvPr/>
        </p:nvSpPr>
        <p:spPr>
          <a:xfrm>
            <a:off x="365760" y="210312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Slicer dùng chung cho cả 4 sheet (CUBEVALUE đọc theo slicer)</a:t>
            </a:r>
          </a:p>
        </p:txBody>
      </p:sp>
      <p:sp>
        <p:nvSpPr>
          <p:cNvPr id="148" name="Rounded Rectangle 147"/>
          <p:cNvSpPr/>
          <p:nvPr/>
        </p:nvSpPr>
        <p:spPr>
          <a:xfrm>
            <a:off x="365760" y="2468880"/>
            <a:ext cx="3657600" cy="7772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pic>
        <p:nvPicPr>
          <p:cNvPr id="149" name="Picture 148" descr="image.png"/>
          <p:cNvPicPr>
            <a:picLocks noChangeAspect="1"/>
          </p:cNvPicPr>
          <p:nvPr/>
        </p:nvPicPr>
        <p:blipFill>
          <a:blip r:embed="rId5"/>
          <a:stretch>
            <a:fillRect/>
          </a:stretch>
        </p:blipFill>
        <p:spPr>
          <a:xfrm>
            <a:off x="475488" y="2615184"/>
            <a:ext cx="475488" cy="475488"/>
          </a:xfrm>
          <a:prstGeom prst="rect">
            <a:avLst/>
          </a:prstGeom>
        </p:spPr>
      </p:pic>
      <p:sp>
        <p:nvSpPr>
          <p:cNvPr id="150" name="TextBox 149"/>
          <p:cNvSpPr txBox="1"/>
          <p:nvPr/>
        </p:nvSpPr>
        <p:spPr>
          <a:xfrm>
            <a:off x="1051560" y="2487168"/>
            <a:ext cx="2926080" cy="7315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Năm + Tháng báo cáo</a:t>
            </a:r>
          </a:p>
          <a:p>
            <a:pPr algn="l">
              <a:buNone/>
            </a:pPr>
            <a:r>
              <a:rPr sz="1300" b="0" i="0">
                <a:solidFill>
                  <a:srgbClr val="222222"/>
                </a:solidFill>
                <a:latin typeface="Times New Roman"/>
                <a:ea typeface="Times New Roman"/>
                <a:cs typeface="Times New Roman"/>
              </a:rPr>
              <a:t>2 slicer, chọn một · mặc định 12/2020</a:t>
            </a:r>
          </a:p>
        </p:txBody>
      </p:sp>
      <p:sp>
        <p:nvSpPr>
          <p:cNvPr id="151" name="Rounded Rectangle 150"/>
          <p:cNvSpPr/>
          <p:nvPr/>
        </p:nvSpPr>
        <p:spPr>
          <a:xfrm>
            <a:off x="4206240" y="2468880"/>
            <a:ext cx="3657600" cy="7772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6"/>
          <a:stretch>
            <a:fillRect/>
          </a:stretch>
        </p:blipFill>
        <p:spPr>
          <a:xfrm>
            <a:off x="4315968" y="2615184"/>
            <a:ext cx="475488" cy="475488"/>
          </a:xfrm>
          <a:prstGeom prst="rect">
            <a:avLst/>
          </a:prstGeom>
        </p:spPr>
      </p:pic>
      <p:sp>
        <p:nvSpPr>
          <p:cNvPr id="153" name="TextBox 152"/>
          <p:cNvSpPr txBox="1"/>
          <p:nvPr/>
        </p:nvSpPr>
        <p:spPr>
          <a:xfrm>
            <a:off x="4892040" y="2487168"/>
            <a:ext cx="2926080" cy="7315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Kênh bán</a:t>
            </a:r>
          </a:p>
          <a:p>
            <a:pPr algn="l">
              <a:buNone/>
            </a:pPr>
            <a:r>
              <a:rPr sz="1300" b="0" i="0">
                <a:solidFill>
                  <a:srgbClr val="222222"/>
                </a:solidFill>
                <a:latin typeface="Times New Roman"/>
                <a:ea typeface="Times New Roman"/>
                <a:cs typeface="Times New Roman"/>
              </a:rPr>
              <a:t>Tất cả · Cửa hàng (POS) · Website/app</a:t>
            </a:r>
          </a:p>
        </p:txBody>
      </p:sp>
      <p:sp>
        <p:nvSpPr>
          <p:cNvPr id="154" name="Rounded Rectangle 153"/>
          <p:cNvSpPr/>
          <p:nvPr/>
        </p:nvSpPr>
        <p:spPr>
          <a:xfrm>
            <a:off x="8046720" y="2468880"/>
            <a:ext cx="3657600" cy="7772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7"/>
          <a:stretch>
            <a:fillRect/>
          </a:stretch>
        </p:blipFill>
        <p:spPr>
          <a:xfrm>
            <a:off x="8156448" y="2615184"/>
            <a:ext cx="475488" cy="475488"/>
          </a:xfrm>
          <a:prstGeom prst="rect">
            <a:avLst/>
          </a:prstGeom>
        </p:spPr>
      </p:pic>
      <p:sp>
        <p:nvSpPr>
          <p:cNvPr id="156" name="TextBox 155"/>
          <p:cNvSpPr txBox="1"/>
          <p:nvPr/>
        </p:nvSpPr>
        <p:spPr>
          <a:xfrm>
            <a:off x="8732520" y="2487168"/>
            <a:ext cx="2926080" cy="7315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Quốc gia</a:t>
            </a:r>
          </a:p>
          <a:p>
            <a:pPr algn="l">
              <a:buNone/>
            </a:pPr>
            <a:r>
              <a:rPr sz="1300" b="0" i="0">
                <a:solidFill>
                  <a:srgbClr val="222222"/>
                </a:solidFill>
                <a:latin typeface="Times New Roman"/>
                <a:ea typeface="Times New Roman"/>
                <a:cs typeface="Times New Roman"/>
              </a:rPr>
              <a:t>Tất cả hoặc 1 trong 8 quốc gia + Online</a:t>
            </a:r>
          </a:p>
        </p:txBody>
      </p:sp>
      <p:sp>
        <p:nvSpPr>
          <p:cNvPr id="157" name="TextBox 156"/>
          <p:cNvSpPr txBox="1"/>
          <p:nvPr/>
        </p:nvSpPr>
        <p:spPr>
          <a:xfrm>
            <a:off x="365760" y="33832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Bốn sheet dashboard (mỗi sheet là một trang)</a:t>
            </a:r>
          </a:p>
        </p:txBody>
      </p:sp>
      <p:sp>
        <p:nvSpPr>
          <p:cNvPr id="158" name="Rounded Rectangle 157"/>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9" name="Oval 158"/>
          <p:cNvSpPr/>
          <p:nvPr/>
        </p:nvSpPr>
        <p:spPr>
          <a:xfrm>
            <a:off x="1344168" y="38404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8"/>
          <a:stretch>
            <a:fillRect/>
          </a:stretch>
        </p:blipFill>
        <p:spPr>
          <a:xfrm>
            <a:off x="1505102" y="4001414"/>
            <a:ext cx="409651" cy="409651"/>
          </a:xfrm>
          <a:prstGeom prst="rect">
            <a:avLst/>
          </a:prstGeom>
        </p:spPr>
      </p:pic>
      <p:sp>
        <p:nvSpPr>
          <p:cNvPr id="161" name="TextBox 160"/>
          <p:cNvSpPr txBox="1"/>
          <p:nvPr/>
        </p:nvSpPr>
        <p:spPr>
          <a:xfrm>
            <a:off x="457200" y="4617720"/>
            <a:ext cx="2514600" cy="365760"/>
          </a:xfrm>
          <a:prstGeom prst="rect">
            <a:avLst/>
          </a:prstGeom>
          <a:noFill/>
        </p:spPr>
        <p:txBody>
          <a:bodyPr wrap="square" lIns="45720" tIns="27432" rIns="45720" bIns="27432" anchor="t"/>
          <a:lstStyle/>
          <a:p>
            <a:pPr algn="ctr">
              <a:buNone/>
            </a:pPr>
            <a:r>
              <a:rPr sz="1600" b="1" i="0">
                <a:solidFill>
                  <a:srgbClr val="2E5B31"/>
                </a:solidFill>
                <a:latin typeface="Times New Roman"/>
                <a:ea typeface="Times New Roman"/>
                <a:cs typeface="Times New Roman"/>
              </a:rPr>
              <a:t>Tổng quan</a:t>
            </a:r>
          </a:p>
        </p:txBody>
      </p:sp>
      <p:sp>
        <p:nvSpPr>
          <p:cNvPr id="162" name="TextBox 161"/>
          <p:cNvSpPr txBox="1"/>
          <p:nvPr/>
        </p:nvSpPr>
        <p:spPr>
          <a:xfrm>
            <a:off x="47548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Điểm chính · 5 thẻ · Net Revenue 24 tháng · số đơn vs AOV · Gross → Net</a:t>
            </a:r>
          </a:p>
        </p:txBody>
      </p:sp>
      <p:sp>
        <p:nvSpPr>
          <p:cNvPr id="163" name="Rounded Rectangle 162"/>
          <p:cNvSpPr/>
          <p:nvPr/>
        </p:nvSpPr>
        <p:spPr>
          <a:xfrm>
            <a:off x="3246120" y="3749039"/>
            <a:ext cx="2697480" cy="22402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4" name="Oval 163"/>
          <p:cNvSpPr/>
          <p:nvPr/>
        </p:nvSpPr>
        <p:spPr>
          <a:xfrm>
            <a:off x="4224528" y="3840480"/>
            <a:ext cx="731520" cy="731520"/>
          </a:xfrm>
          <a:prstGeom prst="ellipse">
            <a:avLst/>
          </a:prstGeom>
          <a:solidFill>
            <a:srgbClr val="C55A11"/>
          </a:solidFill>
          <a:ln>
            <a:noFill/>
          </a:ln>
          <a:effectLst/>
        </p:spPr>
        <p:txBody>
          <a:bodyPr rtlCol="0" anchor="ctr" wrap="square" lIns="73152" tIns="36576" rIns="73152" bIns="36576"/>
          <a:lstStyle/>
          <a:p>
            <a:pPr algn="ctr"/>
          </a:p>
        </p:txBody>
      </p:sp>
      <p:pic>
        <p:nvPicPr>
          <p:cNvPr id="165" name="Picture 164" descr="image.png"/>
          <p:cNvPicPr>
            <a:picLocks noChangeAspect="1"/>
          </p:cNvPicPr>
          <p:nvPr/>
        </p:nvPicPr>
        <p:blipFill>
          <a:blip r:embed="rId9"/>
          <a:stretch>
            <a:fillRect/>
          </a:stretch>
        </p:blipFill>
        <p:spPr>
          <a:xfrm>
            <a:off x="4385462" y="4001414"/>
            <a:ext cx="409651" cy="409651"/>
          </a:xfrm>
          <a:prstGeom prst="rect">
            <a:avLst/>
          </a:prstGeom>
        </p:spPr>
      </p:pic>
      <p:sp>
        <p:nvSpPr>
          <p:cNvPr id="166" name="TextBox 165"/>
          <p:cNvSpPr txBox="1"/>
          <p:nvPr/>
        </p:nvSpPr>
        <p:spPr>
          <a:xfrm>
            <a:off x="3337560" y="4617720"/>
            <a:ext cx="2514600" cy="365760"/>
          </a:xfrm>
          <a:prstGeom prst="rect">
            <a:avLst/>
          </a:prstGeom>
          <a:noFill/>
        </p:spPr>
        <p:txBody>
          <a:bodyPr wrap="square" lIns="45720" tIns="27432" rIns="45720" bIns="27432" anchor="t"/>
          <a:lstStyle/>
          <a:p>
            <a:pPr algn="ctr">
              <a:buNone/>
            </a:pPr>
            <a:r>
              <a:rPr sz="1600" b="1" i="0">
                <a:solidFill>
                  <a:srgbClr val="C55A11"/>
                </a:solidFill>
                <a:latin typeface="Times New Roman"/>
                <a:ea typeface="Times New Roman"/>
                <a:cs typeface="Times New Roman"/>
              </a:rPr>
              <a:t>Doanh thu đến từ đâu</a:t>
            </a:r>
          </a:p>
        </p:txBody>
      </p:sp>
      <p:sp>
        <p:nvSpPr>
          <p:cNvPr id="167" name="TextBox 166"/>
          <p:cNvSpPr txBox="1"/>
          <p:nvPr/>
        </p:nvSpPr>
        <p:spPr>
          <a:xfrm>
            <a:off x="335584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Danh mục, quốc gia xếp hạng · bảng kênh · Top 10 cửa hàng</a:t>
            </a:r>
          </a:p>
        </p:txBody>
      </p:sp>
      <p:sp>
        <p:nvSpPr>
          <p:cNvPr id="168" name="Rounded Rectangle 167"/>
          <p:cNvSpPr/>
          <p:nvPr/>
        </p:nvSpPr>
        <p:spPr>
          <a:xfrm>
            <a:off x="6126480" y="3749039"/>
            <a:ext cx="2697480" cy="22402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9" name="Oval 168"/>
          <p:cNvSpPr/>
          <p:nvPr/>
        </p:nvSpPr>
        <p:spPr>
          <a:xfrm>
            <a:off x="7104888" y="38404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70" name="Picture 169" descr="image.png"/>
          <p:cNvPicPr>
            <a:picLocks noChangeAspect="1"/>
          </p:cNvPicPr>
          <p:nvPr/>
        </p:nvPicPr>
        <p:blipFill>
          <a:blip r:embed="rId10"/>
          <a:stretch>
            <a:fillRect/>
          </a:stretch>
        </p:blipFill>
        <p:spPr>
          <a:xfrm>
            <a:off x="7265822" y="4001414"/>
            <a:ext cx="409651" cy="409651"/>
          </a:xfrm>
          <a:prstGeom prst="rect">
            <a:avLst/>
          </a:prstGeom>
        </p:spPr>
      </p:pic>
      <p:sp>
        <p:nvSpPr>
          <p:cNvPr id="171" name="TextBox 170"/>
          <p:cNvSpPr txBox="1"/>
          <p:nvPr/>
        </p:nvSpPr>
        <p:spPr>
          <a:xfrm>
            <a:off x="6217920" y="4617720"/>
            <a:ext cx="2514600" cy="365760"/>
          </a:xfrm>
          <a:prstGeom prst="rect">
            <a:avLst/>
          </a:prstGeom>
          <a:noFill/>
        </p:spPr>
        <p:txBody>
          <a:bodyPr wrap="square" lIns="45720" tIns="27432" rIns="45720" bIns="27432" anchor="t"/>
          <a:lstStyle/>
          <a:p>
            <a:pPr algn="ctr">
              <a:buNone/>
            </a:pPr>
            <a:r>
              <a:rPr sz="1600" b="1" i="0">
                <a:solidFill>
                  <a:srgbClr val="123A7A"/>
                </a:solidFill>
                <a:latin typeface="Times New Roman"/>
                <a:ea typeface="Times New Roman"/>
                <a:cs typeface="Times New Roman"/>
              </a:rPr>
              <a:t>Đối soát với Kế toán</a:t>
            </a:r>
          </a:p>
        </p:txBody>
      </p:sp>
      <p:sp>
        <p:nvSpPr>
          <p:cNvPr id="172" name="TextBox 171"/>
          <p:cNvSpPr txBox="1"/>
          <p:nvPr/>
        </p:nvSpPr>
        <p:spPr>
          <a:xfrm>
            <a:off x="623620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Phân rã Δ · Δ theo tháng · bảng cửa hàng có ⚠ · Δ online</a:t>
            </a:r>
          </a:p>
        </p:txBody>
      </p:sp>
      <p:sp>
        <p:nvSpPr>
          <p:cNvPr id="173" name="Rounded Rectangle 172"/>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4" name="Oval 173"/>
          <p:cNvSpPr/>
          <p:nvPr/>
        </p:nvSpPr>
        <p:spPr>
          <a:xfrm>
            <a:off x="9985248" y="38404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5" name="Picture 174" descr="image.png"/>
          <p:cNvPicPr>
            <a:picLocks noChangeAspect="1"/>
          </p:cNvPicPr>
          <p:nvPr/>
        </p:nvPicPr>
        <p:blipFill>
          <a:blip r:embed="rId11"/>
          <a:stretch>
            <a:fillRect/>
          </a:stretch>
        </p:blipFill>
        <p:spPr>
          <a:xfrm>
            <a:off x="10146182" y="4001414"/>
            <a:ext cx="409651" cy="409651"/>
          </a:xfrm>
          <a:prstGeom prst="rect">
            <a:avLst/>
          </a:prstGeom>
        </p:spPr>
      </p:pic>
      <p:sp>
        <p:nvSpPr>
          <p:cNvPr id="176" name="TextBox 175"/>
          <p:cNvSpPr txBox="1"/>
          <p:nvPr/>
        </p:nvSpPr>
        <p:spPr>
          <a:xfrm>
            <a:off x="9098280" y="4617720"/>
            <a:ext cx="2514600" cy="365760"/>
          </a:xfrm>
          <a:prstGeom prst="rect">
            <a:avLst/>
          </a:prstGeom>
          <a:noFill/>
        </p:spPr>
        <p:txBody>
          <a:bodyPr wrap="square" lIns="45720" tIns="27432" rIns="45720" bIns="27432" anchor="t"/>
          <a:lstStyle/>
          <a:p>
            <a:pPr algn="ctr">
              <a:buNone/>
            </a:pPr>
            <a:r>
              <a:rPr sz="1600" b="1" i="0">
                <a:solidFill>
                  <a:srgbClr val="C00000"/>
                </a:solidFill>
                <a:latin typeface="Times New Roman"/>
                <a:ea typeface="Times New Roman"/>
                <a:cs typeface="Times New Roman"/>
              </a:rPr>
              <a:t>Hoàn trả &amp; chất lượng</a:t>
            </a:r>
          </a:p>
        </p:txBody>
      </p:sp>
      <p:sp>
        <p:nvSpPr>
          <p:cNvPr id="177" name="TextBox 176"/>
          <p:cNvSpPr txBox="1"/>
          <p:nvPr/>
        </p:nvSpPr>
        <p:spPr>
          <a:xfrm>
            <a:off x="9116567"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Tỷ lệ hoàn trả · lý do · danh mục · huỷ/đang giao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Mở trang bằng </a:t>
            </a:r>
            <a:r>
              <a:rPr sz="1700" b="1" i="0">
                <a:solidFill>
                  <a:srgbClr val="C55A1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rồi mới đến thẻ và </a:t>
            </a:r>
            <a:r>
              <a:rPr sz="1700" b="1" i="0">
                <a:solidFill>
                  <a:srgbClr val="C55A11"/>
                </a:solidFill>
                <a:latin typeface="Times New Roman"/>
                <a:ea typeface="Times New Roman"/>
                <a:cs typeface="Times New Roman"/>
              </a:rPr>
              <a:t>biểu đồ có tiêu đề nêu kết luận</a:t>
            </a:r>
          </a:p>
        </p:txBody>
      </p:sp>
      <p:sp>
        <p:nvSpPr>
          <p:cNvPr id="143" name="Rectangle 142"/>
          <p:cNvSpPr/>
          <p:nvPr/>
        </p:nvSpPr>
        <p:spPr>
          <a:xfrm>
            <a:off x="365760" y="1371600"/>
            <a:ext cx="11475720" cy="502920"/>
          </a:xfrm>
          <a:prstGeom prst="rect">
            <a:avLst/>
          </a:prstGeom>
          <a:solidFill>
            <a:srgbClr val="2E5B3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1 · Tổng quan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Tháng này bán được bao nhiêu, vì sao tăng/giảm, có khớp Kế toán không?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đơn hoàn tất</a:t>
            </a:r>
          </a:p>
          <a:p>
            <a:pPr algn="l">
              <a:buNone/>
            </a:pPr>
            <a:r>
              <a:rPr sz="1200" b="0" i="0">
                <a:solidFill>
                  <a:srgbClr val="595959"/>
                </a:solidFill>
                <a:latin typeface="Times New Roman"/>
                <a:ea typeface="Times New Roman"/>
                <a:cs typeface="Times New Roman"/>
              </a:rPr>
              <a:t>đơn</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AOV</a:t>
            </a:r>
          </a:p>
          <a:p>
            <a:pPr algn="l">
              <a:buNone/>
            </a:pPr>
            <a:r>
              <a:rPr sz="1200" b="0" i="0">
                <a:solidFill>
                  <a:srgbClr val="595959"/>
                </a:solidFill>
                <a:latin typeface="Times New Roman"/>
                <a:ea typeface="Times New Roman"/>
                <a:cs typeface="Times New Roman"/>
              </a:rPr>
              <a:t>USD/đơn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điểm %</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Chênh lệch Kế toán</a:t>
            </a:r>
          </a:p>
          <a:p>
            <a:pPr algn="l">
              <a:buNone/>
            </a:pPr>
            <a:r>
              <a:rPr sz="1200" b="0" i="0">
                <a:solidFill>
                  <a:srgbClr val="595959"/>
                </a:solidFill>
                <a:latin typeface="Times New Roman"/>
                <a:ea typeface="Times New Roman"/>
                <a:cs typeface="Times New Roman"/>
              </a:rPr>
              <a:t>USD · % · số cửa hàng vượt</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Đường Net Revenue 24 tháng</a:t>
            </a:r>
          </a:p>
          <a:p>
            <a:pPr algn="l">
              <a:buNone/>
            </a:pPr>
            <a:r>
              <a:rPr sz="1300" b="0" i="0">
                <a:solidFill>
                  <a:srgbClr val="222222"/>
                </a:solidFill>
                <a:latin typeface="Times New Roman"/>
                <a:ea typeface="Times New Roman"/>
                <a:cs typeface="Times New Roman"/>
              </a:rPr>
              <a:t>Xám; tháng chọn tô xanh, ghi chú điểm cùng kỳ</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Waterfall Gross → Net Revenue</a:t>
            </a:r>
          </a:p>
          <a:p>
            <a:pPr algn="l">
              <a:buNone/>
            </a:pPr>
            <a:r>
              <a:rPr sz="1300" b="0" i="0">
                <a:solidFill>
                  <a:srgbClr val="222222"/>
                </a:solidFill>
                <a:latin typeface="Times New Roman"/>
                <a:ea typeface="Times New Roman"/>
                <a:cs typeface="Times New Roman"/>
              </a:rPr>
              <a:t>Gross − Giảm giá − Hoàn trả, tháng chọn</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Số đơn và AOV (2 biểu đồ nhỏ)</a:t>
            </a:r>
          </a:p>
          <a:p>
            <a:pPr algn="l">
              <a:buNone/>
            </a:pPr>
            <a:r>
              <a:rPr sz="1300" b="0" i="0">
                <a:solidFill>
                  <a:srgbClr val="222222"/>
                </a:solidFill>
                <a:latin typeface="Times New Roman"/>
                <a:ea typeface="Times New Roman"/>
                <a:cs typeface="Times New Roman"/>
              </a:rPr>
              <a:t>Tách 2 trục: giảm vì ít đơn hay đơn nhỏ?</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tháng có cửa hàng vượt ngưỡng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doanh thu đến từ kênh, danh mục, quốc gia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dùng pie/treemap: </a:t>
            </a:r>
            <a:r>
              <a:rPr sz="1700" b="1" i="0">
                <a:solidFill>
                  <a:srgbClr val="C55A11"/>
                </a:solidFill>
                <a:latin typeface="Times New Roman"/>
                <a:ea typeface="Times New Roman"/>
                <a:cs typeface="Times New Roman"/>
              </a:rPr>
              <a:t>cột ngang xếp hạng</a:t>
            </a:r>
            <a:r>
              <a:rPr sz="1700" b="0" i="0">
                <a:solidFill>
                  <a:srgbClr val="222222"/>
                </a:solidFill>
                <a:latin typeface="Times New Roman"/>
                <a:ea typeface="Times New Roman"/>
                <a:cs typeface="Times New Roman"/>
              </a:rPr>
              <a:t> so sánh độ dài nhanh và chính xác hơn</a:t>
            </a:r>
          </a:p>
        </p:txBody>
      </p:sp>
      <p:sp>
        <p:nvSpPr>
          <p:cNvPr id="143" name="Rectangle 142"/>
          <p:cNvSpPr/>
          <p:nvPr/>
        </p:nvSpPr>
        <p:spPr>
          <a:xfrm>
            <a:off x="365760" y="1371600"/>
            <a:ext cx="11475720" cy="502920"/>
          </a:xfrm>
          <a:prstGeom prst="rect">
            <a:avLst/>
          </a:prstGeom>
          <a:solidFill>
            <a:srgbClr val="C55A1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2 · Doanh thu đến từ đâu</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tập trung ở đâu, kênh nào tăng?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Sales</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Units</a:t>
            </a:r>
          </a:p>
          <a:p>
            <a:pPr algn="l">
              <a:buNone/>
            </a:pPr>
            <a:r>
              <a:rPr sz="1200" b="0" i="0">
                <a:solidFill>
                  <a:srgbClr val="595959"/>
                </a:solidFill>
                <a:latin typeface="Times New Roman"/>
                <a:ea typeface="Times New Roman"/>
                <a:cs typeface="Times New Roman"/>
              </a:rPr>
              <a:t>sản phẩm</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trọng online</a:t>
            </a:r>
          </a:p>
          <a:p>
            <a:pPr algn="l">
              <a:buNone/>
            </a:pPr>
            <a:r>
              <a:rPr sz="1200" b="0" i="0">
                <a:solidFill>
                  <a:srgbClr val="595959"/>
                </a:solidFill>
                <a:latin typeface="Times New Roman"/>
                <a:ea typeface="Times New Roman"/>
                <a:cs typeface="Times New Roman"/>
              </a:rPr>
              <a:t>% Net Sales</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Giảm giá / Gross</a:t>
            </a:r>
          </a:p>
          <a:p>
            <a:pPr algn="l">
              <a:buNone/>
            </a:pPr>
            <a:r>
              <a:rPr sz="1200" b="0" i="0">
                <a:solidFill>
                  <a:srgbClr val="595959"/>
                </a:solidFill>
                <a:latin typeface="Times New Roman"/>
                <a:ea typeface="Times New Roman"/>
                <a:cs typeface="Times New Roman"/>
              </a:rPr>
              <a:t>% · điểm %</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danh mục, xếp hạng</a:t>
            </a:r>
          </a:p>
          <a:p>
            <a:pPr algn="l">
              <a:buNone/>
            </a:pPr>
            <a:r>
              <a:rPr sz="1300" b="0" i="0">
                <a:solidFill>
                  <a:srgbClr val="222222"/>
                </a:solidFill>
                <a:latin typeface="Times New Roman"/>
                <a:ea typeface="Times New Roman"/>
                <a:cs typeface="Times New Roman"/>
              </a:rPr>
              <a:t>Mục lớn nhất tô xanh, còn lại xám; nhãn giá trị + %</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quốc gia</a:t>
            </a:r>
          </a:p>
          <a:p>
            <a:pPr algn="l">
              <a:buNone/>
            </a:pPr>
            <a:r>
              <a:rPr sz="1300" b="0" i="0">
                <a:solidFill>
                  <a:srgbClr val="222222"/>
                </a:solidFill>
                <a:latin typeface="Times New Roman"/>
                <a:ea typeface="Times New Roman"/>
                <a:cs typeface="Times New Roman"/>
              </a:rPr>
              <a:t>Online là một dòng riêng</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Bảng kênh</a:t>
            </a:r>
          </a:p>
          <a:p>
            <a:pPr algn="l">
              <a:buNone/>
            </a:pPr>
            <a:r>
              <a:rPr sz="1300" b="0" i="0">
                <a:solidFill>
                  <a:srgbClr val="222222"/>
                </a:solidFill>
                <a:latin typeface="Times New Roman"/>
                <a:ea typeface="Times New Roman"/>
                <a:cs typeface="Times New Roman"/>
              </a:rPr>
              <a:t>Net Sales, đơn, AOV, so với tháng trước và cùng kỳ</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Top 10 cửa hàng</a:t>
            </a:r>
          </a:p>
          <a:p>
            <a:pPr algn="l">
              <a:buNone/>
            </a:pPr>
            <a:r>
              <a:rPr sz="1300" b="0" i="0">
                <a:solidFill>
                  <a:srgbClr val="222222"/>
                </a:solidFill>
                <a:latin typeface="Times New Roman"/>
                <a:ea typeface="Times New Roman"/>
                <a:cs typeface="Times New Roman"/>
              </a:rPr>
              <a:t>Thanh trong ô + so với tháng trước, cùng kỳ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số của mình lệch Kế toán bao nhiêu,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a:t>
            </a:r>
            <a:r>
              <a:rPr sz="1700" b="1" i="0">
                <a:solidFill>
                  <a:srgbClr val="123A7A"/>
                </a:solidFill>
                <a:latin typeface="Times New Roman"/>
                <a:ea typeface="Times New Roman"/>
                <a:cs typeface="Times New Roman"/>
              </a:rPr>
              <a:t>Δ = Kế toán − dữ liệu đơn</a:t>
            </a:r>
            <a:r>
              <a:rPr sz="1700" b="0" i="0">
                <a:solidFill>
                  <a:srgbClr val="222222"/>
                </a:solidFill>
                <a:latin typeface="Times New Roman"/>
                <a:ea typeface="Times New Roman"/>
                <a:cs typeface="Times New Roman"/>
              </a:rPr>
              <a:t>; cờ khi |Δ| &gt; </a:t>
            </a:r>
            <a:r>
              <a:rPr sz="1700" b="1" i="0">
                <a:solidFill>
                  <a:srgbClr val="C00000"/>
                </a:solidFill>
                <a:latin typeface="Times New Roman"/>
                <a:ea typeface="Times New Roman"/>
                <a:cs typeface="Times New Roman"/>
              </a:rPr>
              <a:t>200 USD</a:t>
            </a:r>
            <a:r>
              <a:rPr sz="1700" b="0" i="0">
                <a:solidFill>
                  <a:srgbClr val="222222"/>
                </a:solidFill>
                <a:latin typeface="Times New Roman"/>
                <a:ea typeface="Times New Roman"/>
                <a:cs typeface="Times New Roman"/>
              </a:rPr>
              <a:t> và |Δ%| &gt; </a:t>
            </a:r>
            <a:r>
              <a:rPr sz="1700" b="1" i="0">
                <a:solidFill>
                  <a:srgbClr val="C00000"/>
                </a:solidFill>
                <a:latin typeface="Times New Roman"/>
                <a:ea typeface="Times New Roman"/>
                <a:cs typeface="Times New Roman"/>
              </a:rPr>
              <a:t>1%</a:t>
            </a:r>
          </a:p>
        </p:txBody>
      </p:sp>
      <p:sp>
        <p:nvSpPr>
          <p:cNvPr id="143" name="Rectangle 142"/>
          <p:cNvSpPr/>
          <p:nvPr/>
        </p:nvSpPr>
        <p:spPr>
          <a:xfrm>
            <a:off x="365760" y="1371600"/>
            <a:ext cx="11475720" cy="502920"/>
          </a:xfrm>
          <a:prstGeom prst="rect">
            <a:avLst/>
          </a:prstGeom>
          <a:solidFill>
            <a:srgbClr val="123A7A"/>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3 · Đối soát với Kế toán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Chênh lệch nằm ở cửa hàng nào, tháng nào, kênh nào?</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(đơn)</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(Finance)</a:t>
            </a:r>
          </a:p>
          <a:p>
            <a:pPr algn="l">
              <a:buNone/>
            </a:pPr>
            <a:r>
              <a:rPr sz="1200" b="0" i="0">
                <a:solidFill>
                  <a:srgbClr val="595959"/>
                </a:solidFill>
                <a:latin typeface="Times New Roman"/>
                <a:ea typeface="Times New Roman"/>
                <a:cs typeface="Times New Roman"/>
              </a:rPr>
              <a:t>nghìn USD</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a:t>
            </a:r>
          </a:p>
          <a:p>
            <a:pPr algn="l">
              <a:buNone/>
            </a:pPr>
            <a:r>
              <a:rPr sz="1200" b="0" i="0">
                <a:solidFill>
                  <a:srgbClr val="595959"/>
                </a:solidFill>
                <a:latin typeface="Times New Roman"/>
                <a:ea typeface="Times New Roman"/>
                <a:cs typeface="Times New Roman"/>
              </a:rPr>
              <a:t>USD · % trên Kế toán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sau quy đổi online</a:t>
            </a:r>
          </a:p>
          <a:p>
            <a:pPr algn="l">
              <a:buNone/>
            </a:pPr>
            <a:r>
              <a:rPr sz="1200" b="0" i="0">
                <a:solidFill>
                  <a:srgbClr val="595959"/>
                </a:solidFill>
                <a:latin typeface="Times New Roman"/>
                <a:ea typeface="Times New Roman"/>
                <a:cs typeface="Times New Roman"/>
              </a:rPr>
              <a:t>USD</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Cửa hàng vượt ngưỡng</a:t>
            </a:r>
          </a:p>
          <a:p>
            <a:pPr algn="l">
              <a:buNone/>
            </a:pPr>
            <a:r>
              <a:rPr sz="1200" b="0" i="0">
                <a:solidFill>
                  <a:srgbClr val="595959"/>
                </a:solidFill>
                <a:latin typeface="Times New Roman"/>
                <a:ea typeface="Times New Roman"/>
                <a:cs typeface="Times New Roman"/>
              </a:rPr>
              <a:t>/ số cửa hàng</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Phân rã Δ tháng chọn</a:t>
            </a:r>
          </a:p>
          <a:p>
            <a:pPr algn="l">
              <a:buNone/>
            </a:pPr>
            <a:r>
              <a:rPr sz="1300" b="0" i="0">
                <a:solidFill>
                  <a:srgbClr val="222222"/>
                </a:solidFill>
                <a:latin typeface="Times New Roman"/>
                <a:ea typeface="Times New Roman"/>
                <a:cs typeface="Times New Roman"/>
              </a:rPr>
              <a:t>Online lệch thời điểm → cửa hàng ⚠ → còn lại</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có cửa hàng vượt ngưỡng</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Bảng cửa hàng xếp theo |Δ|</a:t>
            </a:r>
          </a:p>
          <a:p>
            <a:pPr algn="l">
              <a:buNone/>
            </a:pPr>
            <a:r>
              <a:rPr sz="1300" b="0" i="0">
                <a:solidFill>
                  <a:srgbClr val="222222"/>
                </a:solidFill>
                <a:latin typeface="Times New Roman"/>
                <a:ea typeface="Times New Roman"/>
                <a:cs typeface="Times New Roman"/>
              </a:rPr>
              <a:t>Đơn, Kế toán, Δ, Δ%, Δ sau quy đổi, ⚠ Vượt</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Δ online: gốc và sau quy đổi</a:t>
            </a:r>
          </a:p>
          <a:p>
            <a:pPr algn="l">
              <a:buNone/>
            </a:pPr>
            <a:r>
              <a:rPr sz="1300" b="0" i="0">
                <a:solidFill>
                  <a:srgbClr val="222222"/>
                </a:solidFill>
                <a:latin typeface="Times New Roman"/>
                <a:ea typeface="Times New Roman"/>
                <a:cs typeface="Times New Roman"/>
              </a:rPr>
              <a:t>Về gần 0 → lệch thời điểm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bao nhiêu doanh thu bị mất?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tăng là </a:t>
            </a:r>
            <a:r>
              <a:rPr sz="1700" b="1" i="0">
                <a:solidFill>
                  <a:srgbClr val="C00000"/>
                </a:solidFill>
                <a:latin typeface="Times New Roman"/>
                <a:ea typeface="Times New Roman"/>
                <a:cs typeface="Times New Roman"/>
              </a:rPr>
              <a:t>tín hiệu xấu</a:t>
            </a:r>
            <a:r>
              <a:rPr sz="1700" b="0" i="0">
                <a:solidFill>
                  <a:srgbClr val="222222"/>
                </a:solidFill>
                <a:latin typeface="Times New Roman"/>
                <a:ea typeface="Times New Roman"/>
                <a:cs typeface="Times New Roman"/>
              </a:rPr>
              <a:t>: màu đảo, thay đổi bằng </a:t>
            </a:r>
            <a:r>
              <a:rPr sz="1700" b="1" i="0">
                <a:solidFill>
                  <a:srgbClr val="123A7A"/>
                </a:solidFill>
                <a:latin typeface="Times New Roman"/>
                <a:ea typeface="Times New Roman"/>
                <a:cs typeface="Times New Roman"/>
              </a:rPr>
              <a:t>điểm %</a:t>
            </a:r>
          </a:p>
        </p:txBody>
      </p:sp>
      <p:sp>
        <p:nvSpPr>
          <p:cNvPr id="143" name="Rectangle 142"/>
          <p:cNvSpPr/>
          <p:nvPr/>
        </p:nvSpPr>
        <p:spPr>
          <a:xfrm>
            <a:off x="365760" y="1371600"/>
            <a:ext cx="11475720" cy="502920"/>
          </a:xfrm>
          <a:prstGeom prst="rect">
            <a:avLst/>
          </a:prstGeom>
          <a:solidFill>
            <a:srgbClr val="C00000"/>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4 · Hoàn trả &amp; chất lượng</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có "sạch" không: trả hàng, huỷ đơn, dữ liệu lỗi?</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Giá trị hoàn trả</a:t>
            </a:r>
          </a:p>
          <a:p>
            <a:pPr algn="l">
              <a:buNone/>
            </a:pPr>
            <a:r>
              <a:rPr sz="1200" b="0" i="0">
                <a:solidFill>
                  <a:srgbClr val="595959"/>
                </a:solidFill>
                <a:latin typeface="Times New Roman"/>
                <a:ea typeface="Times New Roman"/>
                <a:cs typeface="Times New Roman"/>
              </a:rPr>
              <a:t>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thay đổi bằng điểm %</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Đơn huỷ</a:t>
            </a:r>
          </a:p>
          <a:p>
            <a:pPr algn="l">
              <a:buNone/>
            </a:pPr>
            <a:r>
              <a:rPr sz="1200" b="0" i="0">
                <a:solidFill>
                  <a:srgbClr val="595959"/>
                </a:solidFill>
                <a:latin typeface="Times New Roman"/>
                <a:ea typeface="Times New Roman"/>
                <a:cs typeface="Times New Roman"/>
              </a:rPr>
              <a:t>đơn</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Dòng trùng đã loại</a:t>
            </a:r>
          </a:p>
          <a:p>
            <a:pPr algn="l">
              <a:buNone/>
            </a:pPr>
            <a:r>
              <a:rPr sz="1200" b="0" i="0">
                <a:solidFill>
                  <a:srgbClr val="595959"/>
                </a:solidFill>
                <a:latin typeface="Times New Roman"/>
                <a:ea typeface="Times New Roman"/>
                <a:cs typeface="Times New Roman"/>
              </a:rPr>
              <a:t>dòng · kèm số đơn PENDING</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Đường tỷ lệ hoàn trả 24 tháng</a:t>
            </a:r>
          </a:p>
          <a:p>
            <a:pPr algn="l">
              <a:buNone/>
            </a:pPr>
            <a:r>
              <a:rPr sz="1300" b="0" i="0">
                <a:solidFill>
                  <a:srgbClr val="222222"/>
                </a:solidFill>
                <a:latin typeface="Times New Roman"/>
                <a:ea typeface="Times New Roman"/>
                <a:cs typeface="Times New Roman"/>
              </a:rPr>
              <a:t>Tháng chọn tô xanh</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lý do trả hàng</a:t>
            </a:r>
          </a:p>
          <a:p>
            <a:pPr algn="l">
              <a:buNone/>
            </a:pPr>
            <a:r>
              <a:rPr sz="1300" b="0" i="0">
                <a:solidFill>
                  <a:srgbClr val="222222"/>
                </a:solidFill>
                <a:latin typeface="Times New Roman"/>
                <a:ea typeface="Times New Roman"/>
                <a:cs typeface="Times New Roman"/>
              </a:rPr>
              <a:t>Lý do lớn nhất tô xanh</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tỷ lệ hoàn trả theo danh mục</a:t>
            </a:r>
          </a:p>
          <a:p>
            <a:pPr algn="l">
              <a:buNone/>
            </a:pPr>
            <a:r>
              <a:rPr sz="1300" b="0" i="0">
                <a:solidFill>
                  <a:srgbClr val="222222"/>
                </a:solidFill>
                <a:latin typeface="Times New Roman"/>
                <a:ea typeface="Times New Roman"/>
                <a:cs typeface="Times New Roman"/>
              </a:rPr>
              <a:t>Nhãn kèm Net Sales để đọc cùng quy mô</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Đơn huỷ và đang giao</a:t>
            </a:r>
          </a:p>
          <a:p>
            <a:pPr algn="l">
              <a:buNone/>
            </a:pPr>
            <a:r>
              <a:rPr sz="1300" b="0" i="0">
                <a:solidFill>
                  <a:srgbClr val="222222"/>
                </a:solidFill>
                <a:latin typeface="Times New Roman"/>
                <a:ea typeface="Times New Roman"/>
                <a:cs typeface="Times New Roman"/>
              </a:rPr>
              <a:t>Theo tháng đặt hàng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tự rà soát mức độ hoàn thiện sản phẩm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Tự rà soát: </a:t>
            </a:r>
            <a:r>
              <a:rPr sz="1700" b="1" i="0">
                <a:solidFill>
                  <a:srgbClr val="C00000"/>
                </a:solidFill>
                <a:latin typeface="Times New Roman"/>
                <a:ea typeface="Times New Roman"/>
                <a:cs typeface="Times New Roman"/>
              </a:rPr>
              <a:t>Bắt buộc</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Nên có</a:t>
            </a:r>
            <a:r>
              <a:rPr sz="1700" b="0" i="0">
                <a:solidFill>
                  <a:srgbClr val="222222"/>
                </a:solidFill>
                <a:latin typeface="Times New Roman"/>
                <a:ea typeface="Times New Roman"/>
                <a:cs typeface="Times New Roman"/>
              </a:rPr>
              <a:t> → </a:t>
            </a:r>
            <a:r>
              <a:rPr sz="1700" b="1" i="0">
                <a:solidFill>
                  <a:srgbClr val="2E5B31"/>
                </a:solidFill>
                <a:latin typeface="Times New Roman"/>
                <a:ea typeface="Times New Roman"/>
                <a:cs typeface="Times New Roman"/>
              </a:rPr>
              <a:t>Sáng tạo</a:t>
            </a:r>
          </a:p>
        </p:txBody>
      </p:sp>
      <p:sp>
        <p:nvSpPr>
          <p:cNvPr id="143" name="Rounded Rectangle 142"/>
          <p:cNvSpPr/>
          <p:nvPr/>
        </p:nvSpPr>
        <p:spPr>
          <a:xfrm>
            <a:off x="365760" y="1371600"/>
            <a:ext cx="365760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Bắt buộc</a:t>
            </a:r>
          </a:p>
        </p:txBody>
      </p:sp>
      <p:sp>
        <p:nvSpPr>
          <p:cNvPr id="145" name="TextBox 144"/>
          <p:cNvSpPr txBox="1"/>
          <p:nvPr/>
        </p:nvSpPr>
        <p:spPr>
          <a:xfrm>
            <a:off x="47548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Bỏ 120 dòng trùng, chỉ tính đơn COMPLETED</a:t>
            </a:r>
          </a:p>
          <a:p>
            <a:pPr algn="l" marL="274320" indent="-274320">
              <a:spcAft>
                <a:spcPts val="700"/>
              </a:spcAft>
              <a:buFont typeface="Arial"/>
              <a:buChar char="☐"/>
            </a:pPr>
            <a:r>
              <a:rPr sz="1400" b="0" i="0">
                <a:solidFill>
                  <a:srgbClr val="222222"/>
                </a:solidFill>
                <a:latin typeface="Times New Roman"/>
                <a:ea typeface="Times New Roman"/>
                <a:cs typeface="Times New Roman"/>
              </a:rPr>
              <a:t>4 trang đủ thẻ KPI, biểu đồ, bảng theo yêu cầu</a:t>
            </a:r>
          </a:p>
          <a:p>
            <a:pPr algn="l" marL="274320" indent="-274320">
              <a:spcAft>
                <a:spcPts val="700"/>
              </a:spcAft>
              <a:buFont typeface="Arial"/>
              <a:buChar char="☐"/>
            </a:pPr>
            <a:r>
              <a:rPr sz="1400" b="0" i="0">
                <a:solidFill>
                  <a:srgbClr val="222222"/>
                </a:solidFill>
                <a:latin typeface="Times New Roman"/>
                <a:ea typeface="Times New Roman"/>
                <a:cs typeface="Times New Roman"/>
              </a:rPr>
              <a:t>4 slicer dùng chung (Năm, Tháng, Kênh, Quốc gia), đồng bộ cả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Thẻ KPI so với tháng trước và cùng tháng năm trước</a:t>
            </a:r>
          </a:p>
          <a:p>
            <a:pPr algn="l" marL="274320" indent="-274320">
              <a:spcAft>
                <a:spcPts val="700"/>
              </a:spcAft>
              <a:buFont typeface="Arial"/>
              <a:buChar char="☐"/>
            </a:pPr>
            <a:r>
              <a:rPr sz="1400" b="0" i="0">
                <a:solidFill>
                  <a:srgbClr val="222222"/>
                </a:solidFill>
                <a:latin typeface="Times New Roman"/>
                <a:ea typeface="Times New Roman"/>
                <a:cs typeface="Times New Roman"/>
              </a:rPr>
              <a:t>Map Kế toán theo valid_from / valid_to, tách HQ-ADJ</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đối soát có cờ vượt ngưỡng</a:t>
            </a:r>
          </a:p>
        </p:txBody>
      </p:sp>
      <p:sp>
        <p:nvSpPr>
          <p:cNvPr id="146" name="Rounded Rectangle 145"/>
          <p:cNvSpPr/>
          <p:nvPr/>
        </p:nvSpPr>
        <p:spPr>
          <a:xfrm>
            <a:off x="4206240" y="1371600"/>
            <a:ext cx="365760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Nên có</a:t>
            </a:r>
          </a:p>
        </p:txBody>
      </p:sp>
      <p:sp>
        <p:nvSpPr>
          <p:cNvPr id="148" name="TextBox 147"/>
          <p:cNvSpPr txBox="1"/>
          <p:nvPr/>
        </p:nvSpPr>
        <p:spPr>
          <a:xfrm>
            <a:off x="431596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Δ online sau khi quy về delivery_date</a:t>
            </a:r>
          </a:p>
          <a:p>
            <a:pPr algn="l" marL="274320" indent="-274320">
              <a:spcAft>
                <a:spcPts val="700"/>
              </a:spcAft>
              <a:buFont typeface="Arial"/>
              <a:buChar char="☐"/>
            </a:pPr>
            <a:r>
              <a:rPr sz="1400" b="0" i="0">
                <a:solidFill>
                  <a:srgbClr val="222222"/>
                </a:solidFill>
                <a:latin typeface="Times New Roman"/>
                <a:ea typeface="Times New Roman"/>
                <a:cs typeface="Times New Roman"/>
              </a:rPr>
              <a:t>Line chart không bị slicer Tháng lọc (đủ 24 tháng)</a:t>
            </a:r>
          </a:p>
          <a:p>
            <a:pPr algn="l" marL="274320" indent="-274320">
              <a:spcAft>
                <a:spcPts val="700"/>
              </a:spcAft>
              <a:buFont typeface="Arial"/>
              <a:buChar char="☐"/>
            </a:pPr>
            <a:r>
              <a:rPr sz="1400" b="0" i="0">
                <a:solidFill>
                  <a:srgbClr val="222222"/>
                </a:solidFill>
                <a:latin typeface="Times New Roman"/>
                <a:ea typeface="Times New Roman"/>
                <a:cs typeface="Times New Roman"/>
              </a:rPr>
              <a:t>Tiêu đề hành động nêu kết luận, câu Điểm chính đầu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Ghi rõ đơn vị: USD, nghìn USD, %, điểm %</a:t>
            </a:r>
          </a:p>
          <a:p>
            <a:pPr algn="l" marL="274320" indent="-274320">
              <a:spcAft>
                <a:spcPts val="700"/>
              </a:spcAft>
              <a:buFont typeface="Arial"/>
              <a:buChar char="☐"/>
            </a:pPr>
            <a:r>
              <a:rPr sz="1400" b="0" i="0">
                <a:solidFill>
                  <a:srgbClr val="222222"/>
                </a:solidFill>
                <a:latin typeface="Times New Roman"/>
                <a:ea typeface="Times New Roman"/>
                <a:cs typeface="Times New Roman"/>
              </a:rPr>
              <a:t>Nút Đặt lại và điều hướng giữa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Xám cho bối cảnh, 1 màu nhấn; ▲/▼ ở cột thay đổi</a:t>
            </a:r>
          </a:p>
        </p:txBody>
      </p:sp>
      <p:sp>
        <p:nvSpPr>
          <p:cNvPr id="149" name="Rounded Rectangle 148"/>
          <p:cNvSpPr/>
          <p:nvPr/>
        </p:nvSpPr>
        <p:spPr>
          <a:xfrm>
            <a:off x="8046720"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Sáng tạo</a:t>
            </a:r>
          </a:p>
        </p:txBody>
      </p:sp>
      <p:sp>
        <p:nvSpPr>
          <p:cNvPr id="151" name="TextBox 150"/>
          <p:cNvSpPr txBox="1"/>
          <p:nvPr/>
        </p:nvSpPr>
        <p:spPr>
          <a:xfrm>
            <a:off x="815644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Drill-through "Chi tiết cửa hàng – ngày"</a:t>
            </a:r>
          </a:p>
          <a:p>
            <a:pPr algn="l" marL="274320" indent="-274320">
              <a:spcAft>
                <a:spcPts val="700"/>
              </a:spcAft>
              <a:buFont typeface="Arial"/>
              <a:buChar char="☐"/>
            </a:pPr>
            <a:r>
              <a:rPr sz="1400" b="0" i="0">
                <a:solidFill>
                  <a:srgbClr val="222222"/>
                </a:solidFill>
                <a:latin typeface="Times New Roman"/>
                <a:ea typeface="Times New Roman"/>
                <a:cs typeface="Times New Roman"/>
              </a:rPr>
              <a:t>Tooltip Δ theo ngày khi rê chuột vào ô vượt ngưỡng</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giải thích chênh lệch: tổng nguyên nhân = Δ</a:t>
            </a:r>
          </a:p>
          <a:p>
            <a:pPr algn="l" marL="274320" indent="-274320">
              <a:spcAft>
                <a:spcPts val="700"/>
              </a:spcAft>
              <a:buFont typeface="Arial"/>
              <a:buChar char="☐"/>
            </a:pPr>
            <a:r>
              <a:rPr sz="1400" b="0" i="0">
                <a:solidFill>
                  <a:srgbClr val="222222"/>
                </a:solidFill>
                <a:latin typeface="Times New Roman"/>
                <a:ea typeface="Times New Roman"/>
                <a:cs typeface="Times New Roman"/>
              </a:rPr>
              <a:t>Dùng fx_rate, unit_cost, dim_customer (bảng bổ sung)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Nguyên tắc trình bày: Storytelling with Data (Cole Nussbaumer Knaflic)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Dashboard để </a:t>
            </a:r>
            <a:r>
              <a:rPr sz="1700" b="1" i="0">
                <a:solidFill>
                  <a:srgbClr val="C55A11"/>
                </a:solidFill>
                <a:latin typeface="Times New Roman"/>
                <a:ea typeface="Times New Roman"/>
                <a:cs typeface="Times New Roman"/>
              </a:rPr>
              <a:t>ra quyết định</a:t>
            </a:r>
            <a:r>
              <a:rPr sz="1700" b="0" i="0">
                <a:solidFill>
                  <a:srgbClr val="222222"/>
                </a:solidFill>
                <a:latin typeface="Times New Roman"/>
                <a:ea typeface="Times New Roman"/>
                <a:cs typeface="Times New Roman"/>
              </a:rPr>
              <a:t>, không để trưng bày: người xem phải thấy kết luận trong 3 giây</a:t>
            </a:r>
          </a:p>
        </p:txBody>
      </p:sp>
      <p:sp>
        <p:nvSpPr>
          <p:cNvPr id="143" name="Rounded Rectangle 142"/>
          <p:cNvSpPr/>
          <p:nvPr/>
        </p:nvSpPr>
        <p:spPr>
          <a:xfrm>
            <a:off x="365760" y="137160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Hiểu bối cảnh</a:t>
            </a:r>
          </a:p>
        </p:txBody>
      </p:sp>
      <p:sp>
        <p:nvSpPr>
          <p:cNvPr id="145" name="TextBox 144"/>
          <p:cNvSpPr txBox="1"/>
          <p:nvPr/>
        </p:nvSpPr>
        <p:spPr>
          <a:xfrm>
            <a:off x="50292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Ai xem, cần quyết định gì? Viết Big Idea thành 1 câu: câu Điểm chính đầu mỗi trang.</a:t>
            </a:r>
          </a:p>
        </p:txBody>
      </p:sp>
      <p:sp>
        <p:nvSpPr>
          <p:cNvPr id="146" name="Rounded Rectangle 145"/>
          <p:cNvSpPr/>
          <p:nvPr/>
        </p:nvSpPr>
        <p:spPr>
          <a:xfrm>
            <a:off x="4206240" y="137160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Chọn hình phù hợp</a:t>
            </a:r>
          </a:p>
        </p:txBody>
      </p:sp>
      <p:sp>
        <p:nvSpPr>
          <p:cNvPr id="148" name="TextBox 147"/>
          <p:cNvSpPr txBox="1"/>
          <p:nvPr/>
        </p:nvSpPr>
        <p:spPr>
          <a:xfrm>
            <a:off x="434340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Đường cho xu hướng, cột ngang xếp hạng cho danh mục, bảng cho chi tiết. Bỏ pie, donut, treemap, 3D.</a:t>
            </a:r>
          </a:p>
        </p:txBody>
      </p:sp>
      <p:sp>
        <p:nvSpPr>
          <p:cNvPr id="149" name="Rounded Rectangle 148"/>
          <p:cNvSpPr/>
          <p:nvPr/>
        </p:nvSpPr>
        <p:spPr>
          <a:xfrm>
            <a:off x="8046720" y="1371600"/>
            <a:ext cx="3657600" cy="21945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Gỡ rối</a:t>
            </a:r>
          </a:p>
        </p:txBody>
      </p:sp>
      <p:sp>
        <p:nvSpPr>
          <p:cNvPr id="151" name="TextBox 150"/>
          <p:cNvSpPr txBox="1"/>
          <p:nvPr/>
        </p:nvSpPr>
        <p:spPr>
          <a:xfrm>
            <a:off x="818388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Bỏ khung, nền màu, lưới đậm, chú giải thừa; nhãn trực tiếp; ít chữ số lẻ.</a:t>
            </a:r>
          </a:p>
        </p:txBody>
      </p:sp>
      <p:sp>
        <p:nvSpPr>
          <p:cNvPr id="152" name="Rounded Rectangle 151"/>
          <p:cNvSpPr/>
          <p:nvPr/>
        </p:nvSpPr>
        <p:spPr>
          <a:xfrm>
            <a:off x="365760" y="3703320"/>
            <a:ext cx="3657600" cy="21945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Rounded Rectangle 152"/>
          <p:cNvSpPr/>
          <p:nvPr/>
        </p:nvSpPr>
        <p:spPr>
          <a:xfrm>
            <a:off x="365760" y="3703320"/>
            <a:ext cx="365760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Dẫn mắt người xem</a:t>
            </a:r>
          </a:p>
        </p:txBody>
      </p:sp>
      <p:sp>
        <p:nvSpPr>
          <p:cNvPr id="154" name="TextBox 153"/>
          <p:cNvSpPr txBox="1"/>
          <p:nvPr/>
        </p:nvSpPr>
        <p:spPr>
          <a:xfrm>
            <a:off x="50292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Xám cho bối cảnh, MỘT màu nhấn cho điều cần thấy; đỏ chỉ cho vấn đề (⚠ vượt ngưỡng).</a:t>
            </a:r>
          </a:p>
        </p:txBody>
      </p:sp>
      <p:sp>
        <p:nvSpPr>
          <p:cNvPr id="155" name="Rounded Rectangle 154"/>
          <p:cNvSpPr/>
          <p:nvPr/>
        </p:nvSpPr>
        <p:spPr>
          <a:xfrm>
            <a:off x="4206240" y="370332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4206240" y="370332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Nghĩ như nhà thiết kế</a:t>
            </a:r>
          </a:p>
        </p:txBody>
      </p:sp>
      <p:sp>
        <p:nvSpPr>
          <p:cNvPr id="157" name="TextBox 156"/>
          <p:cNvSpPr txBox="1"/>
          <p:nvPr/>
        </p:nvSpPr>
        <p:spPr>
          <a:xfrm>
            <a:off x="434340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Căn lưới thẳng, định dạng số thống nhất, màu an toàn cho người mù màu, tooltip.</a:t>
            </a:r>
          </a:p>
        </p:txBody>
      </p:sp>
      <p:sp>
        <p:nvSpPr>
          <p:cNvPr id="158" name="Rounded Rectangle 157"/>
          <p:cNvSpPr/>
          <p:nvPr/>
        </p:nvSpPr>
        <p:spPr>
          <a:xfrm>
            <a:off x="8046720" y="370332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8046720" y="370332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6 · Kể chuyện</a:t>
            </a:r>
          </a:p>
        </p:txBody>
      </p:sp>
      <p:sp>
        <p:nvSpPr>
          <p:cNvPr id="160" name="TextBox 159"/>
          <p:cNvSpPr txBox="1"/>
          <p:nvPr/>
        </p:nvSpPr>
        <p:spPr>
          <a:xfrm>
            <a:off x="818388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Tiêu đề nêu kết luận ("Máy tính chiếm 43% Net Sales"), không chỉ mô tả; nguồn và as-of ở chân trang.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Thuật ngữ dùng trong bài: theo VAS 14 và giao diện Excel tiếng Việt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Tên file, cột, số đo giữ tiếng Anh; </a:t>
            </a:r>
            <a:r>
              <a:rPr sz="1700" b="1" i="0">
                <a:solidFill>
                  <a:srgbClr val="123A7A"/>
                </a:solidFill>
                <a:latin typeface="Times New Roman"/>
                <a:ea typeface="Times New Roman"/>
                <a:cs typeface="Times New Roman"/>
              </a:rPr>
              <a:t>văn bản dùng thuật ngữ chuẩn</a:t>
            </a:r>
            <a:r>
              <a:rPr sz="1700" b="0" i="0">
                <a:solidFill>
                  <a:srgbClr val="222222"/>
                </a:solidFill>
                <a:latin typeface="Times New Roman"/>
                <a:ea typeface="Times New Roman"/>
                <a:cs typeface="Times New Roman"/>
              </a:rPr>
              <a:t> – bảng đầy đủ ở phụ lục hướng dẫn</a:t>
            </a:r>
          </a:p>
        </p:txBody>
      </p:sp>
      <p:graphicFrame>
        <p:nvGraphicFramePr>
          <p:cNvPr id="143" name="Table 142"/>
          <p:cNvGraphicFramePr>
            <a:graphicFrameLocks noGrp="1"/>
          </p:cNvGraphicFramePr>
          <p:nvPr/>
        </p:nvGraphicFramePr>
        <p:xfrm>
          <a:off x="365760" y="1371600"/>
          <a:ext cx="11475719" cy="4617718"/>
        </p:xfrm>
        <a:graphic>
          <a:graphicData uri="http://schemas.openxmlformats.org/drawingml/2006/table">
            <a:tbl>
              <a:tblPr firstRow="1">
                <a:tableStyleId>{5940675A-B579-460E-94D1-54222C63F5DA}</a:tableStyleId>
              </a:tblPr>
              <a:tblGrid>
                <a:gridCol w="1275080"/>
                <a:gridCol w="4553857"/>
                <a:gridCol w="3278777"/>
                <a:gridCol w="2368005"/>
              </a:tblGrid>
              <a:tr h="329837">
                <a:tc>
                  <a:txBody>
                    <a:bodyPr/>
                    <a:lstStyle/>
                    <a:p>
                      <a:pPr algn="l">
                        <a:buNone/>
                      </a:pPr>
                      <a:r>
                        <a:rPr sz="1200" b="1" i="0">
                          <a:solidFill>
                            <a:srgbClr val="FFFFFF"/>
                          </a:solidFill>
                          <a:latin typeface="Times New Roman"/>
                          <a:ea typeface="Times New Roman"/>
                          <a:cs typeface="Times New Roman"/>
                        </a:rPr>
                        <a:t>Nhóm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Thuật ngữ trong tài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Tiếng Anh / trong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Căn cứ</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phòng Tài chính – Kế toán (gọi tắt: Kế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Finance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thực tế doanh nghiệp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Trưởng phòng Kinh doanh</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Sales Manager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thực tế doanh nghiệp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chuyên viên phân tích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Data Analyst (DA)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thực tế tuyển dụng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doanh thu bán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 mẫu B02-DN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chiết khấu thương mại (khuyến mãi giảm giá trên hoá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hàng bán bị trả lại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doanh thu thuần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 TT 99/2025/TT-BTC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ghi nhận doanh thu · ngày ghi sổ</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Revenue recognition · posting_date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 sổ Nhật ký chung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Chỉ tiêu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tỷ lệ hàng bán bị trả lại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 + thực tế</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Chỉ tiêu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chênh lệch · ngưỡng · đối soát (đối chiếu số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Δ · threshold · reconciliation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thực tế kế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Excel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Mô hình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Data Model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Microsoft vi-vn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Excel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số đo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measure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Microsoft vi-vn (Power Pivot)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lược đồ hình sao · bảng dữ kiện · bảng chiều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star schema · fact table · dimension 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giáo trình CSDL / kho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Cây KPI: từ Gross Sales đến chênh lệch với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Hiểu </a:t>
            </a:r>
            <a:r>
              <a:rPr sz="1700" b="1" i="0">
                <a:solidFill>
                  <a:srgbClr val="123A7A"/>
                </a:solidFill>
                <a:latin typeface="Times New Roman"/>
                <a:ea typeface="Times New Roman"/>
                <a:cs typeface="Times New Roman"/>
              </a:rPr>
              <a:t>định nghĩa và thứ tự</a:t>
            </a:r>
            <a:r>
              <a:rPr sz="1700" b="0" i="0">
                <a:solidFill>
                  <a:srgbClr val="222222"/>
                </a:solidFill>
                <a:latin typeface="Times New Roman"/>
                <a:ea typeface="Times New Roman"/>
                <a:cs typeface="Times New Roman"/>
              </a:rPr>
              <a:t> trước, viết DAX sau: Gross → Net Sales → Net Revenue → Δ Finance</a:t>
            </a:r>
          </a:p>
        </p:txBody>
      </p:sp>
      <p:pic>
        <p:nvPicPr>
          <p:cNvPr id="143" name="Picture 142" descr="04_cay_kpi.png"/>
          <p:cNvPicPr>
            <a:picLocks noChangeAspect="1"/>
          </p:cNvPicPr>
          <p:nvPr/>
        </p:nvPicPr>
        <p:blipFill>
          <a:blip r:embed="rId3"/>
          <a:stretch>
            <a:fillRect/>
          </a:stretch>
        </p:blipFill>
        <p:spPr>
          <a:xfrm>
            <a:off x="700498" y="1325880"/>
            <a:ext cx="10806243" cy="47091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doanh thu: định nghĩa, công thức và một ví dụ tính tay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C55A11"/>
                </a:solidFill>
                <a:latin typeface="Times New Roman"/>
                <a:ea typeface="Times New Roman"/>
                <a:cs typeface="Times New Roman"/>
              </a:rPr>
              <a:t>Net Revenue</a:t>
            </a:r>
            <a:r>
              <a:rPr sz="1700" b="0" i="0">
                <a:solidFill>
                  <a:srgbClr val="222222"/>
                </a:solidFill>
                <a:latin typeface="Times New Roman"/>
                <a:ea typeface="Times New Roman"/>
                <a:cs typeface="Times New Roman"/>
              </a:rPr>
              <a:t> là con số đem đi đối soát; Net Sales là mẫu số chung của AOV, ASP, tỷ lệ hoàn trả</a:t>
            </a:r>
          </a:p>
        </p:txBody>
      </p:sp>
      <p:sp>
        <p:nvSpPr>
          <p:cNvPr id="143" name="Rounded Rectangle 142"/>
          <p:cNvSpPr/>
          <p:nvPr/>
        </p:nvSpPr>
        <p:spPr>
          <a:xfrm>
            <a:off x="365760" y="1371600"/>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Gross Sales</a:t>
            </a:r>
          </a:p>
        </p:txBody>
      </p:sp>
      <p:sp>
        <p:nvSpPr>
          <p:cNvPr id="145" name="Rounded Rectangle 144"/>
          <p:cNvSpPr/>
          <p:nvPr/>
        </p:nvSpPr>
        <p:spPr>
          <a:xfrm>
            <a:off x="2212848" y="1463040"/>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quantity × unit_price</a:t>
            </a:r>
          </a:p>
        </p:txBody>
      </p:sp>
      <p:sp>
        <p:nvSpPr>
          <p:cNvPr id="146" name="TextBox 145"/>
          <p:cNvSpPr txBox="1"/>
          <p:nvPr/>
        </p:nvSpPr>
        <p:spPr>
          <a:xfrm>
            <a:off x="4937760" y="1417320"/>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Đơn COMPLETED, đã bỏ dòng trùng</a:t>
            </a:r>
          </a:p>
        </p:txBody>
      </p:sp>
      <p:sp>
        <p:nvSpPr>
          <p:cNvPr id="147" name="Rounded Rectangle 146"/>
          <p:cNvSpPr/>
          <p:nvPr/>
        </p:nvSpPr>
        <p:spPr>
          <a:xfrm>
            <a:off x="365760" y="2304288"/>
            <a:ext cx="6675120" cy="8229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Rounded Rectangle 147"/>
          <p:cNvSpPr/>
          <p:nvPr/>
        </p:nvSpPr>
        <p:spPr>
          <a:xfrm>
            <a:off x="365760" y="2304288"/>
            <a:ext cx="1737360" cy="82296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Discounts</a:t>
            </a:r>
          </a:p>
        </p:txBody>
      </p:sp>
      <p:sp>
        <p:nvSpPr>
          <p:cNvPr id="149" name="Rounded Rectangle 148"/>
          <p:cNvSpPr/>
          <p:nvPr/>
        </p:nvSpPr>
        <p:spPr>
          <a:xfrm>
            <a:off x="2212848" y="2395728"/>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discount_amount</a:t>
            </a:r>
          </a:p>
        </p:txBody>
      </p:sp>
      <p:sp>
        <p:nvSpPr>
          <p:cNvPr id="150" name="TextBox 149"/>
          <p:cNvSpPr txBox="1"/>
          <p:nvPr/>
        </p:nvSpPr>
        <p:spPr>
          <a:xfrm>
            <a:off x="4937760" y="2350008"/>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Khuyến mãi theo promo_code</a:t>
            </a:r>
          </a:p>
        </p:txBody>
      </p:sp>
      <p:sp>
        <p:nvSpPr>
          <p:cNvPr id="151" name="Rounded Rectangle 150"/>
          <p:cNvSpPr/>
          <p:nvPr/>
        </p:nvSpPr>
        <p:spPr>
          <a:xfrm>
            <a:off x="365760" y="3236976"/>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Rounded Rectangle 151"/>
          <p:cNvSpPr/>
          <p:nvPr/>
        </p:nvSpPr>
        <p:spPr>
          <a:xfrm>
            <a:off x="365760" y="3236976"/>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Sales</a:t>
            </a:r>
          </a:p>
        </p:txBody>
      </p:sp>
      <p:sp>
        <p:nvSpPr>
          <p:cNvPr id="153" name="Rounded Rectangle 152"/>
          <p:cNvSpPr/>
          <p:nvPr/>
        </p:nvSpPr>
        <p:spPr>
          <a:xfrm>
            <a:off x="2212848" y="3328416"/>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Gross Sales − Discounts</a:t>
            </a:r>
          </a:p>
        </p:txBody>
      </p:sp>
      <p:sp>
        <p:nvSpPr>
          <p:cNvPr id="154" name="TextBox 153"/>
          <p:cNvSpPr txBox="1"/>
          <p:nvPr/>
        </p:nvSpPr>
        <p:spPr>
          <a:xfrm>
            <a:off x="4937760" y="3282696"/>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Doanh thu sau giảm giá</a:t>
            </a:r>
          </a:p>
        </p:txBody>
      </p:sp>
      <p:sp>
        <p:nvSpPr>
          <p:cNvPr id="155" name="Rounded Rectangle 154"/>
          <p:cNvSpPr/>
          <p:nvPr/>
        </p:nvSpPr>
        <p:spPr>
          <a:xfrm>
            <a:off x="365760" y="4169664"/>
            <a:ext cx="6675120" cy="82296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365760" y="4169664"/>
            <a:ext cx="1737360" cy="82296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Returns</a:t>
            </a:r>
          </a:p>
        </p:txBody>
      </p:sp>
      <p:sp>
        <p:nvSpPr>
          <p:cNvPr id="157" name="Rounded Rectangle 156"/>
          <p:cNvSpPr/>
          <p:nvPr/>
        </p:nvSpPr>
        <p:spPr>
          <a:xfrm>
            <a:off x="2212848" y="4261104"/>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return_amount theo return_date</a:t>
            </a:r>
          </a:p>
        </p:txBody>
      </p:sp>
      <p:sp>
        <p:nvSpPr>
          <p:cNvPr id="158" name="TextBox 157"/>
          <p:cNvSpPr txBox="1"/>
          <p:nvPr/>
        </p:nvSpPr>
        <p:spPr>
          <a:xfrm>
            <a:off x="4937760" y="4215384"/>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Trừ vào tháng trả hàng, không phải tháng bán</a:t>
            </a:r>
          </a:p>
        </p:txBody>
      </p:sp>
      <p:sp>
        <p:nvSpPr>
          <p:cNvPr id="159" name="Rounded Rectangle 158"/>
          <p:cNvSpPr/>
          <p:nvPr/>
        </p:nvSpPr>
        <p:spPr>
          <a:xfrm>
            <a:off x="365760" y="5102352"/>
            <a:ext cx="6675120" cy="82296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365760" y="5102352"/>
            <a:ext cx="1737360" cy="82296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Revenue</a:t>
            </a:r>
          </a:p>
        </p:txBody>
      </p:sp>
      <p:sp>
        <p:nvSpPr>
          <p:cNvPr id="161" name="Rounded Rectangle 160"/>
          <p:cNvSpPr/>
          <p:nvPr/>
        </p:nvSpPr>
        <p:spPr>
          <a:xfrm>
            <a:off x="2212848" y="5193792"/>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Net Sales − Returns</a:t>
            </a:r>
          </a:p>
        </p:txBody>
      </p:sp>
      <p:sp>
        <p:nvSpPr>
          <p:cNvPr id="162" name="TextBox 161"/>
          <p:cNvSpPr txBox="1"/>
          <p:nvPr/>
        </p:nvSpPr>
        <p:spPr>
          <a:xfrm>
            <a:off x="4937760" y="5148072"/>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Con số so với Kế toán</a:t>
            </a:r>
          </a:p>
        </p:txBody>
      </p:sp>
      <p:sp>
        <p:nvSpPr>
          <p:cNvPr id="163" name="Rounded Rectangle 162"/>
          <p:cNvSpPr/>
          <p:nvPr/>
        </p:nvSpPr>
        <p:spPr>
          <a:xfrm>
            <a:off x="7269480" y="1371600"/>
            <a:ext cx="457200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64" name="Rounded Rectangle 163"/>
          <p:cNvSpPr/>
          <p:nvPr/>
        </p:nvSpPr>
        <p:spPr>
          <a:xfrm>
            <a:off x="7269480" y="1371600"/>
            <a:ext cx="45720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Ví dụ tính tay (sheet sample_transactions)</a:t>
            </a:r>
          </a:p>
        </p:txBody>
      </p:sp>
      <p:sp>
        <p:nvSpPr>
          <p:cNvPr id="165" name="TextBox 164"/>
          <p:cNvSpPr txBox="1"/>
          <p:nvPr/>
        </p:nvSpPr>
        <p:spPr>
          <a:xfrm>
            <a:off x="7406640" y="1901952"/>
            <a:ext cx="4297680" cy="73152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Đơn 690000 · cửa hàng POS · 6 dòng · mã BF15 (giảm 15%)</a:t>
            </a:r>
          </a:p>
        </p:txBody>
      </p:sp>
      <p:sp>
        <p:nvSpPr>
          <p:cNvPr id="166" name="Rounded Rectangle 165"/>
          <p:cNvSpPr/>
          <p:nvPr/>
        </p:nvSpPr>
        <p:spPr>
          <a:xfrm>
            <a:off x="7406640" y="2514600"/>
            <a:ext cx="4297680" cy="749808"/>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67" name="TextBox 166"/>
          <p:cNvSpPr txBox="1"/>
          <p:nvPr/>
        </p:nvSpPr>
        <p:spPr>
          <a:xfrm>
            <a:off x="7498079" y="2542032"/>
            <a:ext cx="2194560" cy="694944"/>
          </a:xfrm>
          <a:prstGeom prst="rect">
            <a:avLst/>
          </a:prstGeom>
          <a:noFill/>
        </p:spPr>
        <p:txBody>
          <a:bodyPr wrap="square" lIns="45720" tIns="27432" rIns="45720" bIns="27432" anchor="ctr"/>
          <a:lstStyle/>
          <a:p>
            <a:pPr algn="l">
              <a:buNone/>
            </a:pPr>
            <a:r>
              <a:rPr sz="1500" b="1" i="0">
                <a:solidFill>
                  <a:srgbClr val="2E5B31"/>
                </a:solidFill>
                <a:latin typeface="Times New Roman"/>
                <a:ea typeface="Times New Roman"/>
                <a:cs typeface="Times New Roman"/>
              </a:rPr>
              <a:t>Gross Sales</a:t>
            </a:r>
          </a:p>
          <a:p>
            <a:pPr algn="l">
              <a:buNone/>
            </a:pPr>
            <a:r>
              <a:rPr sz="1100" b="0" i="0">
                <a:solidFill>
                  <a:srgbClr val="595959"/>
                </a:solidFill>
                <a:latin typeface="Times New Roman"/>
                <a:ea typeface="Times New Roman"/>
                <a:cs typeface="Times New Roman"/>
              </a:rPr>
              <a:t>Σ quantity × unit_price</a:t>
            </a:r>
          </a:p>
        </p:txBody>
      </p:sp>
      <p:sp>
        <p:nvSpPr>
          <p:cNvPr id="168" name="TextBox 167"/>
          <p:cNvSpPr txBox="1"/>
          <p:nvPr/>
        </p:nvSpPr>
        <p:spPr>
          <a:xfrm>
            <a:off x="9601200" y="2542032"/>
            <a:ext cx="2011680" cy="694944"/>
          </a:xfrm>
          <a:prstGeom prst="rect">
            <a:avLst/>
          </a:prstGeom>
          <a:noFill/>
        </p:spPr>
        <p:txBody>
          <a:bodyPr wrap="square" lIns="45720" tIns="27432" rIns="45720" bIns="27432" anchor="ctr"/>
          <a:lstStyle/>
          <a:p>
            <a:pPr algn="r">
              <a:buNone/>
            </a:pPr>
            <a:r>
              <a:rPr sz="1700" b="1" i="0">
                <a:solidFill>
                  <a:srgbClr val="2E5B31"/>
                </a:solidFill>
                <a:latin typeface="Times New Roman"/>
                <a:ea typeface="Times New Roman"/>
                <a:cs typeface="Times New Roman"/>
              </a:rPr>
              <a:t>5.509,99 USD</a:t>
            </a:r>
          </a:p>
        </p:txBody>
      </p:sp>
      <p:sp>
        <p:nvSpPr>
          <p:cNvPr id="169" name="Rounded Rectangle 168"/>
          <p:cNvSpPr/>
          <p:nvPr/>
        </p:nvSpPr>
        <p:spPr>
          <a:xfrm>
            <a:off x="7406640" y="3383280"/>
            <a:ext cx="4297680" cy="749808"/>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70" name="TextBox 169"/>
          <p:cNvSpPr txBox="1"/>
          <p:nvPr/>
        </p:nvSpPr>
        <p:spPr>
          <a:xfrm>
            <a:off x="7498079" y="3410712"/>
            <a:ext cx="2194560" cy="694944"/>
          </a:xfrm>
          <a:prstGeom prst="rect">
            <a:avLst/>
          </a:prstGeom>
          <a:noFill/>
        </p:spPr>
        <p:txBody>
          <a:bodyPr wrap="square" lIns="45720" tIns="27432" rIns="45720" bIns="27432" anchor="ctr"/>
          <a:lstStyle/>
          <a:p>
            <a:pPr algn="l">
              <a:buNone/>
            </a:pPr>
            <a:r>
              <a:rPr sz="1500" b="1" i="0">
                <a:solidFill>
                  <a:srgbClr val="C55A11"/>
                </a:solidFill>
                <a:latin typeface="Times New Roman"/>
                <a:ea typeface="Times New Roman"/>
                <a:cs typeface="Times New Roman"/>
              </a:rPr>
              <a:t>− Discounts</a:t>
            </a:r>
          </a:p>
          <a:p>
            <a:pPr algn="l">
              <a:buNone/>
            </a:pPr>
            <a:r>
              <a:rPr sz="1100" b="0" i="0">
                <a:solidFill>
                  <a:srgbClr val="595959"/>
                </a:solidFill>
                <a:latin typeface="Times New Roman"/>
                <a:ea typeface="Times New Roman"/>
                <a:cs typeface="Times New Roman"/>
              </a:rPr>
              <a:t>Σ discount_amount</a:t>
            </a:r>
          </a:p>
        </p:txBody>
      </p:sp>
      <p:sp>
        <p:nvSpPr>
          <p:cNvPr id="171" name="TextBox 170"/>
          <p:cNvSpPr txBox="1"/>
          <p:nvPr/>
        </p:nvSpPr>
        <p:spPr>
          <a:xfrm>
            <a:off x="9601200" y="3410712"/>
            <a:ext cx="2011680" cy="694944"/>
          </a:xfrm>
          <a:prstGeom prst="rect">
            <a:avLst/>
          </a:prstGeom>
          <a:noFill/>
        </p:spPr>
        <p:txBody>
          <a:bodyPr wrap="square" lIns="45720" tIns="27432" rIns="45720" bIns="27432" anchor="ctr"/>
          <a:lstStyle/>
          <a:p>
            <a:pPr algn="r">
              <a:buNone/>
            </a:pPr>
            <a:r>
              <a:rPr sz="1700" b="1" i="0">
                <a:solidFill>
                  <a:srgbClr val="C55A11"/>
                </a:solidFill>
                <a:latin typeface="Times New Roman"/>
                <a:ea typeface="Times New Roman"/>
                <a:cs typeface="Times New Roman"/>
              </a:rPr>
              <a:t>826,50 USD</a:t>
            </a:r>
          </a:p>
        </p:txBody>
      </p:sp>
      <p:sp>
        <p:nvSpPr>
          <p:cNvPr id="172" name="Rounded Rectangle 171"/>
          <p:cNvSpPr/>
          <p:nvPr/>
        </p:nvSpPr>
        <p:spPr>
          <a:xfrm>
            <a:off x="7406640" y="4251960"/>
            <a:ext cx="4297680" cy="749808"/>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73" name="TextBox 172"/>
          <p:cNvSpPr txBox="1"/>
          <p:nvPr/>
        </p:nvSpPr>
        <p:spPr>
          <a:xfrm>
            <a:off x="7498079" y="4279392"/>
            <a:ext cx="2194560" cy="694944"/>
          </a:xfrm>
          <a:prstGeom prst="rect">
            <a:avLst/>
          </a:prstGeom>
          <a:noFill/>
        </p:spPr>
        <p:txBody>
          <a:bodyPr wrap="square" lIns="45720" tIns="27432" rIns="45720" bIns="27432" anchor="ctr"/>
          <a:lstStyle/>
          <a:p>
            <a:pPr algn="l">
              <a:buNone/>
            </a:pPr>
            <a:r>
              <a:rPr sz="1500" b="1" i="0">
                <a:solidFill>
                  <a:srgbClr val="123A7A"/>
                </a:solidFill>
                <a:latin typeface="Times New Roman"/>
                <a:ea typeface="Times New Roman"/>
                <a:cs typeface="Times New Roman"/>
              </a:rPr>
              <a:t>= Net Sales</a:t>
            </a:r>
          </a:p>
          <a:p>
            <a:pPr algn="l">
              <a:buNone/>
            </a:pPr>
            <a:r>
              <a:rPr sz="1100" b="0" i="0">
                <a:solidFill>
                  <a:srgbClr val="595959"/>
                </a:solidFill>
                <a:latin typeface="Times New Roman"/>
                <a:ea typeface="Times New Roman"/>
                <a:cs typeface="Times New Roman"/>
              </a:rPr>
              <a:t>Gross − Discounts</a:t>
            </a:r>
          </a:p>
        </p:txBody>
      </p:sp>
      <p:sp>
        <p:nvSpPr>
          <p:cNvPr id="174" name="TextBox 173"/>
          <p:cNvSpPr txBox="1"/>
          <p:nvPr/>
        </p:nvSpPr>
        <p:spPr>
          <a:xfrm>
            <a:off x="9601200" y="4279392"/>
            <a:ext cx="2011680" cy="694944"/>
          </a:xfrm>
          <a:prstGeom prst="rect">
            <a:avLst/>
          </a:prstGeom>
          <a:noFill/>
        </p:spPr>
        <p:txBody>
          <a:bodyPr wrap="square" lIns="45720" tIns="27432" rIns="45720" bIns="27432" anchor="ctr"/>
          <a:lstStyle/>
          <a:p>
            <a:pPr algn="r">
              <a:buNone/>
            </a:pPr>
            <a:r>
              <a:rPr sz="1700" b="1" i="0">
                <a:solidFill>
                  <a:srgbClr val="123A7A"/>
                </a:solidFill>
                <a:latin typeface="Times New Roman"/>
                <a:ea typeface="Times New Roman"/>
                <a:cs typeface="Times New Roman"/>
              </a:rPr>
              <a:t>4.683,49 USD</a:t>
            </a:r>
          </a:p>
        </p:txBody>
      </p:sp>
      <p:sp>
        <p:nvSpPr>
          <p:cNvPr id="175" name="TextBox 174"/>
          <p:cNvSpPr txBox="1"/>
          <p:nvPr/>
        </p:nvSpPr>
        <p:spPr>
          <a:xfrm>
            <a:off x="7406640" y="5120640"/>
            <a:ext cx="4297680" cy="822960"/>
          </a:xfrm>
          <a:prstGeom prst="rect">
            <a:avLst/>
          </a:prstGeom>
          <a:noFill/>
        </p:spPr>
        <p:txBody>
          <a:bodyPr wrap="square" lIns="45720" tIns="27432" rIns="45720" bIns="27432" anchor="t"/>
          <a:lstStyle/>
          <a:p>
            <a:pPr algn="l">
              <a:buNone/>
            </a:pPr>
            <a:r>
              <a:rPr sz="1200" b="0" i="0">
                <a:solidFill>
                  <a:srgbClr val="222222"/>
                </a:solidFill>
                <a:latin typeface="Times New Roman"/>
                <a:ea typeface="Times New Roman"/>
                <a:cs typeface="Times New Roman"/>
              </a:rPr>
              <a:t>Kiểm tra: 826,50 / 5.509,99 = 15,0% ≈ 15% khuyến mãi. Đơn này không có hoàn trả nên Net Revenue = Net Sales.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đơn hàng và giá: Orders, Units, AOV, ASP, Return Rate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Orders </a:t>
            </a:r>
            <a:r>
              <a:rPr sz="1700" b="1" i="0">
                <a:solidFill>
                  <a:srgbClr val="C00000"/>
                </a:solidFill>
                <a:latin typeface="Times New Roman"/>
                <a:ea typeface="Times New Roman"/>
                <a:cs typeface="Times New Roman"/>
              </a:rPr>
              <a:t>đếm đơn, không đếm dòng</a:t>
            </a:r>
            <a:r>
              <a:rPr sz="1700" b="0" i="0">
                <a:solidFill>
                  <a:srgbClr val="222222"/>
                </a:solidFill>
                <a:latin typeface="Times New Roman"/>
                <a:ea typeface="Times New Roman"/>
                <a:cs typeface="Times New Roman"/>
              </a:rPr>
              <a:t>; AOV, ASP và tỷ lệ hoàn trả đều chia cho Net Sales</a:t>
            </a:r>
          </a:p>
        </p:txBody>
      </p:sp>
      <p:graphicFrame>
        <p:nvGraphicFramePr>
          <p:cNvPr id="143" name="Table 142"/>
          <p:cNvGraphicFramePr>
            <a:graphicFrameLocks noGrp="1"/>
          </p:cNvGraphicFramePr>
          <p:nvPr/>
        </p:nvGraphicFramePr>
        <p:xfrm>
          <a:off x="365760" y="1371600"/>
          <a:ext cx="7223757" cy="3017514"/>
        </p:xfrm>
        <a:graphic>
          <a:graphicData uri="http://schemas.openxmlformats.org/drawingml/2006/table">
            <a:tbl>
              <a:tblPr firstRow="1">
                <a:tableStyleId>{5940675A-B579-460E-94D1-54222C63F5DA}</a:tableStyleId>
              </a:tblPr>
              <a:tblGrid>
                <a:gridCol w="1114777"/>
                <a:gridCol w="2720057"/>
                <a:gridCol w="1962008"/>
                <a:gridCol w="1426915"/>
              </a:tblGrid>
              <a:tr h="502919">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Công thức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Giá trị 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02919">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DISTINCTCOUNT(order_number)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310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Σ quantity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2.359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Sales / 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 trị trung bình mỗi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1.986,49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Giá bán trung bình mỗi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261,05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Returns / 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Tăng là xấu, đo bằng điểm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44" name="TextBox 143"/>
          <p:cNvSpPr txBox="1"/>
          <p:nvPr/>
        </p:nvSpPr>
        <p:spPr>
          <a:xfrm>
            <a:off x="365760" y="4480560"/>
            <a:ext cx="7223760" cy="320040"/>
          </a:xfrm>
          <a:prstGeom prst="rect">
            <a:avLst/>
          </a:prstGeom>
          <a:noFill/>
        </p:spPr>
        <p:txBody>
          <a:bodyPr wrap="square" lIns="45720" tIns="27432" rIns="45720" bIns="27432" anchor="t"/>
          <a:lstStyle/>
          <a:p>
            <a:pPr algn="l">
              <a:buNone/>
            </a:pPr>
            <a:r>
              <a:rPr sz="1200" b="0" i="1">
                <a:solidFill>
                  <a:srgbClr val="595959"/>
                </a:solidFill>
                <a:latin typeface="Times New Roman"/>
                <a:ea typeface="Times New Roman"/>
                <a:cs typeface="Times New Roman"/>
              </a:rPr>
              <a:t>Kiểm chứng: AOV = 615.811,74 / 310 = 1.986,49 USD/đơn</a:t>
            </a:r>
          </a:p>
        </p:txBody>
      </p:sp>
      <p:sp>
        <p:nvSpPr>
          <p:cNvPr id="145" name="Rounded Rectangle 144"/>
          <p:cNvSpPr/>
          <p:nvPr/>
        </p:nvSpPr>
        <p:spPr>
          <a:xfrm>
            <a:off x="7818120" y="1371600"/>
            <a:ext cx="402336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6" name="Rounded Rectangle 145"/>
          <p:cNvSpPr/>
          <p:nvPr/>
        </p:nvSpPr>
        <p:spPr>
          <a:xfrm>
            <a:off x="7818120" y="1371600"/>
            <a:ext cx="402336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Bốn mốc thời gian</a:t>
            </a:r>
          </a:p>
        </p:txBody>
      </p:sp>
      <p:sp>
        <p:nvSpPr>
          <p:cNvPr id="147" name="Oval 146"/>
          <p:cNvSpPr/>
          <p:nvPr/>
        </p:nvSpPr>
        <p:spPr>
          <a:xfrm>
            <a:off x="7955279" y="196596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1</a:t>
            </a:r>
          </a:p>
        </p:txBody>
      </p:sp>
      <p:sp>
        <p:nvSpPr>
          <p:cNvPr id="148" name="TextBox 147"/>
          <p:cNvSpPr txBox="1"/>
          <p:nvPr/>
        </p:nvSpPr>
        <p:spPr>
          <a:xfrm>
            <a:off x="8458200" y="189280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báo cáo</a:t>
            </a:r>
            <a:r>
              <a:rPr sz="1400" b="1" i="0">
                <a:solidFill>
                  <a:srgbClr val="222222"/>
                </a:solidFill>
                <a:latin typeface="Times New Roman"/>
                <a:ea typeface="Times New Roman"/>
                <a:cs typeface="Times New Roman"/>
              </a:rPr>
              <a:t>  12/2020</a:t>
            </a:r>
          </a:p>
          <a:p>
            <a:pPr algn="l">
              <a:buNone/>
            </a:pPr>
            <a:r>
              <a:rPr sz="1200" b="0" i="0">
                <a:solidFill>
                  <a:srgbClr val="595959"/>
                </a:solidFill>
                <a:latin typeface="Times New Roman"/>
                <a:ea typeface="Times New Roman"/>
                <a:cs typeface="Times New Roman"/>
              </a:rPr>
              <a:t>chọn trên slicer</a:t>
            </a:r>
          </a:p>
        </p:txBody>
      </p:sp>
      <p:sp>
        <p:nvSpPr>
          <p:cNvPr id="149" name="Oval 148"/>
          <p:cNvSpPr/>
          <p:nvPr/>
        </p:nvSpPr>
        <p:spPr>
          <a:xfrm>
            <a:off x="7955279" y="2834639"/>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2</a:t>
            </a:r>
          </a:p>
        </p:txBody>
      </p:sp>
      <p:sp>
        <p:nvSpPr>
          <p:cNvPr id="150" name="TextBox 149"/>
          <p:cNvSpPr txBox="1"/>
          <p:nvPr/>
        </p:nvSpPr>
        <p:spPr>
          <a:xfrm>
            <a:off x="8458200" y="276148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trước (LM)</a:t>
            </a:r>
            <a:r>
              <a:rPr sz="1400" b="1" i="0">
                <a:solidFill>
                  <a:srgbClr val="222222"/>
                </a:solidFill>
                <a:latin typeface="Times New Roman"/>
                <a:ea typeface="Times New Roman"/>
                <a:cs typeface="Times New Roman"/>
              </a:rPr>
              <a:t>  11/2020</a:t>
            </a:r>
          </a:p>
          <a:p>
            <a:pPr algn="l">
              <a:buNone/>
            </a:pPr>
            <a:r>
              <a:rPr sz="1200" b="0" i="0">
                <a:solidFill>
                  <a:srgbClr val="595959"/>
                </a:solidFill>
                <a:latin typeface="Times New Roman"/>
                <a:ea typeface="Times New Roman"/>
                <a:cs typeface="Times New Roman"/>
              </a:rPr>
              <a:t>so sánh gần nhất</a:t>
            </a:r>
          </a:p>
        </p:txBody>
      </p:sp>
      <p:sp>
        <p:nvSpPr>
          <p:cNvPr id="151" name="Oval 150"/>
          <p:cNvSpPr/>
          <p:nvPr/>
        </p:nvSpPr>
        <p:spPr>
          <a:xfrm>
            <a:off x="7955279" y="370332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3</a:t>
            </a:r>
          </a:p>
        </p:txBody>
      </p:sp>
      <p:sp>
        <p:nvSpPr>
          <p:cNvPr id="152" name="TextBox 151"/>
          <p:cNvSpPr txBox="1"/>
          <p:nvPr/>
        </p:nvSpPr>
        <p:spPr>
          <a:xfrm>
            <a:off x="8458200" y="363016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Cùng kỳ năm trước (SPLY)</a:t>
            </a:r>
            <a:r>
              <a:rPr sz="1400" b="1" i="0">
                <a:solidFill>
                  <a:srgbClr val="222222"/>
                </a:solidFill>
                <a:latin typeface="Times New Roman"/>
                <a:ea typeface="Times New Roman"/>
                <a:cs typeface="Times New Roman"/>
              </a:rPr>
              <a:t>  12/2019</a:t>
            </a:r>
          </a:p>
          <a:p>
            <a:pPr algn="l">
              <a:buNone/>
            </a:pPr>
            <a:r>
              <a:rPr sz="1200" b="0" i="0">
                <a:solidFill>
                  <a:srgbClr val="595959"/>
                </a:solidFill>
                <a:latin typeface="Times New Roman"/>
                <a:ea typeface="Times New Roman"/>
                <a:cs typeface="Times New Roman"/>
              </a:rPr>
              <a:t>loại bỏ yếu tố mùa vụ</a:t>
            </a:r>
          </a:p>
        </p:txBody>
      </p:sp>
      <p:sp>
        <p:nvSpPr>
          <p:cNvPr id="153" name="Oval 152"/>
          <p:cNvSpPr/>
          <p:nvPr/>
        </p:nvSpPr>
        <p:spPr>
          <a:xfrm>
            <a:off x="7955279" y="457200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4</a:t>
            </a:r>
          </a:p>
        </p:txBody>
      </p:sp>
      <p:sp>
        <p:nvSpPr>
          <p:cNvPr id="154" name="TextBox 153"/>
          <p:cNvSpPr txBox="1"/>
          <p:nvPr/>
        </p:nvSpPr>
        <p:spPr>
          <a:xfrm>
            <a:off x="8458200" y="449884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Lũy kế năm (YTD)</a:t>
            </a:r>
            <a:r>
              <a:rPr sz="1400" b="1" i="0">
                <a:solidFill>
                  <a:srgbClr val="222222"/>
                </a:solidFill>
                <a:latin typeface="Times New Roman"/>
                <a:ea typeface="Times New Roman"/>
                <a:cs typeface="Times New Roman"/>
              </a:rPr>
              <a:t>  01–12/2020</a:t>
            </a:r>
          </a:p>
          <a:p>
            <a:pPr algn="l">
              <a:buNone/>
            </a:pPr>
            <a:r>
              <a:rPr sz="1200" b="0" i="0">
                <a:solidFill>
                  <a:srgbClr val="595959"/>
                </a:solidFill>
                <a:latin typeface="Times New Roman"/>
                <a:ea typeface="Times New Roman"/>
                <a:cs typeface="Times New Roman"/>
              </a:rPr>
              <a:t>cộng dồn từ tháng 1</a:t>
            </a:r>
          </a:p>
        </p:txBody>
      </p:sp>
      <p:sp>
        <p:nvSpPr>
          <p:cNvPr id="155" name="TextBox 154"/>
          <p:cNvSpPr txBox="1"/>
          <p:nvPr/>
        </p:nvSpPr>
        <p:spPr>
          <a:xfrm>
            <a:off x="7955279" y="5440680"/>
            <a:ext cx="3794760" cy="50292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Δ% = (Hiện tại − Kỳ so sánh) / Kỳ so sánh</a:t>
            </a:r>
          </a:p>
        </p:txBody>
      </p:sp>
      <p:sp>
        <p:nvSpPr>
          <p:cNvPr id="156" name="Rounded Rectangle 155"/>
          <p:cNvSpPr/>
          <p:nvPr/>
        </p:nvSpPr>
        <p:spPr>
          <a:xfrm>
            <a:off x="365760" y="4892040"/>
            <a:ext cx="7223760" cy="109728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Bẫy thường gặp: </a:t>
            </a:r>
            <a:r>
              <a:rPr sz="1300" b="0" i="0">
                <a:solidFill>
                  <a:srgbClr val="222222"/>
                </a:solidFill>
                <a:latin typeface="Times New Roman"/>
                <a:ea typeface="Times New Roman"/>
                <a:cs typeface="Times New Roman"/>
              </a:rPr>
              <a:t>đếm COUNT(order_number) trên bảng dòng → số đơn bị nhân theo số sản phẩm trong đơn; tính AOV trên Gross thay vì Net Sales → AOV cao hơn thực tế.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trạng thái đơn và quy tắc ghi nhận của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a:t>
            </a:r>
            <a:r>
              <a:rPr sz="1700" b="1" i="0">
                <a:solidFill>
                  <a:srgbClr val="2E5B31"/>
                </a:solidFill>
                <a:latin typeface="Times New Roman"/>
                <a:ea typeface="Times New Roman"/>
                <a:cs typeface="Times New Roman"/>
              </a:rPr>
              <a:t>COMPLETED</a:t>
            </a:r>
            <a:r>
              <a:rPr sz="1700" b="0" i="0">
                <a:solidFill>
                  <a:srgbClr val="222222"/>
                </a:solidFill>
                <a:latin typeface="Times New Roman"/>
                <a:ea typeface="Times New Roman"/>
                <a:cs typeface="Times New Roman"/>
              </a:rPr>
              <a:t> vào doanh thu; Kế toán ghi online theo </a:t>
            </a:r>
            <a:r>
              <a:rPr sz="1700" b="1" i="0">
                <a:solidFill>
                  <a:srgbClr val="123A7A"/>
                </a:solidFill>
                <a:latin typeface="Times New Roman"/>
                <a:ea typeface="Times New Roman"/>
                <a:cs typeface="Times New Roman"/>
              </a:rPr>
              <a:t>ngày giao</a:t>
            </a:r>
            <a:r>
              <a:rPr sz="1700" b="0" i="0">
                <a:solidFill>
                  <a:srgbClr val="222222"/>
                </a:solidFill>
                <a:latin typeface="Times New Roman"/>
                <a:ea typeface="Times New Roman"/>
                <a:cs typeface="Times New Roman"/>
              </a:rPr>
              <a:t>, hoàn tiền theo </a:t>
            </a:r>
            <a:r>
              <a:rPr sz="1700" b="1" i="0">
                <a:solidFill>
                  <a:srgbClr val="123A7A"/>
                </a:solidFill>
                <a:latin typeface="Times New Roman"/>
                <a:ea typeface="Times New Roman"/>
                <a:cs typeface="Times New Roman"/>
              </a:rPr>
              <a:t>ngày ghi sổ</a:t>
            </a:r>
          </a:p>
        </p:txBody>
      </p:sp>
      <p:sp>
        <p:nvSpPr>
          <p:cNvPr id="143" name="TextBox 142"/>
          <p:cNvSpPr txBox="1"/>
          <p:nvPr/>
        </p:nvSpPr>
        <p:spPr>
          <a:xfrm>
            <a:off x="365760" y="13258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Trạng thái đơn (dim_order_status)</a:t>
            </a:r>
          </a:p>
        </p:txBody>
      </p:sp>
      <p:sp>
        <p:nvSpPr>
          <p:cNvPr id="144" name="Rounded Rectangle 143"/>
          <p:cNvSpPr/>
          <p:nvPr/>
        </p:nvSpPr>
        <p:spPr>
          <a:xfrm>
            <a:off x="365760" y="1737360"/>
            <a:ext cx="557784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365760" y="1737360"/>
            <a:ext cx="1691640" cy="91440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COMPLETED</a:t>
            </a:r>
          </a:p>
          <a:p>
            <a:pPr algn="ctr">
              <a:buNone/>
            </a:pPr>
            <a:r>
              <a:rPr sz="1200" b="0" i="0">
                <a:solidFill>
                  <a:srgbClr val="FFFFFF"/>
                </a:solidFill>
                <a:latin typeface="Times New Roman"/>
                <a:ea typeface="Times New Roman"/>
                <a:cs typeface="Times New Roman"/>
              </a:rPr>
              <a:t>25.639 đơn</a:t>
            </a:r>
          </a:p>
        </p:txBody>
      </p:sp>
      <p:sp>
        <p:nvSpPr>
          <p:cNvPr id="146" name="TextBox 145"/>
          <p:cNvSpPr txBox="1"/>
          <p:nvPr/>
        </p:nvSpPr>
        <p:spPr>
          <a:xfrm>
            <a:off x="2148840" y="1764792"/>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2E5B31"/>
                </a:solidFill>
                <a:latin typeface="Times New Roman"/>
                <a:ea typeface="Times New Roman"/>
                <a:cs typeface="Times New Roman"/>
              </a:rPr>
              <a:t>Có</a:t>
            </a:r>
          </a:p>
          <a:p>
            <a:pPr algn="l">
              <a:buNone/>
            </a:pPr>
            <a:r>
              <a:rPr sz="1200" b="0" i="0">
                <a:solidFill>
                  <a:srgbClr val="222222"/>
                </a:solidFill>
                <a:latin typeface="Times New Roman"/>
                <a:ea typeface="Times New Roman"/>
                <a:cs typeface="Times New Roman"/>
              </a:rPr>
              <a:t>Đơn đã thanh toán (POS) hoặc đã giao thành công (online)</a:t>
            </a:r>
          </a:p>
        </p:txBody>
      </p:sp>
      <p:sp>
        <p:nvSpPr>
          <p:cNvPr id="147" name="Rounded Rectangle 146"/>
          <p:cNvSpPr/>
          <p:nvPr/>
        </p:nvSpPr>
        <p:spPr>
          <a:xfrm>
            <a:off x="365760" y="2761488"/>
            <a:ext cx="557784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Rounded Rectangle 147"/>
          <p:cNvSpPr/>
          <p:nvPr/>
        </p:nvSpPr>
        <p:spPr>
          <a:xfrm>
            <a:off x="365760" y="2761488"/>
            <a:ext cx="169164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CANCELLED</a:t>
            </a:r>
          </a:p>
          <a:p>
            <a:pPr algn="ctr">
              <a:buNone/>
            </a:pPr>
            <a:r>
              <a:rPr sz="1200" b="0" i="0">
                <a:solidFill>
                  <a:srgbClr val="FFFFFF"/>
                </a:solidFill>
                <a:latin typeface="Times New Roman"/>
                <a:ea typeface="Times New Roman"/>
                <a:cs typeface="Times New Roman"/>
              </a:rPr>
              <a:t>658 đơn</a:t>
            </a:r>
          </a:p>
        </p:txBody>
      </p:sp>
      <p:sp>
        <p:nvSpPr>
          <p:cNvPr id="149" name="TextBox 148"/>
          <p:cNvSpPr txBox="1"/>
          <p:nvPr/>
        </p:nvSpPr>
        <p:spPr>
          <a:xfrm>
            <a:off x="2148840" y="2788920"/>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00000"/>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Khách huỷ hoặc thanh toán thất bại; loại khỏi mọi KPI doanh thu</a:t>
            </a:r>
          </a:p>
        </p:txBody>
      </p:sp>
      <p:sp>
        <p:nvSpPr>
          <p:cNvPr id="150" name="Rounded Rectangle 149"/>
          <p:cNvSpPr/>
          <p:nvPr/>
        </p:nvSpPr>
        <p:spPr>
          <a:xfrm>
            <a:off x="365760" y="3785616"/>
            <a:ext cx="557784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1" name="Rounded Rectangle 150"/>
          <p:cNvSpPr/>
          <p:nvPr/>
        </p:nvSpPr>
        <p:spPr>
          <a:xfrm>
            <a:off x="365760" y="3785616"/>
            <a:ext cx="1691640" cy="91440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PENDING</a:t>
            </a:r>
          </a:p>
          <a:p>
            <a:pPr algn="ctr">
              <a:buNone/>
            </a:pPr>
            <a:r>
              <a:rPr sz="1200" b="0" i="0">
                <a:solidFill>
                  <a:srgbClr val="FFFFFF"/>
                </a:solidFill>
                <a:latin typeface="Times New Roman"/>
                <a:ea typeface="Times New Roman"/>
                <a:cs typeface="Times New Roman"/>
              </a:rPr>
              <a:t>29 đơn</a:t>
            </a:r>
          </a:p>
        </p:txBody>
      </p:sp>
      <p:sp>
        <p:nvSpPr>
          <p:cNvPr id="152" name="TextBox 151"/>
          <p:cNvSpPr txBox="1"/>
          <p:nvPr/>
        </p:nvSpPr>
        <p:spPr>
          <a:xfrm>
            <a:off x="2148840" y="3813048"/>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55A11"/>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Đơn online chưa giao tại ngày trích dữ liệu 20/02/2021; chưa đủ điều kiện ghi nhận doanh thu</a:t>
            </a:r>
          </a:p>
        </p:txBody>
      </p:sp>
      <p:sp>
        <p:nvSpPr>
          <p:cNvPr id="153" name="TextBox 152"/>
          <p:cNvSpPr txBox="1"/>
          <p:nvPr/>
        </p:nvSpPr>
        <p:spPr>
          <a:xfrm>
            <a:off x="365760" y="4846320"/>
            <a:ext cx="5577840" cy="109728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Tổng 26.326 đơn = 25.639 + 658 + 29. PENDING là đơn online chưa giao tại ngày trích 20/02/2021.</a:t>
            </a:r>
          </a:p>
        </p:txBody>
      </p:sp>
      <p:sp>
        <p:nvSpPr>
          <p:cNvPr id="154" name="TextBox 153"/>
          <p:cNvSpPr txBox="1"/>
          <p:nvPr/>
        </p:nvSpPr>
        <p:spPr>
          <a:xfrm>
            <a:off x="6263640" y="1325880"/>
            <a:ext cx="5486400" cy="320040"/>
          </a:xfrm>
          <a:prstGeom prst="rect">
            <a:avLst/>
          </a:prstGeom>
          <a:noFill/>
        </p:spPr>
        <p:txBody>
          <a:bodyPr wrap="square" lIns="45720" tIns="27432" rIns="45720" bIns="27432" anchor="t"/>
          <a:lstStyle/>
          <a:p>
            <a:pPr algn="l">
              <a:buNone/>
            </a:pPr>
            <a:r>
              <a:rPr sz="1500" b="1" i="0">
                <a:solidFill>
                  <a:srgbClr val="123A7A"/>
                </a:solidFill>
                <a:latin typeface="Times New Roman"/>
                <a:ea typeface="Times New Roman"/>
                <a:cs typeface="Times New Roman"/>
              </a:rPr>
              <a:t>Kế toán ghi nhận khi nào?</a:t>
            </a:r>
          </a:p>
        </p:txBody>
      </p:sp>
      <p:sp>
        <p:nvSpPr>
          <p:cNvPr id="155" name="Rounded Rectangle 154"/>
          <p:cNvSpPr/>
          <p:nvPr/>
        </p:nvSpPr>
        <p:spPr>
          <a:xfrm>
            <a:off x="6263640" y="1737360"/>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56" name="TextBox 155"/>
          <p:cNvSpPr txBox="1"/>
          <p:nvPr/>
        </p:nvSpPr>
        <p:spPr>
          <a:xfrm>
            <a:off x="6400800" y="176479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POS · Retail</a:t>
            </a:r>
          </a:p>
          <a:p>
            <a:pPr algn="l">
              <a:buNone/>
            </a:pPr>
            <a:r>
              <a:rPr sz="1300" b="0" i="0">
                <a:solidFill>
                  <a:srgbClr val="222222"/>
                </a:solidFill>
                <a:latin typeface="Times New Roman"/>
                <a:ea typeface="Times New Roman"/>
                <a:cs typeface="Times New Roman"/>
              </a:rPr>
              <a:t>Ghi nhận doanh thu tại ngày đặt hàng (khách thanh toán và nhận hàng ngay)</a:t>
            </a:r>
          </a:p>
        </p:txBody>
      </p:sp>
      <p:sp>
        <p:nvSpPr>
          <p:cNvPr id="157" name="Rounded Rectangle 156"/>
          <p:cNvSpPr/>
          <p:nvPr/>
        </p:nvSpPr>
        <p:spPr>
          <a:xfrm>
            <a:off x="6263640" y="278892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58" name="TextBox 157"/>
          <p:cNvSpPr txBox="1"/>
          <p:nvPr/>
        </p:nvSpPr>
        <p:spPr>
          <a:xfrm>
            <a:off x="6400800" y="281635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ONLINE · E-commerce</a:t>
            </a:r>
          </a:p>
          <a:p>
            <a:pPr algn="l">
              <a:buNone/>
            </a:pPr>
            <a:r>
              <a:rPr sz="1300" b="0" i="0">
                <a:solidFill>
                  <a:srgbClr val="222222"/>
                </a:solidFill>
                <a:latin typeface="Times New Roman"/>
                <a:ea typeface="Times New Roman"/>
                <a:cs typeface="Times New Roman"/>
              </a:rPr>
              <a:t>Ghi nhận doanh thu tại ngày giao hàng thành công (delivery_date)</a:t>
            </a:r>
          </a:p>
        </p:txBody>
      </p:sp>
      <p:sp>
        <p:nvSpPr>
          <p:cNvPr id="159" name="Rounded Rectangle 158"/>
          <p:cNvSpPr/>
          <p:nvPr/>
        </p:nvSpPr>
        <p:spPr>
          <a:xfrm>
            <a:off x="6263640" y="3840479"/>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60" name="TextBox 159"/>
          <p:cNvSpPr txBox="1"/>
          <p:nvPr/>
        </p:nvSpPr>
        <p:spPr>
          <a:xfrm>
            <a:off x="6400800" y="386791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Hoàn tiền</a:t>
            </a:r>
          </a:p>
          <a:p>
            <a:pPr algn="l">
              <a:buNone/>
            </a:pPr>
            <a:r>
              <a:rPr sz="1300" b="0" i="0">
                <a:solidFill>
                  <a:srgbClr val="222222"/>
                </a:solidFill>
                <a:latin typeface="Times New Roman"/>
                <a:ea typeface="Times New Roman"/>
                <a:cs typeface="Times New Roman"/>
              </a:rPr>
              <a:t>Kế toán hạch toán vào ngày xử lý, có thể trễ vài ngày sau return_date</a:t>
            </a:r>
          </a:p>
        </p:txBody>
      </p:sp>
      <p:sp>
        <p:nvSpPr>
          <p:cNvPr id="161" name="Rounded Rectangle 160"/>
          <p:cNvSpPr/>
          <p:nvPr/>
        </p:nvSpPr>
        <p:spPr>
          <a:xfrm>
            <a:off x="6263640" y="489204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62" name="TextBox 161"/>
          <p:cNvSpPr txBox="1"/>
          <p:nvPr/>
        </p:nvSpPr>
        <p:spPr>
          <a:xfrm>
            <a:off x="6400800" y="491947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VAT</a:t>
            </a:r>
          </a:p>
          <a:p>
            <a:pPr algn="l">
              <a:buNone/>
            </a:pPr>
            <a:r>
              <a:rPr sz="1300" b="0" i="0">
                <a:solidFill>
                  <a:srgbClr val="222222"/>
                </a:solidFill>
                <a:latin typeface="Times New Roman"/>
                <a:ea typeface="Times New Roman"/>
                <a:cs typeface="Times New Roman"/>
              </a:rPr>
              <a:t>net_revenue chưa gồm VAT; vat_amount = 10% × net_revenue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Δ và ngưỡng cho phép: khi nào phải giải thích?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ô </a:t>
            </a:r>
            <a:r>
              <a:rPr sz="1700" b="1" i="0">
                <a:solidFill>
                  <a:srgbClr val="123A7A"/>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vượt </a:t>
            </a:r>
            <a:r>
              <a:rPr sz="1700" b="1" i="0">
                <a:solidFill>
                  <a:srgbClr val="C00000"/>
                </a:solidFill>
                <a:latin typeface="Times New Roman"/>
                <a:ea typeface="Times New Roman"/>
                <a:cs typeface="Times New Roman"/>
              </a:rPr>
              <a:t>cả hai</a:t>
            </a:r>
            <a:r>
              <a:rPr sz="1700" b="0" i="0">
                <a:solidFill>
                  <a:srgbClr val="222222"/>
                </a:solidFill>
                <a:latin typeface="Times New Roman"/>
                <a:ea typeface="Times New Roman"/>
                <a:cs typeface="Times New Roman"/>
              </a:rPr>
              <a:t> điều kiện mới bắt buộc giải thích</a:t>
            </a:r>
          </a:p>
        </p:txBody>
      </p:sp>
      <p:sp>
        <p:nvSpPr>
          <p:cNvPr id="143" name="Rounded Rectangle 142"/>
          <p:cNvSpPr/>
          <p:nvPr/>
        </p:nvSpPr>
        <p:spPr>
          <a:xfrm>
            <a:off x="365760" y="1371600"/>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Finance</a:t>
            </a:r>
          </a:p>
        </p:txBody>
      </p:sp>
      <p:sp>
        <p:nvSpPr>
          <p:cNvPr id="145" name="TextBox 144"/>
          <p:cNvSpPr txBox="1"/>
          <p:nvPr/>
        </p:nvSpPr>
        <p:spPr>
          <a:xfrm>
            <a:off x="2194560" y="1399032"/>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Finance Net Revenue − Net Revenue (đơn)</a:t>
            </a:r>
          </a:p>
          <a:p>
            <a:pPr algn="l">
              <a:buNone/>
            </a:pPr>
            <a:r>
              <a:rPr sz="1200" b="0" i="0">
                <a:solidFill>
                  <a:srgbClr val="595959"/>
                </a:solidFill>
                <a:latin typeface="Times New Roman"/>
                <a:ea typeface="Times New Roman"/>
                <a:cs typeface="Times New Roman"/>
              </a:rPr>
              <a:t>Dương: Kế toán ghi cao hơn dữ liệu đơn</a:t>
            </a:r>
          </a:p>
        </p:txBody>
      </p:sp>
      <p:sp>
        <p:nvSpPr>
          <p:cNvPr id="146" name="Rounded Rectangle 145"/>
          <p:cNvSpPr/>
          <p:nvPr/>
        </p:nvSpPr>
        <p:spPr>
          <a:xfrm>
            <a:off x="365760" y="2395728"/>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365760" y="2395728"/>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a:t>
            </a:r>
          </a:p>
        </p:txBody>
      </p:sp>
      <p:sp>
        <p:nvSpPr>
          <p:cNvPr id="148" name="TextBox 147"/>
          <p:cNvSpPr txBox="1"/>
          <p:nvPr/>
        </p:nvSpPr>
        <p:spPr>
          <a:xfrm>
            <a:off x="2194560" y="2423160"/>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 |Finance Net Revenue|</a:t>
            </a:r>
          </a:p>
          <a:p>
            <a:pPr algn="l">
              <a:buNone/>
            </a:pPr>
            <a:r>
              <a:rPr sz="1200" b="0" i="0">
                <a:solidFill>
                  <a:srgbClr val="595959"/>
                </a:solidFill>
                <a:latin typeface="Times New Roman"/>
                <a:ea typeface="Times New Roman"/>
                <a:cs typeface="Times New Roman"/>
              </a:rPr>
              <a:t>Chia cho trị tuyệt đối để giữ dấu của Δ</a:t>
            </a:r>
          </a:p>
        </p:txBody>
      </p:sp>
      <p:sp>
        <p:nvSpPr>
          <p:cNvPr id="149" name="Rounded Rectangle 148"/>
          <p:cNvSpPr/>
          <p:nvPr/>
        </p:nvSpPr>
        <p:spPr>
          <a:xfrm>
            <a:off x="365760" y="3419856"/>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365760" y="3419856"/>
            <a:ext cx="173736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Cờ vượt ngưỡng</a:t>
            </a:r>
          </a:p>
        </p:txBody>
      </p:sp>
      <p:sp>
        <p:nvSpPr>
          <p:cNvPr id="151" name="TextBox 150"/>
          <p:cNvSpPr txBox="1"/>
          <p:nvPr/>
        </p:nvSpPr>
        <p:spPr>
          <a:xfrm>
            <a:off x="2194560" y="3447288"/>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&gt; 200 USD  VÀ  |Δ%| &gt; 1%</a:t>
            </a:r>
          </a:p>
          <a:p>
            <a:pPr algn="l">
              <a:buNone/>
            </a:pPr>
            <a:r>
              <a:rPr sz="1200" b="0" i="0">
                <a:solidFill>
                  <a:srgbClr val="595959"/>
                </a:solidFill>
                <a:latin typeface="Times New Roman"/>
                <a:ea typeface="Times New Roman"/>
                <a:cs typeface="Times New Roman"/>
              </a:rPr>
              <a:t>Xét ở mức tháng × cửa hàng (store_key 0 = online)</a:t>
            </a:r>
          </a:p>
        </p:txBody>
      </p:sp>
      <p:sp>
        <p:nvSpPr>
          <p:cNvPr id="152" name="Rounded Rectangle 151"/>
          <p:cNvSpPr/>
          <p:nvPr/>
        </p:nvSpPr>
        <p:spPr>
          <a:xfrm>
            <a:off x="365760" y="4526280"/>
            <a:ext cx="6400800" cy="1463040"/>
          </a:xfrm>
          <a:prstGeom prst="roundRect">
            <a:avLst>
              <a:gd name="adj" fmla="val 6000"/>
            </a:avLst>
          </a:prstGeom>
          <a:solidFill>
            <a:srgbClr val="E2F0D9"/>
          </a:solidFill>
          <a:ln w="15875">
            <a:solidFill>
              <a:srgbClr val="2E5B31"/>
            </a:solidFill>
          </a:ln>
          <a:effectLst/>
        </p:spPr>
        <p:txBody>
          <a:bodyPr rtlCol="0" anchor="t" wrap="square" lIns="137160" tIns="54864" rIns="137160" bIns="36576"/>
          <a:lstStyle/>
          <a:p>
            <a:pPr algn="l">
              <a:buNone/>
            </a:pPr>
            <a:r>
              <a:rPr sz="1300" b="1" i="0">
                <a:solidFill>
                  <a:srgbClr val="2E5B31"/>
                </a:solidFill>
                <a:latin typeface="Times New Roman"/>
                <a:ea typeface="Times New Roman"/>
                <a:cs typeface="Times New Roman"/>
              </a:rPr>
              <a:t>Vì sao cần cả hai điều kiện?</a:t>
            </a:r>
          </a:p>
          <a:p>
            <a:pPr algn="l" marL="182880" indent="-182880">
              <a:buFont typeface="Arial"/>
              <a:buChar char="•"/>
            </a:pPr>
            <a:r>
              <a:rPr sz="1300" b="0" i="0">
                <a:solidFill>
                  <a:srgbClr val="222222"/>
                </a:solidFill>
                <a:latin typeface="Times New Roman"/>
                <a:ea typeface="Times New Roman"/>
                <a:cs typeface="Times New Roman"/>
              </a:rPr>
              <a:t>Cửa hàng lớn: lệch 300 USD có thể chỉ 0,1% → làm tròn, không đáng giải thích</a:t>
            </a:r>
          </a:p>
          <a:p>
            <a:pPr algn="l" marL="182880" indent="-182880">
              <a:buFont typeface="Arial"/>
              <a:buChar char="•"/>
            </a:pPr>
            <a:r>
              <a:rPr sz="1300" b="0" i="0">
                <a:solidFill>
                  <a:srgbClr val="222222"/>
                </a:solidFill>
                <a:latin typeface="Times New Roman"/>
                <a:ea typeface="Times New Roman"/>
                <a:cs typeface="Times New Roman"/>
              </a:rPr>
              <a:t>Cửa hàng nhỏ: lệch 5% nhưng chỉ 50 USD → không đáng công truy vết</a:t>
            </a:r>
          </a:p>
        </p:txBody>
      </p:sp>
      <p:sp>
        <p:nvSpPr>
          <p:cNvPr id="153" name="Rounded Rectangle 152"/>
          <p:cNvSpPr/>
          <p:nvPr/>
        </p:nvSpPr>
        <p:spPr>
          <a:xfrm>
            <a:off x="6995160" y="1371600"/>
            <a:ext cx="484632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4" name="Rounded Rectangle 153"/>
          <p:cNvSpPr/>
          <p:nvPr/>
        </p:nvSpPr>
        <p:spPr>
          <a:xfrm>
            <a:off x="6995160" y="1371600"/>
            <a:ext cx="484632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Ví dụ thật, tháng 12/2020</a:t>
            </a:r>
          </a:p>
        </p:txBody>
      </p:sp>
      <p:sp>
        <p:nvSpPr>
          <p:cNvPr id="155" name="Rounded Rectangle 154"/>
          <p:cNvSpPr/>
          <p:nvPr/>
        </p:nvSpPr>
        <p:spPr>
          <a:xfrm>
            <a:off x="7132320" y="1965960"/>
            <a:ext cx="4572000" cy="18288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6" name="TextBox 155"/>
          <p:cNvSpPr txBox="1"/>
          <p:nvPr/>
        </p:nvSpPr>
        <p:spPr>
          <a:xfrm>
            <a:off x="7269480" y="2011679"/>
            <a:ext cx="4343400" cy="1737360"/>
          </a:xfrm>
          <a:prstGeom prst="rect">
            <a:avLst/>
          </a:prstGeom>
          <a:noFill/>
        </p:spPr>
        <p:txBody>
          <a:bodyPr wrap="square" lIns="45720" tIns="27432" rIns="45720" bIns="27432" anchor="t"/>
          <a:lstStyle/>
          <a:p>
            <a:pPr algn="l">
              <a:spcAft>
                <a:spcPts val="300"/>
              </a:spcAft>
              <a:buNone/>
            </a:pPr>
            <a:r>
              <a:rPr sz="1300" b="1" i="0">
                <a:solidFill>
                  <a:srgbClr val="2E5B31"/>
                </a:solidFill>
                <a:latin typeface="Times New Roman"/>
                <a:ea typeface="Times New Roman"/>
                <a:cs typeface="Times New Roman"/>
              </a:rPr>
              <a:t>Cửa hàng S62 (United States)</a:t>
            </a:r>
          </a:p>
          <a:p>
            <a:pPr algn="l">
              <a:spcAft>
                <a:spcPts val="300"/>
              </a:spcAft>
              <a:buNone/>
            </a:pPr>
            <a:r>
              <a:rPr sz="1300" b="0" i="0">
                <a:solidFill>
                  <a:srgbClr val="222222"/>
                </a:solidFill>
                <a:latin typeface="Times New Roman"/>
                <a:ea typeface="Times New Roman"/>
                <a:cs typeface="Times New Roman"/>
              </a:rPr>
              <a:t>Đơn: 6.191,92 · Kế toán: 6.278,89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+86,97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+1,4%</a:t>
            </a:r>
          </a:p>
          <a:p>
            <a:pPr algn="l">
              <a:spcAft>
                <a:spcPts val="300"/>
              </a:spcAft>
              <a:buNone/>
            </a:pPr>
            <a:r>
              <a:rPr sz="1300" b="0" i="1">
                <a:solidFill>
                  <a:srgbClr val="2E5B31"/>
                </a:solidFill>
                <a:latin typeface="Times New Roman"/>
                <a:ea typeface="Times New Roman"/>
                <a:cs typeface="Times New Roman"/>
              </a:rPr>
              <a:t>Trong ngưỡng: ghi nhận, không bắt buộc giải thích</a:t>
            </a:r>
          </a:p>
        </p:txBody>
      </p:sp>
      <p:sp>
        <p:nvSpPr>
          <p:cNvPr id="157" name="Rounded Rectangle 156"/>
          <p:cNvSpPr/>
          <p:nvPr/>
        </p:nvSpPr>
        <p:spPr>
          <a:xfrm>
            <a:off x="7132320" y="3931920"/>
            <a:ext cx="4572000" cy="18288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8" name="TextBox 157"/>
          <p:cNvSpPr txBox="1"/>
          <p:nvPr/>
        </p:nvSpPr>
        <p:spPr>
          <a:xfrm>
            <a:off x="7269480" y="3977639"/>
            <a:ext cx="4343400" cy="1737360"/>
          </a:xfrm>
          <a:prstGeom prst="rect">
            <a:avLst/>
          </a:prstGeom>
          <a:noFill/>
        </p:spPr>
        <p:txBody>
          <a:bodyPr wrap="square" lIns="45720" tIns="27432" rIns="45720" bIns="27432" anchor="t"/>
          <a:lstStyle/>
          <a:p>
            <a:pPr algn="l">
              <a:spcAft>
                <a:spcPts val="300"/>
              </a:spcAft>
              <a:buNone/>
            </a:pPr>
            <a:r>
              <a:rPr sz="1300" b="1" i="0">
                <a:solidFill>
                  <a:srgbClr val="C00000"/>
                </a:solidFill>
                <a:latin typeface="Times New Roman"/>
                <a:ea typeface="Times New Roman"/>
                <a:cs typeface="Times New Roman"/>
              </a:rPr>
              <a:t>Cửa hàng S12 (France)</a:t>
            </a:r>
          </a:p>
          <a:p>
            <a:pPr algn="l">
              <a:spcAft>
                <a:spcPts val="300"/>
              </a:spcAft>
              <a:buNone/>
            </a:pPr>
            <a:r>
              <a:rPr sz="1300" b="0" i="0">
                <a:solidFill>
                  <a:srgbClr val="222222"/>
                </a:solidFill>
                <a:latin typeface="Times New Roman"/>
                <a:ea typeface="Times New Roman"/>
                <a:cs typeface="Times New Roman"/>
              </a:rPr>
              <a:t>Đơn: 20.853,35 · Kế toán: 30.994,39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+10.141,04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+32,7%</a:t>
            </a:r>
          </a:p>
          <a:p>
            <a:pPr algn="l">
              <a:spcAft>
                <a:spcPts val="300"/>
              </a:spcAft>
              <a:buNone/>
            </a:pPr>
            <a:r>
              <a:rPr sz="1300" b="0" i="1">
                <a:solidFill>
                  <a:srgbClr val="C00000"/>
                </a:solidFill>
                <a:latin typeface="Times New Roman"/>
                <a:ea typeface="Times New Roman"/>
                <a:cs typeface="Times New Roman"/>
              </a:rPr>
              <a:t>Vượt ngưỡng: phải tìm nguyên nhân và số tiền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dữ liệu: từ file nguồn đến dashboard và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Học viên làm 5 bước trong Excel: </a:t>
            </a:r>
            <a:r>
              <a:rPr sz="1700" b="1" i="0">
                <a:solidFill>
                  <a:srgbClr val="2E5B31"/>
                </a:solidFill>
                <a:latin typeface="Times New Roman"/>
                <a:ea typeface="Times New Roman"/>
                <a:cs typeface="Times New Roman"/>
              </a:rPr>
              <a:t>Power Query → Data Model → DAX → 4 sheet → Báo cáo</a:t>
            </a:r>
          </a:p>
        </p:txBody>
      </p:sp>
      <p:pic>
        <p:nvPicPr>
          <p:cNvPr id="143" name="Picture 142" descr="01_pipeline_du_lieu.png"/>
          <p:cNvPicPr>
            <a:picLocks noChangeAspect="1"/>
          </p:cNvPicPr>
          <p:nvPr/>
        </p:nvPicPr>
        <p:blipFill>
          <a:blip r:embed="rId3"/>
          <a:stretch>
            <a:fillRect/>
          </a:stretch>
        </p:blipFill>
        <p:spPr>
          <a:xfrm>
            <a:off x="587231" y="1325880"/>
            <a:ext cx="11032776" cy="47091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Cấu trúc bộ dữ liệu Nexa Home và hai bảng dữ kiện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bảng có </a:t>
            </a:r>
            <a:r>
              <a:rPr sz="1700" b="1" i="0">
                <a:solidFill>
                  <a:srgbClr val="C00000"/>
                </a:solidFill>
                <a:latin typeface="Times New Roman"/>
                <a:ea typeface="Times New Roman"/>
                <a:cs typeface="Times New Roman"/>
              </a:rPr>
              <a:t>hạt dữ liệu (grain)</a:t>
            </a:r>
            <a:r>
              <a:rPr sz="1700" b="0" i="0">
                <a:solidFill>
                  <a:srgbClr val="222222"/>
                </a:solidFill>
                <a:latin typeface="Times New Roman"/>
                <a:ea typeface="Times New Roman"/>
                <a:cs typeface="Times New Roman"/>
              </a:rPr>
              <a:t> khác nhau: dòng sản phẩm, lần trả hàng, ngày × mã cửa hàng Kế toán</a:t>
            </a:r>
          </a:p>
        </p:txBody>
      </p:sp>
      <p:sp>
        <p:nvSpPr>
          <p:cNvPr id="143" name="Rounded Rectangle 142"/>
          <p:cNvSpPr/>
          <p:nvPr/>
        </p:nvSpPr>
        <p:spPr>
          <a:xfrm>
            <a:off x="365760" y="1371600"/>
            <a:ext cx="2697480" cy="9601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371600"/>
            <a:ext cx="1005840" cy="960120"/>
          </a:xfrm>
          <a:prstGeom prst="rect">
            <a:avLst/>
          </a:prstGeom>
          <a:noFill/>
        </p:spPr>
        <p:txBody>
          <a:bodyPr wrap="square" lIns="45720" tIns="27432" rIns="45720" bIns="27432" anchor="ctr"/>
          <a:lstStyle/>
          <a:p>
            <a:pPr algn="ctr">
              <a:buNone/>
            </a:pPr>
            <a:r>
              <a:rPr sz="2600" b="1" i="0">
                <a:solidFill>
                  <a:srgbClr val="2E5B31"/>
                </a:solidFill>
                <a:latin typeface="Times New Roman"/>
                <a:ea typeface="Times New Roman"/>
                <a:cs typeface="Times New Roman"/>
              </a:rPr>
              <a:t>2</a:t>
            </a:r>
          </a:p>
        </p:txBody>
      </p:sp>
      <p:sp>
        <p:nvSpPr>
          <p:cNvPr id="145" name="TextBox 144"/>
          <p:cNvSpPr txBox="1"/>
          <p:nvPr/>
        </p:nvSpPr>
        <p:spPr>
          <a:xfrm>
            <a:off x="132588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file</a:t>
            </a:r>
          </a:p>
          <a:p>
            <a:pPr algn="l">
              <a:buNone/>
            </a:pPr>
            <a:r>
              <a:rPr sz="1200" b="0" i="0">
                <a:solidFill>
                  <a:srgbClr val="595959"/>
                </a:solidFill>
                <a:latin typeface="Times New Roman"/>
                <a:ea typeface="Times New Roman"/>
                <a:cs typeface="Times New Roman"/>
              </a:rPr>
              <a:t>Dataset + Kế toán</a:t>
            </a:r>
          </a:p>
        </p:txBody>
      </p:sp>
      <p:sp>
        <p:nvSpPr>
          <p:cNvPr id="146" name="Rounded Rectangle 145"/>
          <p:cNvSpPr/>
          <p:nvPr/>
        </p:nvSpPr>
        <p:spPr>
          <a:xfrm>
            <a:off x="3246120" y="1371600"/>
            <a:ext cx="2697480" cy="9601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371600"/>
            <a:ext cx="1005840" cy="960120"/>
          </a:xfrm>
          <a:prstGeom prst="rect">
            <a:avLst/>
          </a:prstGeom>
          <a:noFill/>
        </p:spPr>
        <p:txBody>
          <a:bodyPr wrap="square" lIns="45720" tIns="27432" rIns="45720" bIns="27432" anchor="ctr"/>
          <a:lstStyle/>
          <a:p>
            <a:pPr algn="ctr">
              <a:buNone/>
            </a:pPr>
            <a:r>
              <a:rPr sz="2600" b="1" i="0">
                <a:solidFill>
                  <a:srgbClr val="C55A11"/>
                </a:solidFill>
                <a:latin typeface="Times New Roman"/>
                <a:ea typeface="Times New Roman"/>
                <a:cs typeface="Times New Roman"/>
              </a:rPr>
              <a:t>2 + 1</a:t>
            </a:r>
          </a:p>
        </p:txBody>
      </p:sp>
      <p:sp>
        <p:nvSpPr>
          <p:cNvPr id="148" name="TextBox 147"/>
          <p:cNvSpPr txBox="1"/>
          <p:nvPr/>
        </p:nvSpPr>
        <p:spPr>
          <a:xfrm>
            <a:off x="420624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dữ kiện</a:t>
            </a:r>
          </a:p>
          <a:p>
            <a:pPr algn="l">
              <a:buNone/>
            </a:pPr>
            <a:r>
              <a:rPr sz="1200" b="0" i="0">
                <a:solidFill>
                  <a:srgbClr val="595959"/>
                </a:solidFill>
                <a:latin typeface="Times New Roman"/>
                <a:ea typeface="Times New Roman"/>
                <a:cs typeface="Times New Roman"/>
              </a:rPr>
              <a:t>đơn · trả hàng · Kế toán</a:t>
            </a:r>
          </a:p>
        </p:txBody>
      </p:sp>
      <p:sp>
        <p:nvSpPr>
          <p:cNvPr id="149" name="Rounded Rectangle 148"/>
          <p:cNvSpPr/>
          <p:nvPr/>
        </p:nvSpPr>
        <p:spPr>
          <a:xfrm>
            <a:off x="6126480" y="1371600"/>
            <a:ext cx="2697480" cy="9601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371600"/>
            <a:ext cx="1005840" cy="960120"/>
          </a:xfrm>
          <a:prstGeom prst="rect">
            <a:avLst/>
          </a:prstGeom>
          <a:noFill/>
        </p:spPr>
        <p:txBody>
          <a:bodyPr wrap="square" lIns="45720" tIns="27432" rIns="45720" bIns="27432" anchor="ctr"/>
          <a:lstStyle/>
          <a:p>
            <a:pPr algn="ctr">
              <a:buNone/>
            </a:pPr>
            <a:r>
              <a:rPr sz="2600" b="1" i="0">
                <a:solidFill>
                  <a:srgbClr val="123A7A"/>
                </a:solidFill>
                <a:latin typeface="Times New Roman"/>
                <a:ea typeface="Times New Roman"/>
                <a:cs typeface="Times New Roman"/>
              </a:rPr>
              <a:t>7</a:t>
            </a:r>
          </a:p>
        </p:txBody>
      </p:sp>
      <p:sp>
        <p:nvSpPr>
          <p:cNvPr id="151" name="TextBox 150"/>
          <p:cNvSpPr txBox="1"/>
          <p:nvPr/>
        </p:nvSpPr>
        <p:spPr>
          <a:xfrm>
            <a:off x="708660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chiều</a:t>
            </a:r>
          </a:p>
          <a:p>
            <a:pPr algn="l">
              <a:buNone/>
            </a:pPr>
            <a:r>
              <a:rPr sz="1200" b="0" i="0">
                <a:solidFill>
                  <a:srgbClr val="595959"/>
                </a:solidFill>
                <a:latin typeface="Times New Roman"/>
                <a:ea typeface="Times New Roman"/>
                <a:cs typeface="Times New Roman"/>
              </a:rPr>
              <a:t>ngày, cửa hàng, sản phẩm…</a:t>
            </a:r>
          </a:p>
        </p:txBody>
      </p:sp>
      <p:sp>
        <p:nvSpPr>
          <p:cNvPr id="152" name="Rounded Rectangle 151"/>
          <p:cNvSpPr/>
          <p:nvPr/>
        </p:nvSpPr>
        <p:spPr>
          <a:xfrm>
            <a:off x="9006840" y="1371600"/>
            <a:ext cx="2697480" cy="9601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TextBox 152"/>
          <p:cNvSpPr txBox="1"/>
          <p:nvPr/>
        </p:nvSpPr>
        <p:spPr>
          <a:xfrm>
            <a:off x="9006840" y="1371600"/>
            <a:ext cx="1005840" cy="960120"/>
          </a:xfrm>
          <a:prstGeom prst="rect">
            <a:avLst/>
          </a:prstGeom>
          <a:noFill/>
        </p:spPr>
        <p:txBody>
          <a:bodyPr wrap="square" lIns="45720" tIns="27432" rIns="45720" bIns="27432" anchor="ctr"/>
          <a:lstStyle/>
          <a:p>
            <a:pPr algn="ctr">
              <a:buNone/>
            </a:pPr>
            <a:r>
              <a:rPr sz="2600" b="1" i="0">
                <a:solidFill>
                  <a:srgbClr val="C00000"/>
                </a:solidFill>
                <a:latin typeface="Times New Roman"/>
                <a:ea typeface="Times New Roman"/>
                <a:cs typeface="Times New Roman"/>
              </a:rPr>
              <a:t>1</a:t>
            </a:r>
          </a:p>
        </p:txBody>
      </p:sp>
      <p:sp>
        <p:nvSpPr>
          <p:cNvPr id="154" name="TextBox 153"/>
          <p:cNvSpPr txBox="1"/>
          <p:nvPr/>
        </p:nvSpPr>
        <p:spPr>
          <a:xfrm>
            <a:off x="996696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map</a:t>
            </a:r>
          </a:p>
          <a:p>
            <a:pPr algn="l">
              <a:buNone/>
            </a:pPr>
            <a:r>
              <a:rPr sz="1200" b="0" i="0">
                <a:solidFill>
                  <a:srgbClr val="595959"/>
                </a:solidFill>
                <a:latin typeface="Times New Roman"/>
                <a:ea typeface="Times New Roman"/>
                <a:cs typeface="Times New Roman"/>
              </a:rPr>
              <a:t>mã Kế toán → store_key</a:t>
            </a:r>
          </a:p>
        </p:txBody>
      </p:sp>
      <p:sp>
        <p:nvSpPr>
          <p:cNvPr id="155" name="Rounded Rectangle 154"/>
          <p:cNvSpPr/>
          <p:nvPr/>
        </p:nvSpPr>
        <p:spPr>
          <a:xfrm>
            <a:off x="365760" y="2514600"/>
            <a:ext cx="3657600" cy="3474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365760" y="2514600"/>
            <a:ext cx="3657600" cy="457200"/>
          </a:xfrm>
          <a:prstGeom prst="roundRect">
            <a:avLst>
              <a:gd name="adj" fmla="val 15000"/>
            </a:avLst>
          </a:prstGeom>
          <a:solidFill>
            <a:srgbClr val="2E5B3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fact_sales_line</a:t>
            </a:r>
            <a:r>
              <a:rPr sz="1200" b="0" i="0">
                <a:solidFill>
                  <a:srgbClr val="FFFFFF"/>
                </a:solidFill>
                <a:latin typeface="Times New Roman"/>
                <a:ea typeface="Times New Roman"/>
                <a:cs typeface="Times New Roman"/>
              </a:rPr>
              <a:t>   63.004 dòng</a:t>
            </a:r>
          </a:p>
        </p:txBody>
      </p:sp>
      <p:sp>
        <p:nvSpPr>
          <p:cNvPr id="157" name="TextBox 156"/>
          <p:cNvSpPr txBox="1"/>
          <p:nvPr/>
        </p:nvSpPr>
        <p:spPr>
          <a:xfrm>
            <a:off x="457200" y="3017520"/>
            <a:ext cx="3474720" cy="29260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sản phẩm trong một đơn</a:t>
            </a:r>
          </a:p>
          <a:p>
            <a:pPr algn="l">
              <a:spcBef>
                <a:spcPts val="600"/>
              </a:spcBef>
              <a:buNone/>
            </a:pPr>
            <a:r>
              <a:rPr sz="1300" b="1" i="0">
                <a:solidFill>
                  <a:srgbClr val="2E5B3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order_number · line_item · order_date · delivery_date · store_key · channel_code · product_key · quantity · unit_price · promo_code · discount_amount · order_status</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Có 120 dòng trùng hoàn toàn cần loại</a:t>
            </a:r>
          </a:p>
        </p:txBody>
      </p:sp>
      <p:sp>
        <p:nvSpPr>
          <p:cNvPr id="158" name="Rounded Rectangle 157"/>
          <p:cNvSpPr/>
          <p:nvPr/>
        </p:nvSpPr>
        <p:spPr>
          <a:xfrm>
            <a:off x="4206240" y="2514600"/>
            <a:ext cx="3657600" cy="3474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4206240" y="2514600"/>
            <a:ext cx="3657600" cy="457200"/>
          </a:xfrm>
          <a:prstGeom prst="roundRect">
            <a:avLst>
              <a:gd name="adj" fmla="val 15000"/>
            </a:avLst>
          </a:prstGeom>
          <a:solidFill>
            <a:srgbClr val="C55A1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fact_return</a:t>
            </a:r>
            <a:r>
              <a:rPr sz="1200" b="0" i="0">
                <a:solidFill>
                  <a:srgbClr val="FFFFFF"/>
                </a:solidFill>
                <a:latin typeface="Times New Roman"/>
                <a:ea typeface="Times New Roman"/>
                <a:cs typeface="Times New Roman"/>
              </a:rPr>
              <a:t>   2.430 dòng</a:t>
            </a:r>
          </a:p>
        </p:txBody>
      </p:sp>
      <p:sp>
        <p:nvSpPr>
          <p:cNvPr id="160" name="TextBox 159"/>
          <p:cNvSpPr txBox="1"/>
          <p:nvPr/>
        </p:nvSpPr>
        <p:spPr>
          <a:xfrm>
            <a:off x="4297680" y="3017520"/>
            <a:ext cx="3474720" cy="29260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lần trả hàng của một dòng bán</a:t>
            </a:r>
          </a:p>
          <a:p>
            <a:pPr algn="l">
              <a:spcBef>
                <a:spcPts val="600"/>
              </a:spcBef>
              <a:buNone/>
            </a:pPr>
            <a:r>
              <a:rPr sz="1300" b="1" i="0">
                <a:solidFill>
                  <a:srgbClr val="C55A1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return_id · order_number · line_item · return_date · return_qty · return_amount · return_reason</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Không có store_key: lấy qua order_number + line_item</a:t>
            </a:r>
          </a:p>
        </p:txBody>
      </p:sp>
      <p:sp>
        <p:nvSpPr>
          <p:cNvPr id="161" name="Rounded Rectangle 160"/>
          <p:cNvSpPr/>
          <p:nvPr/>
        </p:nvSpPr>
        <p:spPr>
          <a:xfrm>
            <a:off x="8046720" y="2514600"/>
            <a:ext cx="3657600" cy="3474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2" name="Rounded Rectangle 161"/>
          <p:cNvSpPr/>
          <p:nvPr/>
        </p:nvSpPr>
        <p:spPr>
          <a:xfrm>
            <a:off x="8046720" y="2514600"/>
            <a:ext cx="3657600" cy="457200"/>
          </a:xfrm>
          <a:prstGeom prst="roundRect">
            <a:avLst>
              <a:gd name="adj" fmla="val 15000"/>
            </a:avLst>
          </a:prstGeom>
          <a:solidFill>
            <a:srgbClr val="123A7A"/>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finance_revenue</a:t>
            </a:r>
            <a:r>
              <a:rPr sz="1200" b="0" i="0">
                <a:solidFill>
                  <a:srgbClr val="FFFFFF"/>
                </a:solidFill>
                <a:latin typeface="Times New Roman"/>
                <a:ea typeface="Times New Roman"/>
                <a:cs typeface="Times New Roman"/>
              </a:rPr>
              <a:t>   19.400 dòng</a:t>
            </a:r>
          </a:p>
        </p:txBody>
      </p:sp>
      <p:sp>
        <p:nvSpPr>
          <p:cNvPr id="163" name="TextBox 162"/>
          <p:cNvSpPr txBox="1"/>
          <p:nvPr/>
        </p:nvSpPr>
        <p:spPr>
          <a:xfrm>
            <a:off x="8138160" y="3017520"/>
            <a:ext cx="3474720" cy="29260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ngày ghi sổ × một mã cửa hàng Kế toán</a:t>
            </a:r>
          </a:p>
          <a:p>
            <a:pPr algn="l">
              <a:spcBef>
                <a:spcPts val="600"/>
              </a:spcBef>
              <a:buNone/>
            </a:pPr>
            <a:r>
              <a:rPr sz="1300" b="1" i="0">
                <a:solidFill>
                  <a:srgbClr val="123A7A"/>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posting_date · fin_store_code · fin_channel · entry_type · revenue_recognized · refunds · net_revenue · vat_amount</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fin_store_code ≠ store_key: phải map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Các bảng chiều và bảng hỗ trợ: dùng để lọc, nhóm và quy đổi</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dim_date phải được </a:t>
            </a:r>
            <a:r>
              <a:rPr sz="1700" b="1" i="0">
                <a:solidFill>
                  <a:srgbClr val="123A7A"/>
                </a:solidFill>
                <a:latin typeface="Times New Roman"/>
                <a:ea typeface="Times New Roman"/>
                <a:cs typeface="Times New Roman"/>
              </a:rPr>
              <a:t>Mark as date table</a:t>
            </a:r>
            <a:r>
              <a:rPr sz="1700" b="0" i="0">
                <a:solidFill>
                  <a:srgbClr val="222222"/>
                </a:solidFill>
                <a:latin typeface="Times New Roman"/>
                <a:ea typeface="Times New Roman"/>
                <a:cs typeface="Times New Roman"/>
              </a:rPr>
              <a:t> để dùng DATEADD, SAMEPERIODLASTYEAR, DATESYTD</a:t>
            </a:r>
          </a:p>
        </p:txBody>
      </p:sp>
      <p:sp>
        <p:nvSpPr>
          <p:cNvPr id="143" name="Rounded Rectangle 142"/>
          <p:cNvSpPr/>
          <p:nvPr/>
        </p:nvSpPr>
        <p:spPr>
          <a:xfrm>
            <a:off x="36576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dim_date</a:t>
            </a:r>
            <a:r>
              <a:rPr sz="1200" b="0" i="0">
                <a:solidFill>
                  <a:srgbClr val="FFFFFF"/>
                </a:solidFill>
                <a:latin typeface="Times New Roman"/>
                <a:ea typeface="Times New Roman"/>
                <a:cs typeface="Times New Roman"/>
              </a:rPr>
              <a:t> · 1.917</a:t>
            </a:r>
          </a:p>
        </p:txBody>
      </p:sp>
      <p:pic>
        <p:nvPicPr>
          <p:cNvPr id="145" name="Picture 144" descr="image.png"/>
          <p:cNvPicPr>
            <a:picLocks noChangeAspect="1"/>
          </p:cNvPicPr>
          <p:nvPr/>
        </p:nvPicPr>
        <p:blipFill>
          <a:blip r:embed="rId3"/>
          <a:stretch>
            <a:fillRect/>
          </a:stretch>
        </p:blipFill>
        <p:spPr>
          <a:xfrm>
            <a:off x="457200" y="1938528"/>
            <a:ext cx="411480" cy="411480"/>
          </a:xfrm>
          <a:prstGeom prst="rect">
            <a:avLst/>
          </a:prstGeom>
        </p:spPr>
      </p:pic>
      <p:sp>
        <p:nvSpPr>
          <p:cNvPr id="146" name="TextBox 145"/>
          <p:cNvSpPr txBox="1"/>
          <p:nvPr/>
        </p:nvSpPr>
        <p:spPr>
          <a:xfrm>
            <a:off x="93268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ngày</a:t>
            </a:r>
          </a:p>
        </p:txBody>
      </p:sp>
      <p:sp>
        <p:nvSpPr>
          <p:cNvPr id="147" name="TextBox 146"/>
          <p:cNvSpPr txBox="1"/>
          <p:nvPr/>
        </p:nvSpPr>
        <p:spPr>
          <a:xfrm>
            <a:off x="45720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date · month_id · month_label · year · has_data</a:t>
            </a:r>
          </a:p>
        </p:txBody>
      </p:sp>
      <p:sp>
        <p:nvSpPr>
          <p:cNvPr id="148" name="Rounded Rectangle 147"/>
          <p:cNvSpPr/>
          <p:nvPr/>
        </p:nvSpPr>
        <p:spPr>
          <a:xfrm>
            <a:off x="324612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9" name="Rounded Rectangle 148"/>
          <p:cNvSpPr/>
          <p:nvPr/>
        </p:nvSpPr>
        <p:spPr>
          <a:xfrm>
            <a:off x="324612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dim_store</a:t>
            </a:r>
            <a:r>
              <a:rPr sz="1200" b="0" i="0">
                <a:solidFill>
                  <a:srgbClr val="FFFFFF"/>
                </a:solidFill>
                <a:latin typeface="Times New Roman"/>
                <a:ea typeface="Times New Roman"/>
                <a:cs typeface="Times New Roman"/>
              </a:rPr>
              <a:t> · 67</a:t>
            </a:r>
          </a:p>
        </p:txBody>
      </p:sp>
      <p:pic>
        <p:nvPicPr>
          <p:cNvPr id="150" name="Picture 149" descr="image.png"/>
          <p:cNvPicPr>
            <a:picLocks noChangeAspect="1"/>
          </p:cNvPicPr>
          <p:nvPr/>
        </p:nvPicPr>
        <p:blipFill>
          <a:blip r:embed="rId4"/>
          <a:stretch>
            <a:fillRect/>
          </a:stretch>
        </p:blipFill>
        <p:spPr>
          <a:xfrm>
            <a:off x="3337560" y="1938528"/>
            <a:ext cx="411480" cy="411480"/>
          </a:xfrm>
          <a:prstGeom prst="rect">
            <a:avLst/>
          </a:prstGeom>
        </p:spPr>
      </p:pic>
      <p:sp>
        <p:nvSpPr>
          <p:cNvPr id="151" name="TextBox 150"/>
          <p:cNvSpPr txBox="1"/>
          <p:nvPr/>
        </p:nvSpPr>
        <p:spPr>
          <a:xfrm>
            <a:off x="381304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cửa hàng (0 = Online)</a:t>
            </a:r>
          </a:p>
        </p:txBody>
      </p:sp>
      <p:sp>
        <p:nvSpPr>
          <p:cNvPr id="152" name="TextBox 151"/>
          <p:cNvSpPr txBox="1"/>
          <p:nvPr/>
        </p:nvSpPr>
        <p:spPr>
          <a:xfrm>
            <a:off x="333756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store_key · store_code · channel_code · country · region</a:t>
            </a:r>
          </a:p>
        </p:txBody>
      </p:sp>
      <p:sp>
        <p:nvSpPr>
          <p:cNvPr id="153" name="Rounded Rectangle 152"/>
          <p:cNvSpPr/>
          <p:nvPr/>
        </p:nvSpPr>
        <p:spPr>
          <a:xfrm>
            <a:off x="612648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Rounded Rectangle 153"/>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dim_product</a:t>
            </a:r>
            <a:r>
              <a:rPr sz="1200" b="0" i="0">
                <a:solidFill>
                  <a:srgbClr val="FFFFFF"/>
                </a:solidFill>
                <a:latin typeface="Times New Roman"/>
                <a:ea typeface="Times New Roman"/>
                <a:cs typeface="Times New Roman"/>
              </a:rPr>
              <a:t> · 2.517</a:t>
            </a:r>
          </a:p>
        </p:txBody>
      </p:sp>
      <p:pic>
        <p:nvPicPr>
          <p:cNvPr id="155" name="Picture 154" descr="image.png"/>
          <p:cNvPicPr>
            <a:picLocks noChangeAspect="1"/>
          </p:cNvPicPr>
          <p:nvPr/>
        </p:nvPicPr>
        <p:blipFill>
          <a:blip r:embed="rId5"/>
          <a:stretch>
            <a:fillRect/>
          </a:stretch>
        </p:blipFill>
        <p:spPr>
          <a:xfrm>
            <a:off x="6217920" y="1938528"/>
            <a:ext cx="411480" cy="411480"/>
          </a:xfrm>
          <a:prstGeom prst="rect">
            <a:avLst/>
          </a:prstGeom>
        </p:spPr>
      </p:pic>
      <p:sp>
        <p:nvSpPr>
          <p:cNvPr id="156" name="TextBox 155"/>
          <p:cNvSpPr txBox="1"/>
          <p:nvPr/>
        </p:nvSpPr>
        <p:spPr>
          <a:xfrm>
            <a:off x="669340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sản phẩm</a:t>
            </a:r>
          </a:p>
        </p:txBody>
      </p:sp>
      <p:sp>
        <p:nvSpPr>
          <p:cNvPr id="157" name="TextBox 156"/>
          <p:cNvSpPr txBox="1"/>
          <p:nvPr/>
        </p:nvSpPr>
        <p:spPr>
          <a:xfrm>
            <a:off x="621792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product_key · category · subcategory · brand</a:t>
            </a:r>
          </a:p>
        </p:txBody>
      </p:sp>
      <p:sp>
        <p:nvSpPr>
          <p:cNvPr id="158" name="Rounded Rectangle 157"/>
          <p:cNvSpPr/>
          <p:nvPr/>
        </p:nvSpPr>
        <p:spPr>
          <a:xfrm>
            <a:off x="9006840" y="1371600"/>
            <a:ext cx="2697480" cy="2240280"/>
          </a:xfrm>
          <a:prstGeom prst="roundRect">
            <a:avLst>
              <a:gd name="adj" fmla="val 6000"/>
            </a:avLst>
          </a:prstGeom>
          <a:solidFill>
            <a:srgbClr val="FFFFFF"/>
          </a:solidFill>
          <a:ln w="19050">
            <a:solidFill>
              <a:srgbClr val="7F7F7F"/>
            </a:solidFill>
          </a:ln>
          <a:effectLst/>
        </p:spPr>
        <p:txBody>
          <a:bodyPr rtlCol="0" anchor="ctr" wrap="square" lIns="73152" tIns="36576" rIns="73152" bIns="36576"/>
          <a:lstStyle/>
          <a:p>
            <a:pPr algn="ctr"/>
          </a:p>
        </p:txBody>
      </p:sp>
      <p:sp>
        <p:nvSpPr>
          <p:cNvPr id="159" name="Rounded Rectangle 158"/>
          <p:cNvSpPr/>
          <p:nvPr/>
        </p:nvSpPr>
        <p:spPr>
          <a:xfrm>
            <a:off x="9006840" y="1371600"/>
            <a:ext cx="2697480" cy="457200"/>
          </a:xfrm>
          <a:prstGeom prst="roundRect">
            <a:avLst>
              <a:gd name="adj" fmla="val 15000"/>
            </a:avLst>
          </a:prstGeom>
          <a:solidFill>
            <a:srgbClr val="7F7F7F"/>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dim_customer</a:t>
            </a:r>
            <a:r>
              <a:rPr sz="1200" b="0" i="0">
                <a:solidFill>
                  <a:srgbClr val="FFFFFF"/>
                </a:solidFill>
                <a:latin typeface="Times New Roman"/>
                <a:ea typeface="Times New Roman"/>
                <a:cs typeface="Times New Roman"/>
              </a:rPr>
              <a:t> · 15.266</a:t>
            </a:r>
          </a:p>
        </p:txBody>
      </p:sp>
      <p:pic>
        <p:nvPicPr>
          <p:cNvPr id="160" name="Picture 159" descr="image.png"/>
          <p:cNvPicPr>
            <a:picLocks noChangeAspect="1"/>
          </p:cNvPicPr>
          <p:nvPr/>
        </p:nvPicPr>
        <p:blipFill>
          <a:blip r:embed="rId6"/>
          <a:stretch>
            <a:fillRect/>
          </a:stretch>
        </p:blipFill>
        <p:spPr>
          <a:xfrm>
            <a:off x="9098280" y="1938528"/>
            <a:ext cx="411480" cy="411480"/>
          </a:xfrm>
          <a:prstGeom prst="rect">
            <a:avLst/>
          </a:prstGeom>
        </p:spPr>
      </p:pic>
      <p:sp>
        <p:nvSpPr>
          <p:cNvPr id="161" name="TextBox 160"/>
          <p:cNvSpPr txBox="1"/>
          <p:nvPr/>
        </p:nvSpPr>
        <p:spPr>
          <a:xfrm>
            <a:off x="9573767"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Bảng bổ sung (sáng tạo)</a:t>
            </a:r>
          </a:p>
        </p:txBody>
      </p:sp>
      <p:sp>
        <p:nvSpPr>
          <p:cNvPr id="162" name="TextBox 161"/>
          <p:cNvSpPr txBox="1"/>
          <p:nvPr/>
        </p:nvSpPr>
        <p:spPr>
          <a:xfrm>
            <a:off x="909828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customer_key · country · continent</a:t>
            </a:r>
          </a:p>
        </p:txBody>
      </p:sp>
      <p:sp>
        <p:nvSpPr>
          <p:cNvPr id="163" name="Rounded Rectangle 162"/>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4" name="Rounded Rectangle 163"/>
          <p:cNvSpPr/>
          <p:nvPr/>
        </p:nvSpPr>
        <p:spPr>
          <a:xfrm>
            <a:off x="36576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dim_channel</a:t>
            </a:r>
            <a:r>
              <a:rPr sz="1200" b="0" i="0">
                <a:solidFill>
                  <a:srgbClr val="FFFFFF"/>
                </a:solidFill>
                <a:latin typeface="Times New Roman"/>
                <a:ea typeface="Times New Roman"/>
                <a:cs typeface="Times New Roman"/>
              </a:rPr>
              <a:t> · 2</a:t>
            </a:r>
          </a:p>
        </p:txBody>
      </p:sp>
      <p:pic>
        <p:nvPicPr>
          <p:cNvPr id="165" name="Picture 164" descr="image.png"/>
          <p:cNvPicPr>
            <a:picLocks noChangeAspect="1"/>
          </p:cNvPicPr>
          <p:nvPr/>
        </p:nvPicPr>
        <p:blipFill>
          <a:blip r:embed="rId7"/>
          <a:stretch>
            <a:fillRect/>
          </a:stretch>
        </p:blipFill>
        <p:spPr>
          <a:xfrm>
            <a:off x="457200" y="4315968"/>
            <a:ext cx="411480" cy="411480"/>
          </a:xfrm>
          <a:prstGeom prst="rect">
            <a:avLst/>
          </a:prstGeom>
        </p:spPr>
      </p:pic>
      <p:sp>
        <p:nvSpPr>
          <p:cNvPr id="166" name="TextBox 165"/>
          <p:cNvSpPr txBox="1"/>
          <p:nvPr/>
        </p:nvSpPr>
        <p:spPr>
          <a:xfrm>
            <a:off x="93268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POS / ONLINE + quy tắc ghi nhận</a:t>
            </a:r>
          </a:p>
        </p:txBody>
      </p:sp>
      <p:sp>
        <p:nvSpPr>
          <p:cNvPr id="167" name="TextBox 166"/>
          <p:cNvSpPr txBox="1"/>
          <p:nvPr/>
        </p:nvSpPr>
        <p:spPr>
          <a:xfrm>
            <a:off x="45720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channel_code · fin_channel · revenue_recognition_rule</a:t>
            </a:r>
          </a:p>
        </p:txBody>
      </p:sp>
      <p:sp>
        <p:nvSpPr>
          <p:cNvPr id="168" name="Rounded Rectangle 167"/>
          <p:cNvSpPr/>
          <p:nvPr/>
        </p:nvSpPr>
        <p:spPr>
          <a:xfrm>
            <a:off x="324612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9" name="Rounded Rectangle 168"/>
          <p:cNvSpPr/>
          <p:nvPr/>
        </p:nvSpPr>
        <p:spPr>
          <a:xfrm>
            <a:off x="324612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dim_promotion</a:t>
            </a:r>
            <a:r>
              <a:rPr sz="1200" b="0" i="0">
                <a:solidFill>
                  <a:srgbClr val="FFFFFF"/>
                </a:solidFill>
                <a:latin typeface="Times New Roman"/>
                <a:ea typeface="Times New Roman"/>
                <a:cs typeface="Times New Roman"/>
              </a:rPr>
              <a:t> · 7</a:t>
            </a:r>
          </a:p>
        </p:txBody>
      </p:sp>
      <p:pic>
        <p:nvPicPr>
          <p:cNvPr id="170" name="Picture 169" descr="image.png"/>
          <p:cNvPicPr>
            <a:picLocks noChangeAspect="1"/>
          </p:cNvPicPr>
          <p:nvPr/>
        </p:nvPicPr>
        <p:blipFill>
          <a:blip r:embed="rId8"/>
          <a:stretch>
            <a:fillRect/>
          </a:stretch>
        </p:blipFill>
        <p:spPr>
          <a:xfrm>
            <a:off x="3337560" y="4315968"/>
            <a:ext cx="411480" cy="411480"/>
          </a:xfrm>
          <a:prstGeom prst="rect">
            <a:avLst/>
          </a:prstGeom>
        </p:spPr>
      </p:pic>
      <p:sp>
        <p:nvSpPr>
          <p:cNvPr id="171" name="TextBox 170"/>
          <p:cNvSpPr txBox="1"/>
          <p:nvPr/>
        </p:nvSpPr>
        <p:spPr>
          <a:xfrm>
            <a:off x="381304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khuyến mãi và % giảm</a:t>
            </a:r>
          </a:p>
        </p:txBody>
      </p:sp>
      <p:sp>
        <p:nvSpPr>
          <p:cNvPr id="172" name="TextBox 171"/>
          <p:cNvSpPr txBox="1"/>
          <p:nvPr/>
        </p:nvSpPr>
        <p:spPr>
          <a:xfrm>
            <a:off x="333756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promo_code · promo_name · discount_pct</a:t>
            </a:r>
          </a:p>
        </p:txBody>
      </p:sp>
      <p:sp>
        <p:nvSpPr>
          <p:cNvPr id="173" name="Rounded Rectangle 172"/>
          <p:cNvSpPr/>
          <p:nvPr/>
        </p:nvSpPr>
        <p:spPr>
          <a:xfrm>
            <a:off x="612648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74" name="Rounded Rectangle 173"/>
          <p:cNvSpPr/>
          <p:nvPr/>
        </p:nvSpPr>
        <p:spPr>
          <a:xfrm>
            <a:off x="612648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dim_order_status</a:t>
            </a:r>
            <a:r>
              <a:rPr sz="1200" b="0" i="0">
                <a:solidFill>
                  <a:srgbClr val="FFFFFF"/>
                </a:solidFill>
                <a:latin typeface="Times New Roman"/>
                <a:ea typeface="Times New Roman"/>
                <a:cs typeface="Times New Roman"/>
              </a:rPr>
              <a:t> · 3</a:t>
            </a:r>
          </a:p>
        </p:txBody>
      </p:sp>
      <p:pic>
        <p:nvPicPr>
          <p:cNvPr id="175" name="Picture 174" descr="image.png"/>
          <p:cNvPicPr>
            <a:picLocks noChangeAspect="1"/>
          </p:cNvPicPr>
          <p:nvPr/>
        </p:nvPicPr>
        <p:blipFill>
          <a:blip r:embed="rId9"/>
          <a:stretch>
            <a:fillRect/>
          </a:stretch>
        </p:blipFill>
        <p:spPr>
          <a:xfrm>
            <a:off x="6217920" y="4315968"/>
            <a:ext cx="411480" cy="411480"/>
          </a:xfrm>
          <a:prstGeom prst="rect">
            <a:avLst/>
          </a:prstGeom>
        </p:spPr>
      </p:pic>
      <p:sp>
        <p:nvSpPr>
          <p:cNvPr id="176" name="TextBox 175"/>
          <p:cNvSpPr txBox="1"/>
          <p:nvPr/>
        </p:nvSpPr>
        <p:spPr>
          <a:xfrm>
            <a:off x="669340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Trạng thái và có tính doanh thu không</a:t>
            </a:r>
          </a:p>
        </p:txBody>
      </p:sp>
      <p:sp>
        <p:nvSpPr>
          <p:cNvPr id="177" name="TextBox 176"/>
          <p:cNvSpPr txBox="1"/>
          <p:nvPr/>
        </p:nvSpPr>
        <p:spPr>
          <a:xfrm>
            <a:off x="621792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order_status · count_in_revenue</a:t>
            </a:r>
          </a:p>
        </p:txBody>
      </p:sp>
      <p:sp>
        <p:nvSpPr>
          <p:cNvPr id="178" name="Rounded Rectangle 177"/>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9" name="Rounded Rectangle 178"/>
          <p:cNvSpPr/>
          <p:nvPr/>
        </p:nvSpPr>
        <p:spPr>
          <a:xfrm>
            <a:off x="9006840" y="3749039"/>
            <a:ext cx="2697480" cy="457200"/>
          </a:xfrm>
          <a:prstGeom prst="roundRect">
            <a:avLst>
              <a:gd name="adj" fmla="val 15000"/>
            </a:avLst>
          </a:prstGeom>
          <a:solidFill>
            <a:srgbClr val="C00000"/>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map_store_finance</a:t>
            </a:r>
            <a:r>
              <a:rPr sz="1200" b="0" i="0">
                <a:solidFill>
                  <a:srgbClr val="FFFFFF"/>
                </a:solidFill>
                <a:latin typeface="Times New Roman"/>
                <a:ea typeface="Times New Roman"/>
                <a:cs typeface="Times New Roman"/>
              </a:rPr>
              <a:t> · 69</a:t>
            </a:r>
          </a:p>
        </p:txBody>
      </p:sp>
      <p:pic>
        <p:nvPicPr>
          <p:cNvPr id="180" name="Picture 179" descr="image.png"/>
          <p:cNvPicPr>
            <a:picLocks noChangeAspect="1"/>
          </p:cNvPicPr>
          <p:nvPr/>
        </p:nvPicPr>
        <p:blipFill>
          <a:blip r:embed="rId10"/>
          <a:stretch>
            <a:fillRect/>
          </a:stretch>
        </p:blipFill>
        <p:spPr>
          <a:xfrm>
            <a:off x="9098280" y="4315968"/>
            <a:ext cx="411480" cy="411480"/>
          </a:xfrm>
          <a:prstGeom prst="rect">
            <a:avLst/>
          </a:prstGeom>
        </p:spPr>
      </p:pic>
      <p:sp>
        <p:nvSpPr>
          <p:cNvPr id="181" name="TextBox 180"/>
          <p:cNvSpPr txBox="1"/>
          <p:nvPr/>
        </p:nvSpPr>
        <p:spPr>
          <a:xfrm>
            <a:off x="9573767"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Kế toán → store_key theo hiệu lực</a:t>
            </a:r>
          </a:p>
        </p:txBody>
      </p:sp>
      <p:sp>
        <p:nvSpPr>
          <p:cNvPr id="182" name="TextBox 181"/>
          <p:cNvSpPr txBox="1"/>
          <p:nvPr/>
        </p:nvSpPr>
        <p:spPr>
          <a:xfrm>
            <a:off x="909828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fin_store_code · store_key · valid_from · valid_to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Mô hình dữ liệu dạng lược đồ hình sao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Quan hệ </a:t>
            </a:r>
            <a:r>
              <a:rPr sz="1700" b="1" i="0">
                <a:solidFill>
                  <a:srgbClr val="2E5B31"/>
                </a:solidFill>
                <a:latin typeface="Times New Roman"/>
                <a:ea typeface="Times New Roman"/>
                <a:cs typeface="Times New Roman"/>
              </a:rPr>
              <a:t>1 → nhiều, lọc một chiều</a:t>
            </a:r>
            <a:r>
              <a:rPr sz="1700" b="0" i="0">
                <a:solidFill>
                  <a:srgbClr val="222222"/>
                </a:solidFill>
                <a:latin typeface="Times New Roman"/>
                <a:ea typeface="Times New Roman"/>
                <a:cs typeface="Times New Roman"/>
              </a:rPr>
              <a:t>; delivery_date là quan hệ </a:t>
            </a:r>
            <a:r>
              <a:rPr sz="1700" b="1" i="0">
                <a:solidFill>
                  <a:srgbClr val="C55A11"/>
                </a:solidFill>
                <a:latin typeface="Times New Roman"/>
                <a:ea typeface="Times New Roman"/>
                <a:cs typeface="Times New Roman"/>
              </a:rPr>
              <a:t>inactive</a:t>
            </a:r>
            <a:r>
              <a:rPr sz="1700" b="0" i="0">
                <a:solidFill>
                  <a:srgbClr val="222222"/>
                </a:solidFill>
                <a:latin typeface="Times New Roman"/>
                <a:ea typeface="Times New Roman"/>
                <a:cs typeface="Times New Roman"/>
              </a:rPr>
              <a:t>, bật bằng USERELATIONSHIP</a:t>
            </a:r>
          </a:p>
        </p:txBody>
      </p:sp>
      <p:pic>
        <p:nvPicPr>
          <p:cNvPr id="143" name="Picture 142" descr="02_mo_hinh_du_lieu.png"/>
          <p:cNvPicPr>
            <a:picLocks noChangeAspect="1"/>
          </p:cNvPicPr>
          <p:nvPr/>
        </p:nvPicPr>
        <p:blipFill>
          <a:blip r:embed="rId3"/>
          <a:stretch>
            <a:fillRect/>
          </a:stretch>
        </p:blipFill>
        <p:spPr>
          <a:xfrm>
            <a:off x="716699" y="1298448"/>
            <a:ext cx="6887641" cy="4754880"/>
          </a:xfrm>
          <a:prstGeom prst="rect">
            <a:avLst/>
          </a:prstGeom>
        </p:spPr>
      </p:pic>
      <p:sp>
        <p:nvSpPr>
          <p:cNvPr id="144" name="Rounded Rectangle 143"/>
          <p:cNvSpPr/>
          <p:nvPr/>
        </p:nvSpPr>
        <p:spPr>
          <a:xfrm>
            <a:off x="8138160" y="1371600"/>
            <a:ext cx="370332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8138160" y="1371600"/>
            <a:ext cx="370332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dựng trong Excel (Power Pivot)</a:t>
            </a:r>
          </a:p>
        </p:txBody>
      </p:sp>
      <p:sp>
        <p:nvSpPr>
          <p:cNvPr id="146" name="TextBox 145"/>
          <p:cNvSpPr txBox="1"/>
          <p:nvPr/>
        </p:nvSpPr>
        <p:spPr>
          <a:xfrm>
            <a:off x="8229600" y="1920240"/>
            <a:ext cx="352044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Power Pivot → Manage → Diagram View</a:t>
            </a:r>
            <a:r>
              <a:rPr sz="1300" b="0" i="0">
                <a:solidFill>
                  <a:srgbClr val="222222"/>
                </a:solidFill>
                <a:latin typeface="Times New Roman"/>
                <a:ea typeface="Times New Roman"/>
                <a:cs typeface="Times New Roman"/>
              </a:rPr>
              <a:t>: kéo khoá ở dim thả lên cột ở fact</a:t>
            </a:r>
          </a:p>
          <a:p>
            <a:pPr algn="l" marL="182880" indent="-182880">
              <a:spcAft>
                <a:spcPts val="600"/>
              </a:spcAft>
              <a:buFont typeface="Arial"/>
              <a:buChar char="•"/>
            </a:pPr>
            <a:r>
              <a:rPr sz="1300" b="1" i="0">
                <a:solidFill>
                  <a:srgbClr val="222222"/>
                </a:solidFill>
                <a:latin typeface="Times New Roman"/>
                <a:ea typeface="Times New Roman"/>
                <a:cs typeface="Times New Roman"/>
              </a:rPr>
              <a:t>delivery_date</a:t>
            </a:r>
            <a:r>
              <a:rPr sz="1300" b="0" i="0">
                <a:solidFill>
                  <a:srgbClr val="222222"/>
                </a:solidFill>
                <a:latin typeface="Times New Roman"/>
                <a:ea typeface="Times New Roman"/>
                <a:cs typeface="Times New Roman"/>
              </a:rPr>
              <a:t>: kéo dim_date[date] lần 2 → Excel tự để inactive (nét đứt)</a:t>
            </a:r>
          </a:p>
          <a:p>
            <a:pPr algn="l" marL="182880" indent="-182880">
              <a:spcAft>
                <a:spcPts val="600"/>
              </a:spcAft>
              <a:buFont typeface="Arial"/>
              <a:buChar char="•"/>
            </a:pPr>
            <a:r>
              <a:rPr sz="1300" b="1" i="0">
                <a:solidFill>
                  <a:srgbClr val="222222"/>
                </a:solidFill>
                <a:latin typeface="Times New Roman"/>
                <a:ea typeface="Times New Roman"/>
                <a:cs typeface="Times New Roman"/>
              </a:rPr>
              <a:t>Mark as Date Table</a:t>
            </a:r>
            <a:r>
              <a:rPr sz="1300" b="0" i="0">
                <a:solidFill>
                  <a:srgbClr val="222222"/>
                </a:solidFill>
                <a:latin typeface="Times New Roman"/>
                <a:ea typeface="Times New Roman"/>
                <a:cs typeface="Times New Roman"/>
              </a:rPr>
              <a:t> cho dim_date; Sort by Column: month_label theo month_id</a:t>
            </a:r>
          </a:p>
          <a:p>
            <a:pPr algn="l" marL="182880" indent="-182880">
              <a:spcAft>
                <a:spcPts val="600"/>
              </a:spcAft>
              <a:buFont typeface="Arial"/>
              <a:buChar char="•"/>
            </a:pPr>
            <a:r>
              <a:rPr sz="1300" b="0" i="0">
                <a:solidFill>
                  <a:srgbClr val="222222"/>
                </a:solidFill>
                <a:latin typeface="Times New Roman"/>
                <a:ea typeface="Times New Roman"/>
                <a:cs typeface="Times New Roman"/>
              </a:rPr>
              <a:t>fact_return, fact_finance: lấy store_key trong Power Query trước khi nạp</a:t>
            </a:r>
          </a:p>
          <a:p>
            <a:pPr algn="l" marL="182880" indent="-182880">
              <a:spcAft>
                <a:spcPts val="600"/>
              </a:spcAft>
              <a:buFont typeface="Arial"/>
              <a:buChar char="•"/>
            </a:pPr>
            <a:r>
              <a:rPr sz="1300" b="0" i="0">
                <a:solidFill>
                  <a:srgbClr val="222222"/>
                </a:solidFill>
                <a:latin typeface="Times New Roman"/>
                <a:ea typeface="Times New Roman"/>
                <a:cs typeface="Times New Roman"/>
              </a:rPr>
              <a:t>dim_channel → dim_store: slicer Kênh lọc được cả Kế toán và hoàn trả</a:t>
            </a:r>
          </a:p>
          <a:p>
            <a:pPr algn="l" marL="182880" indent="-182880">
              <a:spcAft>
                <a:spcPts val="600"/>
              </a:spcAft>
              <a:buFont typeface="Arial"/>
              <a:buChar char="•"/>
            </a:pPr>
            <a:r>
              <a:rPr sz="1300" b="0" i="0">
                <a:solidFill>
                  <a:srgbClr val="222222"/>
                </a:solidFill>
                <a:latin typeface="Times New Roman"/>
                <a:ea typeface="Times New Roman"/>
                <a:cs typeface="Times New Roman"/>
              </a:rPr>
              <a:t>Không nối 2 bảng dữ kiện trực tiếp với nhau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map_store_finance: quy đổi mã cửa hàng Kế toán theo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Join chỉ theo fin_store_code là </a:t>
            </a:r>
            <a:r>
              <a:rPr sz="1700" b="1" i="0">
                <a:solidFill>
                  <a:srgbClr val="C00000"/>
                </a:solidFill>
                <a:latin typeface="Times New Roman"/>
                <a:ea typeface="Times New Roman"/>
                <a:cs typeface="Times New Roman"/>
              </a:rPr>
              <a:t>chưa đủ</a:t>
            </a:r>
            <a:r>
              <a:rPr sz="1700" b="0" i="0">
                <a:solidFill>
                  <a:srgbClr val="222222"/>
                </a:solidFill>
                <a:latin typeface="Times New Roman"/>
                <a:ea typeface="Times New Roman"/>
                <a:cs typeface="Times New Roman"/>
              </a:rPr>
              <a:t>: phải thêm điều kiện posting_date nằm trong [valid_from, valid_to]</a:t>
            </a:r>
          </a:p>
        </p:txBody>
      </p:sp>
      <p:graphicFrame>
        <p:nvGraphicFramePr>
          <p:cNvPr id="143" name="Table 142"/>
          <p:cNvGraphicFramePr>
            <a:graphicFrameLocks noGrp="1"/>
          </p:cNvGraphicFramePr>
          <p:nvPr/>
        </p:nvGraphicFramePr>
        <p:xfrm>
          <a:off x="365760" y="1371600"/>
          <a:ext cx="11475717" cy="2286000"/>
        </p:xfrm>
        <a:graphic>
          <a:graphicData uri="http://schemas.openxmlformats.org/drawingml/2006/table">
            <a:tbl>
              <a:tblPr firstRow="1">
                <a:tableStyleId>{5940675A-B579-460E-94D1-54222C63F5DA}</a:tableStyleId>
              </a:tblPr>
              <a:tblGrid>
                <a:gridCol w="1624880"/>
                <a:gridCol w="1117105"/>
                <a:gridCol w="1320215"/>
                <a:gridCol w="1320215"/>
                <a:gridCol w="6093302"/>
              </a:tblGrid>
              <a:tr h="381000">
                <a:tc>
                  <a:txBody>
                    <a:bodyPr/>
                    <a:lstStyle/>
                    <a:p>
                      <a:pPr algn="l">
                        <a:buNone/>
                      </a:pPr>
                      <a:r>
                        <a:rPr sz="1300" b="1" i="0">
                          <a:solidFill>
                            <a:srgbClr val="FFFFFF"/>
                          </a:solidFill>
                          <a:latin typeface="Times New Roman"/>
                          <a:ea typeface="Times New Roman"/>
                          <a:cs typeface="Times New Roman"/>
                        </a:rPr>
                        <a:t>fin_store_code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valid_from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valid_to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1000">
                <a:tc>
                  <a:txBody>
                    <a:bodyPr/>
                    <a:lstStyle/>
                    <a:p>
                      <a:pPr algn="l">
                        <a:buNone/>
                      </a:pPr>
                      <a:r>
                        <a:rPr sz="1300" b="0" i="0">
                          <a:solidFill>
                            <a:srgbClr val="222222"/>
                          </a:solidFill>
                          <a:latin typeface="Times New Roman"/>
                          <a:ea typeface="Times New Roman"/>
                          <a:cs typeface="Times New Roman"/>
                        </a:rPr>
                        <a:t>ECOM-01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AUS-01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GBR-03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30/06/2019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cũ, ngừng dùng sau khi đổi hệ thống kế toán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GBR-03N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mới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0" i="0">
                          <a:solidFill>
                            <a:srgbClr val="222222"/>
                          </a:solidFill>
                          <a:latin typeface="Times New Roman"/>
                          <a:ea typeface="Times New Roman"/>
                          <a:cs typeface="Times New Roman"/>
                        </a:rPr>
                        <a:t>Bút toán điều chỉnh tại văn phòng chính, không thuộc cửa hàng nào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365760" y="3840480"/>
            <a:ext cx="3657600" cy="2148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365760" y="384048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1 · Đổi mã cửa hàng</a:t>
            </a:r>
          </a:p>
        </p:txBody>
      </p:sp>
      <p:sp>
        <p:nvSpPr>
          <p:cNvPr id="146" name="TextBox 145"/>
          <p:cNvSpPr txBox="1"/>
          <p:nvPr/>
        </p:nvSpPr>
        <p:spPr>
          <a:xfrm>
            <a:off x="47548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Cửa hàng 38 dùng mã GBR-03 đến 30/06/2019, sau đó GBR-03N. Gõ tay bảng mã theo mã cũ → doanh thu từ 07/2019 thành "không xác định cửa hàng"; luôn dùng map_store_finance kèm ngày hiệu lực.</a:t>
            </a:r>
          </a:p>
        </p:txBody>
      </p:sp>
      <p:sp>
        <p:nvSpPr>
          <p:cNvPr id="147" name="Rounded Rectangle 146"/>
          <p:cNvSpPr/>
          <p:nvPr/>
        </p:nvSpPr>
        <p:spPr>
          <a:xfrm>
            <a:off x="4206240" y="3840480"/>
            <a:ext cx="3657600" cy="21488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4206240" y="384048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2 · Dòng HQ-ADJ</a:t>
            </a:r>
          </a:p>
        </p:txBody>
      </p:sp>
      <p:sp>
        <p:nvSpPr>
          <p:cNvPr id="149" name="TextBox 148"/>
          <p:cNvSpPr txBox="1"/>
          <p:nvPr/>
        </p:nvSpPr>
        <p:spPr>
          <a:xfrm>
            <a:off x="431596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Bút toán điều chỉnh tại văn phòng chính, store_key trống. Không gán vào cửa hàng nào; giải thích ở cấp tổng chuỗi.</a:t>
            </a:r>
          </a:p>
        </p:txBody>
      </p:sp>
      <p:sp>
        <p:nvSpPr>
          <p:cNvPr id="150" name="Rounded Rectangle 149"/>
          <p:cNvSpPr/>
          <p:nvPr/>
        </p:nvSpPr>
        <p:spPr>
          <a:xfrm>
            <a:off x="8046720" y="3840480"/>
            <a:ext cx="3657600" cy="2148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Rounded Rectangle 150"/>
          <p:cNvSpPr/>
          <p:nvPr/>
        </p:nvSpPr>
        <p:spPr>
          <a:xfrm>
            <a:off x="8046720" y="384048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làm trong Power Query</a:t>
            </a:r>
          </a:p>
        </p:txBody>
      </p:sp>
      <p:sp>
        <p:nvSpPr>
          <p:cNvPr id="152" name="TextBox 151"/>
          <p:cNvSpPr txBox="1"/>
          <p:nvPr/>
        </p:nvSpPr>
        <p:spPr>
          <a:xfrm>
            <a:off x="815644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Merge finance với map theo fin_store_code → lọc posting_date ≥ valid_from và ≤ valid_to → kiểm tra số dòng vẫn = 19.400.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làm sạch và số dòng phải khớp sau khi nạp (QC_Summary)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Chưa khớp số dòng thì </a:t>
            </a:r>
            <a:r>
              <a:rPr sz="1700" b="1" i="0">
                <a:solidFill>
                  <a:srgbClr val="C00000"/>
                </a:solidFill>
                <a:latin typeface="Times New Roman"/>
                <a:ea typeface="Times New Roman"/>
                <a:cs typeface="Times New Roman"/>
              </a:rPr>
              <a:t>chưa tính KPI</a:t>
            </a:r>
            <a:r>
              <a:rPr sz="1700" b="0" i="0">
                <a:solidFill>
                  <a:srgbClr val="222222"/>
                </a:solidFill>
                <a:latin typeface="Times New Roman"/>
                <a:ea typeface="Times New Roman"/>
                <a:cs typeface="Times New Roman"/>
              </a:rPr>
              <a:t>: mọi sai lệch phía sau đều bắt đầu từ bước này</a:t>
            </a:r>
          </a:p>
        </p:txBody>
      </p:sp>
      <p:graphicFrame>
        <p:nvGraphicFramePr>
          <p:cNvPr id="143" name="Table 142"/>
          <p:cNvGraphicFramePr>
            <a:graphicFrameLocks noGrp="1"/>
          </p:cNvGraphicFramePr>
          <p:nvPr/>
        </p:nvGraphicFramePr>
        <p:xfrm>
          <a:off x="365760" y="1371600"/>
          <a:ext cx="7680960" cy="4617720"/>
        </p:xfrm>
        <a:graphic>
          <a:graphicData uri="http://schemas.openxmlformats.org/drawingml/2006/table">
            <a:tbl>
              <a:tblPr firstRow="1">
                <a:tableStyleId>{5940675A-B579-460E-94D1-54222C63F5DA}</a:tableStyleId>
              </a:tblPr>
              <a:tblGrid>
                <a:gridCol w="2651760"/>
                <a:gridCol w="1828800"/>
                <a:gridCol w="3200400"/>
              </a:tblGrid>
              <a:tr h="513080">
                <a:tc>
                  <a:txBody>
                    <a:bodyPr/>
                    <a:lstStyle/>
                    <a:p>
                      <a:pPr algn="l">
                        <a:buNone/>
                      </a:pPr>
                      <a:r>
                        <a:rPr sz="1300" b="1" i="0">
                          <a:solidFill>
                            <a:srgbClr val="FFFFFF"/>
                          </a:solidFill>
                          <a:latin typeface="Times New Roman"/>
                          <a:ea typeface="Times New Roman"/>
                          <a:cs typeface="Times New Roman"/>
                        </a:rPr>
                        <a:t>Kiểm 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Kết quả cần khớp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13080">
                <a:tc>
                  <a:txBody>
                    <a:bodyPr/>
                    <a:lstStyle/>
                    <a:p>
                      <a:pPr algn="l">
                        <a:buNone/>
                      </a:pPr>
                      <a:r>
                        <a:rPr sz="1300" b="1" i="0">
                          <a:solidFill>
                            <a:srgbClr val="222222"/>
                          </a:solidFill>
                          <a:latin typeface="Times New Roman"/>
                          <a:ea typeface="Times New Roman"/>
                          <a:cs typeface="Times New Roman"/>
                        </a:rPr>
                        <a:t>fact_sales_line nạp vào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63.004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Gồm dòng trùng cài sẵn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Bỏ dòng trùng hoàn toàn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− 120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Còn 62.884 dòng; khoá order_number + line_item duy nhất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Tổng số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26.326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Đếm phân biệt 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25.639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Chỉ nhóm này vào KPI 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Đơn CANCELLED /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658 / 29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Loại khỏi 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Mỗi dòng khớp 1 dòng bán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finance_revenue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Sau khi map vẫn đủ số dòng, không nhân đôi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dim_store / dim_product / dim_date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67 / 2.517 / 1.917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dim_date phủ 01/01/2016 → 31/03/2021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8275320" y="1371600"/>
            <a:ext cx="356616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275320" y="1371600"/>
            <a:ext cx="356616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Ba quy tắc làm sạch</a:t>
            </a:r>
          </a:p>
        </p:txBody>
      </p:sp>
      <p:sp>
        <p:nvSpPr>
          <p:cNvPr id="146" name="TextBox 145"/>
          <p:cNvSpPr txBox="1"/>
          <p:nvPr/>
        </p:nvSpPr>
        <p:spPr>
          <a:xfrm>
            <a:off x="8366760" y="1920240"/>
            <a:ext cx="3383280" cy="40233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1. Bỏ trùng</a:t>
            </a:r>
          </a:p>
          <a:p>
            <a:pPr algn="l">
              <a:spcAft>
                <a:spcPts val="800"/>
              </a:spcAft>
              <a:buNone/>
            </a:pPr>
            <a:r>
              <a:rPr sz="1300" b="0" i="0">
                <a:solidFill>
                  <a:srgbClr val="222222"/>
                </a:solidFill>
                <a:latin typeface="Times New Roman"/>
                <a:ea typeface="Times New Roman"/>
                <a:cs typeface="Times New Roman"/>
              </a:rPr>
              <a:t>Power Query → Remove Duplicates trên toàn bộ cột</a:t>
            </a:r>
          </a:p>
          <a:p>
            <a:pPr algn="l">
              <a:buNone/>
            </a:pPr>
            <a:r>
              <a:rPr sz="1300" b="1" i="0">
                <a:solidFill>
                  <a:srgbClr val="C55A11"/>
                </a:solidFill>
                <a:latin typeface="Times New Roman"/>
                <a:ea typeface="Times New Roman"/>
                <a:cs typeface="Times New Roman"/>
              </a:rPr>
              <a:t>2. Lọc trạng thái</a:t>
            </a:r>
          </a:p>
          <a:p>
            <a:pPr algn="l">
              <a:spcAft>
                <a:spcPts val="800"/>
              </a:spcAft>
              <a:buNone/>
            </a:pPr>
            <a:r>
              <a:rPr sz="1300" b="0" i="0">
                <a:solidFill>
                  <a:srgbClr val="222222"/>
                </a:solidFill>
                <a:latin typeface="Times New Roman"/>
                <a:ea typeface="Times New Roman"/>
                <a:cs typeface="Times New Roman"/>
              </a:rPr>
              <a:t>Giữ dữ liệu đủ cột, lọc COMPLETED trong số đo để vẫn đếm được đơn huỷ</a:t>
            </a:r>
          </a:p>
          <a:p>
            <a:pPr algn="l">
              <a:buNone/>
            </a:pPr>
            <a:r>
              <a:rPr sz="1300" b="1" i="0">
                <a:solidFill>
                  <a:srgbClr val="C55A11"/>
                </a:solidFill>
                <a:latin typeface="Times New Roman"/>
                <a:ea typeface="Times New Roman"/>
                <a:cs typeface="Times New Roman"/>
              </a:rPr>
              <a:t>3. Đúng kiểu dữ liệu</a:t>
            </a:r>
          </a:p>
          <a:p>
            <a:pPr algn="l">
              <a:buNone/>
            </a:pPr>
            <a:r>
              <a:rPr sz="1300" b="0" i="0">
                <a:solidFill>
                  <a:srgbClr val="222222"/>
                </a:solidFill>
                <a:latin typeface="Times New Roman"/>
                <a:ea typeface="Times New Roman"/>
                <a:cs typeface="Times New Roman"/>
              </a:rPr>
              <a:t>Ngày là Date, tiền là Fixed decimal (Currency), store_key là Whole Number ở mọi bảng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Power Query: mỗi query một làn, mỗi bước một Applied Step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Ô cam là bước </a:t>
            </a:r>
            <a:r>
              <a:rPr sz="1700" b="1" i="0">
                <a:solidFill>
                  <a:srgbClr val="C55A11"/>
                </a:solidFill>
                <a:latin typeface="Times New Roman"/>
                <a:ea typeface="Times New Roman"/>
                <a:cs typeface="Times New Roman"/>
              </a:rPr>
              <a:t>đổi số dòng hoặc ghép bảng</a:t>
            </a:r>
            <a:r>
              <a:rPr sz="1700" b="0" i="0">
                <a:solidFill>
                  <a:srgbClr val="222222"/>
                </a:solidFill>
                <a:latin typeface="Times New Roman"/>
                <a:ea typeface="Times New Roman"/>
                <a:cs typeface="Times New Roman"/>
              </a:rPr>
              <a:t>: kiểm số dòng ngay sau bước đó, trước khi làm bước tiếp</a:t>
            </a:r>
          </a:p>
        </p:txBody>
      </p:sp>
      <p:pic>
        <p:nvPicPr>
          <p:cNvPr id="143" name="Picture 142" descr="05_power_query_pipeline.png"/>
          <p:cNvPicPr>
            <a:picLocks noChangeAspect="1"/>
          </p:cNvPicPr>
          <p:nvPr/>
        </p:nvPicPr>
        <p:blipFill>
          <a:blip r:embed="rId3"/>
          <a:stretch>
            <a:fillRect/>
          </a:stretch>
        </p:blipFill>
        <p:spPr>
          <a:xfrm>
            <a:off x="713965" y="1298448"/>
            <a:ext cx="10779309" cy="4754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Power Query · fact_sales_line và fact_return: bỏ trùng trước, ghép sau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fact_return ghép với fact_sales_line </a:t>
            </a:r>
            <a:r>
              <a:rPr sz="1700" b="1" i="0">
                <a:solidFill>
                  <a:srgbClr val="C00000"/>
                </a:solidFill>
                <a:latin typeface="Times New Roman"/>
                <a:ea typeface="Times New Roman"/>
                <a:cs typeface="Times New Roman"/>
              </a:rPr>
              <a:t>đã bỏ trùng</a:t>
            </a:r>
            <a:r>
              <a:rPr sz="1700" b="0" i="0">
                <a:solidFill>
                  <a:srgbClr val="222222"/>
                </a:solidFill>
                <a:latin typeface="Times New Roman"/>
                <a:ea typeface="Times New Roman"/>
                <a:cs typeface="Times New Roman"/>
              </a:rPr>
              <a:t> → mỗi dòng trả hàng khớp đúng một dòng bán</a:t>
            </a:r>
          </a:p>
        </p:txBody>
      </p:sp>
      <p:sp>
        <p:nvSpPr>
          <p:cNvPr id="143" name="TextBox 142"/>
          <p:cNvSpPr txBox="1"/>
          <p:nvPr/>
        </p:nvSpPr>
        <p:spPr>
          <a:xfrm>
            <a:off x="365760" y="1325880"/>
            <a:ext cx="11475720" cy="292608"/>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fact_sales_line — 7 bước, làm bằng chuột trong Power Query Editor</a:t>
            </a:r>
          </a:p>
        </p:txBody>
      </p:sp>
      <p:sp>
        <p:nvSpPr>
          <p:cNvPr id="144" name="Rounded Rectangle 143"/>
          <p:cNvSpPr/>
          <p:nvPr/>
        </p:nvSpPr>
        <p:spPr>
          <a:xfrm>
            <a:off x="365760"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Source</a:t>
            </a:r>
          </a:p>
          <a:p>
            <a:pPr algn="ctr">
              <a:buNone/>
            </a:pPr>
            <a:r>
              <a:rPr sz="1000" b="0" i="0">
                <a:solidFill>
                  <a:srgbClr val="222222"/>
                </a:solidFill>
                <a:latin typeface="Times New Roman"/>
                <a:ea typeface="Times New Roman"/>
                <a:cs typeface="Times New Roman"/>
              </a:rPr>
              <a:t>mở file nguồn</a:t>
            </a:r>
          </a:p>
        </p:txBody>
      </p:sp>
      <p:sp>
        <p:nvSpPr>
          <p:cNvPr id="145" name="Rounded Rectangle 144"/>
          <p:cNvSpPr/>
          <p:nvPr/>
        </p:nvSpPr>
        <p:spPr>
          <a:xfrm>
            <a:off x="2026049"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Navigation</a:t>
            </a:r>
          </a:p>
          <a:p>
            <a:pPr algn="ctr">
              <a:buNone/>
            </a:pPr>
            <a:r>
              <a:rPr sz="1000" b="0" i="0">
                <a:solidFill>
                  <a:srgbClr val="222222"/>
                </a:solidFill>
                <a:latin typeface="Times New Roman"/>
                <a:ea typeface="Times New Roman"/>
                <a:cs typeface="Times New Roman"/>
              </a:rPr>
              <a:t>chọn Table tbl_fact_sales_line</a:t>
            </a:r>
          </a:p>
          <a:p>
            <a:pPr algn="ctr">
              <a:buNone/>
            </a:pPr>
            <a:r>
              <a:rPr sz="1000" b="0" i="1">
                <a:solidFill>
                  <a:srgbClr val="595959"/>
                </a:solidFill>
                <a:latin typeface="Times New Roman"/>
                <a:ea typeface="Times New Roman"/>
                <a:cs typeface="Times New Roman"/>
              </a:rPr>
              <a:t>63.004 dòng</a:t>
            </a:r>
          </a:p>
        </p:txBody>
      </p:sp>
      <p:cxnSp>
        <p:nvCxnSpPr>
          <p:cNvPr id="146" name="Connector 145"/>
          <p:cNvCxnSpPr/>
          <p:nvPr/>
        </p:nvCxnSpPr>
        <p:spPr>
          <a:xfrm>
            <a:off x="1888889" y="2290572"/>
            <a:ext cx="128016" cy="0"/>
          </a:xfrm>
          <a:prstGeom prst="line">
            <a:avLst/>
          </a:prstGeom>
          <a:ln w="19050">
            <a:solidFill>
              <a:srgbClr val="595959"/>
            </a:solidFill>
            <a:tailEnd type="triangle"/>
          </a:ln>
        </p:spPr>
      </p:cxnSp>
      <p:sp>
        <p:nvSpPr>
          <p:cNvPr id="147" name="Rounded Rectangle 146"/>
          <p:cNvSpPr/>
          <p:nvPr/>
        </p:nvSpPr>
        <p:spPr>
          <a:xfrm>
            <a:off x="3686338"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Changed Type</a:t>
            </a:r>
          </a:p>
          <a:p>
            <a:pPr algn="ctr">
              <a:buNone/>
            </a:pPr>
            <a:r>
              <a:rPr sz="1000" b="0" i="0">
                <a:solidFill>
                  <a:srgbClr val="222222"/>
                </a:solidFill>
                <a:latin typeface="Times New Roman"/>
                <a:ea typeface="Times New Roman"/>
                <a:cs typeface="Times New Roman"/>
              </a:rPr>
              <a:t>đặt kiểu: Date, Whole Number, Fixed Decimal</a:t>
            </a:r>
          </a:p>
          <a:p>
            <a:pPr algn="ctr">
              <a:buNone/>
            </a:pPr>
            <a:r>
              <a:rPr sz="1000" b="0" i="1">
                <a:solidFill>
                  <a:srgbClr val="595959"/>
                </a:solidFill>
                <a:latin typeface="Times New Roman"/>
                <a:ea typeface="Times New Roman"/>
                <a:cs typeface="Times New Roman"/>
              </a:rPr>
              <a:t>63.004 dòng</a:t>
            </a:r>
          </a:p>
        </p:txBody>
      </p:sp>
      <p:cxnSp>
        <p:nvCxnSpPr>
          <p:cNvPr id="148" name="Connector 147"/>
          <p:cNvCxnSpPr/>
          <p:nvPr/>
        </p:nvCxnSpPr>
        <p:spPr>
          <a:xfrm>
            <a:off x="3549178" y="2290572"/>
            <a:ext cx="128016" cy="0"/>
          </a:xfrm>
          <a:prstGeom prst="line">
            <a:avLst/>
          </a:prstGeom>
          <a:ln w="19050">
            <a:solidFill>
              <a:srgbClr val="595959"/>
            </a:solidFill>
            <a:tailEnd type="triangle"/>
          </a:ln>
        </p:spPr>
      </p:cxnSp>
      <p:sp>
        <p:nvSpPr>
          <p:cNvPr id="149" name="Rounded Rectangle 148"/>
          <p:cNvSpPr/>
          <p:nvPr/>
        </p:nvSpPr>
        <p:spPr>
          <a:xfrm>
            <a:off x="5346627" y="1655064"/>
            <a:ext cx="1513985" cy="1271016"/>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Removed Duplicates</a:t>
            </a:r>
          </a:p>
          <a:p>
            <a:pPr algn="ctr">
              <a:buNone/>
            </a:pPr>
            <a:r>
              <a:rPr sz="1000" b="0" i="0">
                <a:solidFill>
                  <a:srgbClr val="222222"/>
                </a:solidFill>
                <a:latin typeface="Times New Roman"/>
                <a:ea typeface="Times New Roman"/>
                <a:cs typeface="Times New Roman"/>
              </a:rPr>
              <a:t>Ctrl+A → Remove Rows → Remove Duplicates</a:t>
            </a:r>
          </a:p>
          <a:p>
            <a:pPr algn="ctr">
              <a:buNone/>
            </a:pPr>
            <a:r>
              <a:rPr sz="1000" b="0" i="1">
                <a:solidFill>
                  <a:srgbClr val="595959"/>
                </a:solidFill>
                <a:latin typeface="Times New Roman"/>
                <a:ea typeface="Times New Roman"/>
                <a:cs typeface="Times New Roman"/>
              </a:rPr>
              <a:t>62.884 dòng</a:t>
            </a:r>
          </a:p>
        </p:txBody>
      </p:sp>
      <p:cxnSp>
        <p:nvCxnSpPr>
          <p:cNvPr id="150" name="Connector 149"/>
          <p:cNvCxnSpPr/>
          <p:nvPr/>
        </p:nvCxnSpPr>
        <p:spPr>
          <a:xfrm>
            <a:off x="5209467" y="2290572"/>
            <a:ext cx="128016" cy="0"/>
          </a:xfrm>
          <a:prstGeom prst="line">
            <a:avLst/>
          </a:prstGeom>
          <a:ln w="19050">
            <a:solidFill>
              <a:srgbClr val="595959"/>
            </a:solidFill>
            <a:tailEnd type="triangle"/>
          </a:ln>
        </p:spPr>
      </p:cxnSp>
      <p:sp>
        <p:nvSpPr>
          <p:cNvPr id="151" name="Rounded Rectangle 150"/>
          <p:cNvSpPr/>
          <p:nvPr/>
        </p:nvSpPr>
        <p:spPr>
          <a:xfrm>
            <a:off x="7006916"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Inserted Multiplication</a:t>
            </a:r>
          </a:p>
          <a:p>
            <a:pPr algn="ctr">
              <a:buNone/>
            </a:pPr>
            <a:r>
              <a:rPr sz="1000" b="0" i="0">
                <a:solidFill>
                  <a:srgbClr val="222222"/>
                </a:solidFill>
                <a:latin typeface="Times New Roman"/>
                <a:ea typeface="Times New Roman"/>
                <a:cs typeface="Times New Roman"/>
              </a:rPr>
              <a:t>quantity × unit_price → gross_amount</a:t>
            </a:r>
          </a:p>
          <a:p>
            <a:pPr algn="ctr">
              <a:buNone/>
            </a:pPr>
            <a:r>
              <a:rPr sz="1000" b="0" i="1">
                <a:solidFill>
                  <a:srgbClr val="595959"/>
                </a:solidFill>
                <a:latin typeface="Times New Roman"/>
                <a:ea typeface="Times New Roman"/>
                <a:cs typeface="Times New Roman"/>
              </a:rPr>
              <a:t>62.884 dòng</a:t>
            </a:r>
          </a:p>
        </p:txBody>
      </p:sp>
      <p:cxnSp>
        <p:nvCxnSpPr>
          <p:cNvPr id="152" name="Connector 151"/>
          <p:cNvCxnSpPr/>
          <p:nvPr/>
        </p:nvCxnSpPr>
        <p:spPr>
          <a:xfrm>
            <a:off x="6869756" y="2290572"/>
            <a:ext cx="128016" cy="0"/>
          </a:xfrm>
          <a:prstGeom prst="line">
            <a:avLst/>
          </a:prstGeom>
          <a:ln w="19050">
            <a:solidFill>
              <a:srgbClr val="595959"/>
            </a:solidFill>
            <a:tailEnd type="triangle"/>
          </a:ln>
        </p:spPr>
      </p:cxnSp>
      <p:sp>
        <p:nvSpPr>
          <p:cNvPr id="153" name="Rounded Rectangle 152"/>
          <p:cNvSpPr/>
          <p:nvPr/>
        </p:nvSpPr>
        <p:spPr>
          <a:xfrm>
            <a:off x="8667205"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Inserted Subtraction</a:t>
            </a:r>
          </a:p>
          <a:p>
            <a:pPr algn="ctr">
              <a:buNone/>
            </a:pPr>
            <a:r>
              <a:rPr sz="1000" b="0" i="0">
                <a:solidFill>
                  <a:srgbClr val="222222"/>
                </a:solidFill>
                <a:latin typeface="Times New Roman"/>
                <a:ea typeface="Times New Roman"/>
                <a:cs typeface="Times New Roman"/>
              </a:rPr>
              <a:t>gross_amount − discount_amount → net_amount</a:t>
            </a:r>
          </a:p>
          <a:p>
            <a:pPr algn="ctr">
              <a:buNone/>
            </a:pPr>
            <a:r>
              <a:rPr sz="1000" b="0" i="1">
                <a:solidFill>
                  <a:srgbClr val="595959"/>
                </a:solidFill>
                <a:latin typeface="Times New Roman"/>
                <a:ea typeface="Times New Roman"/>
                <a:cs typeface="Times New Roman"/>
              </a:rPr>
              <a:t>62.884 dòng</a:t>
            </a:r>
          </a:p>
        </p:txBody>
      </p:sp>
      <p:cxnSp>
        <p:nvCxnSpPr>
          <p:cNvPr id="154" name="Connector 153"/>
          <p:cNvCxnSpPr/>
          <p:nvPr/>
        </p:nvCxnSpPr>
        <p:spPr>
          <a:xfrm>
            <a:off x="8530045" y="2290572"/>
            <a:ext cx="128016" cy="0"/>
          </a:xfrm>
          <a:prstGeom prst="line">
            <a:avLst/>
          </a:prstGeom>
          <a:ln w="19050">
            <a:solidFill>
              <a:srgbClr val="595959"/>
            </a:solidFill>
            <a:tailEnd type="triangle"/>
          </a:ln>
        </p:spPr>
      </p:cxnSp>
      <p:sp>
        <p:nvSpPr>
          <p:cNvPr id="155" name="Rounded Rectangle 154"/>
          <p:cNvSpPr/>
          <p:nvPr/>
        </p:nvSpPr>
        <p:spPr>
          <a:xfrm>
            <a:off x="10327494"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Changed Type1</a:t>
            </a:r>
          </a:p>
          <a:p>
            <a:pPr algn="ctr">
              <a:buNone/>
            </a:pPr>
            <a:r>
              <a:rPr sz="1000" b="0" i="0">
                <a:solidFill>
                  <a:srgbClr val="222222"/>
                </a:solidFill>
                <a:latin typeface="Times New Roman"/>
                <a:ea typeface="Times New Roman"/>
                <a:cs typeface="Times New Roman"/>
              </a:rPr>
              <a:t>2 cột tiền → Fixed Decimal</a:t>
            </a:r>
          </a:p>
          <a:p>
            <a:pPr algn="ctr">
              <a:buNone/>
            </a:pPr>
            <a:r>
              <a:rPr sz="1000" b="0" i="1">
                <a:solidFill>
                  <a:srgbClr val="595959"/>
                </a:solidFill>
                <a:latin typeface="Times New Roman"/>
                <a:ea typeface="Times New Roman"/>
                <a:cs typeface="Times New Roman"/>
              </a:rPr>
              <a:t>62.884 dòng</a:t>
            </a:r>
          </a:p>
        </p:txBody>
      </p:sp>
      <p:cxnSp>
        <p:nvCxnSpPr>
          <p:cNvPr id="156" name="Connector 155"/>
          <p:cNvCxnSpPr/>
          <p:nvPr/>
        </p:nvCxnSpPr>
        <p:spPr>
          <a:xfrm>
            <a:off x="10190334" y="2290572"/>
            <a:ext cx="128016" cy="0"/>
          </a:xfrm>
          <a:prstGeom prst="line">
            <a:avLst/>
          </a:prstGeom>
          <a:ln w="19050">
            <a:solidFill>
              <a:srgbClr val="595959"/>
            </a:solidFill>
            <a:tailEnd type="triangle"/>
          </a:ln>
        </p:spPr>
      </p:cxnSp>
      <p:sp>
        <p:nvSpPr>
          <p:cNvPr id="157" name="TextBox 156"/>
          <p:cNvSpPr txBox="1"/>
          <p:nvPr/>
        </p:nvSpPr>
        <p:spPr>
          <a:xfrm>
            <a:off x="365760" y="3063240"/>
            <a:ext cx="7863840" cy="292608"/>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fact_return — ghép 3 khoá từ dòng bán gốc</a:t>
            </a:r>
          </a:p>
        </p:txBody>
      </p:sp>
      <p:sp>
        <p:nvSpPr>
          <p:cNvPr id="158" name="Rounded Rectangle 157"/>
          <p:cNvSpPr/>
          <p:nvPr/>
        </p:nvSpPr>
        <p:spPr>
          <a:xfrm>
            <a:off x="365760"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Source · Navigation</a:t>
            </a:r>
          </a:p>
          <a:p>
            <a:pPr algn="ctr">
              <a:buNone/>
            </a:pPr>
            <a:r>
              <a:rPr sz="1000" b="0" i="0">
                <a:solidFill>
                  <a:srgbClr val="222222"/>
                </a:solidFill>
                <a:latin typeface="Times New Roman"/>
                <a:ea typeface="Times New Roman"/>
                <a:cs typeface="Times New Roman"/>
              </a:rPr>
              <a:t>chọn Table tbl_fact_return</a:t>
            </a:r>
          </a:p>
          <a:p>
            <a:pPr algn="ctr">
              <a:buNone/>
            </a:pPr>
            <a:r>
              <a:rPr sz="1000" b="0" i="1">
                <a:solidFill>
                  <a:srgbClr val="595959"/>
                </a:solidFill>
                <a:latin typeface="Times New Roman"/>
                <a:ea typeface="Times New Roman"/>
                <a:cs typeface="Times New Roman"/>
              </a:rPr>
              <a:t>2.430 dòng</a:t>
            </a:r>
          </a:p>
        </p:txBody>
      </p:sp>
      <p:sp>
        <p:nvSpPr>
          <p:cNvPr id="159" name="Rounded Rectangle 158"/>
          <p:cNvSpPr/>
          <p:nvPr/>
        </p:nvSpPr>
        <p:spPr>
          <a:xfrm>
            <a:off x="1967788"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Changed Type</a:t>
            </a:r>
          </a:p>
          <a:p>
            <a:pPr algn="ctr">
              <a:buNone/>
            </a:pPr>
            <a:r>
              <a:rPr sz="1000" b="0" i="0">
                <a:solidFill>
                  <a:srgbClr val="222222"/>
                </a:solidFill>
                <a:latin typeface="Times New Roman"/>
                <a:ea typeface="Times New Roman"/>
                <a:cs typeface="Times New Roman"/>
              </a:rPr>
              <a:t>đặt kiểu cột</a:t>
            </a:r>
          </a:p>
          <a:p>
            <a:pPr algn="ctr">
              <a:buNone/>
            </a:pPr>
            <a:r>
              <a:rPr sz="1000" b="0" i="1">
                <a:solidFill>
                  <a:srgbClr val="595959"/>
                </a:solidFill>
                <a:latin typeface="Times New Roman"/>
                <a:ea typeface="Times New Roman"/>
                <a:cs typeface="Times New Roman"/>
              </a:rPr>
              <a:t>2.430 dòng</a:t>
            </a:r>
          </a:p>
        </p:txBody>
      </p:sp>
      <p:cxnSp>
        <p:nvCxnSpPr>
          <p:cNvPr id="160" name="Connector 159"/>
          <p:cNvCxnSpPr/>
          <p:nvPr/>
        </p:nvCxnSpPr>
        <p:spPr>
          <a:xfrm>
            <a:off x="1830628" y="4027932"/>
            <a:ext cx="128016" cy="0"/>
          </a:xfrm>
          <a:prstGeom prst="line">
            <a:avLst/>
          </a:prstGeom>
          <a:ln w="19050">
            <a:solidFill>
              <a:srgbClr val="595959"/>
            </a:solidFill>
            <a:tailEnd type="triangle"/>
          </a:ln>
        </p:spPr>
      </p:cxnSp>
      <p:sp>
        <p:nvSpPr>
          <p:cNvPr id="161" name="Rounded Rectangle 160"/>
          <p:cNvSpPr/>
          <p:nvPr/>
        </p:nvSpPr>
        <p:spPr>
          <a:xfrm>
            <a:off x="3569817" y="3392424"/>
            <a:ext cx="1455724" cy="1271016"/>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Merged Queries</a:t>
            </a:r>
          </a:p>
          <a:p>
            <a:pPr algn="ctr">
              <a:buNone/>
            </a:pPr>
            <a:r>
              <a:rPr sz="1000" b="0" i="0">
                <a:solidFill>
                  <a:srgbClr val="222222"/>
                </a:solidFill>
                <a:latin typeface="Times New Roman"/>
                <a:ea typeface="Times New Roman"/>
                <a:cs typeface="Times New Roman"/>
              </a:rPr>
              <a:t>Merge với fact_sales_line theo order_number + line_item</a:t>
            </a:r>
          </a:p>
          <a:p>
            <a:pPr algn="ctr">
              <a:buNone/>
            </a:pPr>
            <a:r>
              <a:rPr sz="1000" b="0" i="1">
                <a:solidFill>
                  <a:srgbClr val="595959"/>
                </a:solidFill>
                <a:latin typeface="Times New Roman"/>
                <a:ea typeface="Times New Roman"/>
                <a:cs typeface="Times New Roman"/>
              </a:rPr>
              <a:t>2.430 dòng</a:t>
            </a:r>
          </a:p>
        </p:txBody>
      </p:sp>
      <p:cxnSp>
        <p:nvCxnSpPr>
          <p:cNvPr id="162" name="Connector 161"/>
          <p:cNvCxnSpPr/>
          <p:nvPr/>
        </p:nvCxnSpPr>
        <p:spPr>
          <a:xfrm>
            <a:off x="3432657" y="4027932"/>
            <a:ext cx="128016" cy="0"/>
          </a:xfrm>
          <a:prstGeom prst="line">
            <a:avLst/>
          </a:prstGeom>
          <a:ln w="19050">
            <a:solidFill>
              <a:srgbClr val="595959"/>
            </a:solidFill>
            <a:tailEnd type="triangle"/>
          </a:ln>
        </p:spPr>
      </p:cxnSp>
      <p:sp>
        <p:nvSpPr>
          <p:cNvPr id="163" name="Rounded Rectangle 162"/>
          <p:cNvSpPr/>
          <p:nvPr/>
        </p:nvSpPr>
        <p:spPr>
          <a:xfrm>
            <a:off x="5171846"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Expanded fact_sales_line</a:t>
            </a:r>
          </a:p>
          <a:p>
            <a:pPr algn="ctr">
              <a:buNone/>
            </a:pPr>
            <a:r>
              <a:rPr sz="1000" b="0" i="0">
                <a:solidFill>
                  <a:srgbClr val="222222"/>
                </a:solidFill>
                <a:latin typeface="Times New Roman"/>
                <a:ea typeface="Times New Roman"/>
                <a:cs typeface="Times New Roman"/>
              </a:rPr>
              <a:t>lấy store_key, channel_code, product_key</a:t>
            </a:r>
          </a:p>
          <a:p>
            <a:pPr algn="ctr">
              <a:buNone/>
            </a:pPr>
            <a:r>
              <a:rPr sz="1000" b="0" i="1">
                <a:solidFill>
                  <a:srgbClr val="595959"/>
                </a:solidFill>
                <a:latin typeface="Times New Roman"/>
                <a:ea typeface="Times New Roman"/>
                <a:cs typeface="Times New Roman"/>
              </a:rPr>
              <a:t>2.430 dòng</a:t>
            </a:r>
          </a:p>
        </p:txBody>
      </p:sp>
      <p:cxnSp>
        <p:nvCxnSpPr>
          <p:cNvPr id="164" name="Connector 163"/>
          <p:cNvCxnSpPr/>
          <p:nvPr/>
        </p:nvCxnSpPr>
        <p:spPr>
          <a:xfrm>
            <a:off x="5034686" y="4027932"/>
            <a:ext cx="128016" cy="0"/>
          </a:xfrm>
          <a:prstGeom prst="line">
            <a:avLst/>
          </a:prstGeom>
          <a:ln w="19050">
            <a:solidFill>
              <a:srgbClr val="595959"/>
            </a:solidFill>
            <a:tailEnd type="triangle"/>
          </a:ln>
        </p:spPr>
      </p:cxnSp>
      <p:sp>
        <p:nvSpPr>
          <p:cNvPr id="165" name="Rounded Rectangle 164"/>
          <p:cNvSpPr/>
          <p:nvPr/>
        </p:nvSpPr>
        <p:spPr>
          <a:xfrm>
            <a:off x="6773875"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Changed Type1</a:t>
            </a:r>
          </a:p>
          <a:p>
            <a:pPr algn="ctr">
              <a:buNone/>
            </a:pPr>
            <a:r>
              <a:rPr sz="1000" b="0" i="0">
                <a:solidFill>
                  <a:srgbClr val="222222"/>
                </a:solidFill>
                <a:latin typeface="Times New Roman"/>
                <a:ea typeface="Times New Roman"/>
                <a:cs typeface="Times New Roman"/>
              </a:rPr>
              <a:t>đặt kiểu 3 cột mới</a:t>
            </a:r>
          </a:p>
          <a:p>
            <a:pPr algn="ctr">
              <a:buNone/>
            </a:pPr>
            <a:r>
              <a:rPr sz="1000" b="0" i="1">
                <a:solidFill>
                  <a:srgbClr val="595959"/>
                </a:solidFill>
                <a:latin typeface="Times New Roman"/>
                <a:ea typeface="Times New Roman"/>
                <a:cs typeface="Times New Roman"/>
              </a:rPr>
              <a:t>2.430 dòng</a:t>
            </a:r>
          </a:p>
        </p:txBody>
      </p:sp>
      <p:cxnSp>
        <p:nvCxnSpPr>
          <p:cNvPr id="166" name="Connector 165"/>
          <p:cNvCxnSpPr/>
          <p:nvPr/>
        </p:nvCxnSpPr>
        <p:spPr>
          <a:xfrm>
            <a:off x="6636715" y="4027932"/>
            <a:ext cx="128016" cy="0"/>
          </a:xfrm>
          <a:prstGeom prst="line">
            <a:avLst/>
          </a:prstGeom>
          <a:ln w="19050">
            <a:solidFill>
              <a:srgbClr val="595959"/>
            </a:solidFill>
            <a:tailEnd type="triangle"/>
          </a:ln>
        </p:spPr>
      </p:cxnSp>
      <p:graphicFrame>
        <p:nvGraphicFramePr>
          <p:cNvPr id="167" name="Table 166"/>
          <p:cNvGraphicFramePr>
            <a:graphicFrameLocks noGrp="1"/>
          </p:cNvGraphicFramePr>
          <p:nvPr/>
        </p:nvGraphicFramePr>
        <p:xfrm>
          <a:off x="8412480" y="3392424"/>
          <a:ext cx="3429000" cy="1271016"/>
        </p:xfrm>
        <a:graphic>
          <a:graphicData uri="http://schemas.openxmlformats.org/drawingml/2006/table">
            <a:tbl>
              <a:tblPr firstRow="1">
                <a:tableStyleId>{5940675A-B579-460E-94D1-54222C63F5DA}</a:tableStyleId>
              </a:tblPr>
              <a:tblGrid>
                <a:gridCol w="1783080"/>
                <a:gridCol w="822960"/>
                <a:gridCol w="822960"/>
              </a:tblGrid>
              <a:tr h="423672">
                <a:tc>
                  <a:txBody>
                    <a:bodyPr/>
                    <a:lstStyle/>
                    <a:p>
                      <a:pPr algn="l">
                        <a:buNone/>
                      </a:pPr>
                      <a:r>
                        <a:rPr sz="1200" b="1" i="0">
                          <a:solidFill>
                            <a:srgbClr val="FFFFFF"/>
                          </a:solidFill>
                          <a:latin typeface="Times New Roman"/>
                          <a:ea typeface="Times New Roman"/>
                          <a:cs typeface="Times New Roman"/>
                        </a:rPr>
                        <a:t>Bước đổi số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Trước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Sau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23672">
                <a:tc>
                  <a:txBody>
                    <a:bodyPr/>
                    <a:lstStyle/>
                    <a:p>
                      <a:pPr algn="l">
                        <a:buNone/>
                      </a:pPr>
                      <a:r>
                        <a:rPr sz="1200" b="0" i="0">
                          <a:solidFill>
                            <a:srgbClr val="222222"/>
                          </a:solidFill>
                          <a:latin typeface="Times New Roman"/>
                          <a:ea typeface="Times New Roman"/>
                          <a:cs typeface="Times New Roman"/>
                        </a:rPr>
                        <a:t>Removed Duplicates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63.004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23672">
                <a:tc>
                  <a:txBody>
                    <a:bodyPr/>
                    <a:lstStyle/>
                    <a:p>
                      <a:pPr algn="l">
                        <a:buNone/>
                      </a:pPr>
                      <a:r>
                        <a:rPr sz="1200" b="0" i="0">
                          <a:solidFill>
                            <a:srgbClr val="222222"/>
                          </a:solidFill>
                          <a:latin typeface="Times New Roman"/>
                          <a:ea typeface="Times New Roman"/>
                          <a:cs typeface="Times New Roman"/>
                        </a:rPr>
                        <a:t>Merged Queries + Expand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68" name="Rounded Rectangle 167"/>
          <p:cNvSpPr/>
          <p:nvPr/>
        </p:nvSpPr>
        <p:spPr>
          <a:xfrm>
            <a:off x="365760" y="4892040"/>
            <a:ext cx="3657600" cy="1097280"/>
          </a:xfrm>
          <a:prstGeom prst="roundRect">
            <a:avLst>
              <a:gd name="adj" fmla="val 6000"/>
            </a:avLst>
          </a:prstGeom>
          <a:solidFill>
            <a:srgbClr val="FFFFFF"/>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Bỏ trùng</a:t>
            </a:r>
          </a:p>
          <a:p>
            <a:pPr algn="l">
              <a:buNone/>
            </a:pPr>
            <a:r>
              <a:rPr sz="1200" b="0" i="0">
                <a:solidFill>
                  <a:srgbClr val="222222"/>
                </a:solidFill>
                <a:latin typeface="Times New Roman"/>
                <a:ea typeface="Times New Roman"/>
                <a:cs typeface="Times New Roman"/>
              </a:rPr>
              <a:t>Ctrl+A chọn mọi cột → Home → Remove Rows → Remove Duplicates</a:t>
            </a:r>
          </a:p>
        </p:txBody>
      </p:sp>
      <p:sp>
        <p:nvSpPr>
          <p:cNvPr id="169" name="Rounded Rectangle 168"/>
          <p:cNvSpPr/>
          <p:nvPr/>
        </p:nvSpPr>
        <p:spPr>
          <a:xfrm>
            <a:off x="4206240" y="4892040"/>
            <a:ext cx="3657600" cy="1097280"/>
          </a:xfrm>
          <a:prstGeom prst="roundRect">
            <a:avLst>
              <a:gd name="adj" fmla="val 6000"/>
            </a:avLst>
          </a:prstGeom>
          <a:solidFill>
            <a:srgbClr val="FFFFFF"/>
          </a:solidFill>
          <a:ln w="15875">
            <a:solidFill>
              <a:srgbClr val="2E5B31"/>
            </a:solidFill>
          </a:ln>
          <a:effectLst/>
        </p:spPr>
        <p:txBody>
          <a:bodyPr rtlCol="0" anchor="ctr" wrap="square" lIns="109728" tIns="27432" bIns="27432"/>
          <a:lstStyle/>
          <a:p>
            <a:pPr algn="l">
              <a:buNone/>
            </a:pPr>
            <a:r>
              <a:rPr sz="1200" b="1" i="0">
                <a:solidFill>
                  <a:srgbClr val="2E5B31"/>
                </a:solidFill>
                <a:latin typeface="Times New Roman"/>
                <a:ea typeface="Times New Roman"/>
                <a:cs typeface="Times New Roman"/>
              </a:rPr>
              <a:t>Thêm cột tiền</a:t>
            </a:r>
          </a:p>
          <a:p>
            <a:pPr algn="l">
              <a:buNone/>
            </a:pPr>
            <a:r>
              <a:rPr sz="1200" b="0" i="0">
                <a:solidFill>
                  <a:srgbClr val="222222"/>
                </a:solidFill>
                <a:latin typeface="Times New Roman"/>
                <a:ea typeface="Times New Roman"/>
                <a:cs typeface="Times New Roman"/>
              </a:rPr>
              <a:t>Chọn 2 cột → Add Column → Standard → Multiply / Subtract; bấm đúp tiêu đề để đổi tên</a:t>
            </a:r>
          </a:p>
        </p:txBody>
      </p:sp>
      <p:sp>
        <p:nvSpPr>
          <p:cNvPr id="170" name="Rounded Rectangle 169"/>
          <p:cNvSpPr/>
          <p:nvPr/>
        </p:nvSpPr>
        <p:spPr>
          <a:xfrm>
            <a:off x="8046720" y="4892040"/>
            <a:ext cx="3657600" cy="1097280"/>
          </a:xfrm>
          <a:prstGeom prst="roundRect">
            <a:avLst>
              <a:gd name="adj" fmla="val 6000"/>
            </a:avLst>
          </a:prstGeom>
          <a:solidFill>
            <a:srgbClr val="FFFFFF"/>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Ghép 2 khoá</a:t>
            </a:r>
          </a:p>
          <a:p>
            <a:pPr algn="l">
              <a:buNone/>
            </a:pPr>
            <a:r>
              <a:rPr sz="1200" b="0" i="0">
                <a:solidFill>
                  <a:srgbClr val="222222"/>
                </a:solidFill>
                <a:latin typeface="Times New Roman"/>
                <a:ea typeface="Times New Roman"/>
                <a:cs typeface="Times New Roman"/>
              </a:rPr>
              <a:t>Merge Queries: bấm order_number rồi Ctrl + line_item ở cả hai bảng, cùng thứ tự; Left Outer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Power Query · fact_finance: gắn store_key theo mã và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Tạo bằng </a:t>
            </a:r>
            <a:r>
              <a:rPr sz="1700" b="1" i="0">
                <a:solidFill>
                  <a:srgbClr val="123A7A"/>
                </a:solidFill>
                <a:latin typeface="Times New Roman"/>
                <a:ea typeface="Times New Roman"/>
                <a:cs typeface="Times New Roman"/>
              </a:rPr>
              <a:t>Reference</a:t>
            </a:r>
            <a:r>
              <a:rPr sz="1700" b="0" i="0">
                <a:solidFill>
                  <a:srgbClr val="222222"/>
                </a:solidFill>
                <a:latin typeface="Times New Roman"/>
                <a:ea typeface="Times New Roman"/>
                <a:cs typeface="Times New Roman"/>
              </a:rPr>
              <a:t> từ finance_raw; số dòng phải giữ nguyên </a:t>
            </a:r>
            <a:r>
              <a:rPr sz="1700" b="1" i="0">
                <a:solidFill>
                  <a:srgbClr val="123A7A"/>
                </a:solidFill>
                <a:latin typeface="Times New Roman"/>
                <a:ea typeface="Times New Roman"/>
                <a:cs typeface="Times New Roman"/>
              </a:rPr>
              <a:t>19.400</a:t>
            </a:r>
          </a:p>
        </p:txBody>
      </p:sp>
      <p:sp>
        <p:nvSpPr>
          <p:cNvPr id="143" name="TextBox 142"/>
          <p:cNvSpPr txBox="1"/>
          <p:nvPr/>
        </p:nvSpPr>
        <p:spPr>
          <a:xfrm>
            <a:off x="365760" y="1325880"/>
            <a:ext cx="11475720" cy="292608"/>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fact_finance — 7 bước</a:t>
            </a:r>
          </a:p>
        </p:txBody>
      </p:sp>
      <p:sp>
        <p:nvSpPr>
          <p:cNvPr id="144" name="Rounded Rectangle 143"/>
          <p:cNvSpPr/>
          <p:nvPr/>
        </p:nvSpPr>
        <p:spPr>
          <a:xfrm>
            <a:off x="365760"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Source</a:t>
            </a:r>
          </a:p>
          <a:p>
            <a:pPr algn="ctr">
              <a:buNone/>
            </a:pPr>
            <a:r>
              <a:rPr sz="1000" b="0" i="0">
                <a:solidFill>
                  <a:srgbClr val="222222"/>
                </a:solidFill>
                <a:latin typeface="Times New Roman"/>
                <a:ea typeface="Times New Roman"/>
                <a:cs typeface="Times New Roman"/>
              </a:rPr>
              <a:t>Reference từ finance_raw</a:t>
            </a:r>
          </a:p>
          <a:p>
            <a:pPr algn="ctr">
              <a:buNone/>
            </a:pPr>
            <a:r>
              <a:rPr sz="1000" b="0" i="1">
                <a:solidFill>
                  <a:srgbClr val="595959"/>
                </a:solidFill>
                <a:latin typeface="Times New Roman"/>
                <a:ea typeface="Times New Roman"/>
                <a:cs typeface="Times New Roman"/>
              </a:rPr>
              <a:t>19.400 dòng</a:t>
            </a:r>
          </a:p>
        </p:txBody>
      </p:sp>
      <p:sp>
        <p:nvSpPr>
          <p:cNvPr id="145" name="Rounded Rectangle 144"/>
          <p:cNvSpPr/>
          <p:nvPr/>
        </p:nvSpPr>
        <p:spPr>
          <a:xfrm>
            <a:off x="2026049" y="1655064"/>
            <a:ext cx="1513985" cy="1152144"/>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Merged Queries</a:t>
            </a:r>
          </a:p>
          <a:p>
            <a:pPr algn="ctr">
              <a:buNone/>
            </a:pPr>
            <a:r>
              <a:rPr sz="1000" b="0" i="0">
                <a:solidFill>
                  <a:srgbClr val="222222"/>
                </a:solidFill>
                <a:latin typeface="Times New Roman"/>
                <a:ea typeface="Times New Roman"/>
                <a:cs typeface="Times New Roman"/>
              </a:rPr>
              <a:t>Merge với map_store_finance theo fin_store_code</a:t>
            </a:r>
          </a:p>
          <a:p>
            <a:pPr algn="ctr">
              <a:buNone/>
            </a:pPr>
            <a:r>
              <a:rPr sz="1000" b="0" i="1">
                <a:solidFill>
                  <a:srgbClr val="595959"/>
                </a:solidFill>
                <a:latin typeface="Times New Roman"/>
                <a:ea typeface="Times New Roman"/>
                <a:cs typeface="Times New Roman"/>
              </a:rPr>
              <a:t>19.400 dòng</a:t>
            </a:r>
          </a:p>
        </p:txBody>
      </p:sp>
      <p:cxnSp>
        <p:nvCxnSpPr>
          <p:cNvPr id="146" name="Connector 145"/>
          <p:cNvCxnSpPr/>
          <p:nvPr/>
        </p:nvCxnSpPr>
        <p:spPr>
          <a:xfrm>
            <a:off x="1888889" y="2231136"/>
            <a:ext cx="128016" cy="0"/>
          </a:xfrm>
          <a:prstGeom prst="line">
            <a:avLst/>
          </a:prstGeom>
          <a:ln w="19050">
            <a:solidFill>
              <a:srgbClr val="595959"/>
            </a:solidFill>
            <a:tailEnd type="triangle"/>
          </a:ln>
        </p:spPr>
      </p:cxnSp>
      <p:sp>
        <p:nvSpPr>
          <p:cNvPr id="147" name="Rounded Rectangle 146"/>
          <p:cNvSpPr/>
          <p:nvPr/>
        </p:nvSpPr>
        <p:spPr>
          <a:xfrm>
            <a:off x="3686338"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Expanded map_store_finance</a:t>
            </a:r>
          </a:p>
          <a:p>
            <a:pPr algn="ctr">
              <a:buNone/>
            </a:pPr>
            <a:r>
              <a:rPr sz="1000" b="0" i="0">
                <a:solidFill>
                  <a:srgbClr val="222222"/>
                </a:solidFill>
                <a:latin typeface="Times New Roman"/>
                <a:ea typeface="Times New Roman"/>
                <a:cs typeface="Times New Roman"/>
              </a:rPr>
              <a:t>lấy store_key, valid_from, valid_to</a:t>
            </a:r>
          </a:p>
          <a:p>
            <a:pPr algn="ctr">
              <a:buNone/>
            </a:pPr>
            <a:r>
              <a:rPr sz="1000" b="0" i="1">
                <a:solidFill>
                  <a:srgbClr val="595959"/>
                </a:solidFill>
                <a:latin typeface="Times New Roman"/>
                <a:ea typeface="Times New Roman"/>
                <a:cs typeface="Times New Roman"/>
              </a:rPr>
              <a:t>19.400 dòng</a:t>
            </a:r>
          </a:p>
        </p:txBody>
      </p:sp>
      <p:cxnSp>
        <p:nvCxnSpPr>
          <p:cNvPr id="148" name="Connector 147"/>
          <p:cNvCxnSpPr/>
          <p:nvPr/>
        </p:nvCxnSpPr>
        <p:spPr>
          <a:xfrm>
            <a:off x="3549178" y="2231136"/>
            <a:ext cx="128016" cy="0"/>
          </a:xfrm>
          <a:prstGeom prst="line">
            <a:avLst/>
          </a:prstGeom>
          <a:ln w="19050">
            <a:solidFill>
              <a:srgbClr val="595959"/>
            </a:solidFill>
            <a:tailEnd type="triangle"/>
          </a:ln>
        </p:spPr>
      </p:cxnSp>
      <p:sp>
        <p:nvSpPr>
          <p:cNvPr id="149" name="Rounded Rectangle 148"/>
          <p:cNvSpPr/>
          <p:nvPr/>
        </p:nvSpPr>
        <p:spPr>
          <a:xfrm>
            <a:off x="5346627"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Added Conditional Column</a:t>
            </a:r>
          </a:p>
          <a:p>
            <a:pPr algn="ctr">
              <a:buNone/>
            </a:pPr>
            <a:r>
              <a:rPr sz="1000" b="0" i="0">
                <a:solidFill>
                  <a:srgbClr val="222222"/>
                </a:solidFill>
                <a:latin typeface="Times New Roman"/>
                <a:ea typeface="Times New Roman"/>
                <a:cs typeface="Times New Roman"/>
              </a:rPr>
              <a:t>hieu_luc = 1 nếu valid_from ≤ posting_date ≤ valid_to</a:t>
            </a:r>
          </a:p>
          <a:p>
            <a:pPr algn="ctr">
              <a:buNone/>
            </a:pPr>
            <a:r>
              <a:rPr sz="1000" b="0" i="1">
                <a:solidFill>
                  <a:srgbClr val="595959"/>
                </a:solidFill>
                <a:latin typeface="Times New Roman"/>
                <a:ea typeface="Times New Roman"/>
                <a:cs typeface="Times New Roman"/>
              </a:rPr>
              <a:t>19.400 dòng</a:t>
            </a:r>
          </a:p>
        </p:txBody>
      </p:sp>
      <p:cxnSp>
        <p:nvCxnSpPr>
          <p:cNvPr id="150" name="Connector 149"/>
          <p:cNvCxnSpPr/>
          <p:nvPr/>
        </p:nvCxnSpPr>
        <p:spPr>
          <a:xfrm>
            <a:off x="5209467" y="2231136"/>
            <a:ext cx="128016" cy="0"/>
          </a:xfrm>
          <a:prstGeom prst="line">
            <a:avLst/>
          </a:prstGeom>
          <a:ln w="19050">
            <a:solidFill>
              <a:srgbClr val="595959"/>
            </a:solidFill>
            <a:tailEnd type="triangle"/>
          </a:ln>
        </p:spPr>
      </p:cxnSp>
      <p:sp>
        <p:nvSpPr>
          <p:cNvPr id="151" name="Rounded Rectangle 150"/>
          <p:cNvSpPr/>
          <p:nvPr/>
        </p:nvSpPr>
        <p:spPr>
          <a:xfrm>
            <a:off x="7006916" y="1655064"/>
            <a:ext cx="1513985" cy="1152144"/>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Filtered Rows</a:t>
            </a:r>
          </a:p>
          <a:p>
            <a:pPr algn="ctr">
              <a:buNone/>
            </a:pPr>
            <a:r>
              <a:rPr sz="1000" b="0" i="0">
                <a:solidFill>
                  <a:srgbClr val="222222"/>
                </a:solidFill>
                <a:latin typeface="Times New Roman"/>
                <a:ea typeface="Times New Roman"/>
                <a:cs typeface="Times New Roman"/>
              </a:rPr>
              <a:t>giữ hieu_luc = 1</a:t>
            </a:r>
          </a:p>
          <a:p>
            <a:pPr algn="ctr">
              <a:buNone/>
            </a:pPr>
            <a:r>
              <a:rPr sz="1000" b="0" i="1">
                <a:solidFill>
                  <a:srgbClr val="595959"/>
                </a:solidFill>
                <a:latin typeface="Times New Roman"/>
                <a:ea typeface="Times New Roman"/>
                <a:cs typeface="Times New Roman"/>
              </a:rPr>
              <a:t>19.400 dòng</a:t>
            </a:r>
          </a:p>
        </p:txBody>
      </p:sp>
      <p:cxnSp>
        <p:nvCxnSpPr>
          <p:cNvPr id="152" name="Connector 151"/>
          <p:cNvCxnSpPr/>
          <p:nvPr/>
        </p:nvCxnSpPr>
        <p:spPr>
          <a:xfrm>
            <a:off x="6869756" y="2231136"/>
            <a:ext cx="128016" cy="0"/>
          </a:xfrm>
          <a:prstGeom prst="line">
            <a:avLst/>
          </a:prstGeom>
          <a:ln w="19050">
            <a:solidFill>
              <a:srgbClr val="595959"/>
            </a:solidFill>
            <a:tailEnd type="triangle"/>
          </a:ln>
        </p:spPr>
      </p:cxnSp>
      <p:sp>
        <p:nvSpPr>
          <p:cNvPr id="153" name="Rounded Rectangle 152"/>
          <p:cNvSpPr/>
          <p:nvPr/>
        </p:nvSpPr>
        <p:spPr>
          <a:xfrm>
            <a:off x="8667205"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Removed Columns</a:t>
            </a:r>
          </a:p>
          <a:p>
            <a:pPr algn="ctr">
              <a:buNone/>
            </a:pPr>
            <a:r>
              <a:rPr sz="1000" b="0" i="0">
                <a:solidFill>
                  <a:srgbClr val="222222"/>
                </a:solidFill>
                <a:latin typeface="Times New Roman"/>
                <a:ea typeface="Times New Roman"/>
                <a:cs typeface="Times New Roman"/>
              </a:rPr>
              <a:t>bỏ valid_from, valid_to, hieu_luc</a:t>
            </a:r>
          </a:p>
          <a:p>
            <a:pPr algn="ctr">
              <a:buNone/>
            </a:pPr>
            <a:r>
              <a:rPr sz="1000" b="0" i="1">
                <a:solidFill>
                  <a:srgbClr val="595959"/>
                </a:solidFill>
                <a:latin typeface="Times New Roman"/>
                <a:ea typeface="Times New Roman"/>
                <a:cs typeface="Times New Roman"/>
              </a:rPr>
              <a:t>19.400 dòng</a:t>
            </a:r>
          </a:p>
        </p:txBody>
      </p:sp>
      <p:cxnSp>
        <p:nvCxnSpPr>
          <p:cNvPr id="154" name="Connector 153"/>
          <p:cNvCxnSpPr/>
          <p:nvPr/>
        </p:nvCxnSpPr>
        <p:spPr>
          <a:xfrm>
            <a:off x="8530045" y="2231136"/>
            <a:ext cx="128016" cy="0"/>
          </a:xfrm>
          <a:prstGeom prst="line">
            <a:avLst/>
          </a:prstGeom>
          <a:ln w="19050">
            <a:solidFill>
              <a:srgbClr val="595959"/>
            </a:solidFill>
            <a:tailEnd type="triangle"/>
          </a:ln>
        </p:spPr>
      </p:cxnSp>
      <p:sp>
        <p:nvSpPr>
          <p:cNvPr id="155" name="Rounded Rectangle 154"/>
          <p:cNvSpPr/>
          <p:nvPr/>
        </p:nvSpPr>
        <p:spPr>
          <a:xfrm>
            <a:off x="10327494"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Changed Type</a:t>
            </a:r>
          </a:p>
          <a:p>
            <a:pPr algn="ctr">
              <a:buNone/>
            </a:pPr>
            <a:r>
              <a:rPr sz="1000" b="0" i="0">
                <a:solidFill>
                  <a:srgbClr val="222222"/>
                </a:solidFill>
                <a:latin typeface="Times New Roman"/>
                <a:ea typeface="Times New Roman"/>
                <a:cs typeface="Times New Roman"/>
              </a:rPr>
              <a:t>store_key → Whole Number</a:t>
            </a:r>
          </a:p>
          <a:p>
            <a:pPr algn="ctr">
              <a:buNone/>
            </a:pPr>
            <a:r>
              <a:rPr sz="1000" b="0" i="1">
                <a:solidFill>
                  <a:srgbClr val="595959"/>
                </a:solidFill>
                <a:latin typeface="Times New Roman"/>
                <a:ea typeface="Times New Roman"/>
                <a:cs typeface="Times New Roman"/>
              </a:rPr>
              <a:t>19.400 dòng</a:t>
            </a:r>
          </a:p>
        </p:txBody>
      </p:sp>
      <p:cxnSp>
        <p:nvCxnSpPr>
          <p:cNvPr id="156" name="Connector 155"/>
          <p:cNvCxnSpPr/>
          <p:nvPr/>
        </p:nvCxnSpPr>
        <p:spPr>
          <a:xfrm>
            <a:off x="10190334" y="2231136"/>
            <a:ext cx="128016" cy="0"/>
          </a:xfrm>
          <a:prstGeom prst="line">
            <a:avLst/>
          </a:prstGeom>
          <a:ln w="19050">
            <a:solidFill>
              <a:srgbClr val="595959"/>
            </a:solidFill>
            <a:tailEnd type="triangle"/>
          </a:ln>
        </p:spPr>
      </p:cxnSp>
      <p:sp>
        <p:nvSpPr>
          <p:cNvPr id="157" name="Rounded Rectangle 156"/>
          <p:cNvSpPr/>
          <p:nvPr/>
        </p:nvSpPr>
        <p:spPr>
          <a:xfrm>
            <a:off x="365760" y="3200400"/>
            <a:ext cx="5669280" cy="1600200"/>
          </a:xfrm>
          <a:prstGeom prst="roundRect">
            <a:avLst>
              <a:gd name="adj" fmla="val 6000"/>
            </a:avLst>
          </a:prstGeom>
          <a:solidFill>
            <a:srgbClr val="FBE5D6"/>
          </a:solidFill>
          <a:ln w="15875">
            <a:solidFill>
              <a:srgbClr val="C55A11"/>
            </a:solidFill>
          </a:ln>
          <a:effectLst/>
        </p:spPr>
        <p:txBody>
          <a:bodyPr rtlCol="0" anchor="t" wrap="square" lIns="137160" tIns="73152"/>
          <a:lstStyle/>
          <a:p>
            <a:pPr algn="l">
              <a:buNone/>
            </a:pPr>
            <a:r>
              <a:rPr sz="1200" b="1" i="0">
                <a:solidFill>
                  <a:srgbClr val="C55A11"/>
                </a:solidFill>
                <a:latin typeface="Times New Roman"/>
                <a:ea typeface="Times New Roman"/>
                <a:cs typeface="Times New Roman"/>
              </a:rPr>
              <a:t>Conditional Column “hieu_luc” (Add Column → Conditional Column)</a:t>
            </a:r>
          </a:p>
          <a:p>
            <a:pPr algn="l">
              <a:buNone/>
            </a:pPr>
            <a:r>
              <a:rPr sz="1200" b="0" i="0">
                <a:solidFill>
                  <a:srgbClr val="222222"/>
                </a:solidFill>
                <a:latin typeface="Times New Roman"/>
                <a:ea typeface="Times New Roman"/>
                <a:cs typeface="Times New Roman"/>
              </a:rPr>
              <a:t>If posting_date  is before  valid_from  →  0</a:t>
            </a:r>
          </a:p>
          <a:p>
            <a:pPr algn="l">
              <a:buNone/>
            </a:pPr>
            <a:r>
              <a:rPr sz="1200" b="0" i="0">
                <a:solidFill>
                  <a:srgbClr val="222222"/>
                </a:solidFill>
                <a:latin typeface="Times New Roman"/>
                <a:ea typeface="Times New Roman"/>
                <a:cs typeface="Times New Roman"/>
              </a:rPr>
              <a:t>Else If posting_date  is after  valid_to  →  0</a:t>
            </a:r>
          </a:p>
          <a:p>
            <a:pPr algn="l">
              <a:buNone/>
            </a:pPr>
            <a:r>
              <a:rPr sz="1200" b="0" i="0">
                <a:solidFill>
                  <a:srgbClr val="222222"/>
                </a:solidFill>
                <a:latin typeface="Times New Roman"/>
                <a:ea typeface="Times New Roman"/>
                <a:cs typeface="Times New Roman"/>
              </a:rPr>
              <a:t>Else  →  1      (ô Value chọn Select a column)</a:t>
            </a:r>
          </a:p>
          <a:p>
            <a:pPr algn="l">
              <a:buNone/>
            </a:pPr>
            <a:r>
              <a:rPr sz="1200" b="0" i="1">
                <a:solidFill>
                  <a:srgbClr val="222222"/>
                </a:solidFill>
                <a:latin typeface="Times New Roman"/>
                <a:ea typeface="Times New Roman"/>
                <a:cs typeface="Times New Roman"/>
              </a:rPr>
              <a:t>Rồi lọc hieu_luc = 1 và bỏ 3 cột phụ</a:t>
            </a:r>
          </a:p>
        </p:txBody>
      </p:sp>
      <p:sp>
        <p:nvSpPr>
          <p:cNvPr id="158" name="Rounded Rectangle 157"/>
          <p:cNvSpPr/>
          <p:nvPr/>
        </p:nvSpPr>
        <p:spPr>
          <a:xfrm>
            <a:off x="6217920"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Source · Navigation</a:t>
            </a:r>
          </a:p>
          <a:p>
            <a:pPr algn="ctr">
              <a:buNone/>
            </a:pPr>
            <a:r>
              <a:rPr sz="900" b="0" i="0">
                <a:solidFill>
                  <a:srgbClr val="222222"/>
                </a:solidFill>
                <a:latin typeface="Times New Roman"/>
                <a:ea typeface="Times New Roman"/>
                <a:cs typeface="Times New Roman"/>
              </a:rPr>
              <a:t>chọn Table tbl_finance_revenue</a:t>
            </a:r>
          </a:p>
          <a:p>
            <a:pPr algn="ctr">
              <a:buNone/>
            </a:pPr>
            <a:r>
              <a:rPr sz="900" b="0" i="1">
                <a:solidFill>
                  <a:srgbClr val="595959"/>
                </a:solidFill>
                <a:latin typeface="Times New Roman"/>
                <a:ea typeface="Times New Roman"/>
                <a:cs typeface="Times New Roman"/>
              </a:rPr>
              <a:t>19.400 dòng</a:t>
            </a:r>
          </a:p>
        </p:txBody>
      </p:sp>
      <p:sp>
        <p:nvSpPr>
          <p:cNvPr id="159" name="Rounded Rectangle 158"/>
          <p:cNvSpPr/>
          <p:nvPr/>
        </p:nvSpPr>
        <p:spPr>
          <a:xfrm>
            <a:off x="7639812"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Changed Type</a:t>
            </a:r>
          </a:p>
          <a:p>
            <a:pPr algn="ctr">
              <a:buNone/>
            </a:pPr>
            <a:r>
              <a:rPr sz="900" b="0" i="0">
                <a:solidFill>
                  <a:srgbClr val="222222"/>
                </a:solidFill>
                <a:latin typeface="Times New Roman"/>
                <a:ea typeface="Times New Roman"/>
                <a:cs typeface="Times New Roman"/>
              </a:rPr>
              <a:t>đặt kiểu cột</a:t>
            </a:r>
          </a:p>
          <a:p>
            <a:pPr algn="ctr">
              <a:buNone/>
            </a:pPr>
            <a:r>
              <a:rPr sz="900" b="0" i="1">
                <a:solidFill>
                  <a:srgbClr val="595959"/>
                </a:solidFill>
                <a:latin typeface="Times New Roman"/>
                <a:ea typeface="Times New Roman"/>
                <a:cs typeface="Times New Roman"/>
              </a:rPr>
              <a:t>19.400 dòng</a:t>
            </a:r>
          </a:p>
        </p:txBody>
      </p:sp>
      <p:cxnSp>
        <p:nvCxnSpPr>
          <p:cNvPr id="160" name="Connector 159"/>
          <p:cNvCxnSpPr/>
          <p:nvPr/>
        </p:nvCxnSpPr>
        <p:spPr>
          <a:xfrm>
            <a:off x="7502652" y="4000500"/>
            <a:ext cx="128016" cy="0"/>
          </a:xfrm>
          <a:prstGeom prst="line">
            <a:avLst/>
          </a:prstGeom>
          <a:ln w="19050">
            <a:solidFill>
              <a:srgbClr val="595959"/>
            </a:solidFill>
            <a:tailEnd type="triangle"/>
          </a:ln>
        </p:spPr>
      </p:cxnSp>
      <p:sp>
        <p:nvSpPr>
          <p:cNvPr id="161" name="Rounded Rectangle 160"/>
          <p:cNvSpPr/>
          <p:nvPr/>
        </p:nvSpPr>
        <p:spPr>
          <a:xfrm>
            <a:off x="9144000"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Source · Navigation</a:t>
            </a:r>
          </a:p>
          <a:p>
            <a:pPr algn="ctr">
              <a:buNone/>
            </a:pPr>
            <a:r>
              <a:rPr sz="900" b="0" i="0">
                <a:solidFill>
                  <a:srgbClr val="222222"/>
                </a:solidFill>
                <a:latin typeface="Times New Roman"/>
                <a:ea typeface="Times New Roman"/>
                <a:cs typeface="Times New Roman"/>
              </a:rPr>
              <a:t>chọn Table tbl_map_store_finance</a:t>
            </a:r>
          </a:p>
          <a:p>
            <a:pPr algn="ctr">
              <a:buNone/>
            </a:pPr>
            <a:r>
              <a:rPr sz="900" b="0" i="1">
                <a:solidFill>
                  <a:srgbClr val="595959"/>
                </a:solidFill>
                <a:latin typeface="Times New Roman"/>
                <a:ea typeface="Times New Roman"/>
                <a:cs typeface="Times New Roman"/>
              </a:rPr>
              <a:t>69 dòng</a:t>
            </a:r>
          </a:p>
        </p:txBody>
      </p:sp>
      <p:sp>
        <p:nvSpPr>
          <p:cNvPr id="162" name="Rounded Rectangle 161"/>
          <p:cNvSpPr/>
          <p:nvPr/>
        </p:nvSpPr>
        <p:spPr>
          <a:xfrm>
            <a:off x="10565892"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Changed Type</a:t>
            </a:r>
          </a:p>
          <a:p>
            <a:pPr algn="ctr">
              <a:buNone/>
            </a:pPr>
            <a:r>
              <a:rPr sz="900" b="0" i="0">
                <a:solidFill>
                  <a:srgbClr val="222222"/>
                </a:solidFill>
                <a:latin typeface="Times New Roman"/>
                <a:ea typeface="Times New Roman"/>
                <a:cs typeface="Times New Roman"/>
              </a:rPr>
              <a:t>đặt kiểu cột</a:t>
            </a:r>
          </a:p>
          <a:p>
            <a:pPr algn="ctr">
              <a:buNone/>
            </a:pPr>
            <a:r>
              <a:rPr sz="900" b="0" i="1">
                <a:solidFill>
                  <a:srgbClr val="595959"/>
                </a:solidFill>
                <a:latin typeface="Times New Roman"/>
                <a:ea typeface="Times New Roman"/>
                <a:cs typeface="Times New Roman"/>
              </a:rPr>
              <a:t>69 dòng</a:t>
            </a:r>
          </a:p>
        </p:txBody>
      </p:sp>
      <p:cxnSp>
        <p:nvCxnSpPr>
          <p:cNvPr id="163" name="Connector 162"/>
          <p:cNvCxnSpPr/>
          <p:nvPr/>
        </p:nvCxnSpPr>
        <p:spPr>
          <a:xfrm>
            <a:off x="10428732" y="4000500"/>
            <a:ext cx="128016" cy="0"/>
          </a:xfrm>
          <a:prstGeom prst="line">
            <a:avLst/>
          </a:prstGeom>
          <a:ln w="19050">
            <a:solidFill>
              <a:srgbClr val="595959"/>
            </a:solidFill>
            <a:tailEnd type="triangle"/>
          </a:ln>
        </p:spPr>
      </p:cxnSp>
      <p:sp>
        <p:nvSpPr>
          <p:cNvPr id="164" name="TextBox 163"/>
          <p:cNvSpPr txBox="1"/>
          <p:nvPr/>
        </p:nvSpPr>
        <p:spPr>
          <a:xfrm>
            <a:off x="6217920" y="2871216"/>
            <a:ext cx="5623560" cy="274320"/>
          </a:xfrm>
          <a:prstGeom prst="rect">
            <a:avLst/>
          </a:prstGeom>
          <a:noFill/>
        </p:spPr>
        <p:txBody>
          <a:bodyPr wrap="square" lIns="45720" tIns="27432" rIns="45720" bIns="27432" anchor="t"/>
          <a:lstStyle/>
          <a:p>
            <a:pPr algn="l">
              <a:buNone/>
            </a:pPr>
            <a:r>
              <a:rPr sz="1200" b="1" i="0">
                <a:solidFill>
                  <a:srgbClr val="595959"/>
                </a:solidFill>
                <a:latin typeface="Times New Roman"/>
                <a:ea typeface="Times New Roman"/>
                <a:cs typeface="Times New Roman"/>
              </a:rPr>
              <a:t>Hai query trung gian: finance_raw (trái) · map_store_finance (phải)</a:t>
            </a:r>
          </a:p>
        </p:txBody>
      </p:sp>
      <p:sp>
        <p:nvSpPr>
          <p:cNvPr id="165" name="Rounded Rectangle 164"/>
          <p:cNvSpPr/>
          <p:nvPr/>
        </p:nvSpPr>
        <p:spPr>
          <a:xfrm>
            <a:off x="365760" y="4983480"/>
            <a:ext cx="3657600" cy="1005840"/>
          </a:xfrm>
          <a:prstGeom prst="roundRect">
            <a:avLst>
              <a:gd name="adj" fmla="val 6000"/>
            </a:avLst>
          </a:prstGeom>
          <a:solidFill>
            <a:srgbClr val="FFFFFF"/>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Chỉ tạo kết nối</a:t>
            </a:r>
          </a:p>
          <a:p>
            <a:pPr algn="l">
              <a:buNone/>
            </a:pPr>
            <a:r>
              <a:rPr sz="1200" b="0" i="0">
                <a:solidFill>
                  <a:srgbClr val="222222"/>
                </a:solidFill>
                <a:latin typeface="Times New Roman"/>
                <a:ea typeface="Times New Roman"/>
                <a:cs typeface="Times New Roman"/>
              </a:rPr>
              <a:t>finance_raw, map_store_finance: Close &amp; Load To → Only Create Connection, không nạp Data Model</a:t>
            </a:r>
          </a:p>
        </p:txBody>
      </p:sp>
      <p:sp>
        <p:nvSpPr>
          <p:cNvPr id="166" name="Rounded Rectangle 165"/>
          <p:cNvSpPr/>
          <p:nvPr/>
        </p:nvSpPr>
        <p:spPr>
          <a:xfrm>
            <a:off x="4206240" y="4983480"/>
            <a:ext cx="3657600" cy="1005840"/>
          </a:xfrm>
          <a:prstGeom prst="roundRect">
            <a:avLst>
              <a:gd name="adj" fmla="val 6000"/>
            </a:avLst>
          </a:prstGeom>
          <a:solidFill>
            <a:srgbClr val="FFFFFF"/>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Lọc theo ngày hiệu lực</a:t>
            </a:r>
          </a:p>
          <a:p>
            <a:pPr algn="l">
              <a:buNone/>
            </a:pPr>
            <a:r>
              <a:rPr sz="1200" b="0" i="0">
                <a:solidFill>
                  <a:srgbClr val="222222"/>
                </a:solidFill>
                <a:latin typeface="Times New Roman"/>
                <a:ea typeface="Times New Roman"/>
                <a:cs typeface="Times New Roman"/>
              </a:rPr>
              <a:t>posting_date nằm trong [valid_from, valid_to]: chốt an toàn khi một cửa hàng đổi mã Kế toán</a:t>
            </a:r>
          </a:p>
        </p:txBody>
      </p:sp>
      <p:sp>
        <p:nvSpPr>
          <p:cNvPr id="167" name="Rounded Rectangle 166"/>
          <p:cNvSpPr/>
          <p:nvPr/>
        </p:nvSpPr>
        <p:spPr>
          <a:xfrm>
            <a:off x="8046720" y="4983480"/>
            <a:ext cx="3657600" cy="1005840"/>
          </a:xfrm>
          <a:prstGeom prst="roundRect">
            <a:avLst>
              <a:gd name="adj" fmla="val 6000"/>
            </a:avLst>
          </a:prstGeom>
          <a:solidFill>
            <a:srgbClr val="FFFFFF"/>
          </a:solidFill>
          <a:ln w="15875">
            <a:solidFill>
              <a:srgbClr val="2E5B31"/>
            </a:solidFill>
          </a:ln>
          <a:effectLst/>
        </p:spPr>
        <p:txBody>
          <a:bodyPr rtlCol="0" anchor="ctr" wrap="square" lIns="109728" tIns="27432" bIns="27432"/>
          <a:lstStyle/>
          <a:p>
            <a:pPr algn="l">
              <a:buNone/>
            </a:pPr>
            <a:r>
              <a:rPr sz="1200" b="1" i="0">
                <a:solidFill>
                  <a:srgbClr val="2E5B31"/>
                </a:solidFill>
                <a:latin typeface="Times New Roman"/>
                <a:ea typeface="Times New Roman"/>
                <a:cs typeface="Times New Roman"/>
              </a:rPr>
              <a:t>HQ-ADJ</a:t>
            </a:r>
          </a:p>
          <a:p>
            <a:pPr algn="l">
              <a:buNone/>
            </a:pPr>
            <a:r>
              <a:rPr sz="1200" b="0" i="0">
                <a:solidFill>
                  <a:srgbClr val="222222"/>
                </a:solidFill>
                <a:latin typeface="Times New Roman"/>
                <a:ea typeface="Times New Roman"/>
                <a:cs typeface="Times New Roman"/>
              </a:rPr>
              <a:t>3 dòng giữ store_key trống: không gán cho cửa hàng nào, giải thích ở tổng chuỗi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Nạp vào Data Model và cấu hình trong Power Pivot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Close &amp; Load To → </a:t>
            </a:r>
            <a:r>
              <a:rPr sz="1700" b="1" i="0">
                <a:solidFill>
                  <a:srgbClr val="2E5B31"/>
                </a:solidFill>
                <a:latin typeface="Times New Roman"/>
                <a:ea typeface="Times New Roman"/>
                <a:cs typeface="Times New Roman"/>
              </a:rPr>
              <a:t>Only Create Connection + Add to Data Model</a:t>
            </a:r>
            <a:r>
              <a:rPr sz="1700" b="0" i="0">
                <a:solidFill>
                  <a:srgbClr val="222222"/>
                </a:solidFill>
                <a:latin typeface="Times New Roman"/>
                <a:ea typeface="Times New Roman"/>
                <a:cs typeface="Times New Roman"/>
              </a:rPr>
              <a:t>; không đổ bảng 63 nghìn dòng ra sheet</a:t>
            </a:r>
          </a:p>
        </p:txBody>
      </p:sp>
      <p:sp>
        <p:nvSpPr>
          <p:cNvPr id="143" name="Oval 142"/>
          <p:cNvSpPr/>
          <p:nvPr/>
        </p:nvSpPr>
        <p:spPr>
          <a:xfrm>
            <a:off x="365760" y="1371600"/>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1</a:t>
            </a:r>
          </a:p>
        </p:txBody>
      </p:sp>
      <p:sp>
        <p:nvSpPr>
          <p:cNvPr id="144" name="TextBox 143"/>
          <p:cNvSpPr txBox="1"/>
          <p:nvPr/>
        </p:nvSpPr>
        <p:spPr>
          <a:xfrm>
            <a:off x="1005840" y="1316736"/>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Close &amp; Load To…</a:t>
            </a:r>
          </a:p>
          <a:p>
            <a:pPr algn="l">
              <a:buNone/>
            </a:pPr>
            <a:r>
              <a:rPr sz="1300" b="0" i="0">
                <a:solidFill>
                  <a:srgbClr val="222222"/>
                </a:solidFill>
                <a:latin typeface="Times New Roman"/>
                <a:ea typeface="Times New Roman"/>
                <a:cs typeface="Times New Roman"/>
              </a:rPr>
              <a:t>Dim, fact, _Measures: Only Create Connection + tick Add this data to the Data Model</a:t>
            </a:r>
          </a:p>
        </p:txBody>
      </p:sp>
      <p:sp>
        <p:nvSpPr>
          <p:cNvPr id="145" name="Oval 144"/>
          <p:cNvSpPr/>
          <p:nvPr/>
        </p:nvSpPr>
        <p:spPr>
          <a:xfrm>
            <a:off x="365760" y="2304288"/>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2</a:t>
            </a:r>
          </a:p>
        </p:txBody>
      </p:sp>
      <p:sp>
        <p:nvSpPr>
          <p:cNvPr id="146" name="TextBox 145"/>
          <p:cNvSpPr txBox="1"/>
          <p:nvPr/>
        </p:nvSpPr>
        <p:spPr>
          <a:xfrm>
            <a:off x="1005840" y="2249424"/>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Query trung gian</a:t>
            </a:r>
          </a:p>
          <a:p>
            <a:pPr algn="l">
              <a:buNone/>
            </a:pPr>
            <a:r>
              <a:rPr sz="1300" b="0" i="0">
                <a:solidFill>
                  <a:srgbClr val="222222"/>
                </a:solidFill>
                <a:latin typeface="Times New Roman"/>
                <a:ea typeface="Times New Roman"/>
                <a:cs typeface="Times New Roman"/>
              </a:rPr>
              <a:t>finance_raw, map_store_finance: chỉ Only Create Connection</a:t>
            </a:r>
          </a:p>
        </p:txBody>
      </p:sp>
      <p:sp>
        <p:nvSpPr>
          <p:cNvPr id="147" name="Oval 146"/>
          <p:cNvSpPr/>
          <p:nvPr/>
        </p:nvSpPr>
        <p:spPr>
          <a:xfrm>
            <a:off x="365760" y="3236976"/>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3</a:t>
            </a:r>
          </a:p>
        </p:txBody>
      </p:sp>
      <p:sp>
        <p:nvSpPr>
          <p:cNvPr id="148" name="TextBox 147"/>
          <p:cNvSpPr txBox="1"/>
          <p:nvPr/>
        </p:nvSpPr>
        <p:spPr>
          <a:xfrm>
            <a:off x="1005840" y="3182112"/>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Power Pivot → Manage</a:t>
            </a:r>
          </a:p>
          <a:p>
            <a:pPr algn="l">
              <a:buNone/>
            </a:pPr>
            <a:r>
              <a:rPr sz="1300" b="0" i="0">
                <a:solidFill>
                  <a:srgbClr val="222222"/>
                </a:solidFill>
                <a:latin typeface="Times New Roman"/>
                <a:ea typeface="Times New Roman"/>
                <a:cs typeface="Times New Roman"/>
              </a:rPr>
              <a:t>Diagram View: kéo khoá dim → fact; delivery_date kéo lần 2 → inactive</a:t>
            </a:r>
          </a:p>
        </p:txBody>
      </p:sp>
      <p:sp>
        <p:nvSpPr>
          <p:cNvPr id="149" name="Oval 148"/>
          <p:cNvSpPr/>
          <p:nvPr/>
        </p:nvSpPr>
        <p:spPr>
          <a:xfrm>
            <a:off x="365760" y="4169664"/>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4</a:t>
            </a:r>
          </a:p>
        </p:txBody>
      </p:sp>
      <p:sp>
        <p:nvSpPr>
          <p:cNvPr id="150" name="TextBox 149"/>
          <p:cNvSpPr txBox="1"/>
          <p:nvPr/>
        </p:nvSpPr>
        <p:spPr>
          <a:xfrm>
            <a:off x="1005840" y="4114800"/>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Mark as Date Table</a:t>
            </a:r>
          </a:p>
          <a:p>
            <a:pPr algn="l">
              <a:buNone/>
            </a:pPr>
            <a:r>
              <a:rPr sz="1300" b="0" i="0">
                <a:solidFill>
                  <a:srgbClr val="222222"/>
                </a:solidFill>
                <a:latin typeface="Times New Roman"/>
                <a:ea typeface="Times New Roman"/>
                <a:cs typeface="Times New Roman"/>
              </a:rPr>
              <a:t>dim_date → cột date; Sort by Column: month_label theo month_id</a:t>
            </a:r>
          </a:p>
        </p:txBody>
      </p:sp>
      <p:sp>
        <p:nvSpPr>
          <p:cNvPr id="151" name="Oval 150"/>
          <p:cNvSpPr/>
          <p:nvPr/>
        </p:nvSpPr>
        <p:spPr>
          <a:xfrm>
            <a:off x="365760" y="5102352"/>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5</a:t>
            </a:r>
          </a:p>
        </p:txBody>
      </p:sp>
      <p:sp>
        <p:nvSpPr>
          <p:cNvPr id="152" name="TextBox 151"/>
          <p:cNvSpPr txBox="1"/>
          <p:nvPr/>
        </p:nvSpPr>
        <p:spPr>
          <a:xfrm>
            <a:off x="1005840" y="5047488"/>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Hide from Client Tools</a:t>
            </a:r>
          </a:p>
          <a:p>
            <a:pPr algn="l">
              <a:buNone/>
            </a:pPr>
            <a:r>
              <a:rPr sz="1300" b="0" i="0">
                <a:solidFill>
                  <a:srgbClr val="222222"/>
                </a:solidFill>
                <a:latin typeface="Times New Roman"/>
                <a:ea typeface="Times New Roman"/>
                <a:cs typeface="Times New Roman"/>
              </a:rPr>
              <a:t>Ẩn khoá ở bảng dữ kiện và cột ghi_chu của _Measures</a:t>
            </a:r>
          </a:p>
        </p:txBody>
      </p:sp>
      <p:graphicFrame>
        <p:nvGraphicFramePr>
          <p:cNvPr id="153" name="Table 152"/>
          <p:cNvGraphicFramePr>
            <a:graphicFrameLocks noGrp="1"/>
          </p:cNvGraphicFramePr>
          <p:nvPr/>
        </p:nvGraphicFramePr>
        <p:xfrm>
          <a:off x="6675120" y="1371600"/>
          <a:ext cx="5166360" cy="3291840"/>
        </p:xfrm>
        <a:graphic>
          <a:graphicData uri="http://schemas.openxmlformats.org/drawingml/2006/table">
            <a:tbl>
              <a:tblPr firstRow="1">
                <a:tableStyleId>{5940675A-B579-460E-94D1-54222C63F5DA}</a:tableStyleId>
              </a:tblPr>
              <a:tblGrid>
                <a:gridCol w="3566160"/>
                <a:gridCol w="1600200"/>
              </a:tblGrid>
              <a:tr h="548640">
                <a:tc>
                  <a:txBody>
                    <a:bodyPr/>
                    <a:lstStyle/>
                    <a:p>
                      <a:pPr algn="l">
                        <a:buNone/>
                      </a:pPr>
                      <a:r>
                        <a:rPr sz="1200" b="1" i="0">
                          <a:solidFill>
                            <a:srgbClr val="FFFFFF"/>
                          </a:solidFill>
                          <a:latin typeface="Times New Roman"/>
                          <a:ea typeface="Times New Roman"/>
                          <a:cs typeface="Times New Roman"/>
                        </a:rPr>
                        <a:t>Kiểm trong Power Pivot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Phải 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48640">
                <a:tc>
                  <a:txBody>
                    <a:bodyPr/>
                    <a:lstStyle/>
                    <a:p>
                      <a:pPr algn="l">
                        <a:buNone/>
                      </a:pPr>
                      <a:r>
                        <a:rPr sz="1200" b="0" i="0">
                          <a:solidFill>
                            <a:srgbClr val="222222"/>
                          </a:solidFill>
                          <a:latin typeface="Times New Roman"/>
                          <a:ea typeface="Times New Roman"/>
                          <a:cs typeface="Times New Roman"/>
                        </a:rPr>
                        <a:t>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fact_finance (3 dòng HQ-ADJ trống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PivotTable Data Model: đơn COMPLETED 2020 (Distinct Count)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PivotTable Data Model: Σ fact_finance[net_revenue]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54" name="Rounded Rectangle 153"/>
          <p:cNvSpPr/>
          <p:nvPr/>
        </p:nvSpPr>
        <p:spPr>
          <a:xfrm>
            <a:off x="6675120" y="4800600"/>
            <a:ext cx="5166360" cy="1188720"/>
          </a:xfrm>
          <a:prstGeom prst="roundRect">
            <a:avLst>
              <a:gd name="adj" fmla="val 6000"/>
            </a:avLst>
          </a:prstGeom>
          <a:solidFill>
            <a:srgbClr val="DEEAF6"/>
          </a:solidFill>
          <a:ln w="15875">
            <a:solidFill>
              <a:srgbClr val="123A7A"/>
            </a:solidFill>
          </a:ln>
          <a:effectLst/>
        </p:spPr>
        <p:txBody>
          <a:bodyPr rtlCol="0" anchor="ctr" wrap="square" lIns="109728" tIns="36576" rIns="109728" bIns="36576"/>
          <a:lstStyle/>
          <a:p>
            <a:pPr algn="l">
              <a:buNone/>
            </a:pPr>
            <a:r>
              <a:rPr sz="1300" b="1" i="0">
                <a:solidFill>
                  <a:srgbClr val="123A7A"/>
                </a:solidFill>
                <a:latin typeface="Times New Roman"/>
                <a:ea typeface="Times New Roman"/>
                <a:cs typeface="Times New Roman"/>
              </a:rPr>
              <a:t>Excel không có cửa sổ chạy truy vấn DAX: </a:t>
            </a:r>
            <a:r>
              <a:rPr sz="1300" b="0" i="0">
                <a:solidFill>
                  <a:srgbClr val="222222"/>
                </a:solidFill>
                <a:latin typeface="Times New Roman"/>
                <a:ea typeface="Times New Roman"/>
                <a:cs typeface="Times New Roman"/>
              </a:rPr>
              <a:t>kiểm mô hình bằng PivotTable From Data Model hoặc một ô CUBEVALUE trước khi viết số đo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Doanh thu theo năm: dữ liệu đơn và Kế toán, 2016–2021</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nguồn </a:t>
            </a:r>
            <a:r>
              <a:rPr sz="1700" b="1" i="0">
                <a:solidFill>
                  <a:srgbClr val="2E5B31"/>
                </a:solidFill>
                <a:latin typeface="Times New Roman"/>
                <a:ea typeface="Times New Roman"/>
                <a:cs typeface="Times New Roman"/>
              </a:rPr>
              <a:t>gần khớp ở cấp năm</a:t>
            </a:r>
            <a:r>
              <a:rPr sz="1700" b="0" i="0">
                <a:solidFill>
                  <a:srgbClr val="222222"/>
                </a:solidFill>
                <a:latin typeface="Times New Roman"/>
                <a:ea typeface="Times New Roman"/>
                <a:cs typeface="Times New Roman"/>
              </a:rPr>
              <a:t>; chênh lệch chỉ lộ ra khi xuống tháng × cửa hàng</a:t>
            </a:r>
          </a:p>
        </p:txBody>
      </p:sp>
      <p:sp>
        <p:nvSpPr>
          <p:cNvPr id="143" name="Rectangle 142"/>
          <p:cNvSpPr/>
          <p:nvPr/>
        </p:nvSpPr>
        <p:spPr>
          <a:xfrm>
            <a:off x="365760" y="1371600"/>
            <a:ext cx="758952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758952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năm (triệu USD)</a:t>
            </a:r>
          </a:p>
        </p:txBody>
      </p:sp>
      <p:sp>
        <p:nvSpPr>
          <p:cNvPr id="145" name="TextBox 144"/>
          <p:cNvSpPr txBox="1"/>
          <p:nvPr/>
        </p:nvSpPr>
        <p:spPr>
          <a:xfrm>
            <a:off x="411480" y="5678424"/>
            <a:ext cx="749808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 2021: chỉ đến 20/02/2021</a:t>
            </a:r>
          </a:p>
        </p:txBody>
      </p:sp>
      <p:graphicFrame>
        <p:nvGraphicFramePr>
          <p:cNvPr id="146" name="Chart 145"/>
          <p:cNvGraphicFramePr>
            <a:graphicFrameLocks noGrp="1"/>
          </p:cNvGraphicFramePr>
          <p:nvPr/>
        </p:nvGraphicFramePr>
        <p:xfrm>
          <a:off x="457200" y="1737360"/>
          <a:ext cx="7406640" cy="3931920"/>
        </p:xfrm>
        <a:graphic>
          <a:graphicData uri="http://schemas.openxmlformats.org/drawingml/2006/chart">
            <c:chart xmlns:c="http://schemas.openxmlformats.org/drawingml/2006/chart" r:id="rId3"/>
          </a:graphicData>
        </a:graphic>
      </p:graphicFrame>
      <p:sp>
        <p:nvSpPr>
          <p:cNvPr id="147" name="Rounded Rectangle 146"/>
          <p:cNvSpPr/>
          <p:nvPr/>
        </p:nvSpPr>
        <p:spPr>
          <a:xfrm>
            <a:off x="8183879"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8" name="Rounded Rectangle 147"/>
          <p:cNvSpPr/>
          <p:nvPr/>
        </p:nvSpPr>
        <p:spPr>
          <a:xfrm>
            <a:off x="8183879"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Đọc nhanh</a:t>
            </a:r>
          </a:p>
        </p:txBody>
      </p:sp>
      <p:sp>
        <p:nvSpPr>
          <p:cNvPr id="149" name="TextBox 148"/>
          <p:cNvSpPr txBox="1"/>
          <p:nvPr/>
        </p:nvSpPr>
        <p:spPr>
          <a:xfrm>
            <a:off x="8275320" y="1920240"/>
            <a:ext cx="3474720" cy="4023360"/>
          </a:xfrm>
          <a:prstGeom prst="rect">
            <a:avLst/>
          </a:prstGeom>
          <a:noFill/>
        </p:spPr>
        <p:txBody>
          <a:bodyPr wrap="square" lIns="45720" tIns="27432" rIns="45720" bIns="27432" anchor="t"/>
          <a:lstStyle/>
          <a:p>
            <a:pPr algn="l" marL="182880" indent="-182880">
              <a:spcAft>
                <a:spcPts val="600"/>
              </a:spcAft>
              <a:buFont typeface="Arial"/>
              <a:buChar char="•"/>
            </a:pPr>
            <a:r>
              <a:rPr sz="1400" b="1" i="0">
                <a:solidFill>
                  <a:srgbClr val="222222"/>
                </a:solidFill>
                <a:latin typeface="Times New Roman"/>
                <a:ea typeface="Times New Roman"/>
                <a:cs typeface="Times New Roman"/>
              </a:rPr>
              <a:t>2020: </a:t>
            </a:r>
            <a:r>
              <a:rPr sz="1400" b="0" i="0">
                <a:solidFill>
                  <a:srgbClr val="222222"/>
                </a:solidFill>
                <a:latin typeface="Times New Roman"/>
                <a:ea typeface="Times New Roman"/>
                <a:cs typeface="Times New Roman"/>
              </a:rPr>
              <a:t>8,73 triệu USD</a:t>
            </a:r>
            <a:r>
              <a:rPr sz="1400" b="1" i="0">
                <a:solidFill>
                  <a:srgbClr val="C00000"/>
                </a:solidFill>
                <a:latin typeface="Times New Roman"/>
                <a:ea typeface="Times New Roman"/>
                <a:cs typeface="Times New Roman"/>
              </a:rPr>
              <a:t>, −48,4% so với 2019</a:t>
            </a:r>
          </a:p>
          <a:p>
            <a:pPr algn="l" marL="182880" indent="-182880">
              <a:spcAft>
                <a:spcPts val="600"/>
              </a:spcAft>
              <a:buFont typeface="Arial"/>
              <a:buChar char="•"/>
            </a:pPr>
            <a:r>
              <a:rPr sz="1400" b="1" i="0">
                <a:solidFill>
                  <a:srgbClr val="222222"/>
                </a:solidFill>
                <a:latin typeface="Times New Roman"/>
                <a:ea typeface="Times New Roman"/>
                <a:cs typeface="Times New Roman"/>
              </a:rPr>
              <a:t>Số đơn: </a:t>
            </a:r>
            <a:r>
              <a:rPr sz="1400" b="0" i="0">
                <a:solidFill>
                  <a:srgbClr val="222222"/>
                </a:solidFill>
                <a:latin typeface="Times New Roman"/>
                <a:ea typeface="Times New Roman"/>
                <a:cs typeface="Times New Roman"/>
              </a:rPr>
              <a:t>8.842 → 4.528</a:t>
            </a:r>
          </a:p>
          <a:p>
            <a:pPr algn="l" marL="182880" indent="-182880">
              <a:spcAft>
                <a:spcPts val="600"/>
              </a:spcAft>
              <a:buFont typeface="Arial"/>
              <a:buChar char="•"/>
            </a:pPr>
            <a:r>
              <a:rPr sz="1400" b="1" i="0">
                <a:solidFill>
                  <a:srgbClr val="222222"/>
                </a:solidFill>
                <a:latin typeface="Times New Roman"/>
                <a:ea typeface="Times New Roman"/>
                <a:cs typeface="Times New Roman"/>
              </a:rPr>
              <a:t>AOV gần như đi ngang: </a:t>
            </a:r>
            <a:r>
              <a:rPr sz="1400" b="0" i="0">
                <a:solidFill>
                  <a:srgbClr val="222222"/>
                </a:solidFill>
                <a:latin typeface="Times New Roman"/>
                <a:ea typeface="Times New Roman"/>
                <a:cs typeface="Times New Roman"/>
              </a:rPr>
              <a:t>1.965 → 1.975 USD</a:t>
            </a:r>
          </a:p>
          <a:p>
            <a:pPr algn="l" marL="182880" indent="-182880">
              <a:spcAft>
                <a:spcPts val="600"/>
              </a:spcAft>
              <a:buFont typeface="Arial"/>
              <a:buChar char="•"/>
            </a:pPr>
            <a:r>
              <a:rPr sz="1400" b="1" i="0">
                <a:solidFill>
                  <a:srgbClr val="222222"/>
                </a:solidFill>
                <a:latin typeface="Times New Roman"/>
                <a:ea typeface="Times New Roman"/>
                <a:cs typeface="Times New Roman"/>
              </a:rPr>
              <a:t>Lệch Kế toán − đơn 2020: </a:t>
            </a:r>
            <a:r>
              <a:rPr sz="1400" b="0" i="0">
                <a:solidFill>
                  <a:srgbClr val="222222"/>
                </a:solidFill>
                <a:latin typeface="Times New Roman"/>
                <a:ea typeface="Times New Roman"/>
                <a:cs typeface="Times New Roman"/>
              </a:rPr>
              <a:t>+63.187 USD</a:t>
            </a:r>
            <a:r>
              <a:rPr sz="1400" b="0" i="0">
                <a:solidFill>
                  <a:srgbClr val="222222"/>
                </a:solidFill>
                <a:latin typeface="Times New Roman"/>
                <a:ea typeface="Times New Roman"/>
                <a:cs typeface="Times New Roman"/>
              </a:rPr>
              <a:t> (+0,72%)</a:t>
            </a:r>
          </a:p>
          <a:p>
            <a:pPr algn="l">
              <a:spcBef>
                <a:spcPts val="400"/>
              </a:spcBef>
              <a:buNone/>
            </a:pPr>
            <a:r>
              <a:rPr sz="1400" b="1" i="0">
                <a:solidFill>
                  <a:srgbClr val="C55A11"/>
                </a:solidFill>
                <a:latin typeface="Times New Roman"/>
                <a:ea typeface="Times New Roman"/>
                <a:cs typeface="Times New Roman"/>
              </a:rPr>
              <a:t>Câu hỏi: </a:t>
            </a:r>
            <a:r>
              <a:rPr sz="1400" b="0" i="1">
                <a:solidFill>
                  <a:srgbClr val="222222"/>
                </a:solidFill>
                <a:latin typeface="Times New Roman"/>
                <a:ea typeface="Times New Roman"/>
                <a:cs typeface="Times New Roman"/>
              </a:rPr>
              <a:t>doanh thu giảm do ít đơn hơn hay đơn nhỏ hơn?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Xu hướng theo tháng 2019–2020: hai đường gần như chồng nhau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Đỉnh cuối năm, đáy tháng 4;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sụt mạnh từ tháng 3 – cần nêu bối cảnh khi viết báo cáo</a:t>
            </a:r>
          </a:p>
        </p:txBody>
      </p:sp>
      <p:sp>
        <p:nvSpPr>
          <p:cNvPr id="143" name="Rectangle 142"/>
          <p:cNvSpPr/>
          <p:nvPr/>
        </p:nvSpPr>
        <p:spPr>
          <a:xfrm>
            <a:off x="365760" y="1371600"/>
            <a:ext cx="822960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822960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tháng (nghìn USD)</a:t>
            </a:r>
          </a:p>
        </p:txBody>
      </p:sp>
      <p:sp>
        <p:nvSpPr>
          <p:cNvPr id="145" name="TextBox 144"/>
          <p:cNvSpPr txBox="1"/>
          <p:nvPr/>
        </p:nvSpPr>
        <p:spPr>
          <a:xfrm>
            <a:off x="411480" y="5678424"/>
            <a:ext cx="813816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Dữ liệu đơn: Net Sales theo order_date − Returns theo return_date. Kế toán: theo posting_date.</a:t>
            </a:r>
          </a:p>
        </p:txBody>
      </p:sp>
      <p:graphicFrame>
        <p:nvGraphicFramePr>
          <p:cNvPr id="146" name="Chart 145"/>
          <p:cNvGraphicFramePr>
            <a:graphicFrameLocks noGrp="1"/>
          </p:cNvGraphicFramePr>
          <p:nvPr/>
        </p:nvGraphicFramePr>
        <p:xfrm>
          <a:off x="457200" y="1737360"/>
          <a:ext cx="8046720" cy="3931920"/>
        </p:xfrm>
        <a:graphic>
          <a:graphicData uri="http://schemas.openxmlformats.org/drawingml/2006/chart">
            <c:chart xmlns:c="http://schemas.openxmlformats.org/drawingml/2006/chart" r:id="rId3"/>
          </a:graphicData>
        </a:graphic>
      </p:graphicFrame>
      <p:sp>
        <p:nvSpPr>
          <p:cNvPr id="147" name="TextBox 146"/>
          <p:cNvSpPr txBox="1"/>
          <p:nvPr/>
        </p:nvSpPr>
        <p:spPr>
          <a:xfrm>
            <a:off x="8778240" y="1371600"/>
            <a:ext cx="3063240" cy="36576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Ba điều cần thấy</a:t>
            </a:r>
          </a:p>
        </p:txBody>
      </p:sp>
      <p:sp>
        <p:nvSpPr>
          <p:cNvPr id="148" name="Rounded Rectangle 147"/>
          <p:cNvSpPr/>
          <p:nvPr/>
        </p:nvSpPr>
        <p:spPr>
          <a:xfrm>
            <a:off x="8778240" y="1783080"/>
            <a:ext cx="3063240" cy="1280160"/>
          </a:xfrm>
          <a:prstGeom prst="roundRect">
            <a:avLst>
              <a:gd name="adj" fmla="val 6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9" name="TextBox 148"/>
          <p:cNvSpPr txBox="1"/>
          <p:nvPr/>
        </p:nvSpPr>
        <p:spPr>
          <a:xfrm>
            <a:off x="8869680" y="1828800"/>
            <a:ext cx="2880360" cy="11887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Đỉnh 12/19</a:t>
            </a:r>
          </a:p>
          <a:p>
            <a:pPr algn="l">
              <a:buNone/>
            </a:pPr>
            <a:r>
              <a:rPr sz="1300" b="0" i="0">
                <a:solidFill>
                  <a:srgbClr val="222222"/>
                </a:solidFill>
                <a:latin typeface="Times New Roman"/>
                <a:ea typeface="Times New Roman"/>
                <a:cs typeface="Times New Roman"/>
              </a:rPr>
              <a:t>2.263 nghìn USD</a:t>
            </a:r>
          </a:p>
        </p:txBody>
      </p:sp>
      <p:sp>
        <p:nvSpPr>
          <p:cNvPr id="150" name="Rounded Rectangle 149"/>
          <p:cNvSpPr/>
          <p:nvPr/>
        </p:nvSpPr>
        <p:spPr>
          <a:xfrm>
            <a:off x="8778240" y="3200400"/>
            <a:ext cx="3063240" cy="1280160"/>
          </a:xfrm>
          <a:prstGeom prst="roundRect">
            <a:avLst>
              <a:gd name="adj" fmla="val 6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51" name="TextBox 150"/>
          <p:cNvSpPr txBox="1"/>
          <p:nvPr/>
        </p:nvSpPr>
        <p:spPr>
          <a:xfrm>
            <a:off x="8869680" y="3246120"/>
            <a:ext cx="2880360" cy="11887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Tháng báo cáo 12/2020</a:t>
            </a:r>
          </a:p>
          <a:p>
            <a:pPr algn="l">
              <a:buNone/>
            </a:pPr>
            <a:r>
              <a:rPr sz="1300" b="0" i="0">
                <a:solidFill>
                  <a:srgbClr val="222222"/>
                </a:solidFill>
                <a:latin typeface="Times New Roman"/>
                <a:ea typeface="Times New Roman"/>
                <a:cs typeface="Times New Roman"/>
              </a:rPr>
              <a:t>606 nghìn USD, Kế toán 592</a:t>
            </a:r>
          </a:p>
        </p:txBody>
      </p:sp>
      <p:sp>
        <p:nvSpPr>
          <p:cNvPr id="152" name="Rounded Rectangle 151"/>
          <p:cNvSpPr/>
          <p:nvPr/>
        </p:nvSpPr>
        <p:spPr>
          <a:xfrm>
            <a:off x="8778240" y="4617720"/>
            <a:ext cx="3063240" cy="1280160"/>
          </a:xfrm>
          <a:prstGeom prst="roundRect">
            <a:avLst>
              <a:gd name="adj" fmla="val 6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3" name="TextBox 152"/>
          <p:cNvSpPr txBox="1"/>
          <p:nvPr/>
        </p:nvSpPr>
        <p:spPr>
          <a:xfrm>
            <a:off x="8869680" y="4663440"/>
            <a:ext cx="2880360" cy="11887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Online lệch thời điểm</a:t>
            </a:r>
          </a:p>
          <a:p>
            <a:pPr algn="l">
              <a:buNone/>
            </a:pPr>
            <a:r>
              <a:rPr sz="1300" b="0" i="0">
                <a:solidFill>
                  <a:srgbClr val="222222"/>
                </a:solidFill>
                <a:latin typeface="Times New Roman"/>
                <a:ea typeface="Times New Roman"/>
                <a:cs typeface="Times New Roman"/>
              </a:rPr>
              <a:t>Đường Kế toán trễ hơn ở các tháng có nhiều đơn online giao sang tháng sau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Kênh bán: cửa hàng chiếm phần lớn, online có quy tắc ghi nhận riêng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Online chỉ chiếm khoảng </a:t>
            </a:r>
            <a:r>
              <a:rPr sz="1700" b="1" i="0">
                <a:solidFill>
                  <a:srgbClr val="C55A11"/>
                </a:solidFill>
                <a:latin typeface="Times New Roman"/>
                <a:ea typeface="Times New Roman"/>
                <a:cs typeface="Times New Roman"/>
              </a:rPr>
              <a:t>22%</a:t>
            </a:r>
            <a:r>
              <a:rPr sz="1700" b="0" i="0">
                <a:solidFill>
                  <a:srgbClr val="222222"/>
                </a:solidFill>
                <a:latin typeface="Times New Roman"/>
                <a:ea typeface="Times New Roman"/>
                <a:cs typeface="Times New Roman"/>
              </a:rPr>
              <a:t> Net Sales nhưng là </a:t>
            </a:r>
            <a:r>
              <a:rPr sz="1700" b="1" i="0">
                <a:solidFill>
                  <a:srgbClr val="C00000"/>
                </a:solidFill>
                <a:latin typeface="Times New Roman"/>
                <a:ea typeface="Times New Roman"/>
                <a:cs typeface="Times New Roman"/>
              </a:rPr>
              <a:t>nguồn chênh lệch lớn nhất</a:t>
            </a:r>
            <a:r>
              <a:rPr sz="1700" b="0" i="0">
                <a:solidFill>
                  <a:srgbClr val="222222"/>
                </a:solidFill>
                <a:latin typeface="Times New Roman"/>
                <a:ea typeface="Times New Roman"/>
                <a:cs typeface="Times New Roman"/>
              </a:rPr>
              <a:t> khi đối soát theo tháng</a:t>
            </a:r>
          </a:p>
        </p:txBody>
      </p:sp>
      <p:sp>
        <p:nvSpPr>
          <p:cNvPr id="143" name="Rectangle 142"/>
          <p:cNvSpPr/>
          <p:nvPr/>
        </p:nvSpPr>
        <p:spPr>
          <a:xfrm>
            <a:off x="365760" y="1371600"/>
            <a:ext cx="65836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65836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trọng Net Sales theo kênh</a:t>
            </a:r>
          </a:p>
        </p:txBody>
      </p:sp>
      <p:graphicFrame>
        <p:nvGraphicFramePr>
          <p:cNvPr id="145" name="Chart 144"/>
          <p:cNvGraphicFramePr>
            <a:graphicFrameLocks noGrp="1"/>
          </p:cNvGraphicFramePr>
          <p:nvPr/>
        </p:nvGraphicFramePr>
        <p:xfrm>
          <a:off x="457200" y="1737360"/>
          <a:ext cx="6400800" cy="4160520"/>
        </p:xfrm>
        <a:graphic>
          <a:graphicData uri="http://schemas.openxmlformats.org/drawingml/2006/chart">
            <c:chart xmlns:c="http://schemas.openxmlformats.org/drawingml/2006/chart" r:id="rId3"/>
          </a:graphicData>
        </a:graphic>
      </p:graphicFrame>
      <p:sp>
        <p:nvSpPr>
          <p:cNvPr id="146" name="Rectangle 145"/>
          <p:cNvSpPr/>
          <p:nvPr/>
        </p:nvSpPr>
        <p:spPr>
          <a:xfrm>
            <a:off x="7178040" y="1371600"/>
            <a:ext cx="4663440" cy="283464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7" name="Rectangle 146"/>
          <p:cNvSpPr/>
          <p:nvPr/>
        </p:nvSpPr>
        <p:spPr>
          <a:xfrm>
            <a:off x="7178040" y="1371600"/>
            <a:ext cx="466344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AOV theo kênh năm 2020 (USD/đơn)</a:t>
            </a:r>
          </a:p>
        </p:txBody>
      </p:sp>
      <p:graphicFrame>
        <p:nvGraphicFramePr>
          <p:cNvPr id="148" name="Chart 147"/>
          <p:cNvGraphicFramePr>
            <a:graphicFrameLocks noGrp="1"/>
          </p:cNvGraphicFramePr>
          <p:nvPr/>
        </p:nvGraphicFramePr>
        <p:xfrm>
          <a:off x="7269480" y="1737360"/>
          <a:ext cx="448056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7178040" y="4343400"/>
            <a:ext cx="4663440" cy="164592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Vì sao online quan trọng khi đối soát? </a:t>
            </a:r>
          </a:p>
          <a:p>
            <a:pPr algn="l">
              <a:buNone/>
            </a:pPr>
            <a:r>
              <a:rPr sz="1300" b="0" i="0">
                <a:solidFill>
                  <a:srgbClr val="222222"/>
                </a:solidFill>
                <a:latin typeface="Times New Roman"/>
                <a:ea typeface="Times New Roman"/>
                <a:cs typeface="Times New Roman"/>
              </a:rPr>
              <a:t>Dữ liệu đơn tính theo ngày đặt, Kế toán tính theo ngày giao: đơn đặt cuối tháng, giao đầu tháng sau sẽ "nhảy" sang tháng khác.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Danh mục năm 2020: ai tạo doanh thu, ai bị trả hàng nhiều?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Danh mục </a:t>
            </a:r>
            <a:r>
              <a:rPr sz="1700" b="1" i="0">
                <a:solidFill>
                  <a:srgbClr val="2E5B31"/>
                </a:solidFill>
                <a:latin typeface="Times New Roman"/>
                <a:ea typeface="Times New Roman"/>
                <a:cs typeface="Times New Roman"/>
              </a:rPr>
              <a:t>lớn nhất</a:t>
            </a:r>
            <a:r>
              <a:rPr sz="1700" b="0" i="0">
                <a:solidFill>
                  <a:srgbClr val="222222"/>
                </a:solidFill>
                <a:latin typeface="Times New Roman"/>
                <a:ea typeface="Times New Roman"/>
                <a:cs typeface="Times New Roman"/>
              </a:rPr>
              <a:t> chưa chắc có </a:t>
            </a:r>
            <a:r>
              <a:rPr sz="1700" b="1" i="0">
                <a:solidFill>
                  <a:srgbClr val="C00000"/>
                </a:solidFill>
                <a:latin typeface="Times New Roman"/>
                <a:ea typeface="Times New Roman"/>
                <a:cs typeface="Times New Roman"/>
              </a:rPr>
              <a:t>tỷ lệ hoàn trả</a:t>
            </a:r>
            <a:r>
              <a:rPr sz="1700" b="0" i="0">
                <a:solidFill>
                  <a:srgbClr val="222222"/>
                </a:solidFill>
                <a:latin typeface="Times New Roman"/>
                <a:ea typeface="Times New Roman"/>
                <a:cs typeface="Times New Roman"/>
              </a:rPr>
              <a:t> cao nhất: đọc hai biểu đồ cùng nhau</a:t>
            </a:r>
          </a:p>
        </p:txBody>
      </p:sp>
      <p:sp>
        <p:nvSpPr>
          <p:cNvPr id="143" name="Rectangle 142"/>
          <p:cNvSpPr/>
          <p:nvPr/>
        </p:nvSpPr>
        <p:spPr>
          <a:xfrm>
            <a:off x="365760" y="1371600"/>
            <a:ext cx="56692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56692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Sales theo danh mục 2020 (nghìn USD)</a:t>
            </a:r>
          </a:p>
        </p:txBody>
      </p:sp>
      <p:graphicFrame>
        <p:nvGraphicFramePr>
          <p:cNvPr id="145" name="Chart 144"/>
          <p:cNvGraphicFramePr>
            <a:graphicFrameLocks noGrp="1"/>
          </p:cNvGraphicFramePr>
          <p:nvPr/>
        </p:nvGraphicFramePr>
        <p:xfrm>
          <a:off x="457200" y="1737360"/>
          <a:ext cx="5486400" cy="4160520"/>
        </p:xfrm>
        <a:graphic>
          <a:graphicData uri="http://schemas.openxmlformats.org/drawingml/2006/chart">
            <c:chart xmlns:c="http://schemas.openxmlformats.org/drawingml/2006/chart" r:id="rId3"/>
          </a:graphicData>
        </a:graphic>
      </p:graphicFrame>
      <p:sp>
        <p:nvSpPr>
          <p:cNvPr id="146" name="Rectangle 145"/>
          <p:cNvSpPr/>
          <p:nvPr/>
        </p:nvSpPr>
        <p:spPr>
          <a:xfrm>
            <a:off x="6263640" y="1371600"/>
            <a:ext cx="5577840"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7" name="Rectangle 146"/>
          <p:cNvSpPr/>
          <p:nvPr/>
        </p:nvSpPr>
        <p:spPr>
          <a:xfrm>
            <a:off x="6263640" y="1371600"/>
            <a:ext cx="5577840"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lệ hoàn trả = Returns / Net Sales, 2020</a:t>
            </a:r>
          </a:p>
        </p:txBody>
      </p:sp>
      <p:graphicFrame>
        <p:nvGraphicFramePr>
          <p:cNvPr id="148" name="Chart 147"/>
          <p:cNvGraphicFramePr>
            <a:graphicFrameLocks noGrp="1"/>
          </p:cNvGraphicFramePr>
          <p:nvPr/>
        </p:nvGraphicFramePr>
        <p:xfrm>
          <a:off x="6355080" y="1737360"/>
          <a:ext cx="5394960" cy="4160520"/>
        </p:xfrm>
        <a:graphic>
          <a:graphicData uri="http://schemas.openxmlformats.org/drawingml/2006/chart">
            <c:chart xmlns:c="http://schemas.openxmlformats.org/drawingml/2006/chart" r:id="rId4"/>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Khuyến mãi và trạng thái đơn: doanh thu bị "bào mòn"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Giảm giá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138.975 USD</a:t>
            </a:r>
            <a:r>
              <a:rPr sz="1700" b="0" i="0">
                <a:solidFill>
                  <a:srgbClr val="222222"/>
                </a:solidFill>
                <a:latin typeface="Times New Roman"/>
                <a:ea typeface="Times New Roman"/>
                <a:cs typeface="Times New Roman"/>
              </a:rPr>
              <a:t> (</a:t>
            </a:r>
            <a:r>
              <a:rPr sz="1700" b="1" i="0">
                <a:solidFill>
                  <a:srgbClr val="222222"/>
                </a:solidFill>
                <a:latin typeface="Times New Roman"/>
                <a:ea typeface="Times New Roman"/>
                <a:cs typeface="Times New Roman"/>
              </a:rPr>
              <a:t>1,5%</a:t>
            </a:r>
            <a:r>
              <a:rPr sz="1700" b="0" i="0">
                <a:solidFill>
                  <a:srgbClr val="222222"/>
                </a:solidFill>
                <a:latin typeface="Times New Roman"/>
                <a:ea typeface="Times New Roman"/>
                <a:cs typeface="Times New Roman"/>
              </a:rPr>
              <a:t> Gross Sales); đơn huỷ và đang giao phải loại</a:t>
            </a:r>
          </a:p>
        </p:txBody>
      </p:sp>
      <p:sp>
        <p:nvSpPr>
          <p:cNvPr id="143" name="Rectangle 142"/>
          <p:cNvSpPr/>
          <p:nvPr/>
        </p:nvSpPr>
        <p:spPr>
          <a:xfrm>
            <a:off x="365760" y="1371600"/>
            <a:ext cx="6035040"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4" name="Rectangle 143"/>
          <p:cNvSpPr/>
          <p:nvPr/>
        </p:nvSpPr>
        <p:spPr>
          <a:xfrm>
            <a:off x="365760" y="1371600"/>
            <a:ext cx="6035040" cy="329184"/>
          </a:xfrm>
          <a:prstGeom prst="rect">
            <a:avLst/>
          </a:prstGeom>
          <a:solidFill>
            <a:srgbClr val="C55A1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Giá trị giảm giá theo chương trình 2020 (nghìn USD)</a:t>
            </a:r>
          </a:p>
        </p:txBody>
      </p:sp>
      <p:graphicFrame>
        <p:nvGraphicFramePr>
          <p:cNvPr id="145" name="Chart 144"/>
          <p:cNvGraphicFramePr>
            <a:graphicFrameLocks noGrp="1"/>
          </p:cNvGraphicFramePr>
          <p:nvPr/>
        </p:nvGraphicFramePr>
        <p:xfrm>
          <a:off x="457200" y="1737360"/>
          <a:ext cx="5852160" cy="4160520"/>
        </p:xfrm>
        <a:graphic>
          <a:graphicData uri="http://schemas.openxmlformats.org/drawingml/2006/chart">
            <c:chart xmlns:c="http://schemas.openxmlformats.org/drawingml/2006/chart" r:id="rId3"/>
          </a:graphicData>
        </a:graphic>
      </p:graphicFrame>
      <p:sp>
        <p:nvSpPr>
          <p:cNvPr id="146" name="Rectangle 145"/>
          <p:cNvSpPr/>
          <p:nvPr/>
        </p:nvSpPr>
        <p:spPr>
          <a:xfrm>
            <a:off x="6629400" y="1371600"/>
            <a:ext cx="5212080" cy="283464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ectangle 146"/>
          <p:cNvSpPr/>
          <p:nvPr/>
        </p:nvSpPr>
        <p:spPr>
          <a:xfrm>
            <a:off x="6629400" y="1371600"/>
            <a:ext cx="5212080" cy="329184"/>
          </a:xfrm>
          <a:prstGeom prst="rect">
            <a:avLst/>
          </a:prstGeom>
          <a:solidFill>
            <a:srgbClr val="123A7A"/>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Số đơn theo trạng thái, toàn bộ dữ liệu</a:t>
            </a:r>
          </a:p>
        </p:txBody>
      </p:sp>
      <p:graphicFrame>
        <p:nvGraphicFramePr>
          <p:cNvPr id="148" name="Chart 147"/>
          <p:cNvGraphicFramePr>
            <a:graphicFrameLocks noGrp="1"/>
          </p:cNvGraphicFramePr>
          <p:nvPr/>
        </p:nvGraphicFramePr>
        <p:xfrm>
          <a:off x="6720840" y="1737360"/>
          <a:ext cx="502920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6629400" y="4343400"/>
            <a:ext cx="5212080" cy="164592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marL="182880" indent="-182880">
              <a:buFont typeface="Arial"/>
              <a:buChar char="•"/>
            </a:pPr>
            <a:r>
              <a:rPr sz="1300" b="1" i="0">
                <a:solidFill>
                  <a:srgbClr val="C55A11"/>
                </a:solidFill>
                <a:latin typeface="Times New Roman"/>
                <a:ea typeface="Times New Roman"/>
                <a:cs typeface="Times New Roman"/>
              </a:rPr>
              <a:t>18,8%</a:t>
            </a:r>
            <a:r>
              <a:rPr sz="1300" b="0" i="0">
                <a:solidFill>
                  <a:srgbClr val="222222"/>
                </a:solidFill>
                <a:latin typeface="Times New Roman"/>
                <a:ea typeface="Times New Roman"/>
                <a:cs typeface="Times New Roman"/>
              </a:rPr>
              <a:t> Gross Sales 2020 đến từ dòng có khuyến mãi</a:t>
            </a:r>
          </a:p>
          <a:p>
            <a:pPr algn="l" marL="182880" indent="-182880">
              <a:buFont typeface="Arial"/>
              <a:buChar char="•"/>
            </a:pPr>
            <a:r>
              <a:rPr sz="1300" b="0" i="0">
                <a:solidFill>
                  <a:srgbClr val="222222"/>
                </a:solidFill>
                <a:latin typeface="Times New Roman"/>
                <a:ea typeface="Times New Roman"/>
                <a:cs typeface="Times New Roman"/>
              </a:rPr>
              <a:t>Đơn PENDING đều là đơn online đặt sát ngày trích dữ liệu: tính nhầm → doanh thu cao hơn Kế toán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 đồ số đo: 21 số đo bắt buộc, số đo sau dùng lại số đo trước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viết lại công thức: </a:t>
            </a:r>
            <a:r>
              <a:rPr sz="1700" b="1" i="0">
                <a:solidFill>
                  <a:srgbClr val="123A7A"/>
                </a:solidFill>
                <a:latin typeface="Times New Roman"/>
                <a:ea typeface="Times New Roman"/>
                <a:cs typeface="Times New Roman"/>
              </a:rPr>
              <a:t>[Net Revenue] = [Net Sales] − [Returns]</a:t>
            </a:r>
            <a:r>
              <a:rPr sz="1700" b="0" i="0">
                <a:solidFill>
                  <a:srgbClr val="222222"/>
                </a:solidFill>
                <a:latin typeface="Times New Roman"/>
                <a:ea typeface="Times New Roman"/>
                <a:cs typeface="Times New Roman"/>
              </a:rPr>
              <a:t> – sửa một chỗ, đúng mọi nơi</a:t>
            </a:r>
          </a:p>
        </p:txBody>
      </p:sp>
      <p:sp>
        <p:nvSpPr>
          <p:cNvPr id="143" name="Rounded Rectangle 142"/>
          <p:cNvSpPr/>
          <p:nvPr/>
        </p:nvSpPr>
        <p:spPr>
          <a:xfrm>
            <a:off x="365760" y="1371600"/>
            <a:ext cx="2176272"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176272"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Doanh thu</a:t>
            </a:r>
          </a:p>
        </p:txBody>
      </p:sp>
      <p:sp>
        <p:nvSpPr>
          <p:cNvPr id="145" name="Rounded Rectangle 144"/>
          <p:cNvSpPr/>
          <p:nvPr/>
        </p:nvSpPr>
        <p:spPr>
          <a:xfrm>
            <a:off x="502920"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Gross Sales</a:t>
            </a:r>
          </a:p>
        </p:txBody>
      </p:sp>
      <p:sp>
        <p:nvSpPr>
          <p:cNvPr id="146" name="Rounded Rectangle 145"/>
          <p:cNvSpPr/>
          <p:nvPr/>
        </p:nvSpPr>
        <p:spPr>
          <a:xfrm>
            <a:off x="502920"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Discounts</a:t>
            </a:r>
          </a:p>
        </p:txBody>
      </p:sp>
      <p:sp>
        <p:nvSpPr>
          <p:cNvPr id="147" name="Rounded Rectangle 146"/>
          <p:cNvSpPr/>
          <p:nvPr/>
        </p:nvSpPr>
        <p:spPr>
          <a:xfrm>
            <a:off x="502920"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Net Sales</a:t>
            </a:r>
          </a:p>
        </p:txBody>
      </p:sp>
      <p:sp>
        <p:nvSpPr>
          <p:cNvPr id="148" name="Rounded Rectangle 147"/>
          <p:cNvSpPr/>
          <p:nvPr/>
        </p:nvSpPr>
        <p:spPr>
          <a:xfrm>
            <a:off x="502920"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Returns</a:t>
            </a:r>
          </a:p>
        </p:txBody>
      </p:sp>
      <p:sp>
        <p:nvSpPr>
          <p:cNvPr id="149" name="Rounded Rectangle 148"/>
          <p:cNvSpPr/>
          <p:nvPr/>
        </p:nvSpPr>
        <p:spPr>
          <a:xfrm>
            <a:off x="502920"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Net Revenue</a:t>
            </a:r>
          </a:p>
        </p:txBody>
      </p:sp>
      <p:sp>
        <p:nvSpPr>
          <p:cNvPr id="150" name="Right Arrow 149"/>
          <p:cNvSpPr/>
          <p:nvPr/>
        </p:nvSpPr>
        <p:spPr>
          <a:xfrm>
            <a:off x="2551176"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1" name="Rounded Rectangle 150"/>
          <p:cNvSpPr/>
          <p:nvPr/>
        </p:nvSpPr>
        <p:spPr>
          <a:xfrm>
            <a:off x="2679191" y="1371600"/>
            <a:ext cx="2176272" cy="461772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2" name="Rounded Rectangle 151"/>
          <p:cNvSpPr/>
          <p:nvPr/>
        </p:nvSpPr>
        <p:spPr>
          <a:xfrm>
            <a:off x="2679191" y="1371600"/>
            <a:ext cx="2176272" cy="50292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Đơn &amp; giá</a:t>
            </a:r>
          </a:p>
        </p:txBody>
      </p:sp>
      <p:sp>
        <p:nvSpPr>
          <p:cNvPr id="153" name="Rounded Rectangle 152"/>
          <p:cNvSpPr/>
          <p:nvPr/>
        </p:nvSpPr>
        <p:spPr>
          <a:xfrm>
            <a:off x="2816351"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Orders</a:t>
            </a:r>
          </a:p>
        </p:txBody>
      </p:sp>
      <p:sp>
        <p:nvSpPr>
          <p:cNvPr id="154" name="Rounded Rectangle 153"/>
          <p:cNvSpPr/>
          <p:nvPr/>
        </p:nvSpPr>
        <p:spPr>
          <a:xfrm>
            <a:off x="2816351"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Units</a:t>
            </a:r>
          </a:p>
        </p:txBody>
      </p:sp>
      <p:sp>
        <p:nvSpPr>
          <p:cNvPr id="155" name="Rounded Rectangle 154"/>
          <p:cNvSpPr/>
          <p:nvPr/>
        </p:nvSpPr>
        <p:spPr>
          <a:xfrm>
            <a:off x="2816351"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AOV</a:t>
            </a:r>
          </a:p>
        </p:txBody>
      </p:sp>
      <p:sp>
        <p:nvSpPr>
          <p:cNvPr id="156" name="Rounded Rectangle 155"/>
          <p:cNvSpPr/>
          <p:nvPr/>
        </p:nvSpPr>
        <p:spPr>
          <a:xfrm>
            <a:off x="2816351"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ASP</a:t>
            </a:r>
          </a:p>
        </p:txBody>
      </p:sp>
      <p:sp>
        <p:nvSpPr>
          <p:cNvPr id="157" name="Rounded Rectangle 156"/>
          <p:cNvSpPr/>
          <p:nvPr/>
        </p:nvSpPr>
        <p:spPr>
          <a:xfrm>
            <a:off x="2816351"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Return Rate</a:t>
            </a:r>
          </a:p>
        </p:txBody>
      </p:sp>
      <p:sp>
        <p:nvSpPr>
          <p:cNvPr id="158" name="Right Arrow 157"/>
          <p:cNvSpPr/>
          <p:nvPr/>
        </p:nvSpPr>
        <p:spPr>
          <a:xfrm>
            <a:off x="4864608"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9" name="Rounded Rectangle 158"/>
          <p:cNvSpPr/>
          <p:nvPr/>
        </p:nvSpPr>
        <p:spPr>
          <a:xfrm>
            <a:off x="4992624" y="1371600"/>
            <a:ext cx="2176272"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4992624" y="1371600"/>
            <a:ext cx="2176272" cy="50292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Kế toán &amp; Δ</a:t>
            </a:r>
          </a:p>
        </p:txBody>
      </p:sp>
      <p:sp>
        <p:nvSpPr>
          <p:cNvPr id="161" name="Rounded Rectangle 160"/>
          <p:cNvSpPr/>
          <p:nvPr/>
        </p:nvSpPr>
        <p:spPr>
          <a:xfrm>
            <a:off x="5129784"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Finance Net Revenue</a:t>
            </a:r>
          </a:p>
        </p:txBody>
      </p:sp>
      <p:sp>
        <p:nvSpPr>
          <p:cNvPr id="162" name="Rounded Rectangle 161"/>
          <p:cNvSpPr/>
          <p:nvPr/>
        </p:nvSpPr>
        <p:spPr>
          <a:xfrm>
            <a:off x="5129784"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Finance</a:t>
            </a:r>
          </a:p>
        </p:txBody>
      </p:sp>
      <p:sp>
        <p:nvSpPr>
          <p:cNvPr id="163" name="Rounded Rectangle 162"/>
          <p:cNvSpPr/>
          <p:nvPr/>
        </p:nvSpPr>
        <p:spPr>
          <a:xfrm>
            <a:off x="5129784"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Finance %</a:t>
            </a:r>
          </a:p>
        </p:txBody>
      </p:sp>
      <p:sp>
        <p:nvSpPr>
          <p:cNvPr id="164" name="Rounded Rectangle 163"/>
          <p:cNvSpPr/>
          <p:nvPr/>
        </p:nvSpPr>
        <p:spPr>
          <a:xfrm>
            <a:off x="5129784"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tuyệt đối</a:t>
            </a:r>
          </a:p>
        </p:txBody>
      </p:sp>
      <p:sp>
        <p:nvSpPr>
          <p:cNvPr id="165" name="Rounded Rectangle 164"/>
          <p:cNvSpPr/>
          <p:nvPr/>
        </p:nvSpPr>
        <p:spPr>
          <a:xfrm>
            <a:off x="5129784"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Vượt ngưỡng</a:t>
            </a:r>
          </a:p>
        </p:txBody>
      </p:sp>
      <p:sp>
        <p:nvSpPr>
          <p:cNvPr id="166" name="Rounded Rectangle 165"/>
          <p:cNvSpPr/>
          <p:nvPr/>
        </p:nvSpPr>
        <p:spPr>
          <a:xfrm>
            <a:off x="5129784" y="527608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Số cửa hàng vượt ngưỡng</a:t>
            </a:r>
          </a:p>
        </p:txBody>
      </p:sp>
      <p:sp>
        <p:nvSpPr>
          <p:cNvPr id="167" name="Right Arrow 166"/>
          <p:cNvSpPr/>
          <p:nvPr/>
        </p:nvSpPr>
        <p:spPr>
          <a:xfrm>
            <a:off x="7178040"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68" name="Rounded Rectangle 167"/>
          <p:cNvSpPr/>
          <p:nvPr/>
        </p:nvSpPr>
        <p:spPr>
          <a:xfrm>
            <a:off x="7306056" y="1371600"/>
            <a:ext cx="2176272"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9" name="Rounded Rectangle 168"/>
          <p:cNvSpPr/>
          <p:nvPr/>
        </p:nvSpPr>
        <p:spPr>
          <a:xfrm>
            <a:off x="7306056" y="1371600"/>
            <a:ext cx="2176272"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Quy đổi online</a:t>
            </a:r>
          </a:p>
        </p:txBody>
      </p:sp>
      <p:sp>
        <p:nvSpPr>
          <p:cNvPr id="170" name="Rounded Rectangle 169"/>
          <p:cNvSpPr/>
          <p:nvPr/>
        </p:nvSpPr>
        <p:spPr>
          <a:xfrm>
            <a:off x="7443216"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00000"/>
                </a:solidFill>
                <a:latin typeface="Times New Roman"/>
                <a:ea typeface="Times New Roman"/>
                <a:cs typeface="Times New Roman"/>
              </a:rPr>
              <a:t>Net Sales (cơ sở Finance)</a:t>
            </a:r>
          </a:p>
        </p:txBody>
      </p:sp>
      <p:sp>
        <p:nvSpPr>
          <p:cNvPr id="171" name="Rounded Rectangle 170"/>
          <p:cNvSpPr/>
          <p:nvPr/>
        </p:nvSpPr>
        <p:spPr>
          <a:xfrm>
            <a:off x="7443216"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00000"/>
                </a:solidFill>
                <a:latin typeface="Times New Roman"/>
                <a:ea typeface="Times New Roman"/>
                <a:cs typeface="Times New Roman"/>
              </a:rPr>
              <a:t>Δ sau quy đổi</a:t>
            </a:r>
          </a:p>
        </p:txBody>
      </p:sp>
      <p:sp>
        <p:nvSpPr>
          <p:cNvPr id="172" name="Right Arrow 171"/>
          <p:cNvSpPr/>
          <p:nvPr/>
        </p:nvSpPr>
        <p:spPr>
          <a:xfrm>
            <a:off x="9491472"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73" name="Rounded Rectangle 172"/>
          <p:cNvSpPr/>
          <p:nvPr/>
        </p:nvSpPr>
        <p:spPr>
          <a:xfrm>
            <a:off x="9619488" y="1371600"/>
            <a:ext cx="2176272"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74" name="Rounded Rectangle 173"/>
          <p:cNvSpPr/>
          <p:nvPr/>
        </p:nvSpPr>
        <p:spPr>
          <a:xfrm>
            <a:off x="9619488" y="1371600"/>
            <a:ext cx="2176272"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So sánh kỳ</a:t>
            </a:r>
          </a:p>
        </p:txBody>
      </p:sp>
      <p:sp>
        <p:nvSpPr>
          <p:cNvPr id="175" name="Rounded Rectangle 174"/>
          <p:cNvSpPr/>
          <p:nvPr/>
        </p:nvSpPr>
        <p:spPr>
          <a:xfrm>
            <a:off x="9756648"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LM</a:t>
            </a:r>
          </a:p>
        </p:txBody>
      </p:sp>
      <p:sp>
        <p:nvSpPr>
          <p:cNvPr id="176" name="Rounded Rectangle 175"/>
          <p:cNvSpPr/>
          <p:nvPr/>
        </p:nvSpPr>
        <p:spPr>
          <a:xfrm>
            <a:off x="9756648"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SPLY</a:t>
            </a:r>
          </a:p>
        </p:txBody>
      </p:sp>
      <p:sp>
        <p:nvSpPr>
          <p:cNvPr id="177" name="Rounded Rectangle 176"/>
          <p:cNvSpPr/>
          <p:nvPr/>
        </p:nvSpPr>
        <p:spPr>
          <a:xfrm>
            <a:off x="9756648"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YTD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Tạo số đo trong Power Pivot; % thay đổi và câu Điểm chính bằng công thức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DAX chỉ tính số; </a:t>
            </a:r>
            <a:r>
              <a:rPr sz="1700" b="1" i="0">
                <a:solidFill>
                  <a:srgbClr val="123A7A"/>
                </a:solidFill>
                <a:latin typeface="Times New Roman"/>
                <a:ea typeface="Times New Roman"/>
                <a:cs typeface="Times New Roman"/>
              </a:rPr>
              <a:t>chữ và % đặt ở ô Excel</a:t>
            </a:r>
            <a:r>
              <a:rPr sz="1700" b="0" i="0">
                <a:solidFill>
                  <a:srgbClr val="222222"/>
                </a:solidFill>
                <a:latin typeface="Times New Roman"/>
                <a:ea typeface="Times New Roman"/>
                <a:cs typeface="Times New Roman"/>
              </a:rPr>
              <a:t> trỏ vào các ô CUBEVALUE – dễ sửa, đúng sở trường Excel</a:t>
            </a:r>
          </a:p>
        </p:txBody>
      </p:sp>
      <p:sp>
        <p:nvSpPr>
          <p:cNvPr id="143" name="Rounded Rectangle 142"/>
          <p:cNvSpPr/>
          <p:nvPr/>
        </p:nvSpPr>
        <p:spPr>
          <a:xfrm>
            <a:off x="365760" y="1371600"/>
            <a:ext cx="5120640" cy="17830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512064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1 · Hộp thoại</a:t>
            </a:r>
          </a:p>
        </p:txBody>
      </p:sp>
      <p:sp>
        <p:nvSpPr>
          <p:cNvPr id="145" name="TextBox 144"/>
          <p:cNvSpPr txBox="1"/>
          <p:nvPr/>
        </p:nvSpPr>
        <p:spPr>
          <a:xfrm>
            <a:off x="457200" y="184708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Measures → New Measure…</a:t>
            </a:r>
          </a:p>
          <a:p>
            <a:pPr algn="l" marL="182880" indent="-182880">
              <a:spcAft>
                <a:spcPts val="300"/>
              </a:spcAft>
              <a:buFont typeface="Arial"/>
              <a:buChar char="•"/>
            </a:pPr>
            <a:r>
              <a:rPr sz="1300" b="0" i="0">
                <a:solidFill>
                  <a:srgbClr val="222222"/>
                </a:solidFill>
                <a:latin typeface="Times New Roman"/>
                <a:ea typeface="Times New Roman"/>
                <a:cs typeface="Times New Roman"/>
              </a:rPr>
              <a:t>Table name: _Measures · đặt tên · gõ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Check formula → chọn Format → OK</a:t>
            </a:r>
          </a:p>
        </p:txBody>
      </p:sp>
      <p:sp>
        <p:nvSpPr>
          <p:cNvPr id="146" name="Rounded Rectangle 145"/>
          <p:cNvSpPr/>
          <p:nvPr/>
        </p:nvSpPr>
        <p:spPr>
          <a:xfrm>
            <a:off x="365760" y="3291840"/>
            <a:ext cx="5120640" cy="178308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47" name="Rounded Rectangle 146"/>
          <p:cNvSpPr/>
          <p:nvPr/>
        </p:nvSpPr>
        <p:spPr>
          <a:xfrm>
            <a:off x="365760" y="3291840"/>
            <a:ext cx="5120640" cy="41148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2 · Calculation Area</a:t>
            </a:r>
          </a:p>
        </p:txBody>
      </p:sp>
      <p:sp>
        <p:nvSpPr>
          <p:cNvPr id="148" name="TextBox 147"/>
          <p:cNvSpPr txBox="1"/>
          <p:nvPr/>
        </p:nvSpPr>
        <p:spPr>
          <a:xfrm>
            <a:off x="457200" y="376732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Manage → tab _Measures</a:t>
            </a:r>
          </a:p>
          <a:p>
            <a:pPr algn="l" marL="182880" indent="-182880">
              <a:spcAft>
                <a:spcPts val="300"/>
              </a:spcAft>
              <a:buFont typeface="Arial"/>
              <a:buChar char="•"/>
            </a:pPr>
            <a:r>
              <a:rPr sz="1300" b="0" i="0">
                <a:solidFill>
                  <a:srgbClr val="222222"/>
                </a:solidFill>
                <a:latin typeface="Times New Roman"/>
                <a:ea typeface="Times New Roman"/>
                <a:cs typeface="Times New Roman"/>
              </a:rPr>
              <a:t>Bấm ô trống dưới lưới, gõ Tên :=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Nhanh khi gõ liền nhiều số đo</a:t>
            </a:r>
          </a:p>
        </p:txBody>
      </p:sp>
      <p:sp>
        <p:nvSpPr>
          <p:cNvPr id="149" name="Rounded Rectangle 148"/>
          <p:cNvSpPr/>
          <p:nvPr/>
        </p:nvSpPr>
        <p:spPr>
          <a:xfrm>
            <a:off x="365760" y="5257800"/>
            <a:ext cx="5120640" cy="731520"/>
          </a:xfrm>
          <a:prstGeom prst="roundRect">
            <a:avLst>
              <a:gd name="adj" fmla="val 6000"/>
            </a:avLst>
          </a:prstGeom>
          <a:solidFill>
            <a:srgbClr val="FBE5D6"/>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Khác công cụ BI chuyên dụng: </a:t>
            </a:r>
            <a:r>
              <a:rPr sz="1200" b="0" i="0">
                <a:solidFill>
                  <a:srgbClr val="222222"/>
                </a:solidFill>
                <a:latin typeface="Times New Roman"/>
                <a:ea typeface="Times New Roman"/>
                <a:cs typeface="Times New Roman"/>
              </a:rPr>
              <a:t>không có thư mục hiển thị số đo, không có cửa sổ chạy DAX – kiểm bằng PivotTable</a:t>
            </a:r>
          </a:p>
        </p:txBody>
      </p:sp>
      <p:sp>
        <p:nvSpPr>
          <p:cNvPr id="150" name="Rounded Rectangle 149"/>
          <p:cNvSpPr/>
          <p:nvPr/>
        </p:nvSpPr>
        <p:spPr>
          <a:xfrm>
            <a:off x="5669280" y="1371600"/>
            <a:ext cx="6172200" cy="379476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0">
                <a:solidFill>
                  <a:srgbClr val="24292F"/>
                </a:solidFill>
                <a:latin typeface="Courier New"/>
                <a:ea typeface="Courier New"/>
                <a:cs typeface="Courier New"/>
              </a:rPr>
              <a:t>Khối ô trên sheet _pivot (đọc 4 slicer)</a:t>
            </a:r>
          </a:p>
          <a:p>
            <a:pPr algn="l">
              <a:buNone/>
            </a:pPr>
            <a:r>
              <a:rPr sz="1000" b="0" i="0">
                <a:solidFill>
                  <a:srgbClr val="24292F"/>
                </a:solidFill>
                <a:latin typeface="Courier New"/>
                <a:ea typeface="Courier New"/>
                <a:cs typeface="Courier New"/>
              </a:rPr>
              <a:t>B2  =</a:t>
            </a:r>
            <a:r>
              <a:rPr sz="1000" b="1" i="0">
                <a:solidFill>
                  <a:srgbClr val="0550AE"/>
                </a:solidFill>
                <a:latin typeface="Courier New"/>
                <a:ea typeface="Courier New"/>
                <a:cs typeface="Courier New"/>
              </a:rPr>
              <a:t>CUBERANKEDMEMBER</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,Slicer_year,1)</a:t>
            </a:r>
          </a:p>
          <a:p>
            <a:pPr algn="l">
              <a:buNone/>
            </a:pPr>
            <a:r>
              <a:rPr sz="1000" b="0" i="0">
                <a:solidFill>
                  <a:srgbClr val="24292F"/>
                </a:solidFill>
                <a:latin typeface="Courier New"/>
                <a:ea typeface="Courier New"/>
                <a:cs typeface="Courier New"/>
              </a:rPr>
              <a:t>B3  =</a:t>
            </a:r>
            <a:r>
              <a:rPr sz="1000" b="1" i="0">
                <a:solidFill>
                  <a:srgbClr val="0550AE"/>
                </a:solidFill>
                <a:latin typeface="Courier New"/>
                <a:ea typeface="Courier New"/>
                <a:cs typeface="Courier New"/>
              </a:rPr>
              <a:t>CUBERANKEDMEMBER</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,Slicer_month,1)</a:t>
            </a:r>
          </a:p>
          <a:p>
            <a:pPr algn="l">
              <a:buNone/>
            </a:pPr>
            <a:r>
              <a:rPr sz="1000" b="0" i="0">
                <a:solidFill>
                  <a:srgbClr val="24292F"/>
                </a:solidFill>
                <a:latin typeface="Courier New"/>
                <a:ea typeface="Courier New"/>
                <a:cs typeface="Courier New"/>
              </a:rPr>
              <a:t>C2  =</a:t>
            </a:r>
            <a:r>
              <a:rPr sz="1000" b="1" i="0">
                <a:solidFill>
                  <a:srgbClr val="0550AE"/>
                </a:solidFill>
                <a:latin typeface="Courier New"/>
                <a:ea typeface="Courier New"/>
                <a:cs typeface="Courier New"/>
              </a:rPr>
              <a:t>VALUE</a:t>
            </a:r>
            <a:r>
              <a:rPr sz="1000" b="0" i="0">
                <a:solidFill>
                  <a:srgbClr val="24292F"/>
                </a:solidFill>
                <a:latin typeface="Courier New"/>
                <a:ea typeface="Courier New"/>
                <a:cs typeface="Courier New"/>
              </a:rPr>
              <a:t>(B2)     C3  =</a:t>
            </a:r>
            <a:r>
              <a:rPr sz="1000" b="1" i="0">
                <a:solidFill>
                  <a:srgbClr val="0550AE"/>
                </a:solidFill>
                <a:latin typeface="Courier New"/>
                <a:ea typeface="Courier New"/>
                <a:cs typeface="Courier New"/>
              </a:rPr>
              <a:t>VALUE</a:t>
            </a:r>
            <a:r>
              <a:rPr sz="1000" b="0" i="0">
                <a:solidFill>
                  <a:srgbClr val="24292F"/>
                </a:solidFill>
                <a:latin typeface="Courier New"/>
                <a:ea typeface="Courier New"/>
                <a:cs typeface="Courier New"/>
              </a:rPr>
              <a:t>(B3)     (năm, tháng dạng số)</a:t>
            </a:r>
          </a:p>
          <a:p>
            <a:pPr algn="l">
              <a:buNone/>
            </a:pPr>
            <a:r>
              <a:rPr sz="1000" b="0" i="0">
                <a:solidFill>
                  <a:srgbClr val="24292F"/>
                </a:solidFill>
                <a:latin typeface="Courier New"/>
                <a:ea typeface="Courier New"/>
                <a:cs typeface="Courier New"/>
              </a:rPr>
              <a:t>B8  tháng trước: =</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(C3=1,(C2-1)*100+12,C2*100+C3-1)</a:t>
            </a:r>
          </a:p>
          <a:p>
            <a:pPr algn="l">
              <a:buNone/>
            </a:pPr>
            <a:r>
              <a:rPr sz="1000" b="0" i="0">
                <a:solidFill>
                  <a:srgbClr val="24292F"/>
                </a:solidFill>
                <a:latin typeface="Courier New"/>
                <a:ea typeface="Courier New"/>
                <a:cs typeface="Courier New"/>
              </a:rPr>
              <a:t>B10 nhãn kỳ: =</a:t>
            </a:r>
            <a:r>
              <a:rPr sz="1000" b="1" i="0">
                <a:solidFill>
                  <a:srgbClr val="0550AE"/>
                </a:solidFill>
                <a:latin typeface="Courier New"/>
                <a:ea typeface="Courier New"/>
                <a:cs typeface="Courier New"/>
              </a:rPr>
              <a:t>TEXT</a:t>
            </a:r>
            <a:r>
              <a:rPr sz="1000" b="0" i="0">
                <a:solidFill>
                  <a:srgbClr val="24292F"/>
                </a:solidFill>
                <a:latin typeface="Courier New"/>
                <a:ea typeface="Courier New"/>
                <a:cs typeface="Courier New"/>
              </a:rPr>
              <a:t>(C3,</a:t>
            </a:r>
            <a:r>
              <a:rPr sz="1000" b="0" i="0">
                <a:solidFill>
                  <a:srgbClr val="A31515"/>
                </a:solidFill>
                <a:latin typeface="Courier New"/>
                <a:ea typeface="Courier New"/>
                <a:cs typeface="Courier New"/>
              </a:rPr>
              <a:t>"00"</a:t>
            </a:r>
            <a:r>
              <a:rPr sz="1000" b="0" i="0">
                <a:solidFill>
                  <a:srgbClr val="24292F"/>
                </a:solidFill>
                <a:latin typeface="Courier New"/>
                <a:ea typeface="Courier New"/>
                <a:cs typeface="Courier New"/>
              </a:rPr>
              <a:t>)&amp;</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&amp;C2</a:t>
            </a:r>
          </a:p>
          <a:p>
            <a:pPr algn="l">
              <a:buNone/>
            </a:pPr>
            <a:r>
              <a:rPr sz="1000" b="0" i="0">
                <a:solidFill>
                  <a:srgbClr val="24292F"/>
                </a:solidFill>
                <a:latin typeface="Courier New"/>
                <a:ea typeface="Courier New"/>
                <a:cs typeface="Courier New"/>
              </a:rPr>
              <a:t>C24 =N(</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"[Measures].[Net Revenue]"</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Slicer_year,Slicer_month,Slicer_channel_name,Slicer_country))</a:t>
            </a:r>
          </a:p>
          <a:p>
            <a:pPr algn="l">
              <a:buNone/>
            </a:pPr>
            <a:r>
              <a:rPr sz="1000" b="0" i="0">
                <a:solidFill>
                  <a:srgbClr val="24292F"/>
                </a:solidFill>
                <a:latin typeface="Courier New"/>
                <a:ea typeface="Courier New"/>
                <a:cs typeface="Courier New"/>
              </a:rPr>
              <a:t>D24  … </a:t>
            </a:r>
            <a:r>
              <a:rPr sz="1000" b="0" i="0">
                <a:solidFill>
                  <a:srgbClr val="0F6E56"/>
                </a:solidFill>
                <a:latin typeface="Courier New"/>
                <a:ea typeface="Courier New"/>
                <a:cs typeface="Courier New"/>
              </a:rPr>
              <a:t>[Net Revenue LM]</a:t>
            </a:r>
            <a:r>
              <a:rPr sz="1000" b="0" i="0">
                <a:solidFill>
                  <a:srgbClr val="24292F"/>
                </a:solidFill>
                <a:latin typeface="Courier New"/>
                <a:ea typeface="Courier New"/>
                <a:cs typeface="Courier New"/>
              </a:rPr>
              <a:t>       E24  … </a:t>
            </a:r>
            <a:r>
              <a:rPr sz="1000" b="0" i="0">
                <a:solidFill>
                  <a:srgbClr val="0F6E56"/>
                </a:solidFill>
                <a:latin typeface="Courier New"/>
                <a:ea typeface="Courier New"/>
                <a:cs typeface="Courier New"/>
              </a:rPr>
              <a:t>[Net Revenue SPLY]</a:t>
            </a:r>
          </a:p>
          <a:p>
            <a:pPr algn="l">
              <a:buNone/>
            </a:pPr>
            <a:r>
              <a:rPr sz="1000" b="0" i="0">
                <a:solidFill>
                  <a:srgbClr val="24292F"/>
                </a:solidFill>
                <a:latin typeface="Courier New"/>
                <a:ea typeface="Courier New"/>
                <a:cs typeface="Courier New"/>
              </a:rPr>
              <a:t>F24 =</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(D24=0,</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,(C24-D24)/</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(D24))</a:t>
            </a:r>
          </a:p>
          <a:p>
            <a:pPr algn="l">
              <a:buNone/>
            </a:pP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Câu Điểm chính = công thức Excel thường</a:t>
            </a:r>
          </a:p>
          <a:p>
            <a:pPr algn="l">
              <a:buNone/>
            </a:pP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"Net Revenue "</a:t>
            </a:r>
            <a:r>
              <a:rPr sz="1000" b="0" i="0">
                <a:solidFill>
                  <a:srgbClr val="24292F"/>
                </a:solidFill>
                <a:latin typeface="Courier New"/>
                <a:ea typeface="Courier New"/>
                <a:cs typeface="Courier New"/>
              </a:rPr>
              <a:t>&amp;B10&amp;</a:t>
            </a:r>
            <a:r>
              <a:rPr sz="1000" b="0" i="0">
                <a:solidFill>
                  <a:srgbClr val="A31515"/>
                </a:solidFill>
                <a:latin typeface="Courier New"/>
                <a:ea typeface="Courier New"/>
                <a:cs typeface="Courier New"/>
              </a:rPr>
              <a:t>" đạt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(C24/1000,1)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nghìn USD —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(F24&gt;=0,</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(F24)*100,1)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so với tháng trước."</a:t>
            </a:r>
          </a:p>
        </p:txBody>
      </p:sp>
      <p:sp>
        <p:nvSpPr>
          <p:cNvPr id="151" name="Rounded Rectangle 150"/>
          <p:cNvSpPr/>
          <p:nvPr/>
        </p:nvSpPr>
        <p:spPr>
          <a:xfrm>
            <a:off x="5669280" y="5303520"/>
            <a:ext cx="6172200" cy="68580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12/2020: </a:t>
            </a:r>
            <a:r>
              <a:rPr sz="1200" b="0" i="1">
                <a:solidFill>
                  <a:srgbClr val="222222"/>
                </a:solidFill>
                <a:latin typeface="Times New Roman"/>
                <a:ea typeface="Times New Roman"/>
                <a:cs typeface="Times New Roman"/>
              </a:rPr>
              <a:t>“Net Revenue 12/2020 đạt 606,1 nghìn USD — +154,6% so với tháng trước, −73,2% so với cùng kỳ năm trước.”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doanh thu: từ Gross Sales đến Net Revenue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Lọc </a:t>
            </a:r>
            <a:r>
              <a:rPr sz="1700" b="1" i="0">
                <a:solidFill>
                  <a:srgbClr val="2E5B31"/>
                </a:solidFill>
                <a:latin typeface="Times New Roman"/>
                <a:ea typeface="Times New Roman"/>
                <a:cs typeface="Times New Roman"/>
              </a:rPr>
              <a:t>order_status = "COMPLETED"</a:t>
            </a:r>
            <a:r>
              <a:rPr sz="1700" b="0" i="0">
                <a:solidFill>
                  <a:srgbClr val="222222"/>
                </a:solidFill>
                <a:latin typeface="Times New Roman"/>
                <a:ea typeface="Times New Roman"/>
                <a:cs typeface="Times New Roman"/>
              </a:rPr>
              <a:t> ngay trong số đo; Returns dùng quan hệ ngày trả hàng của fact_return</a:t>
            </a:r>
          </a:p>
        </p:txBody>
      </p:sp>
      <p:sp>
        <p:nvSpPr>
          <p:cNvPr id="143" name="Rounded Rectangle 142"/>
          <p:cNvSpPr/>
          <p:nvPr/>
        </p:nvSpPr>
        <p:spPr>
          <a:xfrm>
            <a:off x="365760" y="1371600"/>
            <a:ext cx="694944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Gross Sales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fact_sales_line[gross_amount]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tạo ở Power Query</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Discounts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fact_sales_line[discount_amount]</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 </a:t>
            </a:r>
            <a:r>
              <a:rPr sz="1300" b="0" i="0">
                <a:solidFill>
                  <a:srgbClr val="0F6E56"/>
                </a:solidFill>
                <a:latin typeface="Courier New"/>
                <a:ea typeface="Courier New"/>
                <a:cs typeface="Courier New"/>
              </a:rPr>
              <a:t>[Gross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[Discounts]</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Returns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fact_return[return_amount]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theo return_date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Revenue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p>
        </p:txBody>
      </p:sp>
      <p:sp>
        <p:nvSpPr>
          <p:cNvPr id="144" name="Rounded Rectangle 143"/>
          <p:cNvSpPr/>
          <p:nvPr/>
        </p:nvSpPr>
        <p:spPr>
          <a:xfrm>
            <a:off x="7543800" y="1371600"/>
            <a:ext cx="42976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543800" y="1371600"/>
            <a:ext cx="42976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635240" y="1920240"/>
            <a:ext cx="411480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gross_amount</a:t>
            </a:r>
            <a:r>
              <a:rPr sz="1300" b="0" i="0">
                <a:solidFill>
                  <a:srgbClr val="222222"/>
                </a:solidFill>
                <a:latin typeface="Times New Roman"/>
                <a:ea typeface="Times New Roman"/>
                <a:cs typeface="Times New Roman"/>
              </a:rPr>
              <a:t> = quantity × unit_price đã tính ở Power Query, số đo chỉ cần SUM</a:t>
            </a:r>
          </a:p>
          <a:p>
            <a:pPr algn="l" marL="182880" indent="-182880">
              <a:spcAft>
                <a:spcPts val="600"/>
              </a:spcAft>
              <a:buFont typeface="Arial"/>
              <a:buChar char="•"/>
            </a:pPr>
            <a:r>
              <a:rPr sz="1300" b="1" i="0">
                <a:solidFill>
                  <a:srgbClr val="222222"/>
                </a:solidFill>
                <a:latin typeface="Times New Roman"/>
                <a:ea typeface="Times New Roman"/>
                <a:cs typeface="Times New Roman"/>
              </a:rPr>
              <a:t>CALCULATE + KEEPFILTERS</a:t>
            </a:r>
            <a:r>
              <a:rPr sz="1300" b="0" i="0">
                <a:solidFill>
                  <a:srgbClr val="222222"/>
                </a:solidFill>
                <a:latin typeface="Times New Roman"/>
                <a:ea typeface="Times New Roman"/>
                <a:cs typeface="Times New Roman"/>
              </a:rPr>
              <a:t> thêm điều kiện COMPLETED cho mọi pivot, vẫn giữ slicer</a:t>
            </a:r>
          </a:p>
          <a:p>
            <a:pPr algn="l" marL="182880" indent="-182880">
              <a:spcAft>
                <a:spcPts val="600"/>
              </a:spcAft>
              <a:buFont typeface="Arial"/>
              <a:buChar char="•"/>
            </a:pPr>
            <a:r>
              <a:rPr sz="1300" b="1" i="0">
                <a:solidFill>
                  <a:srgbClr val="222222"/>
                </a:solidFill>
                <a:latin typeface="Times New Roman"/>
                <a:ea typeface="Times New Roman"/>
                <a:cs typeface="Times New Roman"/>
              </a:rPr>
              <a:t>Cú pháp Excel </a:t>
            </a:r>
            <a:r>
              <a:rPr sz="1300" b="1" i="0">
                <a:solidFill>
                  <a:srgbClr val="123A7A"/>
                </a:solidFill>
                <a:latin typeface="Times New Roman"/>
                <a:ea typeface="Times New Roman"/>
                <a:cs typeface="Times New Roman"/>
              </a:rPr>
              <a:t>Tên := công thức</a:t>
            </a:r>
            <a:r>
              <a:rPr sz="1300" b="0" i="0">
                <a:solidFill>
                  <a:srgbClr val="222222"/>
                </a:solidFill>
                <a:latin typeface="Times New Roman"/>
                <a:ea typeface="Times New Roman"/>
                <a:cs typeface="Times New Roman"/>
              </a:rPr>
              <a:t> – gõ trong bảng _Measures (Power Pivot)</a:t>
            </a:r>
          </a:p>
          <a:p>
            <a:pPr algn="l" marL="182880" indent="-182880">
              <a:spcAft>
                <a:spcPts val="600"/>
              </a:spcAft>
              <a:buFont typeface="Arial"/>
              <a:buChar char="•"/>
            </a:pPr>
            <a:r>
              <a:rPr sz="1300" b="0" i="0">
                <a:solidFill>
                  <a:srgbClr val="222222"/>
                </a:solidFill>
                <a:latin typeface="Times New Roman"/>
                <a:ea typeface="Times New Roman"/>
                <a:cs typeface="Times New Roman"/>
              </a:rPr>
              <a:t>Returns không lọc trạng thái: mọi dòng trả hàng đều thuộc đơn COMPLETED (QC đã kiểm)</a:t>
            </a:r>
          </a:p>
          <a:p>
            <a:pPr algn="l" marL="182880" indent="-182880">
              <a:buFont typeface="Arial"/>
              <a:buChar char="•"/>
            </a:pPr>
            <a:r>
              <a:rPr sz="1300" b="1" i="0">
                <a:solidFill>
                  <a:srgbClr val="222222"/>
                </a:solidFill>
                <a:latin typeface="Times New Roman"/>
                <a:ea typeface="Times New Roman"/>
                <a:cs typeface="Times New Roman"/>
              </a:rPr>
              <a:t>Kiểm chứng </a:t>
            </a:r>
            <a:r>
              <a:rPr sz="1300" b="0" i="0">
                <a:solidFill>
                  <a:srgbClr val="222222"/>
                </a:solidFill>
                <a:latin typeface="Times New Roman"/>
                <a:ea typeface="Times New Roman"/>
                <a:cs typeface="Times New Roman"/>
              </a:rPr>
              <a:t>12/2020: </a:t>
            </a:r>
            <a:r>
              <a:rPr sz="1300" b="0" i="0">
                <a:solidFill>
                  <a:srgbClr val="222222"/>
                </a:solidFill>
                <a:latin typeface="Times New Roman"/>
                <a:ea typeface="Times New Roman"/>
                <a:cs typeface="Times New Roman"/>
              </a:rPr>
              <a:t>Gross 640.551,11 − Discounts 24.739,37 = Net Sales 615.811,74; − Returns 9.686,67 = Net Revenue 606.125,07 USD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đơn hàng, giá và so sánh thời gian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123A7A"/>
                </a:solidFill>
                <a:latin typeface="Times New Roman"/>
                <a:ea typeface="Times New Roman"/>
                <a:cs typeface="Times New Roman"/>
              </a:rPr>
              <a:t>DIVIDE</a:t>
            </a:r>
            <a:r>
              <a:rPr sz="1700" b="0" i="0">
                <a:solidFill>
                  <a:srgbClr val="222222"/>
                </a:solidFill>
                <a:latin typeface="Times New Roman"/>
                <a:ea typeface="Times New Roman"/>
                <a:cs typeface="Times New Roman"/>
              </a:rPr>
              <a:t> thay cho dấu /; time intelligence cần </a:t>
            </a:r>
            <a:r>
              <a:rPr sz="1700" b="1" i="0">
                <a:solidFill>
                  <a:srgbClr val="123A7A"/>
                </a:solidFill>
                <a:latin typeface="Times New Roman"/>
                <a:ea typeface="Times New Roman"/>
                <a:cs typeface="Times New Roman"/>
              </a:rPr>
              <a:t>dim_date đã Mark as date table</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Orders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DISTINCTCOUNT</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fact_sales_line[order_number]</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Units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AOV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[Orders]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ASP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[Units]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 Rate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2461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Net Revenue LM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DATEADD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-1, MONTH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SPLY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SAMEPERIODLASTYEAR</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YTD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DATESYTD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1">
                <a:solidFill>
                  <a:srgbClr val="6A737D"/>
                </a:solidFill>
                <a:latin typeface="Courier New"/>
                <a:ea typeface="Courier New"/>
                <a:cs typeface="Courier New"/>
              </a:rPr>
              <a:t>// % so tháng trước tính ở ô Excel: =(C24-D24)/ABS(D24)</a:t>
            </a:r>
          </a:p>
        </p:txBody>
      </p:sp>
      <p:sp>
        <p:nvSpPr>
          <p:cNvPr id="145" name="Rounded Rectangle 144"/>
          <p:cNvSpPr/>
          <p:nvPr/>
        </p:nvSpPr>
        <p:spPr>
          <a:xfrm>
            <a:off x="6217920" y="4754880"/>
            <a:ext cx="5623560" cy="123444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a:buNone/>
            </a:pPr>
            <a:r>
              <a:rPr sz="1300" b="1" i="0">
                <a:solidFill>
                  <a:srgbClr val="123A7A"/>
                </a:solidFill>
                <a:latin typeface="Times New Roman"/>
                <a:ea typeface="Times New Roman"/>
                <a:cs typeface="Times New Roman"/>
              </a:rPr>
              <a:t>Kiểm chứng 12/2020: </a:t>
            </a:r>
            <a:r>
              <a:rPr sz="1300" b="0" i="0">
                <a:solidFill>
                  <a:srgbClr val="222222"/>
                </a:solidFill>
                <a:latin typeface="Times New Roman"/>
                <a:ea typeface="Times New Roman"/>
                <a:cs typeface="Times New Roman"/>
              </a:rPr>
              <a:t>Net Revenue 606.125, LM 238.037 → +154,6%; SPLY 2.263.415 → −73,2%; YTD 8.732.748 USD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đối soát: Finance Net Revenue, Δ, Δ% và cờ vượt ngưỡng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Cờ xét ở </a:t>
            </a:r>
            <a:r>
              <a:rPr sz="1700" b="1" i="0">
                <a:solidFill>
                  <a:srgbClr val="C00000"/>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dùng SUMX qua từng ô thay vì so tổng của cả bảng</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Finance Net Revenue :=              </a:t>
            </a:r>
            <a:r>
              <a:rPr sz="1300" b="0" i="1">
                <a:solidFill>
                  <a:srgbClr val="6A737D"/>
                </a:solidFill>
                <a:latin typeface="Courier New"/>
                <a:ea typeface="Courier New"/>
                <a:cs typeface="Courier New"/>
              </a:rPr>
              <a:t>// bỏ HQ-ADJ</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fact_finance[net_revenue]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NOT </a:t>
            </a:r>
            <a:r>
              <a:rPr sz="1300" b="1" i="0">
                <a:solidFill>
                  <a:srgbClr val="0550AE"/>
                </a:solidFill>
                <a:latin typeface="Courier New"/>
                <a:ea typeface="Courier New"/>
                <a:cs typeface="Courier New"/>
              </a:rPr>
              <a:t>ISBLANK</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fact_finance[store_key]</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Revenue]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 :=</a:t>
            </a:r>
          </a:p>
          <a:p>
            <a:pPr algn="l">
              <a:buNone/>
            </a:pP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Vượt ngưỡng :=                      </a:t>
            </a:r>
            <a:r>
              <a:rPr sz="1300" b="0" i="1">
                <a:solidFill>
                  <a:srgbClr val="6A737D"/>
                </a:solidFill>
                <a:latin typeface="Courier New"/>
                <a:ea typeface="Courier New"/>
                <a:cs typeface="Courier New"/>
              </a:rPr>
              <a:t>// 1 = ô vượt ngưỡng</a:t>
            </a:r>
          </a:p>
          <a:p>
            <a:pPr algn="l">
              <a:buNone/>
            </a:pPr>
            <a:r>
              <a:rPr sz="1300" b="1" i="0">
                <a:solidFill>
                  <a:srgbClr val="0550AE"/>
                </a:solidFill>
                <a:latin typeface="Courier New"/>
                <a:ea typeface="Courier New"/>
                <a:cs typeface="Courier New"/>
              </a:rPr>
              <a:t>IF</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 &gt; 200</a:t>
            </a:r>
          </a:p>
          <a:p>
            <a:pPr algn="l">
              <a:buNone/>
            </a:pPr>
            <a:r>
              <a:rPr sz="1300" b="0" i="0">
                <a:solidFill>
                  <a:srgbClr val="24292F"/>
                </a:solidFill>
                <a:latin typeface="Courier New"/>
                <a:ea typeface="Courier New"/>
                <a:cs typeface="Courier New"/>
              </a:rPr>
              <a:t>        &amp;&amp;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 %]</a:t>
            </a:r>
            <a:r>
              <a:rPr sz="1300" b="0" i="0">
                <a:solidFill>
                  <a:srgbClr val="24292F"/>
                </a:solidFill>
                <a:latin typeface="Courier New"/>
                <a:ea typeface="Courier New"/>
                <a:cs typeface="Courier New"/>
              </a:rPr>
              <a:t> ) &gt; 0.01,</a:t>
            </a:r>
          </a:p>
          <a:p>
            <a:pPr algn="l">
              <a:buNone/>
            </a:pPr>
            <a:r>
              <a:rPr sz="1300" b="0" i="0">
                <a:solidFill>
                  <a:srgbClr val="24292F"/>
                </a:solidFill>
                <a:latin typeface="Courier New"/>
                <a:ea typeface="Courier New"/>
                <a:cs typeface="Courier New"/>
              </a:rPr>
              <a:t>    1, 0 )</a:t>
            </a:r>
          </a:p>
        </p:txBody>
      </p:sp>
      <p:sp>
        <p:nvSpPr>
          <p:cNvPr id="144" name="Rounded Rectangle 143"/>
          <p:cNvSpPr/>
          <p:nvPr/>
        </p:nvSpPr>
        <p:spPr>
          <a:xfrm>
            <a:off x="6217920" y="1371600"/>
            <a:ext cx="5623560" cy="30175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Số cửa hàng vượt ngưỡng :=</a:t>
            </a:r>
          </a:p>
          <a:p>
            <a:pPr algn="l">
              <a:buNone/>
            </a:pPr>
            <a:r>
              <a:rPr sz="1200" b="1" i="0">
                <a:solidFill>
                  <a:srgbClr val="0550AE"/>
                </a:solidFill>
                <a:latin typeface="Courier New"/>
                <a:ea typeface="Courier New"/>
                <a:cs typeface="Courier New"/>
              </a:rPr>
              <a:t>SUMX</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CROSSJOIN</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dim_date[month_id]</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dim_store[store_key]</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r>
              <a:rPr sz="1200" b="0" i="0">
                <a:solidFill>
                  <a:srgbClr val="0F6E56"/>
                </a:solidFill>
                <a:latin typeface="Courier New"/>
                <a:ea typeface="Courier New"/>
                <a:cs typeface="Courier New"/>
              </a:rPr>
              <a:t>[Vượt ngưỡng]</a:t>
            </a:r>
          </a:p>
          <a:p>
            <a:pPr algn="l">
              <a:buNone/>
            </a:pPr>
            <a:r>
              <a:rPr sz="1200" b="0" i="0">
                <a:solidFill>
                  <a:srgbClr val="24292F"/>
                </a:solidFill>
                <a:latin typeface="Courier New"/>
                <a:ea typeface="Courier New"/>
                <a:cs typeface="Courier New"/>
              </a:rPr>
              <a:t>)</a:t>
            </a:r>
          </a:p>
        </p:txBody>
      </p:sp>
      <p:sp>
        <p:nvSpPr>
          <p:cNvPr id="145" name="Rounded Rectangle 144"/>
          <p:cNvSpPr/>
          <p:nvPr/>
        </p:nvSpPr>
        <p:spPr>
          <a:xfrm>
            <a:off x="6217920" y="4526280"/>
            <a:ext cx="5623560" cy="1463040"/>
          </a:xfrm>
          <a:prstGeom prst="roundRect">
            <a:avLst>
              <a:gd name="adj" fmla="val 6000"/>
            </a:avLst>
          </a:prstGeom>
          <a:solidFill>
            <a:srgbClr val="FFFFFF"/>
          </a:solidFill>
          <a:ln w="15875">
            <a:solidFill>
              <a:srgbClr val="123A7A"/>
            </a:solidFill>
          </a:ln>
          <a:effectLst/>
        </p:spPr>
        <p:txBody>
          <a:bodyPr rtlCol="0" anchor="ctr" wrap="square" lIns="109728" tIns="36576" rIns="109728" bIns="36576"/>
          <a:lstStyle/>
          <a:p>
            <a:pPr algn="l" marL="182880" indent="-182880">
              <a:buFont typeface="Arial"/>
              <a:buChar char="•"/>
            </a:pPr>
            <a:r>
              <a:rPr sz="1300" b="1" i="0">
                <a:solidFill>
                  <a:srgbClr val="123A7A"/>
                </a:solidFill>
                <a:latin typeface="Times New Roman"/>
                <a:ea typeface="Times New Roman"/>
                <a:cs typeface="Times New Roman"/>
              </a:rPr>
              <a:t>Context transition: </a:t>
            </a:r>
            <a:r>
              <a:rPr sz="1300" b="0" i="0">
                <a:solidFill>
                  <a:srgbClr val="222222"/>
                </a:solidFill>
                <a:latin typeface="Times New Roman"/>
                <a:ea typeface="Times New Roman"/>
                <a:cs typeface="Times New Roman"/>
              </a:rPr>
              <a:t>số đo trong SUMX được tính lại cho từng cặp tháng × cửa hàng</a:t>
            </a:r>
          </a:p>
          <a:p>
            <a:pPr algn="l" marL="182880" indent="-182880">
              <a:buFont typeface="Arial"/>
              <a:buChar char="•"/>
            </a:pPr>
            <a:r>
              <a:rPr sz="1300" b="1" i="0">
                <a:solidFill>
                  <a:srgbClr val="123A7A"/>
                </a:solidFill>
                <a:latin typeface="Times New Roman"/>
                <a:ea typeface="Times New Roman"/>
                <a:cs typeface="Times New Roman"/>
              </a:rPr>
              <a:t>HQ-ADJ: </a:t>
            </a:r>
            <a:r>
              <a:rPr sz="1300" b="0" i="0">
                <a:solidFill>
                  <a:srgbClr val="222222"/>
                </a:solidFill>
                <a:latin typeface="Times New Roman"/>
                <a:ea typeface="Times New Roman"/>
                <a:cs typeface="Times New Roman"/>
              </a:rPr>
              <a:t>store_key trống nên không thuộc ô nào; báo riêng ở tổng chuỗi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quy đổi online về ngày giao bằng USERELATIONSHIP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Nếu Δ online </a:t>
            </a:r>
            <a:r>
              <a:rPr sz="1700" b="1" i="0">
                <a:solidFill>
                  <a:srgbClr val="2E5B31"/>
                </a:solidFill>
                <a:latin typeface="Times New Roman"/>
                <a:ea typeface="Times New Roman"/>
                <a:cs typeface="Times New Roman"/>
              </a:rPr>
              <a:t>biến mất sau quy đổi</a:t>
            </a:r>
            <a:r>
              <a:rPr sz="1700" b="0" i="0">
                <a:solidFill>
                  <a:srgbClr val="222222"/>
                </a:solidFill>
                <a:latin typeface="Times New Roman"/>
                <a:ea typeface="Times New Roman"/>
                <a:cs typeface="Times New Roman"/>
              </a:rPr>
              <a:t> thì đó là lệch thời điểm, không phải lỗi dữ liệu</a:t>
            </a:r>
          </a:p>
        </p:txBody>
      </p:sp>
      <p:sp>
        <p:nvSpPr>
          <p:cNvPr id="143" name="Rounded Rectangle 142"/>
          <p:cNvSpPr/>
          <p:nvPr/>
        </p:nvSpPr>
        <p:spPr>
          <a:xfrm>
            <a:off x="365760" y="1371600"/>
            <a:ext cx="676656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Net Sales (cơ sở Finance)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pos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"POS"</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onl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"ONLINE"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USERELATIONSHIP</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fact_sales_line[delivery_date]</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dim_date[date]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RETURN</a:t>
            </a:r>
            <a:r>
              <a:rPr sz="1300" b="0" i="0">
                <a:solidFill>
                  <a:srgbClr val="24292F"/>
                </a:solidFill>
                <a:latin typeface="Courier New"/>
                <a:ea typeface="Courier New"/>
                <a:cs typeface="Courier New"/>
              </a:rPr>
              <a:t> pos + onl</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sau quy đổi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 </a:t>
            </a:r>
            <a:r>
              <a:rPr sz="1300" b="0" i="0">
                <a:solidFill>
                  <a:srgbClr val="0F6E56"/>
                </a:solidFill>
                <a:latin typeface="Courier New"/>
                <a:ea typeface="Courier New"/>
                <a:cs typeface="Courier New"/>
              </a:rPr>
              <a:t>[Net Sales (cơ sở Finance)]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p>
        </p:txBody>
      </p:sp>
      <p:sp>
        <p:nvSpPr>
          <p:cNvPr id="144" name="Rounded Rectangle 143"/>
          <p:cNvSpPr/>
          <p:nvPr/>
        </p:nvSpPr>
        <p:spPr>
          <a:xfrm>
            <a:off x="7360920" y="1371600"/>
            <a:ext cx="448056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360920" y="1371600"/>
            <a:ext cx="448056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452360" y="1920240"/>
            <a:ext cx="4297680" cy="4023360"/>
          </a:xfrm>
          <a:prstGeom prst="rect">
            <a:avLst/>
          </a:prstGeom>
          <a:noFill/>
        </p:spPr>
        <p:txBody>
          <a:bodyPr wrap="square" lIns="45720" tIns="27432" rIns="45720" bIns="27432" anchor="t"/>
          <a:lstStyle/>
          <a:p>
            <a:pPr algn="l" marL="182880" indent="-182880">
              <a:spcAft>
                <a:spcPts val="600"/>
              </a:spcAft>
              <a:buFont typeface="Arial"/>
              <a:buChar char="•"/>
            </a:pPr>
            <a:r>
              <a:rPr sz="1300" b="0" i="0">
                <a:solidFill>
                  <a:srgbClr val="222222"/>
                </a:solidFill>
                <a:latin typeface="Times New Roman"/>
                <a:ea typeface="Times New Roman"/>
                <a:cs typeface="Times New Roman"/>
              </a:rPr>
              <a:t>USERELATIONSHIP bật quan hệ inactive delivery_date chỉ trong số đo này</a:t>
            </a:r>
          </a:p>
          <a:p>
            <a:pPr algn="l" marL="182880" indent="-182880">
              <a:spcAft>
                <a:spcPts val="600"/>
              </a:spcAft>
              <a:buFont typeface="Arial"/>
              <a:buChar char="•"/>
            </a:pPr>
            <a:r>
              <a:rPr sz="1300" b="0" i="0">
                <a:solidFill>
                  <a:srgbClr val="222222"/>
                </a:solidFill>
                <a:latin typeface="Times New Roman"/>
                <a:ea typeface="Times New Roman"/>
                <a:cs typeface="Times New Roman"/>
              </a:rPr>
              <a:t>KEEPFILTERS giữ lựa chọn của slicer Kênh, không ghi đè</a:t>
            </a:r>
          </a:p>
          <a:p>
            <a:pPr algn="l" marL="182880" indent="-182880">
              <a:spcAft>
                <a:spcPts val="600"/>
              </a:spcAft>
              <a:buFont typeface="Arial"/>
              <a:buChar char="•"/>
            </a:pPr>
            <a:r>
              <a:rPr sz="1300" b="0" i="0">
                <a:solidFill>
                  <a:srgbClr val="222222"/>
                </a:solidFill>
                <a:latin typeface="Times New Roman"/>
                <a:ea typeface="Times New Roman"/>
                <a:cs typeface="Times New Roman"/>
              </a:rPr>
              <a:t>POS giữ ngày đặt hàng vì Kế toán ghi POS theo ngày bán</a:t>
            </a:r>
          </a:p>
          <a:p>
            <a:pPr algn="l" marL="182880" indent="-182880">
              <a:buFont typeface="Arial"/>
              <a:buChar char="•"/>
            </a:pPr>
            <a:r>
              <a:rPr sz="1300" b="1" i="0">
                <a:solidFill>
                  <a:srgbClr val="222222"/>
                </a:solidFill>
                <a:latin typeface="Times New Roman"/>
                <a:ea typeface="Times New Roman"/>
                <a:cs typeface="Times New Roman"/>
              </a:rPr>
              <a:t>Ví dụ 12/2020: </a:t>
            </a:r>
            <a:r>
              <a:rPr sz="1300" b="0" i="0">
                <a:solidFill>
                  <a:srgbClr val="222222"/>
                </a:solidFill>
                <a:latin typeface="Times New Roman"/>
                <a:ea typeface="Times New Roman"/>
                <a:cs typeface="Times New Roman"/>
              </a:rPr>
              <a:t>Δ toàn chuỗi −12.536 USD; sau quy đổi online còn 10.276 USD → phần còn lại nằm ở kênh cửa hàng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Bố cục đề xuất 4 trang dashboard (bản tham chiếu của mentor)</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Thứ tự đọc: </a:t>
            </a:r>
            <a:r>
              <a:rPr sz="1700" b="1" i="0">
                <a:solidFill>
                  <a:srgbClr val="2E5B3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 thẻ KPI → biểu đồ có </a:t>
            </a:r>
            <a:r>
              <a:rPr sz="1700" b="1" i="0">
                <a:solidFill>
                  <a:srgbClr val="2E5B31"/>
                </a:solidFill>
                <a:latin typeface="Times New Roman"/>
                <a:ea typeface="Times New Roman"/>
                <a:cs typeface="Times New Roman"/>
              </a:rPr>
              <a:t>tiêu đề nêu kết luận</a:t>
            </a:r>
            <a:r>
              <a:rPr sz="1700" b="0" i="0">
                <a:solidFill>
                  <a:srgbClr val="222222"/>
                </a:solidFill>
                <a:latin typeface="Times New Roman"/>
                <a:ea typeface="Times New Roman"/>
                <a:cs typeface="Times New Roman"/>
              </a:rPr>
              <a:t> → bảng chi tiết</a:t>
            </a:r>
          </a:p>
        </p:txBody>
      </p:sp>
      <p:sp>
        <p:nvSpPr>
          <p:cNvPr id="143" name="Rounded Rectangle 142"/>
          <p:cNvSpPr/>
          <p:nvPr/>
        </p:nvSpPr>
        <p:spPr>
          <a:xfrm>
            <a:off x="365760" y="1371600"/>
            <a:ext cx="269748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Tổng quan</a:t>
            </a:r>
          </a:p>
        </p:txBody>
      </p:sp>
      <p:sp>
        <p:nvSpPr>
          <p:cNvPr id="144" name="Rectangle 143"/>
          <p:cNvSpPr/>
          <p:nvPr/>
        </p:nvSpPr>
        <p:spPr>
          <a:xfrm>
            <a:off x="365760" y="1828800"/>
            <a:ext cx="2697480" cy="30175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5" name="Picture 144" descr="dash_s1.png"/>
          <p:cNvPicPr>
            <a:picLocks noChangeAspect="1"/>
          </p:cNvPicPr>
          <p:nvPr/>
        </p:nvPicPr>
        <p:blipFill>
          <a:blip r:embed="rId3"/>
          <a:stretch>
            <a:fillRect/>
          </a:stretch>
        </p:blipFill>
        <p:spPr>
          <a:xfrm>
            <a:off x="411480" y="2194313"/>
            <a:ext cx="2606040" cy="2286493"/>
          </a:xfrm>
          <a:prstGeom prst="rect">
            <a:avLst/>
          </a:prstGeom>
        </p:spPr>
      </p:pic>
      <p:sp>
        <p:nvSpPr>
          <p:cNvPr id="146" name="Rounded Rectangle 145"/>
          <p:cNvSpPr/>
          <p:nvPr/>
        </p:nvSpPr>
        <p:spPr>
          <a:xfrm>
            <a:off x="365760" y="4983480"/>
            <a:ext cx="2697480" cy="1005840"/>
          </a:xfrm>
          <a:prstGeom prst="roundRect">
            <a:avLst>
              <a:gd name="adj" fmla="val 6000"/>
            </a:avLst>
          </a:prstGeom>
          <a:solidFill>
            <a:srgbClr val="E2F0D9"/>
          </a:solidFill>
          <a:ln w="12700">
            <a:solidFill>
              <a:srgbClr val="2E5B31"/>
            </a:solidFill>
          </a:ln>
          <a:effectLst/>
        </p:spPr>
        <p:txBody>
          <a:bodyPr rtlCol="0" anchor="ctr" wrap="square" tIns="27432" rIns="73152" bIns="27432"/>
          <a:lstStyle/>
          <a:p>
            <a:pPr algn="l">
              <a:buNone/>
            </a:pPr>
            <a:r>
              <a:rPr sz="1200" b="1" i="0">
                <a:solidFill>
                  <a:srgbClr val="2E5B3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Tháng này bán được bao nhiêu, khớp Kế toán chưa?</a:t>
            </a:r>
          </a:p>
        </p:txBody>
      </p:sp>
      <p:sp>
        <p:nvSpPr>
          <p:cNvPr id="147" name="Rounded Rectangle 146"/>
          <p:cNvSpPr/>
          <p:nvPr/>
        </p:nvSpPr>
        <p:spPr>
          <a:xfrm>
            <a:off x="3246120" y="1371600"/>
            <a:ext cx="269748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Doanh thu</a:t>
            </a:r>
          </a:p>
        </p:txBody>
      </p:sp>
      <p:sp>
        <p:nvSpPr>
          <p:cNvPr id="148" name="Rectangle 147"/>
          <p:cNvSpPr/>
          <p:nvPr/>
        </p:nvSpPr>
        <p:spPr>
          <a:xfrm>
            <a:off x="3246120" y="1828800"/>
            <a:ext cx="2697480" cy="30175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9" name="Picture 148" descr="dash_s2.png"/>
          <p:cNvPicPr>
            <a:picLocks noChangeAspect="1"/>
          </p:cNvPicPr>
          <p:nvPr/>
        </p:nvPicPr>
        <p:blipFill>
          <a:blip r:embed="rId4"/>
          <a:stretch>
            <a:fillRect/>
          </a:stretch>
        </p:blipFill>
        <p:spPr>
          <a:xfrm>
            <a:off x="3291839" y="2196693"/>
            <a:ext cx="2606040" cy="2281732"/>
          </a:xfrm>
          <a:prstGeom prst="rect">
            <a:avLst/>
          </a:prstGeom>
        </p:spPr>
      </p:pic>
      <p:sp>
        <p:nvSpPr>
          <p:cNvPr id="150" name="Rounded Rectangle 149"/>
          <p:cNvSpPr/>
          <p:nvPr/>
        </p:nvSpPr>
        <p:spPr>
          <a:xfrm>
            <a:off x="3246120" y="4983480"/>
            <a:ext cx="2697480" cy="1005840"/>
          </a:xfrm>
          <a:prstGeom prst="roundRect">
            <a:avLst>
              <a:gd name="adj" fmla="val 6000"/>
            </a:avLst>
          </a:prstGeom>
          <a:solidFill>
            <a:srgbClr val="FBE5D6"/>
          </a:solidFill>
          <a:ln w="12700">
            <a:solidFill>
              <a:srgbClr val="C55A11"/>
            </a:solidFill>
          </a:ln>
          <a:effectLst/>
        </p:spPr>
        <p:txBody>
          <a:bodyPr rtlCol="0" anchor="ctr" wrap="square" tIns="27432" rIns="73152" bIns="27432"/>
          <a:lstStyle/>
          <a:p>
            <a:pPr algn="l">
              <a:buNone/>
            </a:pPr>
            <a:r>
              <a:rPr sz="1200" b="1" i="0">
                <a:solidFill>
                  <a:srgbClr val="C55A1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Doanh thu đến từ kênh, danh mục, quốc gia nào?</a:t>
            </a:r>
          </a:p>
        </p:txBody>
      </p:sp>
      <p:sp>
        <p:nvSpPr>
          <p:cNvPr id="151" name="Rounded Rectangle 150"/>
          <p:cNvSpPr/>
          <p:nvPr/>
        </p:nvSpPr>
        <p:spPr>
          <a:xfrm>
            <a:off x="6126480" y="1371600"/>
            <a:ext cx="2697480"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Đối soát</a:t>
            </a:r>
          </a:p>
        </p:txBody>
      </p:sp>
      <p:sp>
        <p:nvSpPr>
          <p:cNvPr id="152" name="Rectangle 151"/>
          <p:cNvSpPr/>
          <p:nvPr/>
        </p:nvSpPr>
        <p:spPr>
          <a:xfrm>
            <a:off x="6126480" y="1828800"/>
            <a:ext cx="2697480" cy="30175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3" name="Picture 152" descr="dash_s3.png"/>
          <p:cNvPicPr>
            <a:picLocks noChangeAspect="1"/>
          </p:cNvPicPr>
          <p:nvPr/>
        </p:nvPicPr>
        <p:blipFill>
          <a:blip r:embed="rId5"/>
          <a:stretch>
            <a:fillRect/>
          </a:stretch>
        </p:blipFill>
        <p:spPr>
          <a:xfrm>
            <a:off x="6172200" y="2195968"/>
            <a:ext cx="2606040" cy="2283182"/>
          </a:xfrm>
          <a:prstGeom prst="rect">
            <a:avLst/>
          </a:prstGeom>
        </p:spPr>
      </p:pic>
      <p:sp>
        <p:nvSpPr>
          <p:cNvPr id="154" name="Rounded Rectangle 153"/>
          <p:cNvSpPr/>
          <p:nvPr/>
        </p:nvSpPr>
        <p:spPr>
          <a:xfrm>
            <a:off x="6126480" y="4983480"/>
            <a:ext cx="2697480" cy="1005840"/>
          </a:xfrm>
          <a:prstGeom prst="roundRect">
            <a:avLst>
              <a:gd name="adj" fmla="val 6000"/>
            </a:avLst>
          </a:prstGeom>
          <a:solidFill>
            <a:srgbClr val="DEEAF6"/>
          </a:solidFill>
          <a:ln w="12700">
            <a:solidFill>
              <a:srgbClr val="123A7A"/>
            </a:solidFill>
          </a:ln>
          <a:effectLst/>
        </p:spPr>
        <p:txBody>
          <a:bodyPr rtlCol="0" anchor="ctr" wrap="square" tIns="27432" rIns="73152" bIns="27432"/>
          <a:lstStyle/>
          <a:p>
            <a:pPr algn="l">
              <a:buNone/>
            </a:pPr>
            <a:r>
              <a:rPr sz="1200" b="1" i="0">
                <a:solidFill>
                  <a:srgbClr val="123A7A"/>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Lệch ở cửa hàng nào, tháng nào, kênh nào?</a:t>
            </a:r>
          </a:p>
        </p:txBody>
      </p:sp>
      <p:sp>
        <p:nvSpPr>
          <p:cNvPr id="155" name="Rounded Rectangle 154"/>
          <p:cNvSpPr/>
          <p:nvPr/>
        </p:nvSpPr>
        <p:spPr>
          <a:xfrm>
            <a:off x="9006840" y="1371600"/>
            <a:ext cx="269748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Hoàn trả &amp; chất lượng</a:t>
            </a:r>
          </a:p>
        </p:txBody>
      </p:sp>
      <p:sp>
        <p:nvSpPr>
          <p:cNvPr id="156" name="Rectangle 155"/>
          <p:cNvSpPr/>
          <p:nvPr/>
        </p:nvSpPr>
        <p:spPr>
          <a:xfrm>
            <a:off x="9006840" y="1828800"/>
            <a:ext cx="2697480" cy="30175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7" name="Picture 156" descr="dash_s4.png"/>
          <p:cNvPicPr>
            <a:picLocks noChangeAspect="1"/>
          </p:cNvPicPr>
          <p:nvPr/>
        </p:nvPicPr>
        <p:blipFill>
          <a:blip r:embed="rId6"/>
          <a:stretch>
            <a:fillRect/>
          </a:stretch>
        </p:blipFill>
        <p:spPr>
          <a:xfrm>
            <a:off x="9052560" y="2196693"/>
            <a:ext cx="2606040" cy="2281732"/>
          </a:xfrm>
          <a:prstGeom prst="rect">
            <a:avLst/>
          </a:prstGeom>
        </p:spPr>
      </p:pic>
      <p:sp>
        <p:nvSpPr>
          <p:cNvPr id="158" name="Rounded Rectangle 157"/>
          <p:cNvSpPr/>
          <p:nvPr/>
        </p:nvSpPr>
        <p:spPr>
          <a:xfrm>
            <a:off x="9006840" y="4983480"/>
            <a:ext cx="2697480" cy="1005840"/>
          </a:xfrm>
          <a:prstGeom prst="roundRect">
            <a:avLst>
              <a:gd name="adj" fmla="val 6000"/>
            </a:avLst>
          </a:prstGeom>
          <a:solidFill>
            <a:srgbClr val="F8D7D7"/>
          </a:solidFill>
          <a:ln w="12700">
            <a:solidFill>
              <a:srgbClr val="C00000"/>
            </a:solidFill>
          </a:ln>
          <a:effectLst/>
        </p:spPr>
        <p:txBody>
          <a:bodyPr rtlCol="0" anchor="ctr" wrap="square" tIns="27432" rIns="73152" bIns="27432"/>
          <a:lstStyle/>
          <a:p>
            <a:pPr algn="l">
              <a:buNone/>
            </a:pPr>
            <a:r>
              <a:rPr sz="1200" b="1" i="0">
                <a:solidFill>
                  <a:srgbClr val="C00000"/>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Bao nhiêu doanh thu bị mất, vì sao?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Từ số đo đến dashboard Excel: Slicer, CUBEVALUE, PivotTable,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Ảnh ở slide trước chụp từ </a:t>
            </a:r>
            <a:r>
              <a:rPr sz="1700" b="1" i="0">
                <a:solidFill>
                  <a:srgbClr val="123A7A"/>
                </a:solidFill>
                <a:latin typeface="Times New Roman"/>
                <a:ea typeface="Times New Roman"/>
                <a:cs typeface="Times New Roman"/>
              </a:rPr>
              <a:t>dashboard Excel tham chiếu</a:t>
            </a:r>
            <a:r>
              <a:rPr sz="1700" b="0" i="0">
                <a:solidFill>
                  <a:srgbClr val="222222"/>
                </a:solidFill>
                <a:latin typeface="Times New Roman"/>
                <a:ea typeface="Times New Roman"/>
                <a:cs typeface="Times New Roman"/>
              </a:rPr>
              <a:t>; trong Excel mỗi khối dựng bằng một trong 4 đối tượng dưới đây</a:t>
            </a:r>
          </a:p>
        </p:txBody>
      </p:sp>
      <p:sp>
        <p:nvSpPr>
          <p:cNvPr id="143" name="Rounded Rectangle 142"/>
          <p:cNvSpPr/>
          <p:nvPr/>
        </p:nvSpPr>
        <p:spPr>
          <a:xfrm>
            <a:off x="365760" y="1371600"/>
            <a:ext cx="2697480" cy="27432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Slicer</a:t>
            </a:r>
          </a:p>
        </p:txBody>
      </p:sp>
      <p:sp>
        <p:nvSpPr>
          <p:cNvPr id="145" name="TextBox 144"/>
          <p:cNvSpPr txBox="1"/>
          <p:nvPr/>
        </p:nvSpPr>
        <p:spPr>
          <a:xfrm>
            <a:off x="457200" y="1874519"/>
            <a:ext cx="2514600" cy="4114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Bộ lọc dùng chung</a:t>
            </a:r>
          </a:p>
        </p:txBody>
      </p:sp>
      <p:sp>
        <p:nvSpPr>
          <p:cNvPr id="146" name="TextBox 145"/>
          <p:cNvSpPr txBox="1"/>
          <p:nvPr/>
        </p:nvSpPr>
        <p:spPr>
          <a:xfrm>
            <a:off x="45720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Slicer (Data Model): Năm, Tháng, Kênh, Quốc gia</a:t>
            </a:r>
          </a:p>
          <a:p>
            <a:pPr algn="l" marL="182880" indent="-182880">
              <a:spcAft>
                <a:spcPts val="300"/>
              </a:spcAft>
              <a:buFont typeface="Arial"/>
              <a:buChar char="•"/>
            </a:pPr>
            <a:r>
              <a:rPr sz="1200" b="0" i="0">
                <a:solidFill>
                  <a:srgbClr val="222222"/>
                </a:solidFill>
                <a:latin typeface="Times New Roman"/>
                <a:ea typeface="Times New Roman"/>
                <a:cs typeface="Times New Roman"/>
              </a:rPr>
              <a:t>Copy sang sheet khác = dùng chung bộ lọc</a:t>
            </a:r>
          </a:p>
          <a:p>
            <a:pPr algn="l" marL="182880" indent="-182880">
              <a:spcAft>
                <a:spcPts val="300"/>
              </a:spcAft>
              <a:buFont typeface="Arial"/>
              <a:buChar char="•"/>
            </a:pPr>
            <a:r>
              <a:rPr sz="1200" b="0" i="0">
                <a:solidFill>
                  <a:srgbClr val="222222"/>
                </a:solidFill>
                <a:latin typeface="Times New Roman"/>
                <a:ea typeface="Times New Roman"/>
                <a:cs typeface="Times New Roman"/>
              </a:rPr>
              <a:t>Report Connections: chọn pivot bị lọc</a:t>
            </a:r>
          </a:p>
        </p:txBody>
      </p:sp>
      <p:sp>
        <p:nvSpPr>
          <p:cNvPr id="147" name="Rounded Rectangle 146"/>
          <p:cNvSpPr/>
          <p:nvPr/>
        </p:nvSpPr>
        <p:spPr>
          <a:xfrm>
            <a:off x="3246120" y="1371600"/>
            <a:ext cx="2697480" cy="27432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324612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CUBEVALUE</a:t>
            </a:r>
          </a:p>
        </p:txBody>
      </p:sp>
      <p:sp>
        <p:nvSpPr>
          <p:cNvPr id="149" name="TextBox 148"/>
          <p:cNvSpPr txBox="1"/>
          <p:nvPr/>
        </p:nvSpPr>
        <p:spPr>
          <a:xfrm>
            <a:off x="3337560" y="1874519"/>
            <a:ext cx="2514600" cy="4114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câu Điểm chính, tiêu đề</a:t>
            </a:r>
          </a:p>
        </p:txBody>
      </p:sp>
      <p:sp>
        <p:nvSpPr>
          <p:cNvPr id="150" name="TextBox 149"/>
          <p:cNvSpPr txBox="1"/>
          <p:nvPr/>
        </p:nvSpPr>
        <p:spPr>
          <a:xfrm>
            <a:off x="333756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Một ô = một số đo theo slicer</a:t>
            </a:r>
          </a:p>
          <a:p>
            <a:pPr algn="l" marL="182880" indent="-182880">
              <a:spcAft>
                <a:spcPts val="300"/>
              </a:spcAft>
              <a:buFont typeface="Arial"/>
              <a:buChar char="•"/>
            </a:pPr>
            <a:r>
              <a:rPr sz="1200" b="0" i="0">
                <a:solidFill>
                  <a:srgbClr val="222222"/>
                </a:solidFill>
                <a:latin typeface="Times New Roman"/>
                <a:ea typeface="Times New Roman"/>
                <a:cs typeface="Times New Roman"/>
              </a:rPr>
              <a:t>So tháng trước: truyền thành viên month_id</a:t>
            </a:r>
          </a:p>
          <a:p>
            <a:pPr algn="l" marL="182880" indent="-182880">
              <a:spcAft>
                <a:spcPts val="300"/>
              </a:spcAft>
              <a:buFont typeface="Arial"/>
              <a:buChar char="•"/>
            </a:pPr>
            <a:r>
              <a:rPr sz="1200" b="0" i="0">
                <a:solidFill>
                  <a:srgbClr val="222222"/>
                </a:solidFill>
                <a:latin typeface="Times New Roman"/>
                <a:ea typeface="Times New Roman"/>
                <a:cs typeface="Times New Roman"/>
              </a:rPr>
              <a:t>Đặt tự do, định dạng như ô thường</a:t>
            </a:r>
          </a:p>
        </p:txBody>
      </p:sp>
      <p:sp>
        <p:nvSpPr>
          <p:cNvPr id="151" name="Rounded Rectangle 150"/>
          <p:cNvSpPr/>
          <p:nvPr/>
        </p:nvSpPr>
        <p:spPr>
          <a:xfrm>
            <a:off x="6126480" y="1371600"/>
            <a:ext cx="2697480" cy="27432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2" name="Rounded Rectangle 151"/>
          <p:cNvSpPr/>
          <p:nvPr/>
        </p:nvSpPr>
        <p:spPr>
          <a:xfrm>
            <a:off x="612648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PivotTable</a:t>
            </a:r>
          </a:p>
        </p:txBody>
      </p:sp>
      <p:sp>
        <p:nvSpPr>
          <p:cNvPr id="153" name="TextBox 152"/>
          <p:cNvSpPr txBox="1"/>
          <p:nvPr/>
        </p:nvSpPr>
        <p:spPr>
          <a:xfrm>
            <a:off x="6217920" y="1874519"/>
            <a:ext cx="2514600" cy="4114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Xếp hạng, bảng chi tiết</a:t>
            </a:r>
          </a:p>
        </p:txBody>
      </p:sp>
      <p:sp>
        <p:nvSpPr>
          <p:cNvPr id="154" name="TextBox 153"/>
          <p:cNvSpPr txBox="1"/>
          <p:nvPr/>
        </p:nvSpPr>
        <p:spPr>
          <a:xfrm>
            <a:off x="621792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PivotTable → From Data Model</a:t>
            </a:r>
          </a:p>
          <a:p>
            <a:pPr algn="l" marL="182880" indent="-182880">
              <a:spcAft>
                <a:spcPts val="300"/>
              </a:spcAft>
              <a:buFont typeface="Arial"/>
              <a:buChar char="•"/>
            </a:pPr>
            <a:r>
              <a:rPr sz="1200" b="0" i="0">
                <a:solidFill>
                  <a:srgbClr val="222222"/>
                </a:solidFill>
                <a:latin typeface="Times New Roman"/>
                <a:ea typeface="Times New Roman"/>
                <a:cs typeface="Times New Roman"/>
              </a:rPr>
              <a:t>Sort giảm dần; Value Filters → Top 10</a:t>
            </a:r>
          </a:p>
          <a:p>
            <a:pPr algn="l" marL="182880" indent="-182880">
              <a:spcAft>
                <a:spcPts val="300"/>
              </a:spcAft>
              <a:buFont typeface="Arial"/>
              <a:buChar char="•"/>
            </a:pPr>
            <a:r>
              <a:rPr sz="1200" b="0" i="0">
                <a:solidFill>
                  <a:srgbClr val="222222"/>
                </a:solidFill>
                <a:latin typeface="Times New Roman"/>
                <a:ea typeface="Times New Roman"/>
                <a:cs typeface="Times New Roman"/>
              </a:rPr>
              <a:t>Bảng trên sheet trỏ vào pivot ở _pivot</a:t>
            </a:r>
          </a:p>
        </p:txBody>
      </p:sp>
      <p:sp>
        <p:nvSpPr>
          <p:cNvPr id="155" name="Rounded Rectangle 154"/>
          <p:cNvSpPr/>
          <p:nvPr/>
        </p:nvSpPr>
        <p:spPr>
          <a:xfrm>
            <a:off x="9006840" y="1371600"/>
            <a:ext cx="2697480" cy="274320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Biểu đồ thường</a:t>
            </a:r>
          </a:p>
        </p:txBody>
      </p:sp>
      <p:sp>
        <p:nvSpPr>
          <p:cNvPr id="157" name="TextBox 156"/>
          <p:cNvSpPr txBox="1"/>
          <p:nvPr/>
        </p:nvSpPr>
        <p:spPr>
          <a:xfrm>
            <a:off x="9098280" y="1874519"/>
            <a:ext cx="2514600" cy="41148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Xu hướng, xếp hạng, waterfall</a:t>
            </a:r>
          </a:p>
        </p:txBody>
      </p:sp>
      <p:sp>
        <p:nvSpPr>
          <p:cNvPr id="158" name="TextBox 157"/>
          <p:cNvSpPr txBox="1"/>
          <p:nvPr/>
        </p:nvSpPr>
        <p:spPr>
          <a:xfrm>
            <a:off x="909828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Line, Stacked Bar/Column từ bảng phụ</a:t>
            </a:r>
          </a:p>
          <a:p>
            <a:pPr algn="l" marL="182880" indent="-182880">
              <a:spcAft>
                <a:spcPts val="300"/>
              </a:spcAft>
              <a:buFont typeface="Arial"/>
              <a:buChar char="•"/>
            </a:pPr>
            <a:r>
              <a:rPr sz="1200" b="0" i="0">
                <a:solidFill>
                  <a:srgbClr val="222222"/>
                </a:solidFill>
                <a:latin typeface="Times New Roman"/>
                <a:ea typeface="Times New Roman"/>
                <a:cs typeface="Times New Roman"/>
              </a:rPr>
              <a:t>Waterfall: Insert → Waterfall, Set as total</a:t>
            </a:r>
          </a:p>
          <a:p>
            <a:pPr algn="l" marL="182880" indent="-182880">
              <a:spcAft>
                <a:spcPts val="300"/>
              </a:spcAft>
              <a:buFont typeface="Arial"/>
              <a:buChar char="•"/>
            </a:pPr>
            <a:r>
              <a:rPr sz="1200" b="0" i="0">
                <a:solidFill>
                  <a:srgbClr val="222222"/>
                </a:solidFill>
                <a:latin typeface="Times New Roman"/>
                <a:ea typeface="Times New Roman"/>
                <a:cs typeface="Times New Roman"/>
              </a:rPr>
              <a:t>Xoá Chart Title, tiêu đề đặt ở ô</a:t>
            </a:r>
          </a:p>
        </p:txBody>
      </p:sp>
      <p:sp>
        <p:nvSpPr>
          <p:cNvPr id="159" name="Rounded Rectangle 158"/>
          <p:cNvSpPr/>
          <p:nvPr/>
        </p:nvSpPr>
        <p:spPr>
          <a:xfrm>
            <a:off x="365760" y="4251960"/>
            <a:ext cx="6675120" cy="173736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0">
                <a:solidFill>
                  <a:srgbClr val="24292F"/>
                </a:solidFill>
                <a:latin typeface="Courier New"/>
                <a:ea typeface="Courier New"/>
                <a:cs typeface="Courier New"/>
              </a:rPr>
              <a:t>Số đơn tháng trước (không cần viết thêm số đo DAX)</a:t>
            </a:r>
          </a:p>
          <a:p>
            <a:pPr algn="l">
              <a:buNone/>
            </a:pPr>
            <a:r>
              <a:rPr sz="1000" b="0" i="0">
                <a:solidFill>
                  <a:srgbClr val="24292F"/>
                </a:solidFill>
                <a:latin typeface="Courier New"/>
                <a:ea typeface="Courier New"/>
                <a:cs typeface="Courier New"/>
              </a:rPr>
              <a:t>=N(</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"[Measures].[Orders]"</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a:t>
            </a:r>
            <a:r>
              <a:rPr sz="1000" b="0" i="0">
                <a:solidFill>
                  <a:srgbClr val="A31515"/>
                </a:solidFill>
                <a:latin typeface="Courier New"/>
                <a:ea typeface="Courier New"/>
                <a:cs typeface="Courier New"/>
              </a:rPr>
              <a:t>"[dim_date].[month_id].&amp;["</a:t>
            </a:r>
            <a:r>
              <a:rPr sz="1000" b="0" i="0">
                <a:solidFill>
                  <a:srgbClr val="24292F"/>
                </a:solidFill>
                <a:latin typeface="Courier New"/>
                <a:ea typeface="Courier New"/>
                <a:cs typeface="Courier New"/>
              </a:rPr>
              <a:t>&amp;$B$8&amp;</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Slicer_channel_name,Slicer_country))</a:t>
            </a:r>
          </a:p>
          <a:p>
            <a:pPr algn="l">
              <a:buNone/>
            </a:pPr>
            <a:r>
              <a:rPr sz="1000" b="0" i="0">
                <a:solidFill>
                  <a:srgbClr val="24292F"/>
                </a:solidFill>
                <a:latin typeface="Courier New"/>
                <a:ea typeface="Courier New"/>
                <a:cs typeface="Courier New"/>
              </a:rPr>
              <a:t>Dòng so sánh trên thẻ KPI</a:t>
            </a:r>
          </a:p>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(F25=</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(F25&gt;0,</a:t>
            </a:r>
            <a:r>
              <a:rPr sz="1000" b="0" i="0">
                <a:solidFill>
                  <a:srgbClr val="A31515"/>
                </a:solidFill>
                <a:latin typeface="Courier New"/>
                <a:ea typeface="Courier New"/>
                <a:cs typeface="Courier New"/>
              </a:rPr>
              <a:t>"▲ "</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(F25)*100,1)&amp;</a:t>
            </a:r>
            <a:r>
              <a:rPr sz="1000" b="0" i="0">
                <a:solidFill>
                  <a:srgbClr val="A31515"/>
                </a:solidFill>
                <a:latin typeface="Courier New"/>
                <a:ea typeface="Courier New"/>
                <a:cs typeface="Courier New"/>
              </a:rPr>
              <a:t>"% so với tháng trước"</a:t>
            </a:r>
            <a:r>
              <a:rPr sz="1000" b="0" i="0">
                <a:solidFill>
                  <a:srgbClr val="24292F"/>
                </a:solidFill>
                <a:latin typeface="Courier New"/>
                <a:ea typeface="Courier New"/>
                <a:cs typeface="Courier New"/>
              </a:rPr>
              <a:t>)</a:t>
            </a:r>
          </a:p>
        </p:txBody>
      </p:sp>
      <p:sp>
        <p:nvSpPr>
          <p:cNvPr id="160" name="Rounded Rectangle 159"/>
          <p:cNvSpPr/>
          <p:nvPr/>
        </p:nvSpPr>
        <p:spPr>
          <a:xfrm>
            <a:off x="7223760" y="4251960"/>
            <a:ext cx="4617720" cy="1737360"/>
          </a:xfrm>
          <a:prstGeom prst="roundRect">
            <a:avLst>
              <a:gd name="adj" fmla="val 6000"/>
            </a:avLst>
          </a:prstGeom>
          <a:solidFill>
            <a:srgbClr val="E2F0D9"/>
          </a:solidFill>
          <a:ln w="15875">
            <a:solidFill>
              <a:srgbClr val="2E5B31"/>
            </a:solidFill>
          </a:ln>
          <a:effectLst/>
        </p:spPr>
        <p:txBody>
          <a:bodyPr rtlCol="0" anchor="ctr" wrap="square" lIns="109728" tIns="27432" bIns="27432"/>
          <a:lstStyle/>
          <a:p>
            <a:pPr algn="l" marL="182880" indent="-182880">
              <a:spcAft>
                <a:spcPts val="400"/>
              </a:spcAft>
              <a:buFont typeface="Arial"/>
              <a:buChar char="•"/>
            </a:pPr>
            <a:r>
              <a:rPr sz="1200" b="1" i="0">
                <a:solidFill>
                  <a:srgbClr val="2E5B31"/>
                </a:solidFill>
                <a:latin typeface="Times New Roman"/>
                <a:ea typeface="Times New Roman"/>
                <a:cs typeface="Times New Roman"/>
              </a:rPr>
              <a:t>Tô màu nhấn bền: </a:t>
            </a:r>
            <a:r>
              <a:rPr sz="1200" b="0" i="0">
                <a:solidFill>
                  <a:srgbClr val="222222"/>
                </a:solidFill>
                <a:latin typeface="Times New Roman"/>
                <a:ea typeface="Times New Roman"/>
                <a:cs typeface="Times New Roman"/>
              </a:rPr>
              <a:t>bảng phụ 2 cột nhấn = IF(là mục lớn nhất, giá trị, 0) và nền = phần còn lại, vẽ cột chồng</a:t>
            </a:r>
          </a:p>
          <a:p>
            <a:pPr algn="l" marL="182880" indent="-182880">
              <a:buFont typeface="Arial"/>
              <a:buChar char="•"/>
            </a:pPr>
            <a:r>
              <a:rPr sz="1200" b="1" i="0">
                <a:solidFill>
                  <a:srgbClr val="2E5B31"/>
                </a:solidFill>
                <a:latin typeface="Times New Roman"/>
                <a:ea typeface="Times New Roman"/>
                <a:cs typeface="Times New Roman"/>
              </a:rPr>
              <a:t>Xu hướng 24 tháng: </a:t>
            </a:r>
            <a:r>
              <a:rPr sz="1200" b="0" i="0">
                <a:solidFill>
                  <a:srgbClr val="222222"/>
                </a:solidFill>
                <a:latin typeface="Times New Roman"/>
                <a:ea typeface="Times New Roman"/>
                <a:cs typeface="Times New Roman"/>
              </a:rPr>
              <a:t>bảng phụ CUBEVALUE theo month_id, chỉ truyền slicer Kênh và Quốc gia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dựng 4 sheet: mỗi khối hình là một đối tượng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Giữ </a:t>
            </a:r>
            <a:r>
              <a:rPr sz="1700" b="1" i="0">
                <a:solidFill>
                  <a:srgbClr val="2E5B31"/>
                </a:solidFill>
                <a:latin typeface="Times New Roman"/>
                <a:ea typeface="Times New Roman"/>
                <a:cs typeface="Times New Roman"/>
              </a:rPr>
              <a:t>cùng vùng ô</a:t>
            </a:r>
            <a:r>
              <a:rPr sz="1700" b="0" i="0">
                <a:solidFill>
                  <a:srgbClr val="222222"/>
                </a:solidFill>
                <a:latin typeface="Times New Roman"/>
                <a:ea typeface="Times New Roman"/>
                <a:cs typeface="Times New Roman"/>
              </a:rPr>
              <a:t> cho slicer (B4:Q6), Điểm chính (B7:Q9) và thẻ KPI (B11:Q14) ở cả 4 sheet để chuyển sheet không nhảy mắt</a:t>
            </a:r>
          </a:p>
        </p:txBody>
      </p:sp>
      <p:graphicFrame>
        <p:nvGraphicFramePr>
          <p:cNvPr id="143" name="Table 142"/>
          <p:cNvGraphicFramePr>
            <a:graphicFrameLocks noGrp="1"/>
          </p:cNvGraphicFramePr>
          <p:nvPr/>
        </p:nvGraphicFramePr>
        <p:xfrm>
          <a:off x="365760" y="1371600"/>
          <a:ext cx="11475720" cy="3840480"/>
        </p:xfrm>
        <a:graphic>
          <a:graphicData uri="http://schemas.openxmlformats.org/drawingml/2006/table">
            <a:tbl>
              <a:tblPr firstRow="1">
                <a:tableStyleId>{5940675A-B579-460E-94D1-54222C63F5DA}</a:tableStyleId>
              </a:tblPr>
              <a:tblGrid>
                <a:gridCol w="1371600"/>
                <a:gridCol w="3291840"/>
                <a:gridCol w="4572000"/>
                <a:gridCol w="2240280"/>
              </a:tblGrid>
              <a:tr h="768096">
                <a:tc>
                  <a:txBody>
                    <a:bodyPr/>
                    <a:lstStyle/>
                    <a:p>
                      <a:pPr algn="l">
                        <a:buNone/>
                      </a:pPr>
                      <a:r>
                        <a:rPr sz="1200" b="1" i="0">
                          <a:solidFill>
                            <a:srgbClr val="FFFFFF"/>
                          </a:solidFill>
                          <a:latin typeface="Times New Roman"/>
                          <a:ea typeface="Times New Roman"/>
                          <a:cs typeface="Times New Roman"/>
                        </a:rPr>
                        <a:t>Sheet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Điểm chính + thẻ KPI (CUBEVALUE)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Biểu đồ</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Bảng (PivotTable)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768096">
                <a:tc>
                  <a:txBody>
                    <a:bodyPr/>
                    <a:lstStyle/>
                    <a:p>
                      <a:pPr algn="l">
                        <a:buNone/>
                      </a:pPr>
                      <a:r>
                        <a:rPr sz="1200" b="1" i="0">
                          <a:solidFill>
                            <a:srgbClr val="222222"/>
                          </a:solidFill>
                          <a:latin typeface="Times New Roman"/>
                          <a:ea typeface="Times New Roman"/>
                          <a:cs typeface="Times New Roman"/>
                        </a:rPr>
                        <a:t>Tong_quan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Orders · AOV · Return Rate · Δ Finance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Line 24 tháng · Waterfall Gross → Net · Orders, AOV · Δ theo tháng, đỏ = vượt (cột chồng)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Doanh_thu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 · Tỷ trọng online · Chiết khấu / 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Danh mục, Quốc gia (cột ngang chồng: nhấn / nền, nguồn PivotTable)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Kênh · Top 10 cửa hàng (data bar)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768096">
                <a:tc>
                  <a:txBody>
                    <a:bodyPr/>
                    <a:lstStyle/>
                    <a:p>
                      <a:pPr algn="l">
                        <a:buNone/>
                      </a:pPr>
                      <a:r>
                        <a:rPr sz="1200" b="1" i="0">
                          <a:solidFill>
                            <a:srgbClr val="222222"/>
                          </a:solidFill>
                          <a:latin typeface="Times New Roman"/>
                          <a:ea typeface="Times New Roman"/>
                          <a:cs typeface="Times New Roman"/>
                        </a:rPr>
                        <a:t>Doi_soat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Kế toán · Δ · Δ sau quy đổi · Số cửa hàng vượt ngưỡng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Phân rã Δ (Waterfall) · Δ theo tháng, đỏ = vượt (cột chồng) · Δ online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Top 10 cửa hàng theo Δ tuyệt đối, ⚠ Vượt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Hoan_tra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Returns · Return Rate · Đơn huỷ · Dòng trùng đã loại (+ đơn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 Rate 24 tháng · Lý do, Danh mục (cột ngang chồng) · Huỷ &amp; chờ giao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365760" y="5349240"/>
            <a:ext cx="11475720" cy="6400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300" b="1" i="0">
                <a:solidFill>
                  <a:srgbClr val="123A7A"/>
                </a:solidFill>
                <a:latin typeface="Times New Roman"/>
                <a:ea typeface="Times New Roman"/>
                <a:cs typeface="Times New Roman"/>
              </a:rPr>
              <a:t>Sheet _pivot (ẩn khi nộp): </a:t>
            </a:r>
            <a:r>
              <a:rPr sz="1300" b="0" i="0">
                <a:solidFill>
                  <a:srgbClr val="222222"/>
                </a:solidFill>
                <a:latin typeface="Times New Roman"/>
                <a:ea typeface="Times New Roman"/>
                <a:cs typeface="Times New Roman"/>
              </a:rPr>
              <a:t>chứa 8 PivotTable nguồn, các ô CUBEVALUE và bảng phụ của biểu đồ; 4 sheet dashboard chỉ có slicer, thẻ KPI, biểu đồ và bảng cho người xem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tháng 12/2020: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Thẻ KPI = </a:t>
            </a:r>
            <a:r>
              <a:rPr sz="1700" b="1" i="0">
                <a:solidFill>
                  <a:srgbClr val="2E5B31"/>
                </a:solidFill>
                <a:latin typeface="Times New Roman"/>
                <a:ea typeface="Times New Roman"/>
                <a:cs typeface="Times New Roman"/>
              </a:rPr>
              <a:t>giá trị</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so với tháng trước</a:t>
            </a:r>
            <a:r>
              <a:rPr sz="1700" b="0" i="0">
                <a:solidFill>
                  <a:srgbClr val="222222"/>
                </a:solidFill>
                <a:latin typeface="Times New Roman"/>
                <a:ea typeface="Times New Roman"/>
                <a:cs typeface="Times New Roman"/>
              </a:rPr>
              <a:t> + </a:t>
            </a:r>
            <a:r>
              <a:rPr sz="1700" b="1" i="0">
                <a:solidFill>
                  <a:srgbClr val="123A7A"/>
                </a:solidFill>
                <a:latin typeface="Times New Roman"/>
                <a:ea typeface="Times New Roman"/>
                <a:cs typeface="Times New Roman"/>
              </a:rPr>
              <a:t>so với cùng kỳ</a:t>
            </a:r>
            <a:r>
              <a:rPr sz="1700" b="0" i="0">
                <a:solidFill>
                  <a:srgbClr val="222222"/>
                </a:solidFill>
                <a:latin typeface="Times New Roman"/>
                <a:ea typeface="Times New Roman"/>
                <a:cs typeface="Times New Roman"/>
              </a:rPr>
              <a:t>; một mốc so sánh không đủ kết luận</a:t>
            </a:r>
          </a:p>
        </p:txBody>
      </p:sp>
      <p:sp>
        <p:nvSpPr>
          <p:cNvPr id="143" name="Rectangle 142"/>
          <p:cNvSpPr/>
          <p:nvPr/>
        </p:nvSpPr>
        <p:spPr>
          <a:xfrm>
            <a:off x="365760" y="1371600"/>
            <a:ext cx="5250284"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4" name="Picture 143" descr="dash_s1.png"/>
          <p:cNvPicPr>
            <a:picLocks noChangeAspect="1"/>
          </p:cNvPicPr>
          <p:nvPr/>
        </p:nvPicPr>
        <p:blipFill>
          <a:blip r:embed="rId3"/>
          <a:stretch>
            <a:fillRect/>
          </a:stretch>
        </p:blipFill>
        <p:spPr>
          <a:xfrm>
            <a:off x="411480" y="1417320"/>
            <a:ext cx="5158844" cy="4526280"/>
          </a:xfrm>
          <a:prstGeom prst="rect">
            <a:avLst/>
          </a:prstGeom>
        </p:spPr>
      </p:pic>
      <p:sp>
        <p:nvSpPr>
          <p:cNvPr id="145" name="Rounded Rectangle 144"/>
          <p:cNvSpPr/>
          <p:nvPr/>
        </p:nvSpPr>
        <p:spPr>
          <a:xfrm>
            <a:off x="5844644" y="1371600"/>
            <a:ext cx="5996835"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Tháng này bán được bao nhiêu và có khớp Kế toán không?</a:t>
            </a:r>
          </a:p>
        </p:txBody>
      </p:sp>
      <p:sp>
        <p:nvSpPr>
          <p:cNvPr id="146" name="Rounded Rectangle 145"/>
          <p:cNvSpPr/>
          <p:nvPr/>
        </p:nvSpPr>
        <p:spPr>
          <a:xfrm>
            <a:off x="5844644" y="2377440"/>
            <a:ext cx="5996835" cy="36118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7" name="Rounded Rectangle 146"/>
          <p:cNvSpPr/>
          <p:nvPr/>
        </p:nvSpPr>
        <p:spPr>
          <a:xfrm>
            <a:off x="5844644" y="2377440"/>
            <a:ext cx="5996835"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17796" y="2834640"/>
            <a:ext cx="5850531"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Net Revenue </a:t>
            </a:r>
            <a:r>
              <a:rPr sz="1200" b="0" i="0">
                <a:solidFill>
                  <a:srgbClr val="222222"/>
                </a:solidFill>
                <a:latin typeface="Times New Roman"/>
                <a:ea typeface="Times New Roman"/>
                <a:cs typeface="Times New Roman"/>
              </a:rPr>
              <a:t>606,1 nghìn USD</a:t>
            </a:r>
            <a:r>
              <a:rPr sz="1200" b="0" i="0">
                <a:solidFill>
                  <a:srgbClr val="222222"/>
                </a:solidFill>
                <a:latin typeface="Times New Roman"/>
                <a:ea typeface="Times New Roman"/>
                <a:cs typeface="Times New Roman"/>
              </a:rPr>
              <a:t>: +154,6% so với 11/2020, −73,2%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Số đơn </a:t>
            </a:r>
            <a:r>
              <a:rPr sz="1200" b="0" i="0">
                <a:solidFill>
                  <a:srgbClr val="222222"/>
                </a:solidFill>
                <a:latin typeface="Times New Roman"/>
                <a:ea typeface="Times New Roman"/>
                <a:cs typeface="Times New Roman"/>
              </a:rPr>
              <a:t>310 (cùng kỳ 1.223)</a:t>
            </a:r>
            <a:r>
              <a:rPr sz="1200" b="0" i="0">
                <a:solidFill>
                  <a:srgbClr val="222222"/>
                </a:solidFill>
                <a:latin typeface="Times New Roman"/>
                <a:ea typeface="Times New Roman"/>
                <a:cs typeface="Times New Roman"/>
              </a:rPr>
              <a:t> nhưng </a:t>
            </a:r>
            <a:r>
              <a:rPr sz="1200" b="1" i="0">
                <a:solidFill>
                  <a:srgbClr val="222222"/>
                </a:solidFill>
                <a:latin typeface="Times New Roman"/>
                <a:ea typeface="Times New Roman"/>
                <a:cs typeface="Times New Roman"/>
              </a:rPr>
              <a:t>AOV </a:t>
            </a:r>
            <a:r>
              <a:rPr sz="1200" b="0" i="0">
                <a:solidFill>
                  <a:srgbClr val="222222"/>
                </a:solidFill>
                <a:latin typeface="Times New Roman"/>
                <a:ea typeface="Times New Roman"/>
                <a:cs typeface="Times New Roman"/>
              </a:rPr>
              <a:t>1.986 USD tăng +4,9% → giảm do ít đơn, không do đơn nhỏ</a:t>
            </a:r>
          </a:p>
          <a:p>
            <a:pPr algn="l" marL="182880" indent="-182880">
              <a:spcAft>
                <a:spcPts val="500"/>
              </a:spcAft>
              <a:buFont typeface="Arial"/>
              <a:buChar char="•"/>
            </a:pPr>
            <a:r>
              <a:rPr sz="1200" b="1" i="0">
                <a:solidFill>
                  <a:srgbClr val="222222"/>
                </a:solidFill>
                <a:latin typeface="Times New Roman"/>
                <a:ea typeface="Times New Roman"/>
                <a:cs typeface="Times New Roman"/>
              </a:rPr>
              <a:t>Gross → Net: </a:t>
            </a:r>
            <a:r>
              <a:rPr sz="1200" b="0" i="0">
                <a:solidFill>
                  <a:srgbClr val="222222"/>
                </a:solidFill>
                <a:latin typeface="Times New Roman"/>
                <a:ea typeface="Times New Roman"/>
                <a:cs typeface="Times New Roman"/>
              </a:rPr>
              <a:t>giảm giá 24,7, hoàn trả 9,7 nghìn USD</a:t>
            </a:r>
          </a:p>
          <a:p>
            <a:pPr algn="l" marL="182880" indent="-182880">
              <a:spcAft>
                <a:spcPts val="500"/>
              </a:spcAft>
              <a:buFont typeface="Arial"/>
              <a:buChar char="•"/>
            </a:pPr>
            <a:r>
              <a:rPr sz="1200" b="1" i="0">
                <a:solidFill>
                  <a:srgbClr val="222222"/>
                </a:solidFill>
                <a:latin typeface="Times New Roman"/>
                <a:ea typeface="Times New Roman"/>
                <a:cs typeface="Times New Roman"/>
              </a:rPr>
              <a:t>Δ Finance </a:t>
            </a:r>
            <a:r>
              <a:rPr sz="1200" b="0" i="0">
                <a:solidFill>
                  <a:srgbClr val="222222"/>
                </a:solidFill>
                <a:latin typeface="Times New Roman"/>
                <a:ea typeface="Times New Roman"/>
                <a:cs typeface="Times New Roman"/>
              </a:rPr>
              <a:t>−12.536 USD (−2,11%), </a:t>
            </a:r>
            <a:r>
              <a:rPr sz="1200" b="1" i="0">
                <a:solidFill>
                  <a:srgbClr val="C00000"/>
                </a:solidFill>
                <a:latin typeface="Times New Roman"/>
                <a:ea typeface="Times New Roman"/>
                <a:cs typeface="Times New Roman"/>
              </a:rPr>
              <a:t>2 ô vượt ngưỡng</a:t>
            </a:r>
            <a:r>
              <a:rPr sz="1200" b="0" i="0">
                <a:solidFill>
                  <a:srgbClr val="222222"/>
                </a:solidFill>
                <a:latin typeface="Times New Roman"/>
                <a:ea typeface="Times New Roman"/>
                <a:cs typeface="Times New Roman"/>
              </a:rPr>
              <a:t>; chưa gồm HQ-ADJ −1.436 USD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tháng 12/2020: kênh, danh mục, quốc gia, cửa hàng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Cột ngang xếp hạng: </a:t>
            </a:r>
            <a:r>
              <a:rPr sz="1700" b="1" i="0">
                <a:solidFill>
                  <a:srgbClr val="123A7A"/>
                </a:solidFill>
                <a:latin typeface="Times New Roman"/>
                <a:ea typeface="Times New Roman"/>
                <a:cs typeface="Times New Roman"/>
              </a:rPr>
              <a:t>một màu nhấn</a:t>
            </a:r>
            <a:r>
              <a:rPr sz="1700" b="0" i="0">
                <a:solidFill>
                  <a:srgbClr val="222222"/>
                </a:solidFill>
                <a:latin typeface="Times New Roman"/>
                <a:ea typeface="Times New Roman"/>
                <a:cs typeface="Times New Roman"/>
              </a:rPr>
              <a:t> cho mục lớn nhất, còn lại xám; ▲/▼ luôn kèm chữ, không chỉ dựa vào màu</a:t>
            </a:r>
          </a:p>
        </p:txBody>
      </p:sp>
      <p:sp>
        <p:nvSpPr>
          <p:cNvPr id="143" name="Rectangle 142"/>
          <p:cNvSpPr/>
          <p:nvPr/>
        </p:nvSpPr>
        <p:spPr>
          <a:xfrm>
            <a:off x="365760" y="1371600"/>
            <a:ext cx="5261049"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4" name="Picture 143" descr="dash_s2.png"/>
          <p:cNvPicPr>
            <a:picLocks noChangeAspect="1"/>
          </p:cNvPicPr>
          <p:nvPr/>
        </p:nvPicPr>
        <p:blipFill>
          <a:blip r:embed="rId3"/>
          <a:stretch>
            <a:fillRect/>
          </a:stretch>
        </p:blipFill>
        <p:spPr>
          <a:xfrm>
            <a:off x="411480" y="1417320"/>
            <a:ext cx="5169609" cy="4526280"/>
          </a:xfrm>
          <a:prstGeom prst="rect">
            <a:avLst/>
          </a:prstGeom>
        </p:spPr>
      </p:pic>
      <p:sp>
        <p:nvSpPr>
          <p:cNvPr id="145" name="Rounded Rectangle 144"/>
          <p:cNvSpPr/>
          <p:nvPr/>
        </p:nvSpPr>
        <p:spPr>
          <a:xfrm>
            <a:off x="5855409" y="1371600"/>
            <a:ext cx="5986070"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tập trung ở đâu, kênh nào tăng?</a:t>
            </a:r>
          </a:p>
        </p:txBody>
      </p:sp>
      <p:sp>
        <p:nvSpPr>
          <p:cNvPr id="146" name="Rounded Rectangle 145"/>
          <p:cNvSpPr/>
          <p:nvPr/>
        </p:nvSpPr>
        <p:spPr>
          <a:xfrm>
            <a:off x="5855409" y="2377440"/>
            <a:ext cx="5986070" cy="36118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5855409" y="2377440"/>
            <a:ext cx="598607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28561" y="2834640"/>
            <a:ext cx="5839766"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Cửa hàng (POS) </a:t>
            </a:r>
            <a:r>
              <a:rPr sz="1200" b="0" i="0">
                <a:solidFill>
                  <a:srgbClr val="222222"/>
                </a:solidFill>
                <a:latin typeface="Times New Roman"/>
                <a:ea typeface="Times New Roman"/>
                <a:cs typeface="Times New Roman"/>
              </a:rPr>
              <a:t>460,9 nghìn USD = 74,8% Net Sales; online 154,9</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+272,3% so với tháng trước, POS +130,6%</a:t>
            </a:r>
          </a:p>
          <a:p>
            <a:pPr algn="l" marL="182880" indent="-182880">
              <a:spcAft>
                <a:spcPts val="500"/>
              </a:spcAft>
              <a:buFont typeface="Arial"/>
              <a:buChar char="•"/>
            </a:pPr>
            <a:r>
              <a:rPr sz="1200" b="1" i="0">
                <a:solidFill>
                  <a:srgbClr val="222222"/>
                </a:solidFill>
                <a:latin typeface="Times New Roman"/>
                <a:ea typeface="Times New Roman"/>
                <a:cs typeface="Times New Roman"/>
              </a:rPr>
              <a:t>Máy tính</a:t>
            </a:r>
            <a:r>
              <a:rPr sz="1200" b="0" i="0">
                <a:solidFill>
                  <a:srgbClr val="222222"/>
                </a:solidFill>
                <a:latin typeface="Times New Roman"/>
                <a:ea typeface="Times New Roman"/>
                <a:cs typeface="Times New Roman"/>
              </a:rPr>
              <a:t> chiếm 43,4% Net Sales – danh mục lớn nhất</a:t>
            </a:r>
          </a:p>
          <a:p>
            <a:pPr algn="l" marL="182880" indent="-182880">
              <a:spcAft>
                <a:spcPts val="500"/>
              </a:spcAft>
              <a:buFont typeface="Arial"/>
              <a:buChar char="•"/>
            </a:pPr>
            <a:r>
              <a:rPr sz="1200" b="1" i="0">
                <a:solidFill>
                  <a:srgbClr val="222222"/>
                </a:solidFill>
                <a:latin typeface="Times New Roman"/>
                <a:ea typeface="Times New Roman"/>
                <a:cs typeface="Times New Roman"/>
              </a:rPr>
              <a:t>AOV theo kênh: </a:t>
            </a:r>
            <a:r>
              <a:rPr sz="1200" b="0" i="0">
                <a:solidFill>
                  <a:srgbClr val="222222"/>
                </a:solidFill>
                <a:latin typeface="Times New Roman"/>
                <a:ea typeface="Times New Roman"/>
                <a:cs typeface="Times New Roman"/>
              </a:rPr>
              <a:t>POS 2.058, online 1.801 USD/đơn</a:t>
            </a:r>
          </a:p>
          <a:p>
            <a:pPr algn="l" marL="182880" indent="-182880">
              <a:spcAft>
                <a:spcPts val="500"/>
              </a:spcAft>
              <a:buFont typeface="Arial"/>
              <a:buChar char="•"/>
            </a:pPr>
            <a:r>
              <a:rPr sz="1200" b="1" i="0">
                <a:solidFill>
                  <a:srgbClr val="222222"/>
                </a:solidFill>
                <a:latin typeface="Times New Roman"/>
                <a:ea typeface="Times New Roman"/>
                <a:cs typeface="Times New Roman"/>
              </a:rPr>
              <a:t>Top 10: </a:t>
            </a:r>
            <a:r>
              <a:rPr sz="1200" b="0" i="0">
                <a:solidFill>
                  <a:srgbClr val="222222"/>
                </a:solidFill>
                <a:latin typeface="Times New Roman"/>
                <a:ea typeface="Times New Roman"/>
                <a:cs typeface="Times New Roman"/>
              </a:rPr>
              <a:t>đọc cột Thay đổi; ô "–" là cửa hàng không bán ở kỳ so sánh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tháng 12/2020: Δ ở đâu và có biến mất sau quy đổi không?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theo thứ tự: </a:t>
            </a:r>
            <a:r>
              <a:rPr sz="1700" b="1" i="0">
                <a:solidFill>
                  <a:srgbClr val="123A7A"/>
                </a:solidFill>
                <a:latin typeface="Times New Roman"/>
                <a:ea typeface="Times New Roman"/>
                <a:cs typeface="Times New Roman"/>
              </a:rPr>
              <a:t>tổng chuỗi → kênh → cửa hàng → ngày</a:t>
            </a:r>
          </a:p>
        </p:txBody>
      </p:sp>
      <p:sp>
        <p:nvSpPr>
          <p:cNvPr id="143" name="Rectangle 142"/>
          <p:cNvSpPr/>
          <p:nvPr/>
        </p:nvSpPr>
        <p:spPr>
          <a:xfrm>
            <a:off x="365760" y="1371600"/>
            <a:ext cx="5257766" cy="46177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44" name="Picture 143" descr="dash_s3.png"/>
          <p:cNvPicPr>
            <a:picLocks noChangeAspect="1"/>
          </p:cNvPicPr>
          <p:nvPr/>
        </p:nvPicPr>
        <p:blipFill>
          <a:blip r:embed="rId3"/>
          <a:stretch>
            <a:fillRect/>
          </a:stretch>
        </p:blipFill>
        <p:spPr>
          <a:xfrm>
            <a:off x="411480" y="1417320"/>
            <a:ext cx="5166326" cy="4526280"/>
          </a:xfrm>
          <a:prstGeom prst="rect">
            <a:avLst/>
          </a:prstGeom>
        </p:spPr>
      </p:pic>
      <p:sp>
        <p:nvSpPr>
          <p:cNvPr id="145" name="Rounded Rectangle 144"/>
          <p:cNvSpPr/>
          <p:nvPr/>
        </p:nvSpPr>
        <p:spPr>
          <a:xfrm>
            <a:off x="5852126" y="1371600"/>
            <a:ext cx="5989353"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Chênh lệch nằm ở cửa hàng nào, tháng nào, kênh nào?</a:t>
            </a:r>
          </a:p>
        </p:txBody>
      </p:sp>
      <p:sp>
        <p:nvSpPr>
          <p:cNvPr id="146" name="Rounded Rectangle 145"/>
          <p:cNvSpPr/>
          <p:nvPr/>
        </p:nvSpPr>
        <p:spPr>
          <a:xfrm>
            <a:off x="5852126" y="2377440"/>
            <a:ext cx="5989353" cy="36118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5852126" y="2377440"/>
            <a:ext cx="5989353"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25278" y="2834640"/>
            <a:ext cx="5843049"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Δ toàn chuỗi </a:t>
            </a:r>
            <a:r>
              <a:rPr sz="1200" b="0" i="0">
                <a:solidFill>
                  <a:srgbClr val="222222"/>
                </a:solidFill>
                <a:latin typeface="Times New Roman"/>
                <a:ea typeface="Times New Roman"/>
                <a:cs typeface="Times New Roman"/>
              </a:rPr>
              <a:t>−12.536 USD = −2,11% trên Kế toán</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Δ −22.812 USD (−17,5%), về 0 sau khi quy về ngày giao → lệch thời điểm</a:t>
            </a:r>
          </a:p>
          <a:p>
            <a:pPr algn="l" marL="182880" indent="-182880">
              <a:spcAft>
                <a:spcPts val="500"/>
              </a:spcAft>
              <a:buFont typeface="Arial"/>
              <a:buChar char="•"/>
            </a:pPr>
            <a:r>
              <a:rPr sz="1200" b="1" i="0">
                <a:solidFill>
                  <a:srgbClr val="222222"/>
                </a:solidFill>
                <a:latin typeface="Times New Roman"/>
                <a:ea typeface="Times New Roman"/>
                <a:cs typeface="Times New Roman"/>
              </a:rPr>
              <a:t>S12: </a:t>
            </a:r>
            <a:r>
              <a:rPr sz="1200" b="0" i="0">
                <a:solidFill>
                  <a:srgbClr val="222222"/>
                </a:solidFill>
                <a:latin typeface="Times New Roman"/>
                <a:ea typeface="Times New Roman"/>
                <a:cs typeface="Times New Roman"/>
              </a:rPr>
              <a:t>Kế toán cao hơn 10.141 USD (32,7%), không đổi sau quy đổi → phải xem từng posting_date</a:t>
            </a:r>
          </a:p>
          <a:p>
            <a:pPr algn="l" marL="182880" indent="-182880">
              <a:spcAft>
                <a:spcPts val="500"/>
              </a:spcAft>
              <a:buFont typeface="Arial"/>
              <a:buChar char="•"/>
            </a:pPr>
            <a:r>
              <a:rPr sz="1200" b="1" i="0">
                <a:solidFill>
                  <a:srgbClr val="222222"/>
                </a:solidFill>
                <a:latin typeface="Times New Roman"/>
                <a:ea typeface="Times New Roman"/>
                <a:cs typeface="Times New Roman"/>
              </a:rPr>
              <a:t>Còn lại: </a:t>
            </a:r>
            <a:r>
              <a:rPr sz="1200" b="0" i="0">
                <a:solidFill>
                  <a:srgbClr val="222222"/>
                </a:solidFill>
                <a:latin typeface="Times New Roman"/>
                <a:ea typeface="Times New Roman"/>
                <a:cs typeface="Times New Roman"/>
              </a:rPr>
              <a:t>48 cửa hàng có số liệu khác đều trong ngưỡng</a:t>
            </a:r>
          </a:p>
          <a:p>
            <a:pPr algn="l" marL="182880" indent="-182880">
              <a:spcAft>
                <a:spcPts val="500"/>
              </a:spcAft>
              <a:buFont typeface="Arial"/>
              <a:buChar char="•"/>
            </a:pPr>
            <a:r>
              <a:rPr sz="1200" b="1" i="0">
                <a:solidFill>
                  <a:srgbClr val="C55A11"/>
                </a:solidFill>
                <a:latin typeface="Times New Roman"/>
                <a:ea typeface="Times New Roman"/>
                <a:cs typeface="Times New Roman"/>
              </a:rPr>
              <a:t>Mẹo: </a:t>
            </a:r>
            <a:r>
              <a:rPr sz="1200" b="0" i="0">
                <a:solidFill>
                  <a:srgbClr val="222222"/>
                </a:solidFill>
                <a:latin typeface="Times New Roman"/>
                <a:ea typeface="Times New Roman"/>
                <a:cs typeface="Times New Roman"/>
              </a:rPr>
              <a:t>xếp bảng theo |Δ| giảm dần, chỉ đào sâu các dòng có cờ Vượt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tháng 12/2020</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đo bằng </a:t>
            </a:r>
            <a:r>
              <a:rPr sz="1700" b="1" i="0">
                <a:solidFill>
                  <a:srgbClr val="123A7A"/>
                </a:solidFill>
                <a:latin typeface="Times New Roman"/>
                <a:ea typeface="Times New Roman"/>
                <a:cs typeface="Times New Roman"/>
              </a:rPr>
              <a:t>điểm %</a:t>
            </a:r>
            <a:r>
              <a:rPr sz="1700" b="0" i="0">
                <a:solidFill>
                  <a:srgbClr val="222222"/>
                </a:solidFill>
                <a:latin typeface="Times New Roman"/>
                <a:ea typeface="Times New Roman"/>
                <a:cs typeface="Times New Roman"/>
              </a:rPr>
              <a:t>; tăng là </a:t>
            </a:r>
            <a:r>
              <a:rPr sz="1700" b="1" i="0">
                <a:solidFill>
                  <a:srgbClr val="C00000"/>
                </a:solidFill>
                <a:latin typeface="Times New Roman"/>
                <a:ea typeface="Times New Roman"/>
                <a:cs typeface="Times New Roman"/>
              </a:rPr>
              <a:t>xấu</a:t>
            </a:r>
            <a:r>
              <a:rPr sz="1700" b="0" i="0">
                <a:solidFill>
                  <a:srgbClr val="222222"/>
                </a:solidFill>
                <a:latin typeface="Times New Roman"/>
                <a:ea typeface="Times New Roman"/>
                <a:cs typeface="Times New Roman"/>
              </a:rPr>
              <a:t> nên dùng màu đảo</a:t>
            </a:r>
          </a:p>
        </p:txBody>
      </p:sp>
      <p:sp>
        <p:nvSpPr>
          <p:cNvPr id="143" name="Rectangle 142"/>
          <p:cNvSpPr/>
          <p:nvPr/>
        </p:nvSpPr>
        <p:spPr>
          <a:xfrm>
            <a:off x="365760" y="1371600"/>
            <a:ext cx="526104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44" name="Picture 143" descr="dash_s4.png"/>
          <p:cNvPicPr>
            <a:picLocks noChangeAspect="1"/>
          </p:cNvPicPr>
          <p:nvPr/>
        </p:nvPicPr>
        <p:blipFill>
          <a:blip r:embed="rId3"/>
          <a:stretch>
            <a:fillRect/>
          </a:stretch>
        </p:blipFill>
        <p:spPr>
          <a:xfrm>
            <a:off x="411480" y="1417320"/>
            <a:ext cx="5169609" cy="4526280"/>
          </a:xfrm>
          <a:prstGeom prst="rect">
            <a:avLst/>
          </a:prstGeom>
        </p:spPr>
      </p:pic>
      <p:sp>
        <p:nvSpPr>
          <p:cNvPr id="145" name="Rounded Rectangle 144"/>
          <p:cNvSpPr/>
          <p:nvPr/>
        </p:nvSpPr>
        <p:spPr>
          <a:xfrm>
            <a:off x="5855409" y="1371600"/>
            <a:ext cx="5986070"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có "sạch" không: trả hàng, huỷ đơn, dữ liệu lỗi?</a:t>
            </a:r>
          </a:p>
        </p:txBody>
      </p:sp>
      <p:sp>
        <p:nvSpPr>
          <p:cNvPr id="146" name="Rounded Rectangle 145"/>
          <p:cNvSpPr/>
          <p:nvPr/>
        </p:nvSpPr>
        <p:spPr>
          <a:xfrm>
            <a:off x="5855409" y="2377440"/>
            <a:ext cx="5986070" cy="36118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7" name="Rounded Rectangle 146"/>
          <p:cNvSpPr/>
          <p:nvPr/>
        </p:nvSpPr>
        <p:spPr>
          <a:xfrm>
            <a:off x="5855409" y="2377440"/>
            <a:ext cx="598607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28561" y="2834640"/>
            <a:ext cx="5839766"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Hoàn trả </a:t>
            </a:r>
            <a:r>
              <a:rPr sz="1200" b="0" i="0">
                <a:solidFill>
                  <a:srgbClr val="222222"/>
                </a:solidFill>
                <a:latin typeface="Times New Roman"/>
                <a:ea typeface="Times New Roman"/>
                <a:cs typeface="Times New Roman"/>
              </a:rPr>
              <a:t>9.687 USD, tỷ lệ 1,57%</a:t>
            </a:r>
            <a:r>
              <a:rPr sz="1200" b="0" i="0">
                <a:solidFill>
                  <a:srgbClr val="222222"/>
                </a:solidFill>
                <a:latin typeface="Times New Roman"/>
                <a:ea typeface="Times New Roman"/>
                <a:cs typeface="Times New Roman"/>
              </a:rPr>
              <a:t> (+0,16 điểm % so với 11/2020, −0,72 điểm %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Lý do lớn nhất: </a:t>
            </a:r>
            <a:r>
              <a:rPr sz="1200" b="0" i="0">
                <a:solidFill>
                  <a:srgbClr val="222222"/>
                </a:solidFill>
                <a:latin typeface="Times New Roman"/>
                <a:ea typeface="Times New Roman"/>
                <a:cs typeface="Times New Roman"/>
              </a:rPr>
              <a:t>Giao nhầm hàng (38,3% giá trị trả trong tháng)</a:t>
            </a:r>
          </a:p>
          <a:p>
            <a:pPr algn="l" marL="182880" indent="-182880">
              <a:spcAft>
                <a:spcPts val="500"/>
              </a:spcAft>
              <a:buFont typeface="Arial"/>
              <a:buChar char="•"/>
            </a:pPr>
            <a:r>
              <a:rPr sz="1200" b="1" i="0">
                <a:solidFill>
                  <a:srgbClr val="222222"/>
                </a:solidFill>
                <a:latin typeface="Times New Roman"/>
                <a:ea typeface="Times New Roman"/>
                <a:cs typeface="Times New Roman"/>
              </a:rPr>
              <a:t>Danh mục: </a:t>
            </a:r>
            <a:r>
              <a:rPr sz="1200" b="0" i="0">
                <a:solidFill>
                  <a:srgbClr val="222222"/>
                </a:solidFill>
                <a:latin typeface="Times New Roman"/>
                <a:ea typeface="Times New Roman"/>
                <a:cs typeface="Times New Roman"/>
              </a:rPr>
              <a:t>đọc tỷ lệ cùng quy mô; danh mục nhỏ dễ có tỷ lệ cao do ít đơn</a:t>
            </a:r>
          </a:p>
          <a:p>
            <a:pPr algn="l" marL="182880" indent="-182880">
              <a:spcAft>
                <a:spcPts val="500"/>
              </a:spcAft>
              <a:buFont typeface="Arial"/>
              <a:buChar char="•"/>
            </a:pPr>
            <a:r>
              <a:rPr sz="1200" b="1" i="0">
                <a:solidFill>
                  <a:srgbClr val="222222"/>
                </a:solidFill>
                <a:latin typeface="Times New Roman"/>
                <a:ea typeface="Times New Roman"/>
                <a:cs typeface="Times New Roman"/>
              </a:rPr>
              <a:t>Chất lượng dữ liệu: </a:t>
            </a:r>
            <a:r>
              <a:rPr sz="1200" b="0" i="0">
                <a:solidFill>
                  <a:srgbClr val="222222"/>
                </a:solidFill>
                <a:latin typeface="Times New Roman"/>
                <a:ea typeface="Times New Roman"/>
                <a:cs typeface="Times New Roman"/>
              </a:rPr>
              <a:t>120 dòng trùng đã loại, 29 đơn PENDING tại ngày trích (20/02/2021)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trình đối soát 8 bước: từ hai nguồn đến bảng giải thích chênh lệch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nguyên nhân phải có </a:t>
            </a:r>
            <a:r>
              <a:rPr sz="1700" b="1" i="0">
                <a:solidFill>
                  <a:srgbClr val="C00000"/>
                </a:solidFill>
                <a:latin typeface="Times New Roman"/>
                <a:ea typeface="Times New Roman"/>
                <a:cs typeface="Times New Roman"/>
              </a:rPr>
              <a:t>số tiền</a:t>
            </a:r>
            <a:r>
              <a:rPr sz="1700" b="0" i="0">
                <a:solidFill>
                  <a:srgbClr val="222222"/>
                </a:solidFill>
                <a:latin typeface="Times New Roman"/>
                <a:ea typeface="Times New Roman"/>
                <a:cs typeface="Times New Roman"/>
              </a:rPr>
              <a:t>; tổng các nguyên nhân = Δ, phần chưa giải thích = 0</a:t>
            </a:r>
          </a:p>
        </p:txBody>
      </p:sp>
      <p:pic>
        <p:nvPicPr>
          <p:cNvPr id="143" name="Picture 142" descr="03_quy_trinh_doi_soat.png"/>
          <p:cNvPicPr>
            <a:picLocks noChangeAspect="1"/>
          </p:cNvPicPr>
          <p:nvPr/>
        </p:nvPicPr>
        <p:blipFill>
          <a:blip r:embed="rId3"/>
          <a:stretch>
            <a:fillRect/>
          </a:stretch>
        </p:blipFill>
        <p:spPr>
          <a:xfrm>
            <a:off x="365760" y="1298448"/>
            <a:ext cx="7022482" cy="4754880"/>
          </a:xfrm>
          <a:prstGeom prst="rect">
            <a:avLst/>
          </a:prstGeom>
        </p:spPr>
      </p:pic>
      <p:sp>
        <p:nvSpPr>
          <p:cNvPr id="144" name="Rounded Rectangle 143"/>
          <p:cNvSpPr/>
          <p:nvPr/>
        </p:nvSpPr>
        <p:spPr>
          <a:xfrm>
            <a:off x="7616842" y="1371600"/>
            <a:ext cx="4224637"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7616842" y="1371600"/>
            <a:ext cx="4224637"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Tóm tắt 8 bước</a:t>
            </a:r>
          </a:p>
        </p:txBody>
      </p:sp>
      <p:sp>
        <p:nvSpPr>
          <p:cNvPr id="146" name="TextBox 145"/>
          <p:cNvSpPr txBox="1"/>
          <p:nvPr/>
        </p:nvSpPr>
        <p:spPr>
          <a:xfrm>
            <a:off x="7708282" y="1901952"/>
            <a:ext cx="4041757" cy="4023360"/>
          </a:xfrm>
          <a:prstGeom prst="rect">
            <a:avLst/>
          </a:prstGeom>
          <a:noFill/>
        </p:spPr>
        <p:txBody>
          <a:bodyPr wrap="square" lIns="45720" tIns="27432" rIns="45720" bIns="27432" anchor="t"/>
          <a:lstStyle/>
          <a:p>
            <a:pPr algn="l">
              <a:spcAft>
                <a:spcPts val="500"/>
              </a:spcAft>
              <a:buNone/>
            </a:pPr>
            <a:r>
              <a:rPr sz="1300" b="1" i="0">
                <a:solidFill>
                  <a:srgbClr val="123A7A"/>
                </a:solidFill>
                <a:latin typeface="Times New Roman"/>
                <a:ea typeface="Times New Roman"/>
                <a:cs typeface="Times New Roman"/>
              </a:rPr>
              <a:t>1. </a:t>
            </a:r>
            <a:r>
              <a:rPr sz="1300" b="0" i="0">
                <a:solidFill>
                  <a:srgbClr val="222222"/>
                </a:solidFill>
                <a:latin typeface="Times New Roman"/>
                <a:ea typeface="Times New Roman"/>
                <a:cs typeface="Times New Roman"/>
              </a:rPr>
              <a:t>Bỏ dòng trùng</a:t>
            </a:r>
          </a:p>
          <a:p>
            <a:pPr algn="l">
              <a:spcAft>
                <a:spcPts val="500"/>
              </a:spcAft>
              <a:buNone/>
            </a:pPr>
            <a:r>
              <a:rPr sz="1300" b="1" i="0">
                <a:solidFill>
                  <a:srgbClr val="123A7A"/>
                </a:solidFill>
                <a:latin typeface="Times New Roman"/>
                <a:ea typeface="Times New Roman"/>
                <a:cs typeface="Times New Roman"/>
              </a:rPr>
              <a:t>2. </a:t>
            </a:r>
            <a:r>
              <a:rPr sz="1300" b="0" i="0">
                <a:solidFill>
                  <a:srgbClr val="222222"/>
                </a:solidFill>
                <a:latin typeface="Times New Roman"/>
                <a:ea typeface="Times New Roman"/>
                <a:cs typeface="Times New Roman"/>
              </a:rPr>
              <a:t>Giữ đơn COMPLETED</a:t>
            </a:r>
          </a:p>
          <a:p>
            <a:pPr algn="l">
              <a:spcAft>
                <a:spcPts val="500"/>
              </a:spcAft>
              <a:buNone/>
            </a:pPr>
            <a:r>
              <a:rPr sz="1300" b="1" i="0">
                <a:solidFill>
                  <a:srgbClr val="123A7A"/>
                </a:solidFill>
                <a:latin typeface="Times New Roman"/>
                <a:ea typeface="Times New Roman"/>
                <a:cs typeface="Times New Roman"/>
              </a:rPr>
              <a:t>3. </a:t>
            </a:r>
            <a:r>
              <a:rPr sz="1300" b="0" i="0">
                <a:solidFill>
                  <a:srgbClr val="222222"/>
                </a:solidFill>
                <a:latin typeface="Times New Roman"/>
                <a:ea typeface="Times New Roman"/>
                <a:cs typeface="Times New Roman"/>
              </a:rPr>
              <a:t>Gross − Discounts = Net Sales</a:t>
            </a:r>
          </a:p>
          <a:p>
            <a:pPr algn="l">
              <a:spcAft>
                <a:spcPts val="500"/>
              </a:spcAft>
              <a:buNone/>
            </a:pPr>
            <a:r>
              <a:rPr sz="1300" b="1" i="0">
                <a:solidFill>
                  <a:srgbClr val="123A7A"/>
                </a:solidFill>
                <a:latin typeface="Times New Roman"/>
                <a:ea typeface="Times New Roman"/>
                <a:cs typeface="Times New Roman"/>
              </a:rPr>
              <a:t>4. </a:t>
            </a:r>
            <a:r>
              <a:rPr sz="1300" b="0" i="0">
                <a:solidFill>
                  <a:srgbClr val="222222"/>
                </a:solidFill>
                <a:latin typeface="Times New Roman"/>
                <a:ea typeface="Times New Roman"/>
                <a:cs typeface="Times New Roman"/>
              </a:rPr>
              <a:t>Net Sales − Returns = Net Revenue</a:t>
            </a:r>
          </a:p>
          <a:p>
            <a:pPr algn="l">
              <a:spcAft>
                <a:spcPts val="500"/>
              </a:spcAft>
              <a:buNone/>
            </a:pPr>
            <a:r>
              <a:rPr sz="1300" b="1" i="0">
                <a:solidFill>
                  <a:srgbClr val="123A7A"/>
                </a:solidFill>
                <a:latin typeface="Times New Roman"/>
                <a:ea typeface="Times New Roman"/>
                <a:cs typeface="Times New Roman"/>
              </a:rPr>
              <a:t>5. </a:t>
            </a:r>
            <a:r>
              <a:rPr sz="1300" b="0" i="0">
                <a:solidFill>
                  <a:srgbClr val="222222"/>
                </a:solidFill>
                <a:latin typeface="Times New Roman"/>
                <a:ea typeface="Times New Roman"/>
                <a:cs typeface="Times New Roman"/>
              </a:rPr>
              <a:t>Map Kế toán → store_key theo hiệu lực, tách HQ-ADJ</a:t>
            </a:r>
          </a:p>
          <a:p>
            <a:pPr algn="l">
              <a:spcAft>
                <a:spcPts val="500"/>
              </a:spcAft>
              <a:buNone/>
            </a:pPr>
            <a:r>
              <a:rPr sz="1300" b="1" i="0">
                <a:solidFill>
                  <a:srgbClr val="123A7A"/>
                </a:solidFill>
                <a:latin typeface="Times New Roman"/>
                <a:ea typeface="Times New Roman"/>
                <a:cs typeface="Times New Roman"/>
              </a:rPr>
              <a:t>6. </a:t>
            </a:r>
            <a:r>
              <a:rPr sz="1300" b="0" i="0">
                <a:solidFill>
                  <a:srgbClr val="222222"/>
                </a:solidFill>
                <a:latin typeface="Times New Roman"/>
                <a:ea typeface="Times New Roman"/>
                <a:cs typeface="Times New Roman"/>
              </a:rPr>
              <a:t>Ghép tháng × store_key, tính Δ và Δ%</a:t>
            </a:r>
          </a:p>
          <a:p>
            <a:pPr algn="l">
              <a:spcAft>
                <a:spcPts val="500"/>
              </a:spcAft>
              <a:buNone/>
            </a:pPr>
            <a:r>
              <a:rPr sz="1300" b="1" i="0">
                <a:solidFill>
                  <a:srgbClr val="123A7A"/>
                </a:solidFill>
                <a:latin typeface="Times New Roman"/>
                <a:ea typeface="Times New Roman"/>
                <a:cs typeface="Times New Roman"/>
              </a:rPr>
              <a:t>7. </a:t>
            </a:r>
            <a:r>
              <a:rPr sz="1300" b="0" i="0">
                <a:solidFill>
                  <a:srgbClr val="222222"/>
                </a:solidFill>
                <a:latin typeface="Times New Roman"/>
                <a:ea typeface="Times New Roman"/>
                <a:cs typeface="Times New Roman"/>
              </a:rPr>
              <a:t>Ô vượt ngưỡng: xem theo ngày và theo kênh</a:t>
            </a:r>
          </a:p>
          <a:p>
            <a:pPr algn="l">
              <a:spcAft>
                <a:spcPts val="500"/>
              </a:spcAft>
              <a:buNone/>
            </a:pPr>
            <a:r>
              <a:rPr sz="1300" b="1" i="0">
                <a:solidFill>
                  <a:srgbClr val="123A7A"/>
                </a:solidFill>
                <a:latin typeface="Times New Roman"/>
                <a:ea typeface="Times New Roman"/>
                <a:cs typeface="Times New Roman"/>
              </a:rPr>
              <a:t>8. </a:t>
            </a:r>
            <a:r>
              <a:rPr sz="1300" b="0" i="0">
                <a:solidFill>
                  <a:srgbClr val="222222"/>
                </a:solidFill>
                <a:latin typeface="Times New Roman"/>
                <a:ea typeface="Times New Roman"/>
                <a:cs typeface="Times New Roman"/>
              </a:rPr>
              <a:t>Bảng giải thích: tổng nguyên nhân = 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cầu nối năm 2020: khung học viên cần điền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đầu cầu </a:t>
            </a:r>
            <a:r>
              <a:rPr sz="1700" b="1" i="0">
                <a:solidFill>
                  <a:srgbClr val="2E5B31"/>
                </a:solidFill>
                <a:latin typeface="Times New Roman"/>
                <a:ea typeface="Times New Roman"/>
                <a:cs typeface="Times New Roman"/>
              </a:rPr>
              <a:t>tính được từ dữ liệu</a:t>
            </a:r>
            <a:r>
              <a:rPr sz="1700" b="0" i="0">
                <a:solidFill>
                  <a:srgbClr val="222222"/>
                </a:solidFill>
                <a:latin typeface="Times New Roman"/>
                <a:ea typeface="Times New Roman"/>
                <a:cs typeface="Times New Roman"/>
              </a:rPr>
              <a:t>; phần giữa là bài làm: mỗi dòng = một nguyên nhân + số tiền + bằng chứng</a:t>
            </a:r>
          </a:p>
        </p:txBody>
      </p:sp>
      <p:graphicFrame>
        <p:nvGraphicFramePr>
          <p:cNvPr id="143" name="Table 142"/>
          <p:cNvGraphicFramePr>
            <a:graphicFrameLocks noGrp="1"/>
          </p:cNvGraphicFramePr>
          <p:nvPr/>
        </p:nvGraphicFramePr>
        <p:xfrm>
          <a:off x="365760" y="1371600"/>
          <a:ext cx="7863838" cy="4617720"/>
        </p:xfrm>
        <a:graphic>
          <a:graphicData uri="http://schemas.openxmlformats.org/drawingml/2006/table">
            <a:tbl>
              <a:tblPr firstRow="1">
                <a:tableStyleId>{5940675A-B579-460E-94D1-54222C63F5DA}</a:tableStyleId>
              </a:tblPr>
              <a:tblGrid>
                <a:gridCol w="3615558"/>
                <a:gridCol w="1536612"/>
                <a:gridCol w="2711668"/>
              </a:tblGrid>
              <a:tr h="577215">
                <a:tc>
                  <a:txBody>
                    <a:bodyPr/>
                    <a:lstStyle/>
                    <a:p>
                      <a:pPr algn="l">
                        <a:buNone/>
                      </a:pPr>
                      <a:r>
                        <a:rPr sz="13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Số tiền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Bằng chứng cần đưa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77215">
                <a:tc>
                  <a:txBody>
                    <a:bodyPr/>
                    <a:lstStyle/>
                    <a:p>
                      <a:pPr algn="l">
                        <a:buNone/>
                      </a:pPr>
                      <a:r>
                        <a:rPr sz="1300" b="1" i="0">
                          <a:solidFill>
                            <a:srgbClr val="222222"/>
                          </a:solidFill>
                          <a:latin typeface="Times New Roman"/>
                          <a:ea typeface="Times New Roman"/>
                          <a:cs typeface="Times New Roman"/>
                        </a:rPr>
                        <a:t>Net Revenue dữ liệu đơn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r">
                        <a:buNone/>
                      </a:pPr>
                      <a:r>
                        <a:rPr sz="13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l">
                        <a:buNone/>
                      </a:pPr>
                      <a:r>
                        <a:rPr sz="1300" b="1" i="0">
                          <a:solidFill>
                            <a:srgbClr val="222222"/>
                          </a:solidFill>
                          <a:latin typeface="Times New Roman"/>
                          <a:ea typeface="Times New Roman"/>
                          <a:cs typeface="Times New Roman"/>
                        </a:rPr>
                        <a:t>Measure [Net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r>
              <a:tr h="577215">
                <a:tc>
                  <a:txBody>
                    <a:bodyPr/>
                    <a:lstStyle/>
                    <a:p>
                      <a:pPr algn="l">
                        <a:buNone/>
                      </a:pPr>
                      <a:r>
                        <a:rPr sz="1300" b="0" i="0">
                          <a:solidFill>
                            <a:srgbClr val="222222"/>
                          </a:solidFill>
                          <a:latin typeface="Times New Roman"/>
                          <a:ea typeface="Times New Roman"/>
                          <a:cs typeface="Times New Roman"/>
                        </a:rPr>
                        <a:t>± Lệch thời điểm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Δ online trước / sau quy về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Hoàn tiền hạch toán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Cặp Δ trái dấu ở 2 tháng liền kề</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Nguyên nhân phía Kế toán (đơn huỷ, thiếu ngày, VAT,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Đơn hàng, ngày, posting_date cụ thể</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đã map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r h="577215">
                <a:tc>
                  <a:txBody>
                    <a:bodyPr/>
                    <a:lstStyle/>
                    <a:p>
                      <a:pPr algn="l">
                        <a:buNone/>
                      </a:pPr>
                      <a:r>
                        <a:rPr sz="1300" b="0" i="0">
                          <a:solidFill>
                            <a:srgbClr val="222222"/>
                          </a:solidFill>
                          <a:latin typeface="Times New Roman"/>
                          <a:ea typeface="Times New Roman"/>
                          <a:cs typeface="Times New Roman"/>
                        </a:rPr>
                        <a:t>± Điều chỉnh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Dòng fin_store_code =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toàn chuỗi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cả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8458200" y="1371600"/>
            <a:ext cx="338328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458200" y="1371600"/>
            <a:ext cx="33832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Tự kiểm tra</a:t>
            </a:r>
          </a:p>
        </p:txBody>
      </p:sp>
      <p:sp>
        <p:nvSpPr>
          <p:cNvPr id="146" name="TextBox 145"/>
          <p:cNvSpPr txBox="1"/>
          <p:nvPr/>
        </p:nvSpPr>
        <p:spPr>
          <a:xfrm>
            <a:off x="8549640" y="1920240"/>
            <a:ext cx="3200400" cy="4023360"/>
          </a:xfrm>
          <a:prstGeom prst="rect">
            <a:avLst/>
          </a:prstGeom>
          <a:noFill/>
        </p:spPr>
        <p:txBody>
          <a:bodyPr wrap="square" lIns="45720" tIns="27432" rIns="45720" bIns="27432" anchor="t"/>
          <a:lstStyle/>
          <a:p>
            <a:pPr algn="l">
              <a:spcAft>
                <a:spcPts val="800"/>
              </a:spcAft>
              <a:buNone/>
            </a:pPr>
            <a:r>
              <a:rPr sz="1300" b="1" i="0">
                <a:solidFill>
                  <a:srgbClr val="222222"/>
                </a:solidFill>
                <a:latin typeface="Times New Roman"/>
                <a:ea typeface="Times New Roman"/>
                <a:cs typeface="Times New Roman"/>
              </a:rPr>
              <a:t>Tổng cần giải thích: </a:t>
            </a:r>
            <a:r>
              <a:rPr sz="1300" b="1" i="0">
                <a:solidFill>
                  <a:srgbClr val="C00000"/>
                </a:solidFill>
                <a:latin typeface="Times New Roman"/>
                <a:ea typeface="Times New Roman"/>
                <a:cs typeface="Times New Roman"/>
              </a:rPr>
              <a:t>+64.622,18 USD</a:t>
            </a:r>
          </a:p>
          <a:p>
            <a:pPr algn="l" marL="182880" indent="-182880">
              <a:spcAft>
                <a:spcPts val="600"/>
              </a:spcAft>
              <a:buFont typeface="Arial"/>
              <a:buChar char="•"/>
            </a:pPr>
            <a:r>
              <a:rPr sz="1300" b="0" i="0">
                <a:solidFill>
                  <a:srgbClr val="222222"/>
                </a:solidFill>
                <a:latin typeface="Times New Roman"/>
                <a:ea typeface="Times New Roman"/>
                <a:cs typeface="Times New Roman"/>
              </a:rPr>
              <a:t>Cộng các dòng ± phải ra đúng số này</a:t>
            </a:r>
          </a:p>
          <a:p>
            <a:pPr algn="l" marL="182880" indent="-182880">
              <a:spcAft>
                <a:spcPts val="600"/>
              </a:spcAft>
              <a:buFont typeface="Arial"/>
              <a:buChar char="•"/>
            </a:pPr>
            <a:r>
              <a:rPr sz="1300" b="0" i="0">
                <a:solidFill>
                  <a:srgbClr val="222222"/>
                </a:solidFill>
                <a:latin typeface="Times New Roman"/>
                <a:ea typeface="Times New Roman"/>
                <a:cs typeface="Times New Roman"/>
              </a:rPr>
              <a:t>Lệch thời điểm cộng cả năm gần 0 nhưng từng tháng rất lớn</a:t>
            </a:r>
          </a:p>
          <a:p>
            <a:pPr algn="l" marL="182880" indent="-182880">
              <a:spcAft>
                <a:spcPts val="600"/>
              </a:spcAft>
              <a:buFont typeface="Arial"/>
              <a:buChar char="•"/>
            </a:pPr>
            <a:r>
              <a:rPr sz="1300" b="0" i="0">
                <a:solidFill>
                  <a:srgbClr val="222222"/>
                </a:solidFill>
                <a:latin typeface="Times New Roman"/>
                <a:ea typeface="Times New Roman"/>
                <a:cs typeface="Times New Roman"/>
              </a:rPr>
              <a:t>Mỗi nguyên nhân phía Kế toán: ghi cửa hàng, ngày, số tiền</a:t>
            </a:r>
          </a:p>
          <a:p>
            <a:pPr algn="l" marL="182880" indent="-182880">
              <a:buFont typeface="Arial"/>
              <a:buChar char="•"/>
            </a:pPr>
            <a:r>
              <a:rPr sz="1300" b="0" i="0">
                <a:solidFill>
                  <a:srgbClr val="222222"/>
                </a:solidFill>
                <a:latin typeface="Times New Roman"/>
                <a:ea typeface="Times New Roman"/>
                <a:cs typeface="Times New Roman"/>
              </a:rPr>
              <a:t>Không "ép" phần dư vào một dòng "khác"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Viết kết luận: Finding – Insight – Recommendation – Limitation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kết luận có một </a:t>
            </a:r>
            <a:r>
              <a:rPr sz="1700" b="1" i="0">
                <a:solidFill>
                  <a:srgbClr val="C00000"/>
                </a:solidFill>
                <a:latin typeface="Times New Roman"/>
                <a:ea typeface="Times New Roman"/>
                <a:cs typeface="Times New Roman"/>
              </a:rPr>
              <a:t>con số trên dashboard</a:t>
            </a:r>
            <a:r>
              <a:rPr sz="1700" b="0" i="0">
                <a:solidFill>
                  <a:srgbClr val="222222"/>
                </a:solidFill>
                <a:latin typeface="Times New Roman"/>
                <a:ea typeface="Times New Roman"/>
                <a:cs typeface="Times New Roman"/>
              </a:rPr>
              <a:t> làm chỗ dựa; khuyến nghị </a:t>
            </a:r>
            <a:r>
              <a:rPr sz="1700" b="1" i="0">
                <a:solidFill>
                  <a:srgbClr val="123A7A"/>
                </a:solidFill>
                <a:latin typeface="Times New Roman"/>
                <a:ea typeface="Times New Roman"/>
                <a:cs typeface="Times New Roman"/>
              </a:rPr>
              <a:t>tương xứng</a:t>
            </a:r>
            <a:r>
              <a:rPr sz="1700" b="0" i="0">
                <a:solidFill>
                  <a:srgbClr val="222222"/>
                </a:solidFill>
                <a:latin typeface="Times New Roman"/>
                <a:ea typeface="Times New Roman"/>
                <a:cs typeface="Times New Roman"/>
              </a:rPr>
              <a:t> bằng chứng</a:t>
            </a:r>
          </a:p>
        </p:txBody>
      </p:sp>
      <p:sp>
        <p:nvSpPr>
          <p:cNvPr id="143" name="Rounded Rectangle 142"/>
          <p:cNvSpPr/>
          <p:nvPr/>
        </p:nvSpPr>
        <p:spPr>
          <a:xfrm>
            <a:off x="365760" y="1371600"/>
            <a:ext cx="2697480"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Finding</a:t>
            </a:r>
          </a:p>
        </p:txBody>
      </p:sp>
      <p:sp>
        <p:nvSpPr>
          <p:cNvPr id="145" name="Oval 144"/>
          <p:cNvSpPr/>
          <p:nvPr/>
        </p:nvSpPr>
        <p:spPr>
          <a:xfrm>
            <a:off x="1325880" y="1965960"/>
            <a:ext cx="777240" cy="777240"/>
          </a:xfrm>
          <a:prstGeom prst="ellipse">
            <a:avLst/>
          </a:prstGeom>
          <a:solidFill>
            <a:srgbClr val="123A7A"/>
          </a:solidFill>
          <a:ln>
            <a:noFill/>
          </a:ln>
          <a:effectLst/>
        </p:spPr>
        <p:txBody>
          <a:bodyPr rtlCol="0" anchor="ctr" wrap="square" lIns="73152" tIns="36576" rIns="73152" bIns="36576"/>
          <a:lstStyle/>
          <a:p>
            <a:pPr algn="ctr"/>
          </a:p>
        </p:txBody>
      </p:sp>
      <p:pic>
        <p:nvPicPr>
          <p:cNvPr id="146" name="Picture 145" descr="image.png"/>
          <p:cNvPicPr>
            <a:picLocks noChangeAspect="1"/>
          </p:cNvPicPr>
          <p:nvPr/>
        </p:nvPicPr>
        <p:blipFill>
          <a:blip r:embed="rId3"/>
          <a:stretch>
            <a:fillRect/>
          </a:stretch>
        </p:blipFill>
        <p:spPr>
          <a:xfrm>
            <a:off x="1496872" y="2136952"/>
            <a:ext cx="435254" cy="435254"/>
          </a:xfrm>
          <a:prstGeom prst="rect">
            <a:avLst/>
          </a:prstGeom>
        </p:spPr>
      </p:pic>
      <p:sp>
        <p:nvSpPr>
          <p:cNvPr id="147" name="TextBox 146"/>
          <p:cNvSpPr txBox="1"/>
          <p:nvPr/>
        </p:nvSpPr>
        <p:spPr>
          <a:xfrm>
            <a:off x="45720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Dữ liệu cho thấy gì, ở nhóm nào, chênh bao nhiêu, tại ngày nào</a:t>
            </a:r>
          </a:p>
        </p:txBody>
      </p:sp>
      <p:sp>
        <p:nvSpPr>
          <p:cNvPr id="148" name="Rounded Rectangle 147"/>
          <p:cNvSpPr/>
          <p:nvPr/>
        </p:nvSpPr>
        <p:spPr>
          <a:xfrm>
            <a:off x="45720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123A7A"/>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Δ online 12/2020 = −22.812 USD; về 0 khi tính theo ngày giao</a:t>
            </a:r>
          </a:p>
        </p:txBody>
      </p:sp>
      <p:sp>
        <p:nvSpPr>
          <p:cNvPr id="149" name="Rounded Rectangle 148"/>
          <p:cNvSpPr/>
          <p:nvPr/>
        </p:nvSpPr>
        <p:spPr>
          <a:xfrm>
            <a:off x="3246120" y="1371600"/>
            <a:ext cx="269748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0" name="Rounded Rectangle 149"/>
          <p:cNvSpPr/>
          <p:nvPr/>
        </p:nvSpPr>
        <p:spPr>
          <a:xfrm>
            <a:off x="324612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Insight</a:t>
            </a:r>
          </a:p>
        </p:txBody>
      </p:sp>
      <p:sp>
        <p:nvSpPr>
          <p:cNvPr id="151" name="Oval 150"/>
          <p:cNvSpPr/>
          <p:nvPr/>
        </p:nvSpPr>
        <p:spPr>
          <a:xfrm>
            <a:off x="4206240" y="1965960"/>
            <a:ext cx="777240" cy="777240"/>
          </a:xfrm>
          <a:prstGeom prst="ellipse">
            <a:avLst/>
          </a:prstGeom>
          <a:solidFill>
            <a:srgbClr val="C55A11"/>
          </a:solidFill>
          <a:ln>
            <a:no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4"/>
          <a:stretch>
            <a:fillRect/>
          </a:stretch>
        </p:blipFill>
        <p:spPr>
          <a:xfrm>
            <a:off x="4377232" y="2136952"/>
            <a:ext cx="435254" cy="435254"/>
          </a:xfrm>
          <a:prstGeom prst="rect">
            <a:avLst/>
          </a:prstGeom>
        </p:spPr>
      </p:pic>
      <p:sp>
        <p:nvSpPr>
          <p:cNvPr id="153" name="TextBox 152"/>
          <p:cNvSpPr txBox="1"/>
          <p:nvPr/>
        </p:nvSpPr>
        <p:spPr>
          <a:xfrm>
            <a:off x="333756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Ý nghĩa với kinh doanh, không nhắc lại số</a:t>
            </a:r>
          </a:p>
        </p:txBody>
      </p:sp>
      <p:sp>
        <p:nvSpPr>
          <p:cNvPr id="154" name="Rounded Rectangle 153"/>
          <p:cNvSpPr/>
          <p:nvPr/>
        </p:nvSpPr>
        <p:spPr>
          <a:xfrm>
            <a:off x="333756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55A1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Chênh online là lệch thời điểm ghi nhận, không phải doanh thu bị mất</a:t>
            </a:r>
          </a:p>
        </p:txBody>
      </p:sp>
      <p:sp>
        <p:nvSpPr>
          <p:cNvPr id="155" name="Rounded Rectangle 154"/>
          <p:cNvSpPr/>
          <p:nvPr/>
        </p:nvSpPr>
        <p:spPr>
          <a:xfrm>
            <a:off x="6126480" y="1371600"/>
            <a:ext cx="26974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Recommendation</a:t>
            </a:r>
          </a:p>
        </p:txBody>
      </p:sp>
      <p:sp>
        <p:nvSpPr>
          <p:cNvPr id="157" name="Oval 156"/>
          <p:cNvSpPr/>
          <p:nvPr/>
        </p:nvSpPr>
        <p:spPr>
          <a:xfrm>
            <a:off x="7086600" y="1965960"/>
            <a:ext cx="777240" cy="777240"/>
          </a:xfrm>
          <a:prstGeom prst="ellipse">
            <a:avLst/>
          </a:prstGeom>
          <a:solidFill>
            <a:srgbClr val="2E5B3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5"/>
          <a:stretch>
            <a:fillRect/>
          </a:stretch>
        </p:blipFill>
        <p:spPr>
          <a:xfrm>
            <a:off x="7257592" y="2136952"/>
            <a:ext cx="435254" cy="435254"/>
          </a:xfrm>
          <a:prstGeom prst="rect">
            <a:avLst/>
          </a:prstGeom>
        </p:spPr>
      </p:pic>
      <p:sp>
        <p:nvSpPr>
          <p:cNvPr id="159" name="TextBox 158"/>
          <p:cNvSpPr txBox="1"/>
          <p:nvPr/>
        </p:nvSpPr>
        <p:spPr>
          <a:xfrm>
            <a:off x="621792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Ai làm gì, theo dõi chỉ số nào</a:t>
            </a:r>
          </a:p>
        </p:txBody>
      </p:sp>
      <p:sp>
        <p:nvSpPr>
          <p:cNvPr id="160" name="Rounded Rectangle 159"/>
          <p:cNvSpPr/>
          <p:nvPr/>
        </p:nvSpPr>
        <p:spPr>
          <a:xfrm>
            <a:off x="621792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2E5B3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Báo cáo tháng dùng Net Revenue theo cơ sở Finance; Kế toán kiểm tra bút toán ở ô vượt ngưỡng</a:t>
            </a:r>
          </a:p>
        </p:txBody>
      </p:sp>
      <p:sp>
        <p:nvSpPr>
          <p:cNvPr id="161" name="Rounded Rectangle 160"/>
          <p:cNvSpPr/>
          <p:nvPr/>
        </p:nvSpPr>
        <p:spPr>
          <a:xfrm>
            <a:off x="9006840" y="1371600"/>
            <a:ext cx="269748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2" name="Rounded Rectangle 161"/>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Limitation</a:t>
            </a:r>
          </a:p>
        </p:txBody>
      </p:sp>
      <p:sp>
        <p:nvSpPr>
          <p:cNvPr id="163" name="Oval 162"/>
          <p:cNvSpPr/>
          <p:nvPr/>
        </p:nvSpPr>
        <p:spPr>
          <a:xfrm>
            <a:off x="9966960" y="1965960"/>
            <a:ext cx="777240" cy="777240"/>
          </a:xfrm>
          <a:prstGeom prst="ellipse">
            <a:avLst/>
          </a:prstGeom>
          <a:solidFill>
            <a:srgbClr val="C00000"/>
          </a:solidFill>
          <a:ln>
            <a:no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10137952" y="2136952"/>
            <a:ext cx="435254" cy="435254"/>
          </a:xfrm>
          <a:prstGeom prst="rect">
            <a:avLst/>
          </a:prstGeom>
        </p:spPr>
      </p:pic>
      <p:sp>
        <p:nvSpPr>
          <p:cNvPr id="165" name="TextBox 164"/>
          <p:cNvSpPr txBox="1"/>
          <p:nvPr/>
        </p:nvSpPr>
        <p:spPr>
          <a:xfrm>
            <a:off x="909828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Giới hạn có thể ảnh hưởng kết luận và bước kiểm tra tiếp</a:t>
            </a:r>
          </a:p>
        </p:txBody>
      </p:sp>
      <p:sp>
        <p:nvSpPr>
          <p:cNvPr id="166" name="Rounded Rectangle 165"/>
          <p:cNvSpPr/>
          <p:nvPr/>
        </p:nvSpPr>
        <p:spPr>
          <a:xfrm>
            <a:off x="909828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00000"/>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Dữ liệu đến 20/02/2021: đơn PENDING và hoàn tiền cuối tháng có thể làm số thay đổi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và cấu trúc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Báo cáo bám theo </a:t>
            </a:r>
            <a:r>
              <a:rPr sz="1700" b="1" i="0">
                <a:solidFill>
                  <a:srgbClr val="123A7A"/>
                </a:solidFill>
                <a:latin typeface="Times New Roman"/>
                <a:ea typeface="Times New Roman"/>
                <a:cs typeface="Times New Roman"/>
              </a:rPr>
              <a:t>guild_report_template</a:t>
            </a:r>
            <a:r>
              <a:rPr sz="1700" b="0" i="0">
                <a:solidFill>
                  <a:srgbClr val="222222"/>
                </a:solidFill>
                <a:latin typeface="Times New Roman"/>
                <a:ea typeface="Times New Roman"/>
                <a:cs typeface="Times New Roman"/>
              </a:rPr>
              <a:t>: 8 phần + Phụ lục</a:t>
            </a:r>
          </a:p>
        </p:txBody>
      </p:sp>
      <p:sp>
        <p:nvSpPr>
          <p:cNvPr id="143" name="Rounded Rectangle 142"/>
          <p:cNvSpPr/>
          <p:nvPr/>
        </p:nvSpPr>
        <p:spPr>
          <a:xfrm>
            <a:off x="365760" y="1371600"/>
            <a:ext cx="3931920" cy="2103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pic>
        <p:nvPicPr>
          <p:cNvPr id="144" name="Picture 143" descr="image.png"/>
          <p:cNvPicPr>
            <a:picLocks noChangeAspect="1"/>
          </p:cNvPicPr>
          <p:nvPr/>
        </p:nvPicPr>
        <p:blipFill>
          <a:blip r:embed="rId3"/>
          <a:stretch>
            <a:fillRect/>
          </a:stretch>
        </p:blipFill>
        <p:spPr>
          <a:xfrm>
            <a:off x="502920" y="1508760"/>
            <a:ext cx="640080" cy="640080"/>
          </a:xfrm>
          <a:prstGeom prst="rect">
            <a:avLst/>
          </a:prstGeom>
        </p:spPr>
      </p:pic>
      <p:sp>
        <p:nvSpPr>
          <p:cNvPr id="145" name="TextBox 144"/>
          <p:cNvSpPr txBox="1"/>
          <p:nvPr/>
        </p:nvSpPr>
        <p:spPr>
          <a:xfrm>
            <a:off x="1234440" y="1508760"/>
            <a:ext cx="2971800" cy="640080"/>
          </a:xfrm>
          <a:prstGeom prst="rect">
            <a:avLst/>
          </a:prstGeom>
          <a:noFill/>
        </p:spPr>
        <p:txBody>
          <a:bodyPr wrap="square" lIns="45720" tIns="27432" rIns="45720" bIns="27432" anchor="ctr"/>
          <a:lstStyle/>
          <a:p>
            <a:pPr algn="l">
              <a:buNone/>
            </a:pPr>
            <a:r>
              <a:rPr sz="1700" b="1" i="0">
                <a:solidFill>
                  <a:srgbClr val="2E5B31"/>
                </a:solidFill>
                <a:latin typeface="Times New Roman"/>
                <a:ea typeface="Times New Roman"/>
                <a:cs typeface="Times New Roman"/>
              </a:rPr>
              <a:t>1  File Excel (.xlsx)</a:t>
            </a:r>
          </a:p>
        </p:txBody>
      </p:sp>
      <p:sp>
        <p:nvSpPr>
          <p:cNvPr id="146" name="TextBox 145"/>
          <p:cNvSpPr txBox="1"/>
          <p:nvPr/>
        </p:nvSpPr>
        <p:spPr>
          <a:xfrm>
            <a:off x="502920" y="2240280"/>
            <a:ext cx="3703320" cy="11887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Power Query + Data Model + số đo DAX; 4 sheet: Tổng quan, Doanh thu, Đối soát, Hoàn trả &amp; chất lượng</a:t>
            </a:r>
          </a:p>
        </p:txBody>
      </p:sp>
      <p:sp>
        <p:nvSpPr>
          <p:cNvPr id="147" name="Rounded Rectangle 146"/>
          <p:cNvSpPr/>
          <p:nvPr/>
        </p:nvSpPr>
        <p:spPr>
          <a:xfrm>
            <a:off x="365760" y="3611880"/>
            <a:ext cx="3931920" cy="137160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pic>
        <p:nvPicPr>
          <p:cNvPr id="148" name="Picture 147" descr="image.png"/>
          <p:cNvPicPr>
            <a:picLocks noChangeAspect="1"/>
          </p:cNvPicPr>
          <p:nvPr/>
        </p:nvPicPr>
        <p:blipFill>
          <a:blip r:embed="rId4"/>
          <a:stretch>
            <a:fillRect/>
          </a:stretch>
        </p:blipFill>
        <p:spPr>
          <a:xfrm>
            <a:off x="502920" y="3749039"/>
            <a:ext cx="640080" cy="640080"/>
          </a:xfrm>
          <a:prstGeom prst="rect">
            <a:avLst/>
          </a:prstGeom>
        </p:spPr>
      </p:pic>
      <p:sp>
        <p:nvSpPr>
          <p:cNvPr id="149" name="TextBox 148"/>
          <p:cNvSpPr txBox="1"/>
          <p:nvPr/>
        </p:nvSpPr>
        <p:spPr>
          <a:xfrm>
            <a:off x="1234440" y="3749039"/>
            <a:ext cx="2971800" cy="640080"/>
          </a:xfrm>
          <a:prstGeom prst="rect">
            <a:avLst/>
          </a:prstGeom>
          <a:noFill/>
        </p:spPr>
        <p:txBody>
          <a:bodyPr wrap="square" lIns="45720" tIns="27432" rIns="45720" bIns="27432" anchor="ctr"/>
          <a:lstStyle/>
          <a:p>
            <a:pPr algn="l">
              <a:buNone/>
            </a:pPr>
            <a:r>
              <a:rPr sz="1700" b="1" i="0">
                <a:solidFill>
                  <a:srgbClr val="C55A11"/>
                </a:solidFill>
                <a:latin typeface="Times New Roman"/>
                <a:ea typeface="Times New Roman"/>
                <a:cs typeface="Times New Roman"/>
              </a:rPr>
              <a:t>2  Báo cáo phân tích (PDF)</a:t>
            </a:r>
          </a:p>
        </p:txBody>
      </p:sp>
      <p:sp>
        <p:nvSpPr>
          <p:cNvPr id="150" name="TextBox 149"/>
          <p:cNvSpPr txBox="1"/>
          <p:nvPr/>
        </p:nvSpPr>
        <p:spPr>
          <a:xfrm>
            <a:off x="502920" y="4434840"/>
            <a:ext cx="3703320" cy="5029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8 phần kèm Phụ lục bảng cầu nối</a:t>
            </a:r>
          </a:p>
        </p:txBody>
      </p:sp>
      <p:sp>
        <p:nvSpPr>
          <p:cNvPr id="151" name="TextBox 150"/>
          <p:cNvSpPr txBox="1"/>
          <p:nvPr/>
        </p:nvSpPr>
        <p:spPr>
          <a:xfrm>
            <a:off x="365760" y="5120640"/>
            <a:ext cx="3931920" cy="914400"/>
          </a:xfrm>
          <a:prstGeom prst="rect">
            <a:avLst/>
          </a:prstGeom>
          <a:noFill/>
        </p:spPr>
        <p:txBody>
          <a:bodyPr wrap="square" lIns="45720" tIns="27432" rIns="45720" bIns="27432" anchor="t"/>
          <a:lstStyle/>
          <a:p>
            <a:pPr algn="l" marL="274320" indent="-274320">
              <a:buFont typeface="Arial"/>
              <a:buChar char="☐"/>
            </a:pPr>
            <a:r>
              <a:rPr sz="1200" b="0" i="0">
                <a:solidFill>
                  <a:srgbClr val="222222"/>
                </a:solidFill>
                <a:latin typeface="Times New Roman"/>
                <a:ea typeface="Times New Roman"/>
                <a:cs typeface="Times New Roman"/>
              </a:rPr>
              <a:t>Đổi đường dẫn nguồn → Refresh All chạy được</a:t>
            </a:r>
          </a:p>
          <a:p>
            <a:pPr algn="l" marL="274320" indent="-274320">
              <a:buFont typeface="Arial"/>
              <a:buChar char="☐"/>
            </a:pPr>
            <a:r>
              <a:rPr sz="1200" b="0" i="0">
                <a:solidFill>
                  <a:srgbClr val="222222"/>
                </a:solidFill>
                <a:latin typeface="Times New Roman"/>
                <a:ea typeface="Times New Roman"/>
                <a:cs typeface="Times New Roman"/>
              </a:rPr>
              <a:t>Số trong báo cáo khớp dashboard</a:t>
            </a:r>
          </a:p>
          <a:p>
            <a:pPr algn="l" marL="274320" indent="-274320">
              <a:buFont typeface="Arial"/>
              <a:buChar char="☐"/>
            </a:pPr>
            <a:r>
              <a:rPr sz="1200" b="0" i="0">
                <a:solidFill>
                  <a:srgbClr val="222222"/>
                </a:solidFill>
                <a:latin typeface="Times New Roman"/>
                <a:ea typeface="Times New Roman"/>
                <a:cs typeface="Times New Roman"/>
              </a:rPr>
              <a:t>Bảng cầu nối có phần chưa giải thích = 0</a:t>
            </a:r>
          </a:p>
        </p:txBody>
      </p:sp>
      <p:sp>
        <p:nvSpPr>
          <p:cNvPr id="152" name="Rounded Rectangle 151"/>
          <p:cNvSpPr/>
          <p:nvPr/>
        </p:nvSpPr>
        <p:spPr>
          <a:xfrm>
            <a:off x="4526280" y="1371600"/>
            <a:ext cx="73152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Cấu trúc báo cáo</a:t>
            </a:r>
          </a:p>
        </p:txBody>
      </p:sp>
      <p:sp>
        <p:nvSpPr>
          <p:cNvPr id="153" name="Rounded Rectangle 152"/>
          <p:cNvSpPr/>
          <p:nvPr/>
        </p:nvSpPr>
        <p:spPr>
          <a:xfrm>
            <a:off x="452628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4" name="Oval 153"/>
          <p:cNvSpPr/>
          <p:nvPr/>
        </p:nvSpPr>
        <p:spPr>
          <a:xfrm>
            <a:off x="459943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a:t>
            </a:r>
          </a:p>
        </p:txBody>
      </p:sp>
      <p:sp>
        <p:nvSpPr>
          <p:cNvPr id="155" name="TextBox 154"/>
          <p:cNvSpPr txBox="1"/>
          <p:nvPr/>
        </p:nvSpPr>
        <p:spPr>
          <a:xfrm>
            <a:off x="505663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Problem &amp; Analytical Questions</a:t>
            </a:r>
          </a:p>
        </p:txBody>
      </p:sp>
      <p:sp>
        <p:nvSpPr>
          <p:cNvPr id="156" name="TextBox 155"/>
          <p:cNvSpPr txBox="1"/>
          <p:nvPr/>
        </p:nvSpPr>
        <p:spPr>
          <a:xfrm>
            <a:off x="459943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Vì sao số Sales ≠ Kế toán; 2–4 câu hỏi</a:t>
            </a:r>
          </a:p>
        </p:txBody>
      </p:sp>
      <p:sp>
        <p:nvSpPr>
          <p:cNvPr id="157" name="Rounded Rectangle 156"/>
          <p:cNvSpPr/>
          <p:nvPr/>
        </p:nvSpPr>
        <p:spPr>
          <a:xfrm>
            <a:off x="699516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8" name="Oval 157"/>
          <p:cNvSpPr/>
          <p:nvPr/>
        </p:nvSpPr>
        <p:spPr>
          <a:xfrm>
            <a:off x="706831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a:t>
            </a:r>
          </a:p>
        </p:txBody>
      </p:sp>
      <p:sp>
        <p:nvSpPr>
          <p:cNvPr id="159" name="TextBox 158"/>
          <p:cNvSpPr txBox="1"/>
          <p:nvPr/>
        </p:nvSpPr>
        <p:spPr>
          <a:xfrm>
            <a:off x="752551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Data &amp; Preparation</a:t>
            </a:r>
          </a:p>
        </p:txBody>
      </p:sp>
      <p:sp>
        <p:nvSpPr>
          <p:cNvPr id="160" name="TextBox 159"/>
          <p:cNvSpPr txBox="1"/>
          <p:nvPr/>
        </p:nvSpPr>
        <p:spPr>
          <a:xfrm>
            <a:off x="706831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phạm vi, làm sạch, số dòng QC</a:t>
            </a:r>
          </a:p>
        </p:txBody>
      </p:sp>
      <p:sp>
        <p:nvSpPr>
          <p:cNvPr id="161" name="Rounded Rectangle 160"/>
          <p:cNvSpPr/>
          <p:nvPr/>
        </p:nvSpPr>
        <p:spPr>
          <a:xfrm>
            <a:off x="946404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2" name="Oval 161"/>
          <p:cNvSpPr/>
          <p:nvPr/>
        </p:nvSpPr>
        <p:spPr>
          <a:xfrm>
            <a:off x="953719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III</a:t>
            </a:r>
          </a:p>
        </p:txBody>
      </p:sp>
      <p:sp>
        <p:nvSpPr>
          <p:cNvPr id="163" name="TextBox 162"/>
          <p:cNvSpPr txBox="1"/>
          <p:nvPr/>
        </p:nvSpPr>
        <p:spPr>
          <a:xfrm>
            <a:off x="999439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Exploratory Analysis</a:t>
            </a:r>
          </a:p>
        </p:txBody>
      </p:sp>
      <p:sp>
        <p:nvSpPr>
          <p:cNvPr id="164" name="TextBox 163"/>
          <p:cNvSpPr txBox="1"/>
          <p:nvPr/>
        </p:nvSpPr>
        <p:spPr>
          <a:xfrm>
            <a:off x="953719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Xu hướng, kênh, danh mục, hoàn trả</a:t>
            </a:r>
          </a:p>
        </p:txBody>
      </p:sp>
      <p:sp>
        <p:nvSpPr>
          <p:cNvPr id="165" name="Rounded Rectangle 164"/>
          <p:cNvSpPr/>
          <p:nvPr/>
        </p:nvSpPr>
        <p:spPr>
          <a:xfrm>
            <a:off x="452628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6" name="Oval 165"/>
          <p:cNvSpPr/>
          <p:nvPr/>
        </p:nvSpPr>
        <p:spPr>
          <a:xfrm>
            <a:off x="459943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IV</a:t>
            </a:r>
          </a:p>
        </p:txBody>
      </p:sp>
      <p:sp>
        <p:nvSpPr>
          <p:cNvPr id="167" name="TextBox 166"/>
          <p:cNvSpPr txBox="1"/>
          <p:nvPr/>
        </p:nvSpPr>
        <p:spPr>
          <a:xfrm>
            <a:off x="505663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Main Analysis</a:t>
            </a:r>
          </a:p>
        </p:txBody>
      </p:sp>
      <p:sp>
        <p:nvSpPr>
          <p:cNvPr id="168" name="TextBox 167"/>
          <p:cNvSpPr txBox="1"/>
          <p:nvPr/>
        </p:nvSpPr>
        <p:spPr>
          <a:xfrm>
            <a:off x="459943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Đối soát tháng × cửa hàng × kênh</a:t>
            </a:r>
          </a:p>
        </p:txBody>
      </p:sp>
      <p:sp>
        <p:nvSpPr>
          <p:cNvPr id="169" name="Rounded Rectangle 168"/>
          <p:cNvSpPr/>
          <p:nvPr/>
        </p:nvSpPr>
        <p:spPr>
          <a:xfrm>
            <a:off x="699516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0" name="Oval 169"/>
          <p:cNvSpPr/>
          <p:nvPr/>
        </p:nvSpPr>
        <p:spPr>
          <a:xfrm>
            <a:off x="706831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a:t>
            </a:r>
          </a:p>
        </p:txBody>
      </p:sp>
      <p:sp>
        <p:nvSpPr>
          <p:cNvPr id="171" name="TextBox 170"/>
          <p:cNvSpPr txBox="1"/>
          <p:nvPr/>
        </p:nvSpPr>
        <p:spPr>
          <a:xfrm>
            <a:off x="752551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Key Findings &amp; Insights</a:t>
            </a:r>
          </a:p>
        </p:txBody>
      </p:sp>
      <p:sp>
        <p:nvSpPr>
          <p:cNvPr id="172" name="TextBox 171"/>
          <p:cNvSpPr txBox="1"/>
          <p:nvPr/>
        </p:nvSpPr>
        <p:spPr>
          <a:xfrm>
            <a:off x="706831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Nguyên nhân + số tiền</a:t>
            </a:r>
          </a:p>
        </p:txBody>
      </p:sp>
      <p:sp>
        <p:nvSpPr>
          <p:cNvPr id="173" name="Rounded Rectangle 172"/>
          <p:cNvSpPr/>
          <p:nvPr/>
        </p:nvSpPr>
        <p:spPr>
          <a:xfrm>
            <a:off x="946404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4" name="Oval 173"/>
          <p:cNvSpPr/>
          <p:nvPr/>
        </p:nvSpPr>
        <p:spPr>
          <a:xfrm>
            <a:off x="953719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a:t>
            </a:r>
          </a:p>
        </p:txBody>
      </p:sp>
      <p:sp>
        <p:nvSpPr>
          <p:cNvPr id="175" name="TextBox 174"/>
          <p:cNvSpPr txBox="1"/>
          <p:nvPr/>
        </p:nvSpPr>
        <p:spPr>
          <a:xfrm>
            <a:off x="999439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Recommendations</a:t>
            </a:r>
          </a:p>
        </p:txBody>
      </p:sp>
      <p:sp>
        <p:nvSpPr>
          <p:cNvPr id="176" name="TextBox 175"/>
          <p:cNvSpPr txBox="1"/>
          <p:nvPr/>
        </p:nvSpPr>
        <p:spPr>
          <a:xfrm>
            <a:off x="953719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Ai làm gì với Kế toán, cửa hàng</a:t>
            </a:r>
          </a:p>
        </p:txBody>
      </p:sp>
      <p:sp>
        <p:nvSpPr>
          <p:cNvPr id="177" name="Rounded Rectangle 176"/>
          <p:cNvSpPr/>
          <p:nvPr/>
        </p:nvSpPr>
        <p:spPr>
          <a:xfrm>
            <a:off x="452628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8" name="Oval 177"/>
          <p:cNvSpPr/>
          <p:nvPr/>
        </p:nvSpPr>
        <p:spPr>
          <a:xfrm>
            <a:off x="459943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a:t>
            </a:r>
          </a:p>
        </p:txBody>
      </p:sp>
      <p:sp>
        <p:nvSpPr>
          <p:cNvPr id="179" name="TextBox 178"/>
          <p:cNvSpPr txBox="1"/>
          <p:nvPr/>
        </p:nvSpPr>
        <p:spPr>
          <a:xfrm>
            <a:off x="505663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Limitations &amp; Next Steps</a:t>
            </a:r>
          </a:p>
        </p:txBody>
      </p:sp>
      <p:sp>
        <p:nvSpPr>
          <p:cNvPr id="180" name="TextBox 179"/>
          <p:cNvSpPr txBox="1"/>
          <p:nvPr/>
        </p:nvSpPr>
        <p:spPr>
          <a:xfrm>
            <a:off x="459943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As-of, PENDING, giả định</a:t>
            </a:r>
          </a:p>
        </p:txBody>
      </p:sp>
      <p:sp>
        <p:nvSpPr>
          <p:cNvPr id="181" name="Rounded Rectangle 180"/>
          <p:cNvSpPr/>
          <p:nvPr/>
        </p:nvSpPr>
        <p:spPr>
          <a:xfrm>
            <a:off x="699516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82" name="Oval 181"/>
          <p:cNvSpPr/>
          <p:nvPr/>
        </p:nvSpPr>
        <p:spPr>
          <a:xfrm>
            <a:off x="706831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VIII</a:t>
            </a:r>
          </a:p>
        </p:txBody>
      </p:sp>
      <p:sp>
        <p:nvSpPr>
          <p:cNvPr id="183" name="TextBox 182"/>
          <p:cNvSpPr txBox="1"/>
          <p:nvPr/>
        </p:nvSpPr>
        <p:spPr>
          <a:xfrm>
            <a:off x="752551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References</a:t>
            </a:r>
          </a:p>
        </p:txBody>
      </p:sp>
      <p:sp>
        <p:nvSpPr>
          <p:cNvPr id="184" name="TextBox 183"/>
          <p:cNvSpPr txBox="1"/>
          <p:nvPr/>
        </p:nvSpPr>
        <p:spPr>
          <a:xfrm>
            <a:off x="706831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dữ liệu, tài liệu</a:t>
            </a:r>
          </a:p>
        </p:txBody>
      </p:sp>
      <p:sp>
        <p:nvSpPr>
          <p:cNvPr id="185" name="Rounded Rectangle 184"/>
          <p:cNvSpPr/>
          <p:nvPr/>
        </p:nvSpPr>
        <p:spPr>
          <a:xfrm>
            <a:off x="9464040" y="4654296"/>
            <a:ext cx="2331720" cy="1207008"/>
          </a:xfrm>
          <a:prstGeom prst="roundRect">
            <a:avLst>
              <a:gd name="adj" fmla="val 6000"/>
            </a:avLst>
          </a:prstGeom>
          <a:solidFill>
            <a:srgbClr val="FFFFFF"/>
          </a:solidFill>
          <a:ln w="15875">
            <a:solidFill>
              <a:srgbClr val="2E5B31"/>
            </a:solidFill>
            <a:prstDash val="dash"/>
          </a:ln>
          <a:effectLst/>
        </p:spPr>
        <p:txBody>
          <a:bodyPr rtlCol="0" anchor="ctr" wrap="square" lIns="73152" tIns="36576" rIns="73152" bIns="36576"/>
          <a:lstStyle/>
          <a:p>
            <a:pPr algn="ctr"/>
          </a:p>
        </p:txBody>
      </p:sp>
      <p:sp>
        <p:nvSpPr>
          <p:cNvPr id="186" name="Oval 185"/>
          <p:cNvSpPr/>
          <p:nvPr/>
        </p:nvSpPr>
        <p:spPr>
          <a:xfrm>
            <a:off x="9537192" y="4745736"/>
            <a:ext cx="411480" cy="411480"/>
          </a:xfrm>
          <a:prstGeom prst="ellipse">
            <a:avLst/>
          </a:prstGeom>
          <a:solidFill>
            <a:srgbClr val="2E5B31"/>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a:t>
            </a:r>
          </a:p>
        </p:txBody>
      </p:sp>
      <p:sp>
        <p:nvSpPr>
          <p:cNvPr id="187" name="TextBox 186"/>
          <p:cNvSpPr txBox="1"/>
          <p:nvPr/>
        </p:nvSpPr>
        <p:spPr>
          <a:xfrm>
            <a:off x="9994392" y="4690872"/>
            <a:ext cx="1783080" cy="548640"/>
          </a:xfrm>
          <a:prstGeom prst="rect">
            <a:avLst/>
          </a:prstGeom>
          <a:noFill/>
        </p:spPr>
        <p:txBody>
          <a:bodyPr wrap="square" lIns="45720" tIns="27432" rIns="45720" bIns="27432" anchor="ctr"/>
          <a:lstStyle/>
          <a:p>
            <a:pPr algn="l">
              <a:buNone/>
            </a:pPr>
            <a:r>
              <a:rPr sz="1200" b="1" i="0">
                <a:solidFill>
                  <a:srgbClr val="2E5B31"/>
                </a:solidFill>
                <a:latin typeface="Times New Roman"/>
                <a:ea typeface="Times New Roman"/>
                <a:cs typeface="Times New Roman"/>
              </a:rPr>
              <a:t>Phụ lục</a:t>
            </a:r>
          </a:p>
        </p:txBody>
      </p:sp>
      <p:sp>
        <p:nvSpPr>
          <p:cNvPr id="188" name="TextBox 187"/>
          <p:cNvSpPr txBox="1"/>
          <p:nvPr/>
        </p:nvSpPr>
        <p:spPr>
          <a:xfrm>
            <a:off x="953719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Bảng cầu nối, danh sách ô vượt ngưỡng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Thang chấm điểm 100 điểm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Rubric </a:t>
            </a:r>
            <a:r>
              <a:rPr sz="1700" b="1" i="0">
                <a:solidFill>
                  <a:srgbClr val="C00000"/>
                </a:solidFill>
                <a:latin typeface="Times New Roman"/>
                <a:ea typeface="Times New Roman"/>
                <a:cs typeface="Times New Roman"/>
              </a:rPr>
              <a:t>100 điểm</a:t>
            </a:r>
            <a:r>
              <a:rPr sz="1700" b="0" i="0">
                <a:solidFill>
                  <a:srgbClr val="222222"/>
                </a:solidFill>
                <a:latin typeface="Times New Roman"/>
                <a:ea typeface="Times New Roman"/>
                <a:cs typeface="Times New Roman"/>
              </a:rPr>
              <a:t>: 40 kỹ thuật · 40 báo cáo · 20 sáng tạo</a:t>
            </a:r>
          </a:p>
        </p:txBody>
      </p:sp>
      <p:sp>
        <p:nvSpPr>
          <p:cNvPr id="143" name="Rounded Rectangle 142"/>
          <p:cNvSpPr/>
          <p:nvPr/>
        </p:nvSpPr>
        <p:spPr>
          <a:xfrm>
            <a:off x="365760" y="1371600"/>
            <a:ext cx="3566160" cy="868680"/>
          </a:xfrm>
          <a:prstGeom prst="roundRect">
            <a:avLst>
              <a:gd name="adj" fmla="val 10000"/>
            </a:avLst>
          </a:prstGeom>
          <a:solidFill>
            <a:srgbClr val="2E5B3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Kỹ thuật</a:t>
            </a:r>
          </a:p>
        </p:txBody>
      </p:sp>
      <p:sp>
        <p:nvSpPr>
          <p:cNvPr id="144" name="Rounded Rectangle 143"/>
          <p:cNvSpPr/>
          <p:nvPr/>
        </p:nvSpPr>
        <p:spPr>
          <a:xfrm>
            <a:off x="365760" y="2331720"/>
            <a:ext cx="3566160" cy="3657600"/>
          </a:xfrm>
          <a:prstGeom prst="roundRect">
            <a:avLst>
              <a:gd name="adj" fmla="val 4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5" name="TextBox 144"/>
          <p:cNvSpPr txBox="1"/>
          <p:nvPr/>
        </p:nvSpPr>
        <p:spPr>
          <a:xfrm>
            <a:off x="457200" y="2423160"/>
            <a:ext cx="3383279" cy="3520440"/>
          </a:xfrm>
          <a:prstGeom prst="rect">
            <a:avLst/>
          </a:prstGeom>
          <a:noFill/>
        </p:spPr>
        <p:txBody>
          <a:bodyPr wrap="square" lIns="45720" tIns="27432" rIns="45720" bIns="27432" anchor="t"/>
          <a:lstStyle/>
          <a:p>
            <a:pPr algn="l" marL="182880" indent="-182880">
              <a:buClr>
                <a:srgbClr val="2E5B31"/>
              </a:buClr>
              <a:buFont typeface="Arial"/>
              <a:buChar char="•"/>
            </a:pPr>
            <a:r>
              <a:rPr sz="1400" b="1" i="0">
                <a:solidFill>
                  <a:srgbClr val="2E5B31"/>
                </a:solidFill>
                <a:latin typeface="Times New Roman"/>
                <a:ea typeface="Times New Roman"/>
                <a:cs typeface="Times New Roman"/>
              </a:rPr>
              <a:t>Power Query &amp; mô hình (10)</a:t>
            </a:r>
          </a:p>
          <a:p>
            <a:pPr algn="l" marL="182880" indent="-182880">
              <a:spcAft>
                <a:spcPts val="800"/>
              </a:spcAft>
              <a:buFont typeface="Arial"/>
              <a:buChar char=" "/>
            </a:pPr>
            <a:r>
              <a:rPr sz="1300" b="0" i="0">
                <a:solidFill>
                  <a:srgbClr val="222222"/>
                </a:solidFill>
                <a:latin typeface="Times New Roman"/>
                <a:ea typeface="Times New Roman"/>
                <a:cs typeface="Times New Roman"/>
              </a:rPr>
              <a:t>Query đúng thứ tự, bỏ trùng, map theo hiệu lực; quan hệ, Date Table</a:t>
            </a:r>
          </a:p>
          <a:p>
            <a:pPr algn="l" marL="182880" indent="-182880">
              <a:buClr>
                <a:srgbClr val="2E5B31"/>
              </a:buClr>
              <a:buFont typeface="Arial"/>
              <a:buChar char="•"/>
            </a:pPr>
            <a:r>
              <a:rPr sz="1400" b="1" i="0">
                <a:solidFill>
                  <a:srgbClr val="2E5B31"/>
                </a:solidFill>
                <a:latin typeface="Times New Roman"/>
                <a:ea typeface="Times New Roman"/>
                <a:cs typeface="Times New Roman"/>
              </a:rPr>
              <a:t>DAX (12)</a:t>
            </a:r>
          </a:p>
          <a:p>
            <a:pPr algn="l" marL="182880" indent="-182880">
              <a:spcAft>
                <a:spcPts val="800"/>
              </a:spcAft>
              <a:buFont typeface="Arial"/>
              <a:buChar char=" "/>
            </a:pPr>
            <a:r>
              <a:rPr sz="1300" b="0" i="0">
                <a:solidFill>
                  <a:srgbClr val="222222"/>
                </a:solidFill>
                <a:latin typeface="Times New Roman"/>
                <a:ea typeface="Times New Roman"/>
                <a:cs typeface="Times New Roman"/>
              </a:rPr>
              <a:t>KPI khớp số kiểm tra; Δ, cờ, quy đổi online</a:t>
            </a:r>
          </a:p>
          <a:p>
            <a:pPr algn="l" marL="182880" indent="-182880">
              <a:buClr>
                <a:srgbClr val="2E5B31"/>
              </a:buClr>
              <a:buFont typeface="Arial"/>
              <a:buChar char="•"/>
            </a:pPr>
            <a:r>
              <a:rPr sz="1400" b="1" i="0">
                <a:solidFill>
                  <a:srgbClr val="2E5B31"/>
                </a:solidFill>
                <a:latin typeface="Times New Roman"/>
                <a:ea typeface="Times New Roman"/>
                <a:cs typeface="Times New Roman"/>
              </a:rPr>
              <a:t>Dashboard 4 sheet Excel (12)</a:t>
            </a:r>
          </a:p>
          <a:p>
            <a:pPr algn="l" marL="182880" indent="-182880">
              <a:spcAft>
                <a:spcPts val="800"/>
              </a:spcAft>
              <a:buFont typeface="Arial"/>
              <a:buChar char=" "/>
            </a:pPr>
            <a:r>
              <a:rPr sz="1300" b="0" i="0">
                <a:solidFill>
                  <a:srgbClr val="222222"/>
                </a:solidFill>
                <a:latin typeface="Times New Roman"/>
                <a:ea typeface="Times New Roman"/>
                <a:cs typeface="Times New Roman"/>
              </a:rPr>
              <a:t>Thẻ CUBEVALUE, Pivot, biểu đồ đủ; slicer dùng chung</a:t>
            </a:r>
          </a:p>
          <a:p>
            <a:pPr algn="l" marL="182880" indent="-182880">
              <a:buClr>
                <a:srgbClr val="2E5B31"/>
              </a:buClr>
              <a:buFont typeface="Arial"/>
              <a:buChar char="•"/>
            </a:pPr>
            <a:r>
              <a:rPr sz="1400" b="1" i="0">
                <a:solidFill>
                  <a:srgbClr val="2E5B31"/>
                </a:solidFill>
                <a:latin typeface="Times New Roman"/>
                <a:ea typeface="Times New Roman"/>
                <a:cs typeface="Times New Roman"/>
              </a:rPr>
              <a:t>Trải nghiệm (6)</a:t>
            </a:r>
          </a:p>
          <a:p>
            <a:pPr algn="l" marL="182880" indent="-182880">
              <a:spcAft>
                <a:spcPts val="800"/>
              </a:spcAft>
              <a:buFont typeface="Arial"/>
              <a:buChar char=" "/>
            </a:pPr>
            <a:r>
              <a:rPr sz="1300" b="0" i="0">
                <a:solidFill>
                  <a:srgbClr val="222222"/>
                </a:solidFill>
                <a:latin typeface="Times New Roman"/>
                <a:ea typeface="Times New Roman"/>
                <a:cs typeface="Times New Roman"/>
              </a:rPr>
              <a:t>Đơn vị, caption, màu, điều hướng</a:t>
            </a:r>
          </a:p>
        </p:txBody>
      </p:sp>
      <p:sp>
        <p:nvSpPr>
          <p:cNvPr id="146" name="Rounded Rectangle 145"/>
          <p:cNvSpPr/>
          <p:nvPr/>
        </p:nvSpPr>
        <p:spPr>
          <a:xfrm>
            <a:off x="4091940" y="1371600"/>
            <a:ext cx="4846320" cy="868680"/>
          </a:xfrm>
          <a:prstGeom prst="roundRect">
            <a:avLst>
              <a:gd name="adj" fmla="val 10000"/>
            </a:avLst>
          </a:prstGeom>
          <a:solidFill>
            <a:srgbClr val="123A7A"/>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Báo cáo phân tích</a:t>
            </a:r>
          </a:p>
        </p:txBody>
      </p:sp>
      <p:sp>
        <p:nvSpPr>
          <p:cNvPr id="147" name="Rounded Rectangle 146"/>
          <p:cNvSpPr/>
          <p:nvPr/>
        </p:nvSpPr>
        <p:spPr>
          <a:xfrm>
            <a:off x="4091940" y="2331720"/>
            <a:ext cx="4846320" cy="3657600"/>
          </a:xfrm>
          <a:prstGeom prst="roundRect">
            <a:avLst>
              <a:gd name="adj" fmla="val 4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4183380" y="2423160"/>
            <a:ext cx="4663440" cy="3520440"/>
          </a:xfrm>
          <a:prstGeom prst="rect">
            <a:avLst/>
          </a:prstGeom>
          <a:noFill/>
        </p:spPr>
        <p:txBody>
          <a:bodyPr wrap="square" lIns="45720" tIns="27432" rIns="45720" bIns="27432" anchor="t"/>
          <a:lstStyle/>
          <a:p>
            <a:pPr algn="l" marL="182880" indent="-182880">
              <a:buClr>
                <a:srgbClr val="123A7A"/>
              </a:buClr>
              <a:buFont typeface="Arial"/>
              <a:buChar char="•"/>
            </a:pPr>
            <a:r>
              <a:rPr sz="1400" b="1" i="0">
                <a:solidFill>
                  <a:srgbClr val="123A7A"/>
                </a:solidFill>
                <a:latin typeface="Times New Roman"/>
                <a:ea typeface="Times New Roman"/>
                <a:cs typeface="Times New Roman"/>
              </a:rPr>
              <a:t>Cấu trúc 8 phần (8)</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template, từ câu hỏi đến kết luận</a:t>
            </a:r>
          </a:p>
          <a:p>
            <a:pPr algn="l" marL="182880" indent="-182880">
              <a:buClr>
                <a:srgbClr val="123A7A"/>
              </a:buClr>
              <a:buFont typeface="Arial"/>
              <a:buChar char="•"/>
            </a:pPr>
            <a:r>
              <a:rPr sz="1400" b="1" i="0">
                <a:solidFill>
                  <a:srgbClr val="123A7A"/>
                </a:solidFill>
                <a:latin typeface="Times New Roman"/>
                <a:ea typeface="Times New Roman"/>
                <a:cs typeface="Times New Roman"/>
              </a:rPr>
              <a:t>Đối soát (16)</a:t>
            </a:r>
          </a:p>
          <a:p>
            <a:pPr algn="l" marL="182880" indent="-182880">
              <a:spcAft>
                <a:spcPts val="800"/>
              </a:spcAft>
              <a:buFont typeface="Arial"/>
              <a:buChar char=" "/>
            </a:pPr>
            <a:r>
              <a:rPr sz="1300" b="0" i="0">
                <a:solidFill>
                  <a:srgbClr val="222222"/>
                </a:solidFill>
                <a:latin typeface="Times New Roman"/>
                <a:ea typeface="Times New Roman"/>
                <a:cs typeface="Times New Roman"/>
              </a:rPr>
              <a:t>Giải thích mọi ô vượt ngưỡng; cầu nối còn lại = 0</a:t>
            </a:r>
          </a:p>
          <a:p>
            <a:pPr algn="l" marL="182880" indent="-182880">
              <a:buClr>
                <a:srgbClr val="123A7A"/>
              </a:buClr>
              <a:buFont typeface="Arial"/>
              <a:buChar char="•"/>
            </a:pPr>
            <a:r>
              <a:rPr sz="1400" b="1" i="0">
                <a:solidFill>
                  <a:srgbClr val="123A7A"/>
                </a:solidFill>
                <a:latin typeface="Times New Roman"/>
                <a:ea typeface="Times New Roman"/>
                <a:cs typeface="Times New Roman"/>
              </a:rPr>
              <a:t>Lập luận (10)</a:t>
            </a:r>
          </a:p>
          <a:p>
            <a:pPr algn="l" marL="182880" indent="-182880">
              <a:spcAft>
                <a:spcPts val="800"/>
              </a:spcAft>
              <a:buFont typeface="Arial"/>
              <a:buChar char=" "/>
            </a:pPr>
            <a:r>
              <a:rPr sz="1300" b="0" i="0">
                <a:solidFill>
                  <a:srgbClr val="222222"/>
                </a:solidFill>
                <a:latin typeface="Times New Roman"/>
                <a:ea typeface="Times New Roman"/>
                <a:cs typeface="Times New Roman"/>
              </a:rPr>
              <a:t>Finding → Insight → Recommendation có số làm chỗ dựa</a:t>
            </a:r>
          </a:p>
          <a:p>
            <a:pPr algn="l" marL="182880" indent="-182880">
              <a:buClr>
                <a:srgbClr val="123A7A"/>
              </a:buClr>
              <a:buFont typeface="Arial"/>
              <a:buChar char="•"/>
            </a:pPr>
            <a:r>
              <a:rPr sz="1400" b="1" i="0">
                <a:solidFill>
                  <a:srgbClr val="123A7A"/>
                </a:solidFill>
                <a:latin typeface="Times New Roman"/>
                <a:ea typeface="Times New Roman"/>
                <a:cs typeface="Times New Roman"/>
              </a:rPr>
              <a:t>Giới hạn (6)</a:t>
            </a:r>
          </a:p>
          <a:p>
            <a:pPr algn="l" marL="182880" indent="-182880">
              <a:spcAft>
                <a:spcPts val="800"/>
              </a:spcAft>
              <a:buFont typeface="Arial"/>
              <a:buChar char=" "/>
            </a:pPr>
            <a:r>
              <a:rPr sz="1300" b="0" i="0">
                <a:solidFill>
                  <a:srgbClr val="222222"/>
                </a:solidFill>
                <a:latin typeface="Times New Roman"/>
                <a:ea typeface="Times New Roman"/>
                <a:cs typeface="Times New Roman"/>
              </a:rPr>
              <a:t>As-of, PENDING, giả định ghi nhận</a:t>
            </a:r>
          </a:p>
        </p:txBody>
      </p:sp>
      <p:sp>
        <p:nvSpPr>
          <p:cNvPr id="149" name="Rounded Rectangle 148"/>
          <p:cNvSpPr/>
          <p:nvPr/>
        </p:nvSpPr>
        <p:spPr>
          <a:xfrm>
            <a:off x="9098280" y="1371600"/>
            <a:ext cx="2743200" cy="868680"/>
          </a:xfrm>
          <a:prstGeom prst="roundRect">
            <a:avLst>
              <a:gd name="adj" fmla="val 10000"/>
            </a:avLst>
          </a:prstGeom>
          <a:solidFill>
            <a:srgbClr val="C55A1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20 điểm</a:t>
            </a:r>
          </a:p>
          <a:p>
            <a:pPr algn="ctr">
              <a:buNone/>
            </a:pPr>
            <a:r>
              <a:rPr sz="1300" b="0" i="0">
                <a:solidFill>
                  <a:srgbClr val="FFFFFF"/>
                </a:solidFill>
                <a:latin typeface="Times New Roman"/>
                <a:ea typeface="Times New Roman"/>
                <a:cs typeface="Times New Roman"/>
              </a:rPr>
              <a:t>Sáng tạo</a:t>
            </a:r>
          </a:p>
        </p:txBody>
      </p:sp>
      <p:sp>
        <p:nvSpPr>
          <p:cNvPr id="150" name="Rounded Rectangle 149"/>
          <p:cNvSpPr/>
          <p:nvPr/>
        </p:nvSpPr>
        <p:spPr>
          <a:xfrm>
            <a:off x="9098280" y="2331720"/>
            <a:ext cx="2743200" cy="3657600"/>
          </a:xfrm>
          <a:prstGeom prst="roundRect">
            <a:avLst>
              <a:gd name="adj" fmla="val 4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1" name="TextBox 150"/>
          <p:cNvSpPr txBox="1"/>
          <p:nvPr/>
        </p:nvSpPr>
        <p:spPr>
          <a:xfrm>
            <a:off x="9189719" y="2423160"/>
            <a:ext cx="2560320" cy="3520440"/>
          </a:xfrm>
          <a:prstGeom prst="rect">
            <a:avLst/>
          </a:prstGeom>
          <a:noFill/>
        </p:spPr>
        <p:txBody>
          <a:bodyPr wrap="square" lIns="45720" tIns="27432" rIns="45720" bIns="27432" anchor="t"/>
          <a:lstStyle/>
          <a:p>
            <a:pPr algn="l" marL="182880" indent="-182880">
              <a:buClr>
                <a:srgbClr val="C55A11"/>
              </a:buClr>
              <a:buFont typeface="Arial"/>
              <a:buChar char="•"/>
            </a:pPr>
            <a:r>
              <a:rPr sz="1400" b="1" i="0">
                <a:solidFill>
                  <a:srgbClr val="C55A11"/>
                </a:solidFill>
                <a:latin typeface="Times New Roman"/>
                <a:ea typeface="Times New Roman"/>
                <a:cs typeface="Times New Roman"/>
              </a:rPr>
              <a:t>Vượt gợi ý</a:t>
            </a:r>
          </a:p>
          <a:p>
            <a:pPr algn="l" marL="182880" indent="-182880">
              <a:spcAft>
                <a:spcPts val="800"/>
              </a:spcAft>
              <a:buFont typeface="Arial"/>
              <a:buChar char=" "/>
            </a:pPr>
            <a:r>
              <a:rPr sz="1300" b="0" i="0">
                <a:solidFill>
                  <a:srgbClr val="222222"/>
                </a:solidFill>
                <a:latin typeface="Times New Roman"/>
                <a:ea typeface="Times New Roman"/>
                <a:cs typeface="Times New Roman"/>
              </a:rPr>
              <a:t>Sheet chi tiết cửa hàng – ngày, Show Details</a:t>
            </a:r>
          </a:p>
          <a:p>
            <a:pPr algn="l" marL="182880" indent="-182880">
              <a:buClr>
                <a:srgbClr val="C55A11"/>
              </a:buClr>
              <a:buFont typeface="Arial"/>
              <a:buChar char="•"/>
            </a:pPr>
            <a:r>
              <a:rPr sz="1400" b="1" i="0">
                <a:solidFill>
                  <a:srgbClr val="C55A11"/>
                </a:solidFill>
                <a:latin typeface="Times New Roman"/>
                <a:ea typeface="Times New Roman"/>
                <a:cs typeface="Times New Roman"/>
              </a:rPr>
              <a:t>Bảng bổ sung</a:t>
            </a:r>
          </a:p>
          <a:p>
            <a:pPr algn="l" marL="182880" indent="-182880">
              <a:spcAft>
                <a:spcPts val="800"/>
              </a:spcAft>
              <a:buFont typeface="Arial"/>
              <a:buChar char=" "/>
            </a:pPr>
            <a:r>
              <a:rPr sz="1300" b="0" i="0">
                <a:solidFill>
                  <a:srgbClr val="222222"/>
                </a:solidFill>
                <a:latin typeface="Times New Roman"/>
                <a:ea typeface="Times New Roman"/>
                <a:cs typeface="Times New Roman"/>
              </a:rPr>
              <a:t>fx_rate, unit_cost, dim_customer</a:t>
            </a:r>
          </a:p>
          <a:p>
            <a:pPr algn="l" marL="182880" indent="-182880">
              <a:buClr>
                <a:srgbClr val="C55A11"/>
              </a:buClr>
              <a:buFont typeface="Arial"/>
              <a:buChar char="•"/>
            </a:pPr>
            <a:r>
              <a:rPr sz="1400" b="1" i="0">
                <a:solidFill>
                  <a:srgbClr val="C55A11"/>
                </a:solidFill>
                <a:latin typeface="Times New Roman"/>
                <a:ea typeface="Times New Roman"/>
                <a:cs typeface="Times New Roman"/>
              </a:rPr>
              <a:t>Cảnh báo</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dõi ô vượt ngưỡng hằng tháng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2377440"/>
            <a:ext cx="5486400" cy="1097280"/>
          </a:xfrm>
          <a:prstGeom prst="rect">
            <a:avLst/>
          </a:prstGeom>
          <a:noFill/>
        </p:spPr>
        <p:txBody>
          <a:bodyPr wrap="square" lIns="45720" tIns="27432" rIns="45720" bIns="27432" anchor="t"/>
          <a:lstStyle/>
          <a:p>
            <a:pPr algn="l">
              <a:buNone/>
            </a:pPr>
            <a:r>
              <a:rPr sz="5400" b="1" i="0">
                <a:solidFill>
                  <a:srgbClr val="FFFFFF"/>
                </a:solidFill>
                <a:latin typeface="Times New Roman"/>
                <a:ea typeface="Times New Roman"/>
                <a:cs typeface="Times New Roman"/>
              </a:rPr>
              <a:t>Hỏi &amp; đáp</a:t>
            </a:r>
          </a:p>
        </p:txBody>
      </p:sp>
      <p:sp>
        <p:nvSpPr>
          <p:cNvPr id="4" name="TextBox 3"/>
          <p:cNvSpPr txBox="1"/>
          <p:nvPr/>
        </p:nvSpPr>
        <p:spPr>
          <a:xfrm>
            <a:off x="731520" y="3429000"/>
            <a:ext cx="5486400" cy="914400"/>
          </a:xfrm>
          <a:prstGeom prst="rect">
            <a:avLst/>
          </a:prstGeom>
          <a:noFill/>
        </p:spPr>
        <p:txBody>
          <a:bodyPr wrap="square" lIns="45720" tIns="27432" rIns="45720" bIns="27432" anchor="t"/>
          <a:lstStyle/>
          <a:p>
            <a:pPr algn="l">
              <a:buNone/>
            </a:pPr>
            <a:r>
              <a:rPr sz="1800" b="0" i="0">
                <a:solidFill>
                  <a:srgbClr val="FFFFFF"/>
                </a:solidFill>
                <a:latin typeface="Times New Roman"/>
                <a:ea typeface="Times New Roman"/>
                <a:cs typeface="Times New Roman"/>
              </a:rPr>
              <a:t>Sales Project 1 · Kết quả bán hàng và đối soát doanh thu</a:t>
            </a:r>
          </a:p>
        </p:txBody>
      </p:sp>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Đáp án cầu nối năm 2020 · ẩn khi trình chiếu cho học viên</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Unexplained = </a:t>
            </a:r>
            <a:r>
              <a:rPr sz="1700" b="1" i="0">
                <a:solidFill>
                  <a:srgbClr val="2E5B31"/>
                </a:solidFill>
                <a:latin typeface="Times New Roman"/>
                <a:ea typeface="Times New Roman"/>
                <a:cs typeface="Times New Roman"/>
              </a:rPr>
              <a:t>0 USD</a:t>
            </a:r>
            <a:r>
              <a:rPr sz="1700" b="0" i="0">
                <a:solidFill>
                  <a:srgbClr val="222222"/>
                </a:solidFill>
                <a:latin typeface="Times New Roman"/>
                <a:ea typeface="Times New Roman"/>
                <a:cs typeface="Times New Roman"/>
              </a:rPr>
              <a:t> ở mọi ô tháng × cửa hàng (Instructor Key, sheet bridge_store_month)</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sp>
        <p:nvSpPr>
          <p:cNvPr id="143" name="Rectangle 142"/>
          <p:cNvSpPr/>
          <p:nvPr/>
        </p:nvSpPr>
        <p:spPr>
          <a:xfrm>
            <a:off x="365760" y="1371600"/>
            <a:ext cx="749807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4" name="Rectangle 143"/>
          <p:cNvSpPr/>
          <p:nvPr/>
        </p:nvSpPr>
        <p:spPr>
          <a:xfrm>
            <a:off x="365760" y="1371600"/>
            <a:ext cx="7498079"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Cầu nối 2020: dữ liệu đơn → Kế toán (nghìn USD, trục cắt)</a:t>
            </a:r>
          </a:p>
        </p:txBody>
      </p:sp>
      <p:graphicFrame>
        <p:nvGraphicFramePr>
          <p:cNvPr id="145" name="Chart 144"/>
          <p:cNvGraphicFramePr>
            <a:graphicFrameLocks noGrp="1"/>
          </p:cNvGraphicFramePr>
          <p:nvPr/>
        </p:nvGraphicFramePr>
        <p:xfrm>
          <a:off x="457200" y="1737360"/>
          <a:ext cx="7315200" cy="4206240"/>
        </p:xfrm>
        <a:graphic>
          <a:graphicData uri="http://schemas.openxmlformats.org/drawingml/2006/chart">
            <c:chart xmlns:c="http://schemas.openxmlformats.org/drawingml/2006/chart" r:id="rId3"/>
          </a:graphicData>
        </a:graphic>
      </p:graphicFrame>
      <p:graphicFrame>
        <p:nvGraphicFramePr>
          <p:cNvPr id="146" name="Table 145"/>
          <p:cNvGraphicFramePr>
            <a:graphicFrameLocks noGrp="1"/>
          </p:cNvGraphicFramePr>
          <p:nvPr/>
        </p:nvGraphicFramePr>
        <p:xfrm>
          <a:off x="8092440" y="1371600"/>
          <a:ext cx="3749040" cy="4617712"/>
        </p:xfrm>
        <a:graphic>
          <a:graphicData uri="http://schemas.openxmlformats.org/drawingml/2006/table">
            <a:tbl>
              <a:tblPr firstRow="1">
                <a:tableStyleId>{5940675A-B579-460E-94D1-54222C63F5DA}</a:tableStyleId>
              </a:tblPr>
              <a:tblGrid>
                <a:gridCol w="2103120"/>
                <a:gridCol w="1645920"/>
              </a:tblGrid>
              <a:tr h="419792">
                <a:tc>
                  <a:txBody>
                    <a:bodyPr/>
                    <a:lstStyle/>
                    <a:p>
                      <a:pPr algn="l">
                        <a:buNone/>
                      </a:pPr>
                      <a:r>
                        <a:rPr sz="12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19792">
                <a:tc>
                  <a:txBody>
                    <a:bodyPr/>
                    <a:lstStyle/>
                    <a:p>
                      <a:pPr algn="l">
                        <a:buNone/>
                      </a:pPr>
                      <a:r>
                        <a:rPr sz="1200" b="1" i="0">
                          <a:solidFill>
                            <a:srgbClr val="222222"/>
                          </a:solidFill>
                          <a:latin typeface="Times New Roman"/>
                          <a:ea typeface="Times New Roman"/>
                          <a:cs typeface="Times New Roman"/>
                        </a:rPr>
                        <a:t>Net Revenue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+59.682,78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−2.937,04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Kế toán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Kế toán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32 ô vượt ngưỡng năm 2020 và nguyên nhân chính</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Toàn bộ dữ liệu có 120 ô vượt ngưỡng; năm 2020: </a:t>
            </a:r>
            <a:r>
              <a:rPr sz="1700" b="1" i="0">
                <a:solidFill>
                  <a:srgbClr val="C00000"/>
                </a:solidFill>
                <a:latin typeface="Times New Roman"/>
                <a:ea typeface="Times New Roman"/>
                <a:cs typeface="Times New Roman"/>
              </a:rPr>
              <a:t>32 ô</a:t>
            </a:r>
            <a:r>
              <a:rPr sz="1700" b="0" i="0">
                <a:solidFill>
                  <a:srgbClr val="222222"/>
                </a:solidFill>
                <a:latin typeface="Times New Roman"/>
                <a:ea typeface="Times New Roman"/>
                <a:cs typeface="Times New Roman"/>
              </a:rPr>
              <a:t> – học viên phải giải thích đủ</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+41.120,82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−2.907,00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+1.249,96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−17.488,29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S08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+677,87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+301,65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+1.475,00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+5.097,97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+1.739,66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+1.284,70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−474,90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+67.117,99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graphicFrame>
        <p:nvGraphicFramePr>
          <p:cNvPr id="144" name="Table 143"/>
          <p:cNvGraphicFramePr>
            <a:graphicFrameLocks noGrp="1"/>
          </p:cNvGraphicFramePr>
          <p:nvPr/>
        </p:nvGraphicFramePr>
        <p:xfrm>
          <a:off x="617220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04/2020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−46.927,78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−263,5%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05/2020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+27.197,36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−3.869,50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+1.906,98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+7,3%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+18.513,26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+2.831,93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+86,2%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09/2020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−4.564,50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10/2020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+7.191,03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−5.577,47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−22.812,19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cài sẵn năm 2020 và nguyên nhân hệ thống</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Đơn huỷ vẫn ghi nhận </a:t>
            </a:r>
            <a:r>
              <a:rPr sz="1700" b="1" i="0">
                <a:solidFill>
                  <a:srgbClr val="C55A11"/>
                </a:solidFill>
                <a:latin typeface="Times New Roman"/>
                <a:ea typeface="Times New Roman"/>
                <a:cs typeface="Times New Roman"/>
              </a:rPr>
              <a:t>nhỏ từng đơn</a:t>
            </a:r>
            <a:r>
              <a:rPr sz="1700" b="0" i="0">
                <a:solidFill>
                  <a:srgbClr val="222222"/>
                </a:solidFill>
                <a:latin typeface="Times New Roman"/>
                <a:ea typeface="Times New Roman"/>
                <a:cs typeface="Times New Roman"/>
              </a:rPr>
              <a:t> nhưng cộng lại đáng kể; một số đơn rơi vào ô trong ngưỡng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7" cy="2304288"/>
        </p:xfrm>
        <a:graphic>
          <a:graphicData uri="http://schemas.openxmlformats.org/drawingml/2006/table">
            <a:tbl>
              <a:tblPr firstRow="1">
                <a:tableStyleId>{5940675A-B579-460E-94D1-54222C63F5DA}</a:tableStyleId>
              </a:tblPr>
              <a:tblGrid>
                <a:gridCol w="3305007"/>
                <a:gridCol w="1193474"/>
                <a:gridCol w="826251"/>
                <a:gridCol w="1652503"/>
                <a:gridCol w="4498482"/>
              </a:tblGrid>
              <a:tr h="384048">
                <a:tc>
                  <a:txBody>
                    <a:bodyPr/>
                    <a:lstStyle/>
                    <a:p>
                      <a:pPr algn="l">
                        <a:buNone/>
                      </a:pPr>
                      <a:r>
                        <a:rPr sz="1200" b="1" i="0">
                          <a:solidFill>
                            <a:srgbClr val="FFFFFF"/>
                          </a:solidFill>
                          <a:latin typeface="Times New Roman"/>
                          <a:ea typeface="Times New Roman"/>
                          <a:cs typeface="Times New Roman"/>
                        </a:rPr>
                        <a:t>Loại (Instructor 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Mã</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ca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Tác động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048">
                <a:tc>
                  <a:txBody>
                    <a:bodyPr/>
                    <a:lstStyle/>
                    <a:p>
                      <a:pPr algn="l">
                        <a:buNone/>
                      </a:pPr>
                      <a:r>
                        <a:rPr sz="1200" b="0" i="0">
                          <a:solidFill>
                            <a:srgbClr val="222222"/>
                          </a:solidFill>
                          <a:latin typeface="Times New Roman"/>
                          <a:ea typeface="Times New Roman"/>
                          <a:cs typeface="Times New Roman"/>
                        </a:rPr>
                        <a:t>Kế toán thiếu dữ liệu 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Đơn huỷ vẫn được Kế toán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K15–K25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S08, S22, S33, S36, S38, 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Bút toán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Ghi 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Điều chỉnh HQ không thuộc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graphicFrame>
        <p:nvGraphicFramePr>
          <p:cNvPr id="144" name="Table 143"/>
          <p:cNvGraphicFramePr>
            <a:graphicFrameLocks noGrp="1"/>
          </p:cNvGraphicFramePr>
          <p:nvPr/>
        </p:nvGraphicFramePr>
        <p:xfrm>
          <a:off x="365760" y="3904487"/>
          <a:ext cx="11475718" cy="2084832"/>
        </p:xfrm>
        <a:graphic>
          <a:graphicData uri="http://schemas.openxmlformats.org/drawingml/2006/table">
            <a:tbl>
              <a:tblPr firstRow="1">
                <a:tableStyleId>{5940675A-B579-460E-94D1-54222C63F5DA}</a:tableStyleId>
              </a:tblPr>
              <a:tblGrid>
                <a:gridCol w="4223064"/>
                <a:gridCol w="1468892"/>
                <a:gridCol w="5783762"/>
              </a:tblGrid>
              <a:tr h="347472">
                <a:tc>
                  <a:txBody>
                    <a:bodyPr/>
                    <a:lstStyle/>
                    <a:p>
                      <a:pPr algn="l">
                        <a:buNone/>
                      </a:pPr>
                      <a:r>
                        <a:rPr sz="1100" b="1" i="0">
                          <a:solidFill>
                            <a:srgbClr val="FFFFFF"/>
                          </a:solidFill>
                          <a:latin typeface="Times New Roman"/>
                          <a:ea typeface="Times New Roman"/>
                          <a:cs typeface="Times New Roman"/>
                        </a:rPr>
                        <a:t>Nguyên nhân hệ thống / bẫy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Độ lớn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Cách phát hiện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47472">
                <a:tc>
                  <a:txBody>
                    <a:bodyPr/>
                    <a:lstStyle/>
                    <a:p>
                      <a:pPr algn="l">
                        <a:buNone/>
                      </a:pPr>
                      <a:r>
                        <a:rPr sz="1100" b="0" i="0">
                          <a:solidFill>
                            <a:srgbClr val="222222"/>
                          </a:solidFill>
                          <a:latin typeface="Times New Roman"/>
                          <a:ea typeface="Times New Roman"/>
                          <a:cs typeface="Times New Roman"/>
                        </a:rPr>
                        <a:t>Online: dữ liệu đơn theo order_date, Kế toán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1.346.286,28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Cộng dồn cả kỳ ≈ 0, chỉ lệch ở ranh giới tháng; biến mất khi so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Hoàn tiền: Returns theo return_date, Kế toán theo ngày ghi sổ (trễ 0–3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93.465,04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Lệch theo ngày; cuối tháng tạo chênh lệch nhỏ</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120 dòng trùng trong 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67.493,06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bỏ trùng → Net Sales phía đơn cao hơn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Đơn online PENDING tại as-of</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73.105,11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Tính nhầm PENDING → cao hơn Kế toán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Cửa hàng 38 đổi mã Kế toán GBR-03 → GBR-03N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0,00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map theo hiệu lực → doanh thu từ 07/2019 thành 'không xác định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Số kiểm tra KPI cho học viên: 12/2020, LM, SPLY, YTD</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Dùng khi chấm phần </a:t>
            </a:r>
            <a:r>
              <a:rPr sz="1700" b="1" i="0">
                <a:solidFill>
                  <a:srgbClr val="2E5B31"/>
                </a:solidFill>
                <a:latin typeface="Times New Roman"/>
                <a:ea typeface="Times New Roman"/>
                <a:cs typeface="Times New Roman"/>
              </a:rPr>
              <a:t>DAX (12 điểm)</a:t>
            </a:r>
            <a:r>
              <a:rPr sz="1700" b="0" i="0">
                <a:solidFill>
                  <a:srgbClr val="222222"/>
                </a:solidFill>
                <a:latin typeface="Times New Roman"/>
                <a:ea typeface="Times New Roman"/>
                <a:cs typeface="Times New Roman"/>
              </a:rPr>
              <a:t>: lệch quá 0,01 USD → kiểm tra bỏ trùng, trạng thái, ngày trả hàng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6" cy="4617720"/>
        </p:xfrm>
        <a:graphic>
          <a:graphicData uri="http://schemas.openxmlformats.org/drawingml/2006/table">
            <a:tbl>
              <a:tblPr firstRow="1">
                <a:tableStyleId>{5940675A-B579-460E-94D1-54222C63F5DA}</a:tableStyleId>
              </a:tblPr>
              <a:tblGrid>
                <a:gridCol w="2641237"/>
                <a:gridCol w="1730465"/>
                <a:gridCol w="1730465"/>
                <a:gridCol w="1730465"/>
                <a:gridCol w="1821542"/>
                <a:gridCol w="1821542"/>
              </a:tblGrid>
              <a:tr h="384810">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LM 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SPLY 12/2019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810">
                <a:tc>
                  <a:txBody>
                    <a:bodyPr/>
                    <a:lstStyle/>
                    <a:p>
                      <a:pPr algn="l">
                        <a:buNone/>
                      </a:pPr>
                      <a:r>
                        <a:rPr sz="1200" b="1"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640.551,11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252.950,76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2.400.312,48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9.080.387,90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17.750.417,69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24.739,37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11.493,80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83.880,88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138.974,66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375.050,39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615.811,74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241.456,96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2.316.431,60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8.941.413,24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17.375.367,30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9.686,67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3.420,28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53.016,63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208.665,01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451.134,18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606.125,07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238.036,68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2.263.414,97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16.924.233,12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1.223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8.842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9.123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33.642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66.565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1.986,49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1.665,22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1.894,06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1.974,69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1.965,09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234,20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253,91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265,78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Finance Net Revenue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592.153,34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232.459,21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2.246.169,37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16.940.908,23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16730</Words>
  <Application>Microsoft Office PowerPoint</Application>
  <PresentationFormat>Widescreen</PresentationFormat>
  <Paragraphs>1273</Paragraphs>
  <Slides>58</Slides>
  <Notes>58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Algerian</vt:lpstr>
      <vt:lpstr>Arial</vt:lpstr>
      <vt:lpstr>Calibri</vt:lpstr>
      <vt:lpstr>Courier New</vt:lpstr>
      <vt:lpstr>Noto Sans Symbols</vt:lpstr>
      <vt:lpstr>Times New Roman</vt:lpstr>
      <vt:lpstr>Wingdings</vt:lpstr>
      <vt:lpstr>Office Theme</vt:lpstr>
      <vt:lpstr>EDA MENTORSHIP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Huy Vu Quang &lt;CV-SME-MASS.CB&gt;</cp:lastModifiedBy>
  <cp:revision>3</cp:revision>
  <dcterms:modified xsi:type="dcterms:W3CDTF">2026-10-10T00:34:38Z</dcterms:modified>
  <dc:title>Sales Project 1 – Kết quả bán hàng và đối soát doanh thu</dc:title>
  <dc:subject>EDA Mentorship – Nexa Home</dc:subject>
  <dc:creator>EDA Mentorship</dc:creator>
</cp:coreProperties>
</file>