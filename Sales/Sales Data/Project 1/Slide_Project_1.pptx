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 id="267"/>
          </p14:sldIdLst>
        </p14:section>
        <p14:section name="Phần 3 · KPI" id="{27970E54-C475-597F-8161-78EFCE9B5003}">
          <p14:sldIdLst>
            <p14:sldId id="268"/>
            <p14:sldId id="269"/>
            <p14:sldId id="270"/>
            <p14:sldId id="271"/>
            <p14:sldId id="272"/>
          </p14:sldIdLst>
        </p14:section>
        <p14:section name="Phần 4 · Dữ liệu &amp; modeling" id="{18F674DB-7378-55DE-BD5F-3792669B0C25}">
          <p14:sldIdLst>
            <p14:sldId id="273"/>
            <p14:sldId id="274"/>
            <p14:sldId id="275"/>
            <p14:sldId id="276"/>
            <p14:sldId id="277"/>
            <p14:sldId id="278"/>
          </p14:sldIdLst>
        </p14:section>
        <p14:section name="Phần 5 · Khám phá dữ liệu" id="{3A7D7AE7-21E4-5C31-B7BB-761A449440DF}">
          <p14:sldIdLst>
            <p14:sldId id="279"/>
            <p14:sldId id="280"/>
            <p14:sldId id="281"/>
            <p14:sldId id="282"/>
            <p14:sldId id="283"/>
          </p14:sldIdLst>
        </p14:section>
        <p14:section name="Phần 6 · DAX" id="{8AE14257-564C-5899-AD89-0D155765DAC5}">
          <p14:sldIdLst>
            <p14:sldId id="284"/>
            <p14:sldId id="285"/>
            <p14:sldId id="286"/>
            <p14:sldId id="287"/>
            <p14:sldId id="288"/>
          </p14:sldIdLst>
        </p14:section>
        <p14:section name="Phần 7 · Phân tích kết quả" id="{9E384DC5-995C-55E6-B0EF-B89EA27FDFFA}">
          <p14:sldIdLst>
            <p14:sldId id="289"/>
            <p14:sldId id="290"/>
            <p14:sldId id="291"/>
            <p14:sldId id="292"/>
            <p14:sldId id="293"/>
            <p14:sldId id="294"/>
            <p14:sldId id="295"/>
            <p14:sldId id="296"/>
          </p14:sldIdLst>
        </p14:section>
        <p14:section name="Phần 8 · Đầu ra &amp; chấm điểm" id="{2CB85F52-B697-5D48-9499-5FDA194CEDFA}">
          <p14:sldIdLst>
            <p14:sldId id="297"/>
            <p14:sldId id="298"/>
            <p14:sldId id="299"/>
          </p14:sldIdLst>
        </p14:section>
        <p14:section name="Phụ lục mentor – ẩn khi trình chiếu cho học viên" id="{06C17C6C-DED5-5777-8593-9B421A1CB2CA}">
          <p14:sldIdLst>
            <p14:sldId id="300"/>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Power BI 4 trang từ dữ liệu đơn hàng, tính đúng Gross Sales, Net Revenue, số đơn, AOV, ASP, rồi đối soát với file doanh thu Finance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180 phút): hiểu bối cảnh bán lẻ và vì sao phải đối soát (15') → đề bài dashboard (20') → hệ thống KPI (20') → dữ liệu và mô hình (25') → khám phá dữ liệu (20') → mẫu DAX (35') → đọc kết quả và lập luận (35')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Finance, Sales Manager cần trả lời 3 câu: tháng này thực sự bán được bao nhiêu; bao nhiêu bị mất vì giảm giá, hoàn trả, huỷ đơn; và vì sao số của Sales khác số Finance đã xác nhận. Vai trò của Data Analyst là trả lời cả ba bằng con số kiểm chứng được. Hỏi lớp: “Nếu số của bạn lệch Finance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Finance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Finance ghi theo ngày hạch toán,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Finance xác nhận phía sổ sách, cửa hàng/e-commerce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Power BI 4 trang và báo cáo 8 phần theo guild_report_template. Ba bộ lọc dùng chung cho cả 4 trang: Tháng báo cáo (chọn một, mặc định 12/2020), Kênh bán, Quốc gia. Bốn trang đi theo một mạch kể chuyện: chuyện gì xảy ra (Tổng quan) → doanh thu đến từ đâu → lệch Finance ở đâu → doanh thu có sạch không. Lưu ý kênh online không thuộc quốc gia nào: khi chọn một quốc gia thì online bị loại khỏi phạm vi.</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tháng này bán được bao nhiêu, vì sao tăng/giảm, có khớp Finance không. Mở đầu bằng câu Điểm chính tự sinh theo số. Năm thẻ: Net Revenue, số đơn, AOV, tỷ lệ hoàn trả, chênh lệch Finance. Biểu đồ: đường Net Revenue 24 tháng màu xám với tháng chọn tô xanh và điểm cùng kỳ được ghi chú; waterfall Gross → Net; hai biểu đồ nhỏ số đơn và AOV đặt cạnh nhau (không dùng hai trục trên một biểu đồ) để thấy ngay doanh thu giảm vì ít đơn; và cột Δ sau quy đổi theo tháng để dẫn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Bốn thẻ: Net Sales, Units, tỷ trọng online, giảm giá trên Gross. Danh mục và quốc gia vẽ bằng cột ngang xếp hạng: mục lớn nhất tô xanh, còn lại xám, nhãn giá trị và % ở cuối thanh. Giải thích vì sao bỏ pie/treemap: mắt so sánh độ dài chính xác hơn góc hay diện tích. Bảng kênh có AOV, so với tháng trước và cùng kỳ; Top 10 cửa hàng có thanh nhỏ trong ô.</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Δ = Finance − dữ liệu đơn; cờ ⚠ khi |Δ| &gt; 200 USD và |Δ %| &gt; 1% ở mức tháng × cửa hàng. Biểu đồ phân rã Δ của tháng chọn: phần lệch thời điểm online (xám) → từng cửa hàng vượt ngưỡng (đỏ) → phần còn lại. Cột Δ sau quy đổi theo tháng chỉ tô đỏ những tháng có cửa hàng vượt ngưỡng. Bảng cửa hàng xếp theo |Δ|. Hỏi lớp: “Vì sao màu đỏ chỉ dùng cho vượt ngưỡng?” – để mắt người xem đi thẳng tới chỗ cần điều tra.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đơn huỷ, dòng trùng đã loại kèm số đơn đang giao. Đường tỷ lệ hoàn trả 24 tháng, cột ngang lý do trả hàng và cột ngang tỷ lệ hoàn trả theo danh mục, nhãn kèm Net Sales để không kết luận vội với danh mục nhỏ. Màu đảo: tỷ lệ hoàn trả tăng là xấu nên ▲ hiển thị màu cam.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trang, slicer đồng bộ, map Finance theo hiệu lực, có cờ vượt ngưỡng. Nên có: Δ sau quy đổi online, line chart đủ 24 tháng, tiêu đề hành động và câu Điểm chính, đơn vị rõ, xám + một màu nhấn. Sáng tạo: drill-through cửa hàng – ngày, tooltip, bảng giải thích chênh lệch có tổng nguyên nhân bằng Δ, dùng bảng bổ sung.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Sáu bài học của Cole Nussbaumer Knaflic áp vào dashboard này. (1) Bối cảnh: người xem là Sales Manager và Finance trước họp chốt số – viết kết luận thành một câu. (2) Chọn hình: đường cho xu hướng, cột ngang cho xếp hạng, bảng cho chi tiết. (3) Gỡ rối: bỏ khung, nền màu, chú giải thừa. (4) Dẫn mắt: xám cho bối cảnh, một màu nhấn, đỏ chỉ cho vấn đề. (5) Thiết kế: căn thẳng, số thống nhất, màu an toàn cho người mù màu. (6) Kể chuyện: tiêu đề nêu kết luận, nguồn và ngày dữ liệu ở chân trang. Hoạt động: cho học viên sửa một tiêu đề mô tả thành tiêu đề hành động.</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Đọc cây KPI từ trái sang phải: Gross Sales trừ giảm giá ra Net Sales, trừ hoàn trả ra Net Revenue, rồi so với Finance Net Revenue ra Δ và cờ ngưỡng. Nhánh trên: Orders và Units là mẫu số của AOV và ASP, với tử số chung là Net Sales. Thông điệp: hiểu định nghĩa và thứ tự trước, viết DAX sau; sơ đồ này nằm ở diagrams/04_cay_kpi.drawio để mentor sửa khi cần.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lũy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Finance: POS ghi nhận ngày bán, online ghi nhận ngày giao, hoàn tiền ghi theo ngày xử lý (có thể trễ vài ngày), net_revenue chưa gồm VAT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25 phút.) Đọc sơ đồ theo ba làn: mentor chuẩn bị dữ liệu (nguồn Global Electronics Retailer, script sinh dữ liệu), học viên làm 5 bước trong Power BI (Power Query → mô hình → DAX → dashboard → báo cáo), và các điểm kiểm tra (QC_Summary, số đối soát, rubric). Nhấn mạnh hai file đầu vào của học viên: dataset và finance_revenue.xlsx. Sơ đồ gốc ở diagrams/01_pipeline_du_lieu.drawio.</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fact với ba grain khác nhau: fact_sales_line 63.004 dòng, mỗi dòng là một sản phẩm trong một đơn; fact_return 2.430 dòng, mỗi dòng một lần trả hàng; finance_revenue 19.400 dòng, mỗi dòng một ngày × một mã cửa hàng Finance. Ba lưu ý: có 120 dòng trùng hoàn toàn cần loại; fact_return không có store_key nên phải lấy qua order_number + line_item; fin_store_code không phải store_key nên phải map.</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fact không nối trực tiếp với nhau, chúng gặp nhau qua dim_date và dim_store. Phần làm trong Power Query: merge store_key vào fact_return, map store_key cho Finance.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map có hiệu lực theo ngày. Bẫy 1: cửa hàng 38 dùng mã GBR-03 đến 30/06/2019, sau đó GBR-03N; nếu chỉ join theo mã mà không lọc posting_date trong [valid_from, valid_to] thì doanh thu bị mất hoặc nhân đôi. Bẫy 2: dòng HQ-ADJ là bút toán ở văn phòng chính, store_key trống, không gán cho cửa hàng nào mà giải thích ở cấp tổng chuỗi. Kiểm tra sau merge: số dòng Finance vẫn đúng 19.400.</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measure chứ không xoá dòng (để vẫn đếm được đơn huỷ); đặt đúng kiểu dữ liệu (ngày là Date, tiền là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20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Finance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Finance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Finance.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Viết measure theo 5 nhóm và theo thứ tự: doanh thu → đơn &amp; giá → thời gian → Finance → quy đổi online. Measure sau dùng lại measure trước, ví dụ [Net Revenue] = [Net Sales] − [Returns]: sửa định nghĩa ở một chỗ thì đúng ở mọi nơi. Đặt tất cả trong bảng _Measures và gom theo display folder. Mỗi measure mới kiểm ngay bằng một card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SUMX: nhân quantity × unit_price từng dòng rồi mới cộng; CALCULATE thêm điều kiện COMPLETED cho mọi visual. Returns không lọc trạng thái vì mọi dòng trả hàng đều thuộc đơn COMPLETED (QC đã kiểm).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Finance − Net Revenue; Δ % chia cho trị tuyệt đối của Finance để giữ dấu. Cờ vượt ngưỡng xét ở từng ô tháng × cửa hàng; để đếm số ô ở mức năm, dùng SUMX qua CROSSJOIN tháng × cửa hàng – context transition tính lại measure cho từng ô.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inactive delivery_date chỉ trong measure này; KEEPFILTERS giữ lựa chọn của slicer Kênh. POS giữ ngày đặt hàng vì Finance ghi POS theo ngày bán. Ví dụ tháng 12/2020: Δ toàn chuỗi −12.536 USD; sau quy đổi online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35 phút.) Mở file Nexa_Sales_P1_Dashboard.html để trình chiếu trực tiếp nếu có thể; bản Excel Nexa_Sales_P1_Dashboard.xlsx dùng cho ai không có Power BI. Thứ tự đọc mỗi trang: câu Điểm chính → thẻ KPI → biểu đồ có tiêu đề nêu kết luận → bảng chi tiết. Luôn bắt đầu từ câu hỏi của trang,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câu Điểm chính: máy tính dẫn đầu, Mỹ là thị trường lớn nhất. Cột ngang xếp hạng cho thấy ngay mục lớn nhất (tô xanh) mà không cần đọc chú giải. Bảng kênh: cửa hàng chiếm khoảng ba phần tư Net Sales; cả hai kênh tăng mạnh so với tháng trước nhưng giảm sâu so với cùng kỳ; AOV cửa hàng cao hơn online.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tổng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diagrams/03_quy_trinh_doi_soat.drawio: bỏ trùng, giữ COMPLETED, tính Net Sales và Net Revenue phía đơn; map Finance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Finance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.pbix mở và làm mới được, cùng báo cáo PDF 8 phần theo guild_report_template, phụ lục có bảng cầu nối và danh sách ô vượt ngưỡng. Phần IV (Main Analysis) là đối soát tháng × cửa hàng × kênh; phần VII nêu as-of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Rubric 100 điểm: 40 kỹ thuật (làm sạch và mô hình 10, DAX 12, dashboard 12, trải nghiệm 6), 40 báo cáo (cấu trúc 8, đối soát 16, lập luận 10, giới hạn 6) và 20 sáng tạo (drill-through,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tổng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Finance thiếu dữ liệu −22.168,91 (cửa hàng S24); VAT +2.901,63 (S54, 06/2020); ghi trùng +10.141,04 (S12, 10/12/2020); ra Finance cửa hàng 8.797.370,41; cộng HQ-ADJ −1.435,50 ra tổng Finance.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VAT;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Finance không có dòng ở ngày cửa hàng có bán; đơn huỷ vẫn ghi nhận – ghép đơn CANCELLED với posting_date cùng cửa hàng; ghi trùng (S12, +10.141,04 USD) – hai dòng Finance giống hệt nhau; VAT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9.png"/><Relationship Id="rId8" Type="http://schemas.openxmlformats.org/officeDocument/2006/relationships/image" Target="../media/image36.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Outline</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data modeling</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Finance</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Finance</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Sales Manager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Sales khác số Finance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800" b="1" i="0">
                <a:solidFill>
                  <a:srgbClr val="222222"/>
                </a:solidFill>
                <a:latin typeface="Times New Roman"/>
                <a:ea typeface="Times New Roman"/>
                <a:cs typeface="Times New Roman"/>
              </a:rPr>
              <a:t>Data Analyst</a:t>
            </a:r>
          </a:p>
          <a:p>
            <a:pPr algn="ctr">
              <a:buNone/>
            </a:pPr>
            <a:r>
              <a:rPr sz="1800" b="0" i="0">
                <a:solidFill>
                  <a:srgbClr val="222222"/>
                </a:solidFill>
                <a:latin typeface="Times New Roman"/>
                <a:ea typeface="Times New Roman"/>
                <a:cs typeface="Times New Roman"/>
              </a:rPr>
              <a:t>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Finance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Finance</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Finance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Finance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Finance (finance_revenue.xlsx)</a:t>
            </a:r>
          </a:p>
          <a:p>
            <a:pPr algn="l">
              <a:buNone/>
            </a:pPr>
            <a:r>
              <a:rPr sz="1300" b="0" i="0">
                <a:solidFill>
                  <a:srgbClr val="222222"/>
                </a:solidFill>
                <a:latin typeface="Times New Roman"/>
                <a:ea typeface="Times New Roman"/>
                <a:cs typeface="Times New Roman"/>
              </a:rPr>
              <a:t>Ghi theo ngày hạch toán: online khi giao xong, hoàn tiền khi Finance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Finance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Data Analyst</a:t>
            </a:r>
          </a:p>
          <a:p>
            <a:pPr algn="l">
              <a:buNone/>
            </a:pPr>
            <a:r>
              <a:rPr sz="1400" b="0" i="0">
                <a:solidFill>
                  <a:srgbClr val="222222"/>
                </a:solidFill>
                <a:latin typeface="Times New Roman"/>
                <a:ea typeface="Times New Roman"/>
                <a:cs typeface="Times New Roman"/>
              </a:rPr>
              <a:t>Tính KPI từ dữ liệu đơn · ghép với Finance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Finance</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VAT)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E-commerce</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3 bộ lọc dùng chung và 4 trang dashboard</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1  File Power BI</a:t>
            </a:r>
            <a:r>
              <a:rPr sz="1600" b="0" i="0">
                <a:solidFill>
                  <a:srgbClr val="222222"/>
                </a:solidFill>
                <a:latin typeface="Times New Roman"/>
                <a:ea typeface="Times New Roman"/>
                <a:cs typeface="Times New Roman"/>
              </a:rPr>
              <a:t> – dashboard gồm 4 trang</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Bộ lọc dùng chung cho cả 4 trang</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Tháng báo cáo</a:t>
            </a:r>
          </a:p>
          <a:p>
            <a:pPr algn="l">
              <a:buNone/>
            </a:pPr>
            <a:r>
              <a:rPr sz="1300" b="0" i="0">
                <a:solidFill>
                  <a:srgbClr val="222222"/>
                </a:solidFill>
                <a:latin typeface="Times New Roman"/>
                <a:ea typeface="Times New Roman"/>
                <a:cs typeface="Times New Roman"/>
              </a:rPr>
              <a:t>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trang dashboard</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Điểm chính · 5 thẻ · Net Revenue 24 tháng · số đơn vs AOV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 đến từ đâu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Danh mục, quốc gia xếp hạng · bảng kênh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 với Finance</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Phân rã Δ · Δ theo tháng · bảng cửa hàng có ⚠ · Δ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Tỷ lệ hoàn trả · lý do ·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Mở trang bằng </a:t>
            </a:r>
            <a:r>
              <a:rPr sz="1700" b="1" i="0">
                <a:solidFill>
                  <a:srgbClr val="C55A1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rồi mới đến thẻ và </a:t>
            </a:r>
            <a:r>
              <a:rPr sz="1700" b="1" i="0">
                <a:solidFill>
                  <a:srgbClr val="C55A11"/>
                </a:solidFill>
                <a:latin typeface="Times New Roman"/>
                <a:ea typeface="Times New Roman"/>
                <a:cs typeface="Times New Roman"/>
              </a:rPr>
              <a:t>biểu đồ có tiêu đề nêu kết luận</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vì sao tăng/giảm, có khớp Finance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điểm %</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Finance</a:t>
            </a:r>
          </a:p>
          <a:p>
            <a:pPr algn="l">
              <a:buNone/>
            </a:pPr>
            <a:r>
              <a:rPr sz="1200" b="0" i="0">
                <a:solidFill>
                  <a:srgbClr val="595959"/>
                </a:solidFill>
                <a:latin typeface="Times New Roman"/>
                <a:ea typeface="Times New Roman"/>
                <a:cs typeface="Times New Roman"/>
              </a:rPr>
              <a:t>USD · % · số cửa hàng vượt</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Đường Net Revenue 24 tháng</a:t>
            </a:r>
          </a:p>
          <a:p>
            <a:pPr algn="l">
              <a:buNone/>
            </a:pPr>
            <a:r>
              <a:rPr sz="1300" b="0" i="0">
                <a:solidFill>
                  <a:srgbClr val="222222"/>
                </a:solidFill>
                <a:latin typeface="Times New Roman"/>
                <a:ea typeface="Times New Roman"/>
                <a:cs typeface="Times New Roman"/>
              </a:rPr>
              <a:t>Xám; tháng chọn tô xanh, ghi chú điểm cùng kỳ</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Waterfall Gross → Net Revenue</a:t>
            </a:r>
          </a:p>
          <a:p>
            <a:pPr algn="l">
              <a:buNone/>
            </a:pPr>
            <a:r>
              <a:rPr sz="1300" b="0" i="0">
                <a:solidFill>
                  <a:srgbClr val="222222"/>
                </a:solidFill>
                <a:latin typeface="Times New Roman"/>
                <a:ea typeface="Times New Roman"/>
                <a:cs typeface="Times New Roman"/>
              </a:rPr>
              <a:t>Gross − Giảm giá − Hoàn trả, tháng chọn</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Số đơn và AOV (2 biểu đồ nhỏ)</a:t>
            </a:r>
          </a:p>
          <a:p>
            <a:pPr algn="l">
              <a:buNone/>
            </a:pPr>
            <a:r>
              <a:rPr sz="1300" b="0" i="0">
                <a:solidFill>
                  <a:srgbClr val="222222"/>
                </a:solidFill>
                <a:latin typeface="Times New Roman"/>
                <a:ea typeface="Times New Roman"/>
                <a:cs typeface="Times New Roman"/>
              </a:rPr>
              <a:t>Tách 2 trục: giảm vì ít đơn hay đơn nhỏ?</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tháng có cửa hàng vượt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dùng pie/treemap: </a:t>
            </a:r>
            <a:r>
              <a:rPr sz="1700" b="1" i="0">
                <a:solidFill>
                  <a:srgbClr val="C55A11"/>
                </a:solidFill>
                <a:latin typeface="Times New Roman"/>
                <a:ea typeface="Times New Roman"/>
                <a:cs typeface="Times New Roman"/>
              </a:rPr>
              <a:t>cột ngang xếp hạng</a:t>
            </a:r>
            <a:r>
              <a:rPr sz="1700" b="0" i="0">
                <a:solidFill>
                  <a:srgbClr val="222222"/>
                </a:solidFill>
                <a:latin typeface="Times New Roman"/>
                <a:ea typeface="Times New Roman"/>
                <a:cs typeface="Times New Roman"/>
              </a:rPr>
              <a:t> so sánh độ dài nhanh và chính xác hơn</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 đến từ đâu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Units</a:t>
            </a:r>
          </a:p>
          <a:p>
            <a:pPr algn="l">
              <a:buNone/>
            </a:pPr>
            <a:r>
              <a:rPr sz="1200" b="0" i="0">
                <a:solidFill>
                  <a:srgbClr val="595959"/>
                </a:solidFill>
                <a:latin typeface="Times New Roman"/>
                <a:ea typeface="Times New Roman"/>
                <a:cs typeface="Times New Roman"/>
              </a:rPr>
              <a:t>sản phẩm</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trọng online</a:t>
            </a:r>
          </a:p>
          <a:p>
            <a:pPr algn="l">
              <a:buNone/>
            </a:pPr>
            <a:r>
              <a:rPr sz="1200" b="0" i="0">
                <a:solidFill>
                  <a:srgbClr val="595959"/>
                </a:solidFill>
                <a:latin typeface="Times New Roman"/>
                <a:ea typeface="Times New Roman"/>
                <a:cs typeface="Times New Roman"/>
              </a:rPr>
              <a:t>% Net Sales</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Giảm giá / Gross</a:t>
            </a:r>
          </a:p>
          <a:p>
            <a:pPr algn="l">
              <a:buNone/>
            </a:pPr>
            <a:r>
              <a:rPr sz="1200" b="0" i="0">
                <a:solidFill>
                  <a:srgbClr val="595959"/>
                </a:solidFill>
                <a:latin typeface="Times New Roman"/>
                <a:ea typeface="Times New Roman"/>
                <a:cs typeface="Times New Roman"/>
              </a:rPr>
              <a:t>% · điểm %</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danh mục, xếp hạng</a:t>
            </a:r>
          </a:p>
          <a:p>
            <a:pPr algn="l">
              <a:buNone/>
            </a:pPr>
            <a:r>
              <a:rPr sz="1300" b="0" i="0">
                <a:solidFill>
                  <a:srgbClr val="222222"/>
                </a:solidFill>
                <a:latin typeface="Times New Roman"/>
                <a:ea typeface="Times New Roman"/>
                <a:cs typeface="Times New Roman"/>
              </a:rPr>
              <a:t>Mục lớn nhất tô xanh, còn lại xám; nhãn giá trị + %</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quốc gia</a:t>
            </a:r>
          </a:p>
          <a:p>
            <a:pPr algn="l">
              <a:buNone/>
            </a:pPr>
            <a:r>
              <a:rPr sz="1300" b="0" i="0">
                <a:solidFill>
                  <a:srgbClr val="222222"/>
                </a:solidFill>
                <a:latin typeface="Times New Roman"/>
                <a:ea typeface="Times New Roman"/>
                <a:cs typeface="Times New Roman"/>
              </a:rPr>
              <a:t>Online là một dòng riêng</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kênh</a:t>
            </a:r>
          </a:p>
          <a:p>
            <a:pPr algn="l">
              <a:buNone/>
            </a:pPr>
            <a:r>
              <a:rPr sz="1300" b="0" i="0">
                <a:solidFill>
                  <a:srgbClr val="222222"/>
                </a:solidFill>
                <a:latin typeface="Times New Roman"/>
                <a:ea typeface="Times New Roman"/>
                <a:cs typeface="Times New Roman"/>
              </a:rPr>
              <a:t>Net Sales, đơn, AOV, so với tháng trước và cùng kỳ</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Top 10 cửa hàng</a:t>
            </a:r>
          </a:p>
          <a:p>
            <a:pPr algn="l">
              <a:buNone/>
            </a:pPr>
            <a:r>
              <a:rPr sz="1300" b="0" i="0">
                <a:solidFill>
                  <a:srgbClr val="222222"/>
                </a:solidFill>
                <a:latin typeface="Times New Roman"/>
                <a:ea typeface="Times New Roman"/>
                <a:cs typeface="Times New Roman"/>
              </a:rPr>
              <a:t>Thanh trong ô + so với tháng trước, cùng kỳ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Finance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Finance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 với Finance</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(Finance)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a:t>
            </a:r>
          </a:p>
          <a:p>
            <a:pPr algn="l">
              <a:buNone/>
            </a:pPr>
            <a:r>
              <a:rPr sz="1200" b="0" i="0">
                <a:solidFill>
                  <a:srgbClr val="595959"/>
                </a:solidFill>
                <a:latin typeface="Times New Roman"/>
                <a:ea typeface="Times New Roman"/>
                <a:cs typeface="Times New Roman"/>
              </a:rPr>
              <a:t>USD · % trên Finance</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sau quy đổi online</a:t>
            </a:r>
          </a:p>
          <a:p>
            <a:pPr algn="l">
              <a:buNone/>
            </a:pPr>
            <a:r>
              <a:rPr sz="1200" b="0" i="0">
                <a:solidFill>
                  <a:srgbClr val="595959"/>
                </a:solidFill>
                <a:latin typeface="Times New Roman"/>
                <a:ea typeface="Times New Roman"/>
                <a:cs typeface="Times New Roman"/>
              </a:rPr>
              <a:t>USD</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Cửa hàng vượt ngưỡng</a:t>
            </a:r>
          </a:p>
          <a:p>
            <a:pPr algn="l">
              <a:buNone/>
            </a:pPr>
            <a:r>
              <a:rPr sz="1200" b="0" i="0">
                <a:solidFill>
                  <a:srgbClr val="595959"/>
                </a:solidFill>
                <a:latin typeface="Times New Roman"/>
                <a:ea typeface="Times New Roman"/>
                <a:cs typeface="Times New Roman"/>
              </a:rPr>
              <a:t>/ số cửa hàng</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Phân rã Δ tháng chọn</a:t>
            </a:r>
          </a:p>
          <a:p>
            <a:pPr algn="l">
              <a:buNone/>
            </a:pPr>
            <a:r>
              <a:rPr sz="1300" b="0" i="0">
                <a:solidFill>
                  <a:srgbClr val="222222"/>
                </a:solidFill>
                <a:latin typeface="Times New Roman"/>
                <a:ea typeface="Times New Roman"/>
                <a:cs typeface="Times New Roman"/>
              </a:rPr>
              <a:t>Online lệch thời điểm → cửa hàng ⚠ → còn lại</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có cửa hàng vượt ngưỡng</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cửa hàng xếp theo |Δ|</a:t>
            </a:r>
          </a:p>
          <a:p>
            <a:pPr algn="l">
              <a:buNone/>
            </a:pPr>
            <a:r>
              <a:rPr sz="1300" b="0" i="0">
                <a:solidFill>
                  <a:srgbClr val="222222"/>
                </a:solidFill>
                <a:latin typeface="Times New Roman"/>
                <a:ea typeface="Times New Roman"/>
                <a:cs typeface="Times New Roman"/>
              </a:rPr>
              <a:t>Đơn, Finance, Δ, Δ%, Δ sau quy đổi, ⚠ Vượt</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Δ online: gốc và sau quy đổi</a:t>
            </a:r>
          </a:p>
          <a:p>
            <a:pPr algn="l">
              <a:buNone/>
            </a:pPr>
            <a:r>
              <a:rPr sz="1300" b="0" i="0">
                <a:solidFill>
                  <a:srgbClr val="222222"/>
                </a:solidFill>
                <a:latin typeface="Times New Roman"/>
                <a:ea typeface="Times New Roman"/>
                <a:cs typeface="Times New Roman"/>
              </a:rPr>
              <a:t>Về gần 0 → lệch thời điểm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màu đảo,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Đường tỷ lệ hoàn trả 24 tháng</a:t>
            </a:r>
          </a:p>
          <a:p>
            <a:pPr algn="l">
              <a:buNone/>
            </a:pPr>
            <a:r>
              <a:rPr sz="1300" b="0" i="0">
                <a:solidFill>
                  <a:srgbClr val="222222"/>
                </a:solidFill>
                <a:latin typeface="Times New Roman"/>
                <a:ea typeface="Times New Roman"/>
                <a:cs typeface="Times New Roman"/>
              </a:rPr>
              <a:t>Tháng chọn tô xanh</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lý do trả hàng</a:t>
            </a:r>
          </a:p>
          <a:p>
            <a:pPr algn="l">
              <a:buNone/>
            </a:pPr>
            <a:r>
              <a:rPr sz="1300" b="0" i="0">
                <a:solidFill>
                  <a:srgbClr val="222222"/>
                </a:solidFill>
                <a:latin typeface="Times New Roman"/>
                <a:ea typeface="Times New Roman"/>
                <a:cs typeface="Times New Roman"/>
              </a:rPr>
              <a:t>Lý do lớn nhất tô xanh</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tỷ lệ hoàn trả theo danh mục</a:t>
            </a:r>
          </a:p>
          <a:p>
            <a:pPr algn="l">
              <a:buNone/>
            </a:pPr>
            <a:r>
              <a:rPr sz="1300" b="0" i="0">
                <a:solidFill>
                  <a:srgbClr val="222222"/>
                </a:solidFill>
                <a:latin typeface="Times New Roman"/>
                <a:ea typeface="Times New Roman"/>
                <a:cs typeface="Times New Roman"/>
              </a:rPr>
              <a:t>Nhãn kèm Net Sales để đọc cùng quy mô</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3 slicer dùng chung,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Map Finance theo valid_from /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Line chart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Tiêu đề hành động nêu kết luận, câu Điểm chính đầu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Xám cho bối cảnh, 1 màu nhấn;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Drill-through "Chi tiết cửa hàng – ngày"</a:t>
            </a:r>
          </a:p>
          <a:p>
            <a:pPr algn="l" marL="274320" indent="-274320">
              <a:spcAft>
                <a:spcPts val="700"/>
              </a:spcAft>
              <a:buFont typeface="Arial"/>
              <a:buChar char="☐"/>
            </a:pPr>
            <a:r>
              <a:rPr sz="1400" b="0" i="0">
                <a:solidFill>
                  <a:srgbClr val="222222"/>
                </a:solidFill>
                <a:latin typeface="Times New Roman"/>
                <a:ea typeface="Times New Roman"/>
                <a:cs typeface="Times New Roman"/>
              </a:rPr>
              <a:t>Tooltip Δ theo ngày khi rê chuột vào ô vượt ngưỡng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Nguyên tắc trình bày: Storytelling with Data (Cole Nussbaumer Knaflic)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Dashboard để </a:t>
            </a:r>
            <a:r>
              <a:rPr sz="1700" b="1" i="0">
                <a:solidFill>
                  <a:srgbClr val="C55A11"/>
                </a:solidFill>
                <a:latin typeface="Times New Roman"/>
                <a:ea typeface="Times New Roman"/>
                <a:cs typeface="Times New Roman"/>
              </a:rPr>
              <a:t>ra quyết định</a:t>
            </a:r>
            <a:r>
              <a:rPr sz="1700" b="0" i="0">
                <a:solidFill>
                  <a:srgbClr val="222222"/>
                </a:solidFill>
                <a:latin typeface="Times New Roman"/>
                <a:ea typeface="Times New Roman"/>
                <a:cs typeface="Times New Roman"/>
              </a:rPr>
              <a:t>, không để trưng bày: người xem phải thấy kết luận trong 3 giây</a:t>
            </a:r>
          </a:p>
        </p:txBody>
      </p:sp>
      <p:sp>
        <p:nvSpPr>
          <p:cNvPr id="143" name="Rounded Rectangle 142"/>
          <p:cNvSpPr/>
          <p:nvPr/>
        </p:nvSpPr>
        <p:spPr>
          <a:xfrm>
            <a:off x="365760" y="137160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Hiểu bối cảnh</a:t>
            </a:r>
          </a:p>
        </p:txBody>
      </p:sp>
      <p:sp>
        <p:nvSpPr>
          <p:cNvPr id="145" name="TextBox 144"/>
          <p:cNvSpPr txBox="1"/>
          <p:nvPr/>
        </p:nvSpPr>
        <p:spPr>
          <a:xfrm>
            <a:off x="50292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Ai xem, cần quyết định gì? Viết Big Idea thành 1 câu: câu Điểm chính đầu mỗi trang.</a:t>
            </a:r>
          </a:p>
        </p:txBody>
      </p:sp>
      <p:sp>
        <p:nvSpPr>
          <p:cNvPr id="146" name="Rounded Rectangle 145"/>
          <p:cNvSpPr/>
          <p:nvPr/>
        </p:nvSpPr>
        <p:spPr>
          <a:xfrm>
            <a:off x="4206240" y="137160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Chọn hình phù hợp</a:t>
            </a:r>
          </a:p>
        </p:txBody>
      </p:sp>
      <p:sp>
        <p:nvSpPr>
          <p:cNvPr id="148" name="TextBox 147"/>
          <p:cNvSpPr txBox="1"/>
          <p:nvPr/>
        </p:nvSpPr>
        <p:spPr>
          <a:xfrm>
            <a:off x="434340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Đường cho xu hướng, cột ngang xếp hạng cho danh mục, bảng cho chi tiết. Bỏ pie, donut, treemap, 3D.</a:t>
            </a:r>
          </a:p>
        </p:txBody>
      </p:sp>
      <p:sp>
        <p:nvSpPr>
          <p:cNvPr id="149" name="Rounded Rectangle 148"/>
          <p:cNvSpPr/>
          <p:nvPr/>
        </p:nvSpPr>
        <p:spPr>
          <a:xfrm>
            <a:off x="8046720" y="1371600"/>
            <a:ext cx="3657600" cy="21945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Gỡ rối</a:t>
            </a:r>
          </a:p>
        </p:txBody>
      </p:sp>
      <p:sp>
        <p:nvSpPr>
          <p:cNvPr id="151" name="TextBox 150"/>
          <p:cNvSpPr txBox="1"/>
          <p:nvPr/>
        </p:nvSpPr>
        <p:spPr>
          <a:xfrm>
            <a:off x="818388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Bỏ khung, nền màu, lưới đậm, chú giải thừa; nhãn trực tiếp; ít chữ số lẻ.</a:t>
            </a:r>
          </a:p>
        </p:txBody>
      </p:sp>
      <p:sp>
        <p:nvSpPr>
          <p:cNvPr id="152" name="Rounded Rectangle 151"/>
          <p:cNvSpPr/>
          <p:nvPr/>
        </p:nvSpPr>
        <p:spPr>
          <a:xfrm>
            <a:off x="365760" y="3703320"/>
            <a:ext cx="3657600" cy="21945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Rounded Rectangle 152"/>
          <p:cNvSpPr/>
          <p:nvPr/>
        </p:nvSpPr>
        <p:spPr>
          <a:xfrm>
            <a:off x="365760" y="3703320"/>
            <a:ext cx="365760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Dẫn mắt người xem</a:t>
            </a:r>
          </a:p>
        </p:txBody>
      </p:sp>
      <p:sp>
        <p:nvSpPr>
          <p:cNvPr id="154" name="TextBox 153"/>
          <p:cNvSpPr txBox="1"/>
          <p:nvPr/>
        </p:nvSpPr>
        <p:spPr>
          <a:xfrm>
            <a:off x="50292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Xám cho bối cảnh, MỘT màu nhấn cho điều cần thấy; đỏ chỉ cho vấn đề (⚠ vượt ngưỡng).</a:t>
            </a:r>
          </a:p>
        </p:txBody>
      </p:sp>
      <p:sp>
        <p:nvSpPr>
          <p:cNvPr id="155" name="Rounded Rectangle 154"/>
          <p:cNvSpPr/>
          <p:nvPr/>
        </p:nvSpPr>
        <p:spPr>
          <a:xfrm>
            <a:off x="4206240" y="370332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4206240" y="370332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Nghĩ như nhà thiết kế</a:t>
            </a:r>
          </a:p>
        </p:txBody>
      </p:sp>
      <p:sp>
        <p:nvSpPr>
          <p:cNvPr id="157" name="TextBox 156"/>
          <p:cNvSpPr txBox="1"/>
          <p:nvPr/>
        </p:nvSpPr>
        <p:spPr>
          <a:xfrm>
            <a:off x="434340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Căn lưới thẳng, định dạng số thống nhất, màu an toàn cho người mù màu, tooltip.</a:t>
            </a:r>
          </a:p>
        </p:txBody>
      </p:sp>
      <p:sp>
        <p:nvSpPr>
          <p:cNvPr id="158" name="Rounded Rectangle 157"/>
          <p:cNvSpPr/>
          <p:nvPr/>
        </p:nvSpPr>
        <p:spPr>
          <a:xfrm>
            <a:off x="8046720" y="370332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8046720" y="370332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6 · Kể chuyện</a:t>
            </a:r>
          </a:p>
        </p:txBody>
      </p:sp>
      <p:sp>
        <p:nvSpPr>
          <p:cNvPr id="160" name="TextBox 159"/>
          <p:cNvSpPr txBox="1"/>
          <p:nvPr/>
        </p:nvSpPr>
        <p:spPr>
          <a:xfrm>
            <a:off x="818388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Tiêu đề nêu kết luận ("Máy tính chiếm 43% Net Sales"), không chỉ mô tả; nguồn và as-of ở chân trang.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mẫu số chung của AOV, ASP,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mãi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Finance</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mãi. Đơn này không có hoàn trả nên Net Revenue = Net Sales.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và tỷ lệ hoàn trả đều chia cho Net Sales</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Lũy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Finance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hạch toán</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Finance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E-commerce</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Finance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VAT</a:t>
            </a:r>
          </a:p>
          <a:p>
            <a:pPr algn="l">
              <a:buNone/>
            </a:pPr>
            <a:r>
              <a:rPr sz="1300" b="0" i="0">
                <a:solidFill>
                  <a:srgbClr val="222222"/>
                </a:solidFill>
                <a:latin typeface="Times New Roman"/>
                <a:ea typeface="Times New Roman"/>
                <a:cs typeface="Times New Roman"/>
              </a:rPr>
              <a:t>net_revenue chưa gồm VAT; vat_amount = 10% × net_revenue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Finance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(United States)</a:t>
            </a:r>
          </a:p>
          <a:p>
            <a:pPr algn="l">
              <a:spcAft>
                <a:spcPts val="300"/>
              </a:spcAft>
              <a:buNone/>
            </a:pPr>
            <a:r>
              <a:rPr sz="1300" b="0" i="0">
                <a:solidFill>
                  <a:srgbClr val="222222"/>
                </a:solidFill>
                <a:latin typeface="Times New Roman"/>
                <a:ea typeface="Times New Roman"/>
                <a:cs typeface="Times New Roman"/>
              </a:rPr>
              <a:t>Đơn: 6.191,92 · Finance: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(France)</a:t>
            </a:r>
          </a:p>
          <a:p>
            <a:pPr algn="l">
              <a:spcAft>
                <a:spcPts val="300"/>
              </a:spcAft>
              <a:buNone/>
            </a:pPr>
            <a:r>
              <a:rPr sz="1300" b="0" i="0">
                <a:solidFill>
                  <a:srgbClr val="222222"/>
                </a:solidFill>
                <a:latin typeface="Times New Roman"/>
                <a:ea typeface="Times New Roman"/>
                <a:cs typeface="Times New Roman"/>
              </a:rPr>
              <a:t>Đơn: 20.853,35 · Finance: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a:t>
            </a:r>
            <a:r>
              <a:rPr sz="1700" b="1" i="0">
                <a:solidFill>
                  <a:srgbClr val="2E5B31"/>
                </a:solidFill>
                <a:latin typeface="Times New Roman"/>
                <a:ea typeface="Times New Roman"/>
                <a:cs typeface="Times New Roman"/>
              </a:rPr>
              <a:t>Power Query → Mô hình → DAX → Dashboard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fact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hạt dữ liệu (grain)</a:t>
            </a:r>
            <a:r>
              <a:rPr sz="1700" b="0" i="0">
                <a:solidFill>
                  <a:srgbClr val="222222"/>
                </a:solidFill>
                <a:latin typeface="Times New Roman"/>
                <a:ea typeface="Times New Roman"/>
                <a:cs typeface="Times New Roman"/>
              </a:rPr>
              <a:t> khác nhau: dòng sản phẩm, lần trả hàng, ngày × mã cửa hàng Finance</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Finance</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fact</a:t>
            </a:r>
          </a:p>
          <a:p>
            <a:pPr algn="l">
              <a:buNone/>
            </a:pPr>
            <a:r>
              <a:rPr sz="1200" b="0" i="0">
                <a:solidFill>
                  <a:srgbClr val="595959"/>
                </a:solidFill>
                <a:latin typeface="Times New Roman"/>
                <a:ea typeface="Times New Roman"/>
                <a:cs typeface="Times New Roman"/>
              </a:rPr>
              <a:t>đơn · trả hàng · Finance</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7</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dim</a:t>
            </a:r>
          </a:p>
          <a:p>
            <a:pPr algn="l">
              <a:buNone/>
            </a:pPr>
            <a:r>
              <a:rPr sz="1200" b="0" i="0">
                <a:solidFill>
                  <a:srgbClr val="595959"/>
                </a:solidFill>
                <a:latin typeface="Times New Roman"/>
                <a:ea typeface="Times New Roman"/>
                <a:cs typeface="Times New Roman"/>
              </a:rPr>
              <a:t>ngày, cửa hàng, sản phẩm…</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map</a:t>
            </a:r>
          </a:p>
          <a:p>
            <a:pPr algn="l">
              <a:buNone/>
            </a:pPr>
            <a:r>
              <a:rPr sz="1200" b="0" i="0">
                <a:solidFill>
                  <a:srgbClr val="595959"/>
                </a:solidFill>
                <a:latin typeface="Times New Roman"/>
                <a:ea typeface="Times New Roman"/>
                <a:cs typeface="Times New Roman"/>
              </a:rPr>
              <a:t>mã Finance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ngày hạch toán × một mã cửa hàng Finance</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map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dim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mãi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Finance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star schema</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Power BI</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fact_sales_line[order_date]</a:t>
            </a:r>
            <a:r>
              <a:rPr sz="1300" b="0" i="0">
                <a:solidFill>
                  <a:srgbClr val="222222"/>
                </a:solidFill>
                <a:latin typeface="Times New Roman"/>
                <a:ea typeface="Times New Roman"/>
                <a:cs typeface="Times New Roman"/>
              </a:rPr>
              <a:t> → dim_date: active</a:t>
            </a:r>
          </a:p>
          <a:p>
            <a:pPr algn="l" marL="182880" indent="-182880">
              <a:spcAft>
                <a:spcPts val="600"/>
              </a:spcAft>
              <a:buFont typeface="Arial"/>
              <a:buChar char="•"/>
            </a:pPr>
            <a:r>
              <a:rPr sz="1300" b="1" i="0">
                <a:solidFill>
                  <a:srgbClr val="222222"/>
                </a:solidFill>
                <a:latin typeface="Times New Roman"/>
                <a:ea typeface="Times New Roman"/>
                <a:cs typeface="Times New Roman"/>
              </a:rPr>
              <a:t>fact_sales_line[delivery_date]</a:t>
            </a:r>
            <a:r>
              <a:rPr sz="1300" b="0" i="0">
                <a:solidFill>
                  <a:srgbClr val="222222"/>
                </a:solidFill>
                <a:latin typeface="Times New Roman"/>
                <a:ea typeface="Times New Roman"/>
                <a:cs typeface="Times New Roman"/>
              </a:rPr>
              <a:t> → dim_date: inactive</a:t>
            </a:r>
          </a:p>
          <a:p>
            <a:pPr algn="l" marL="182880" indent="-182880">
              <a:spcAft>
                <a:spcPts val="600"/>
              </a:spcAft>
              <a:buFont typeface="Arial"/>
              <a:buChar char="•"/>
            </a:pPr>
            <a:r>
              <a:rPr sz="1300" b="1" i="0">
                <a:solidFill>
                  <a:srgbClr val="222222"/>
                </a:solidFill>
                <a:latin typeface="Times New Roman"/>
                <a:ea typeface="Times New Roman"/>
                <a:cs typeface="Times New Roman"/>
              </a:rPr>
              <a:t>fact_return[return_date]</a:t>
            </a:r>
            <a:r>
              <a:rPr sz="1300" b="0" i="0">
                <a:solidFill>
                  <a:srgbClr val="222222"/>
                </a:solidFill>
                <a:latin typeface="Times New Roman"/>
                <a:ea typeface="Times New Roman"/>
                <a:cs typeface="Times New Roman"/>
              </a:rPr>
              <a:t> → dim_date: active</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merge store_key, channel_code, product_key từ fact_sales_line trong Power Query</a:t>
            </a:r>
          </a:p>
          <a:p>
            <a:pPr algn="l" marL="182880" indent="-182880">
              <a:spcAft>
                <a:spcPts val="600"/>
              </a:spcAft>
              <a:buFont typeface="Arial"/>
              <a:buChar char="•"/>
            </a:pPr>
            <a:r>
              <a:rPr sz="1300" b="0" i="0">
                <a:solidFill>
                  <a:srgbClr val="222222"/>
                </a:solidFill>
                <a:latin typeface="Times New Roman"/>
                <a:ea typeface="Times New Roman"/>
                <a:cs typeface="Times New Roman"/>
              </a:rPr>
              <a:t>fact_finance: map store_key trong Power Query, nối dim_date theo posting_date</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fact trực tiếp với nhau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Finance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Join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văn phòng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Map không theo hiệu lực → doanh thu từ 07/2019 thành "không xác định cửa hàng" hoặc bị nhân đôi.</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văn phòng chính, store_key trống. Không gán vào cửa hàng nào; giải thích ở cấp tổng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dữ liệu đủ cột, lọc COMPLETED trong measure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Decimal, store_key là Whole Number ở mọi bảng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Finance,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Finance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Finance: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Finance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Finance trễ hơn ở các tháng có nhiều đơn online giao sang tháng sau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Finance tính theo ngày giao: đơn đặt cuối tháng, giao đầu tháng sau sẽ "nhảy" sang tháng khác.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mãi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mãi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Finance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measure: viết theo thứ tự, measure sau dùng lại measure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Gross Sales</a:t>
            </a:r>
          </a:p>
        </p:txBody>
      </p:sp>
      <p:sp>
        <p:nvSpPr>
          <p:cNvPr id="146" name="Rounded Rectangle 145"/>
          <p:cNvSpPr/>
          <p:nvPr/>
        </p:nvSpPr>
        <p:spPr>
          <a:xfrm>
            <a:off x="502920"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Discounts</a:t>
            </a:r>
          </a:p>
        </p:txBody>
      </p:sp>
      <p:sp>
        <p:nvSpPr>
          <p:cNvPr id="147" name="Rounded Rectangle 146"/>
          <p:cNvSpPr/>
          <p:nvPr/>
        </p:nvSpPr>
        <p:spPr>
          <a:xfrm>
            <a:off x="502920"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Sales</a:t>
            </a:r>
          </a:p>
        </p:txBody>
      </p:sp>
      <p:sp>
        <p:nvSpPr>
          <p:cNvPr id="148" name="Rounded Rectangle 147"/>
          <p:cNvSpPr/>
          <p:nvPr/>
        </p:nvSpPr>
        <p:spPr>
          <a:xfrm>
            <a:off x="502920"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Returns</a:t>
            </a:r>
          </a:p>
        </p:txBody>
      </p:sp>
      <p:sp>
        <p:nvSpPr>
          <p:cNvPr id="149" name="Rounded Rectangle 148"/>
          <p:cNvSpPr/>
          <p:nvPr/>
        </p:nvSpPr>
        <p:spPr>
          <a:xfrm>
            <a:off x="502920"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Orders</a:t>
            </a:r>
          </a:p>
        </p:txBody>
      </p:sp>
      <p:sp>
        <p:nvSpPr>
          <p:cNvPr id="154" name="Rounded Rectangle 153"/>
          <p:cNvSpPr/>
          <p:nvPr/>
        </p:nvSpPr>
        <p:spPr>
          <a:xfrm>
            <a:off x="2816351"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Units</a:t>
            </a:r>
          </a:p>
        </p:txBody>
      </p:sp>
      <p:sp>
        <p:nvSpPr>
          <p:cNvPr id="155" name="Rounded Rectangle 154"/>
          <p:cNvSpPr/>
          <p:nvPr/>
        </p:nvSpPr>
        <p:spPr>
          <a:xfrm>
            <a:off x="2816351"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AOV</a:t>
            </a:r>
          </a:p>
        </p:txBody>
      </p:sp>
      <p:sp>
        <p:nvSpPr>
          <p:cNvPr id="156" name="Rounded Rectangle 155"/>
          <p:cNvSpPr/>
          <p:nvPr/>
        </p:nvSpPr>
        <p:spPr>
          <a:xfrm>
            <a:off x="2816351"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ASP</a:t>
            </a:r>
          </a:p>
        </p:txBody>
      </p:sp>
      <p:sp>
        <p:nvSpPr>
          <p:cNvPr id="157" name="Rounded Rectangle 156"/>
          <p:cNvSpPr/>
          <p:nvPr/>
        </p:nvSpPr>
        <p:spPr>
          <a:xfrm>
            <a:off x="2816351"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Thời gian</a:t>
            </a:r>
          </a:p>
        </p:txBody>
      </p:sp>
      <p:sp>
        <p:nvSpPr>
          <p:cNvPr id="161" name="Rounded Rectangle 160"/>
          <p:cNvSpPr/>
          <p:nvPr/>
        </p:nvSpPr>
        <p:spPr>
          <a:xfrm>
            <a:off x="5129784"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LM</a:t>
            </a:r>
          </a:p>
        </p:txBody>
      </p:sp>
      <p:sp>
        <p:nvSpPr>
          <p:cNvPr id="162" name="Rounded Rectangle 161"/>
          <p:cNvSpPr/>
          <p:nvPr/>
        </p:nvSpPr>
        <p:spPr>
          <a:xfrm>
            <a:off x="5129784"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SPLY</a:t>
            </a:r>
          </a:p>
        </p:txBody>
      </p:sp>
      <p:sp>
        <p:nvSpPr>
          <p:cNvPr id="163" name="Rounded Rectangle 162"/>
          <p:cNvSpPr/>
          <p:nvPr/>
        </p:nvSpPr>
        <p:spPr>
          <a:xfrm>
            <a:off x="5129784"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YTD</a:t>
            </a:r>
          </a:p>
        </p:txBody>
      </p:sp>
      <p:sp>
        <p:nvSpPr>
          <p:cNvPr id="164" name="Rounded Rectangle 163"/>
          <p:cNvSpPr/>
          <p:nvPr/>
        </p:nvSpPr>
        <p:spPr>
          <a:xfrm>
            <a:off x="5129784"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vs LM</a:t>
            </a:r>
          </a:p>
        </p:txBody>
      </p:sp>
      <p:sp>
        <p:nvSpPr>
          <p:cNvPr id="165" name="Rounded Rectangle 164"/>
          <p:cNvSpPr/>
          <p:nvPr/>
        </p:nvSpPr>
        <p:spPr>
          <a:xfrm>
            <a:off x="5129784"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vs SPLY</a:t>
            </a:r>
          </a:p>
        </p:txBody>
      </p:sp>
      <p:sp>
        <p:nvSpPr>
          <p:cNvPr id="166" name="Right Arrow 165"/>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7306056"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8" name="Rounded Rectangle 167"/>
          <p:cNvSpPr/>
          <p:nvPr/>
        </p:nvSpPr>
        <p:spPr>
          <a:xfrm>
            <a:off x="7306056"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Finance</a:t>
            </a:r>
          </a:p>
        </p:txBody>
      </p:sp>
      <p:sp>
        <p:nvSpPr>
          <p:cNvPr id="169" name="Rounded Rectangle 168"/>
          <p:cNvSpPr/>
          <p:nvPr/>
        </p:nvSpPr>
        <p:spPr>
          <a:xfrm>
            <a:off x="7443216"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Finance Net Revenue</a:t>
            </a:r>
          </a:p>
        </p:txBody>
      </p:sp>
      <p:sp>
        <p:nvSpPr>
          <p:cNvPr id="170" name="Rounded Rectangle 169"/>
          <p:cNvSpPr/>
          <p:nvPr/>
        </p:nvSpPr>
        <p:spPr>
          <a:xfrm>
            <a:off x="7443216"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a:t>
            </a:r>
          </a:p>
        </p:txBody>
      </p:sp>
      <p:sp>
        <p:nvSpPr>
          <p:cNvPr id="171" name="Rounded Rectangle 170"/>
          <p:cNvSpPr/>
          <p:nvPr/>
        </p:nvSpPr>
        <p:spPr>
          <a:xfrm>
            <a:off x="7443216"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 %</a:t>
            </a:r>
          </a:p>
        </p:txBody>
      </p:sp>
      <p:sp>
        <p:nvSpPr>
          <p:cNvPr id="172" name="Rounded Rectangle 171"/>
          <p:cNvSpPr/>
          <p:nvPr/>
        </p:nvSpPr>
        <p:spPr>
          <a:xfrm>
            <a:off x="7443216"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Cờ vượt ngưỡng</a:t>
            </a:r>
          </a:p>
        </p:txBody>
      </p:sp>
      <p:sp>
        <p:nvSpPr>
          <p:cNvPr id="173" name="Rounded Rectangle 172"/>
          <p:cNvSpPr/>
          <p:nvPr/>
        </p:nvSpPr>
        <p:spPr>
          <a:xfrm>
            <a:off x="7443216"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Số ô vượt ngưỡng</a:t>
            </a:r>
          </a:p>
        </p:txBody>
      </p:sp>
      <p:sp>
        <p:nvSpPr>
          <p:cNvPr id="174" name="Right Arrow 173"/>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5" name="Rounded Rectangle 174"/>
          <p:cNvSpPr/>
          <p:nvPr/>
        </p:nvSpPr>
        <p:spPr>
          <a:xfrm>
            <a:off x="9619488"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6" name="Rounded Rectangle 175"/>
          <p:cNvSpPr/>
          <p:nvPr/>
        </p:nvSpPr>
        <p:spPr>
          <a:xfrm>
            <a:off x="9619488"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Quy đổi online</a:t>
            </a:r>
          </a:p>
        </p:txBody>
      </p:sp>
      <p:sp>
        <p:nvSpPr>
          <p:cNvPr id="177" name="Rounded Rectangle 176"/>
          <p:cNvSpPr/>
          <p:nvPr/>
        </p:nvSpPr>
        <p:spPr>
          <a:xfrm>
            <a:off x="9756648"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(ngày giao)</a:t>
            </a:r>
          </a:p>
        </p:txBody>
      </p:sp>
      <p:sp>
        <p:nvSpPr>
          <p:cNvPr id="178" name="Rounded Rectangle 177"/>
          <p:cNvSpPr/>
          <p:nvPr/>
        </p:nvSpPr>
        <p:spPr>
          <a:xfrm>
            <a:off x="9756648"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(cơ sở Finance)</a:t>
            </a:r>
          </a:p>
        </p:txBody>
      </p:sp>
      <p:sp>
        <p:nvSpPr>
          <p:cNvPr id="179" name="Rounded Rectangle 178"/>
          <p:cNvSpPr/>
          <p:nvPr/>
        </p:nvSpPr>
        <p:spPr>
          <a:xfrm>
            <a:off x="9756648"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Δ sau quy đổi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measure;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SUMX</a:t>
            </a:r>
            <a:r>
              <a:rPr sz="1300" b="0" i="0">
                <a:solidFill>
                  <a:srgbClr val="24292F"/>
                </a:solidFill>
                <a:latin typeface="Courier New"/>
                <a:ea typeface="Courier New"/>
                <a:cs typeface="Courier New"/>
              </a:rPr>
              <a:t> ( fact_sales_line,</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fact_sales_line[unit_price]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SUMX</a:t>
            </a:r>
            <a:r>
              <a:rPr sz="1300" b="0" i="0">
                <a:solidFill>
                  <a:srgbClr val="222222"/>
                </a:solidFill>
                <a:latin typeface="Times New Roman"/>
                <a:ea typeface="Times New Roman"/>
                <a:cs typeface="Times New Roman"/>
              </a:rPr>
              <a:t> nhân quantity × unit_price từng dòng rồi mới cộng</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a:t>
            </a:r>
            <a:r>
              <a:rPr sz="1300" b="0" i="0">
                <a:solidFill>
                  <a:srgbClr val="222222"/>
                </a:solidFill>
                <a:latin typeface="Times New Roman"/>
                <a:ea typeface="Times New Roman"/>
                <a:cs typeface="Times New Roman"/>
              </a:rPr>
              <a:t> thêm điều kiện COMPLETED cho mọi visual</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(QC đã kiểm)</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vs LM = </a:t>
            </a:r>
            <a:r>
              <a:rPr sz="1200" b="1" i="0">
                <a:solidFill>
                  <a:srgbClr val="0550AE"/>
                </a:solidFill>
                <a:latin typeface="Courier New"/>
                <a:ea typeface="Courier New"/>
                <a:cs typeface="Courier New"/>
              </a:rPr>
              <a:t>DIVIDE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 )</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Cờ vượt ngưỡng =</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a:t>
            </a:r>
            <a:r>
              <a:rPr sz="1300" b="0" i="0">
                <a:solidFill>
                  <a:srgbClr val="A31515"/>
                </a:solidFill>
                <a:latin typeface="Courier New"/>
                <a:ea typeface="Courier New"/>
                <a:cs typeface="Courier New"/>
              </a:rPr>
              <a:t>"Vượt"</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ô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VAR</a:t>
            </a:r>
            <a:r>
              <a:rPr sz="1200" b="0" i="0">
                <a:solidFill>
                  <a:srgbClr val="24292F"/>
                </a:solidFill>
                <a:latin typeface="Courier New"/>
                <a:ea typeface="Courier New"/>
                <a:cs typeface="Courier New"/>
              </a:rPr>
              <a:t> d = </a:t>
            </a:r>
            <a:r>
              <a:rPr sz="1200" b="0" i="0">
                <a:solidFill>
                  <a:srgbClr val="0F6E56"/>
                </a:solidFill>
                <a:latin typeface="Courier New"/>
                <a:ea typeface="Courier New"/>
                <a:cs typeface="Courier New"/>
              </a:rPr>
              <a:t>[Δ Finance]</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VAR</a:t>
            </a:r>
            <a:r>
              <a:rPr sz="1200" b="0" i="0">
                <a:solidFill>
                  <a:srgbClr val="24292F"/>
                </a:solidFill>
                <a:latin typeface="Courier New"/>
                <a:ea typeface="Courier New"/>
                <a:cs typeface="Courier New"/>
              </a:rPr>
              <a:t> p = </a:t>
            </a:r>
            <a:r>
              <a:rPr sz="1200" b="0" i="0">
                <a:solidFill>
                  <a:srgbClr val="0F6E56"/>
                </a:solidFill>
                <a:latin typeface="Courier New"/>
                <a:ea typeface="Courier New"/>
                <a:cs typeface="Courier New"/>
              </a:rPr>
              <a:t>[Δ Finance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RETURN</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IF</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ABS</a:t>
            </a:r>
            <a:r>
              <a:rPr sz="1200" b="0" i="0">
                <a:solidFill>
                  <a:srgbClr val="24292F"/>
                </a:solidFill>
                <a:latin typeface="Courier New"/>
                <a:ea typeface="Courier New"/>
                <a:cs typeface="Courier New"/>
              </a:rPr>
              <a:t> ( d ) &gt; 200 &amp;&amp; </a:t>
            </a:r>
            <a:r>
              <a:rPr sz="1200" b="1" i="0">
                <a:solidFill>
                  <a:srgbClr val="0550AE"/>
                </a:solidFill>
                <a:latin typeface="Courier New"/>
                <a:ea typeface="Courier New"/>
                <a:cs typeface="Courier New"/>
              </a:rPr>
              <a:t>ABS</a:t>
            </a:r>
            <a:r>
              <a:rPr sz="1200" b="0" i="0">
                <a:solidFill>
                  <a:srgbClr val="24292F"/>
                </a:solidFill>
                <a:latin typeface="Courier New"/>
                <a:ea typeface="Courier New"/>
                <a:cs typeface="Courier New"/>
              </a:rPr>
              <a:t> ( p ) &gt; 0.01, 1 )</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Context transition: </a:t>
            </a:r>
            <a:r>
              <a:rPr sz="1300" b="0" i="0">
                <a:solidFill>
                  <a:srgbClr val="222222"/>
                </a:solidFill>
                <a:latin typeface="Times New Roman"/>
                <a:ea typeface="Times New Roman"/>
                <a:cs typeface="Times New Roman"/>
              </a:rPr>
              <a:t>measure trong SUMX được tính lại cho từng cặp tháng ×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tổng chuỗi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đổi online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(ngày giao)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(cơ sở Finance) =</a:t>
            </a:r>
          </a:p>
          <a:p>
            <a:pPr algn="l">
              <a:buNone/>
            </a:pP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 (ngày giao)]</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 )</a:t>
            </a:r>
          </a:p>
          <a:p>
            <a:pPr algn="l">
              <a:buNone/>
            </a:pP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inactive delivery_date chỉ trong measure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Finance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quy đổi online còn 10.276 USD → phần còn lại nằm ở kênh cửa hàng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Thứ tự đọc: </a:t>
            </a:r>
            <a:r>
              <a:rPr sz="1700" b="1" i="0">
                <a:solidFill>
                  <a:srgbClr val="2E5B3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 thẻ KPI → biểu đồ có </a:t>
            </a:r>
            <a:r>
              <a:rPr sz="1700" b="1" i="0">
                <a:solidFill>
                  <a:srgbClr val="2E5B31"/>
                </a:solidFill>
                <a:latin typeface="Times New Roman"/>
                <a:ea typeface="Times New Roman"/>
                <a:cs typeface="Times New Roman"/>
              </a:rPr>
              <a:t>tiêu đề nêu kết luận</a:t>
            </a:r>
            <a:r>
              <a:rPr sz="1700" b="0" i="0">
                <a:solidFill>
                  <a:srgbClr val="222222"/>
                </a:solidFill>
                <a:latin typeface="Times New Roman"/>
                <a:ea typeface="Times New Roman"/>
                <a:cs typeface="Times New Roman"/>
              </a:rPr>
              <a:t> → bảng chi tiết</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80" y="2205082"/>
            <a:ext cx="2606040" cy="2264955"/>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Tháng này bán được bao nhiêu, khớp Finance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182087"/>
            <a:ext cx="2606040" cy="2310944"/>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201249"/>
            <a:ext cx="2606040" cy="2272620"/>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238615"/>
            <a:ext cx="2606040" cy="2197888"/>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5299342"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417320"/>
            <a:ext cx="5207902" cy="4526280"/>
          </a:xfrm>
          <a:prstGeom prst="rect">
            <a:avLst/>
          </a:prstGeom>
        </p:spPr>
      </p:pic>
      <p:sp>
        <p:nvSpPr>
          <p:cNvPr id="145" name="Rounded Rectangle 144"/>
          <p:cNvSpPr/>
          <p:nvPr/>
        </p:nvSpPr>
        <p:spPr>
          <a:xfrm>
            <a:off x="5893702" y="1371600"/>
            <a:ext cx="594777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Finance không?</a:t>
            </a:r>
          </a:p>
        </p:txBody>
      </p:sp>
      <p:sp>
        <p:nvSpPr>
          <p:cNvPr id="146" name="Rounded Rectangle 145"/>
          <p:cNvSpPr/>
          <p:nvPr/>
        </p:nvSpPr>
        <p:spPr>
          <a:xfrm>
            <a:off x="5893702" y="2377440"/>
            <a:ext cx="5947777"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5893702" y="2377440"/>
            <a:ext cx="5947777"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66854" y="2834640"/>
            <a:ext cx="580147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Cột ngang xếp hạng: </a:t>
            </a:r>
            <a:r>
              <a:rPr sz="1700" b="1" i="0">
                <a:solidFill>
                  <a:srgbClr val="123A7A"/>
                </a:solidFill>
                <a:latin typeface="Times New Roman"/>
                <a:ea typeface="Times New Roman"/>
                <a:cs typeface="Times New Roman"/>
              </a:rPr>
              <a:t>một màu nhấn</a:t>
            </a:r>
            <a:r>
              <a:rPr sz="1700" b="0" i="0">
                <a:solidFill>
                  <a:srgbClr val="222222"/>
                </a:solidFill>
                <a:latin typeface="Times New Roman"/>
                <a:ea typeface="Times New Roman"/>
                <a:cs typeface="Times New Roman"/>
              </a:rPr>
              <a:t> cho mục lớn nhất, còn lại xám; ▲/▼ luôn kèm chữ, không chỉ dựa vào màu</a:t>
            </a:r>
          </a:p>
        </p:txBody>
      </p:sp>
      <p:sp>
        <p:nvSpPr>
          <p:cNvPr id="143" name="Rectangle 142"/>
          <p:cNvSpPr/>
          <p:nvPr/>
        </p:nvSpPr>
        <p:spPr>
          <a:xfrm>
            <a:off x="365760" y="1371600"/>
            <a:ext cx="5195702"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104262" cy="4526280"/>
          </a:xfrm>
          <a:prstGeom prst="rect">
            <a:avLst/>
          </a:prstGeom>
        </p:spPr>
      </p:pic>
      <p:sp>
        <p:nvSpPr>
          <p:cNvPr id="145" name="Rounded Rectangle 144"/>
          <p:cNvSpPr/>
          <p:nvPr/>
        </p:nvSpPr>
        <p:spPr>
          <a:xfrm>
            <a:off x="5790062" y="1371600"/>
            <a:ext cx="605141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5790062" y="2377440"/>
            <a:ext cx="6051417"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5790062" y="2377440"/>
            <a:ext cx="6051417"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863214" y="2834640"/>
            <a:ext cx="590511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tổng chuỗi → kênh → cửa hàng → ngày</a:t>
            </a:r>
          </a:p>
        </p:txBody>
      </p:sp>
      <p:sp>
        <p:nvSpPr>
          <p:cNvPr id="143" name="Rectangle 142"/>
          <p:cNvSpPr/>
          <p:nvPr/>
        </p:nvSpPr>
        <p:spPr>
          <a:xfrm>
            <a:off x="365760" y="1371600"/>
            <a:ext cx="5281777"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190337" cy="4526280"/>
          </a:xfrm>
          <a:prstGeom prst="rect">
            <a:avLst/>
          </a:prstGeom>
        </p:spPr>
      </p:pic>
      <p:sp>
        <p:nvSpPr>
          <p:cNvPr id="145" name="Rounded Rectangle 144"/>
          <p:cNvSpPr/>
          <p:nvPr/>
        </p:nvSpPr>
        <p:spPr>
          <a:xfrm>
            <a:off x="5876137" y="1371600"/>
            <a:ext cx="5965342"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5876137" y="2377440"/>
            <a:ext cx="5965342"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5876137" y="2377440"/>
            <a:ext cx="5965342"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49289" y="2834640"/>
            <a:ext cx="5819038"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Finance</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Finance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màu đảo</a:t>
            </a:r>
          </a:p>
        </p:txBody>
      </p:sp>
      <p:sp>
        <p:nvSpPr>
          <p:cNvPr id="143" name="Rectangle 142"/>
          <p:cNvSpPr/>
          <p:nvPr/>
        </p:nvSpPr>
        <p:spPr>
          <a:xfrm>
            <a:off x="365760" y="1371600"/>
            <a:ext cx="5458258"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png"/>
          <p:cNvPicPr>
            <a:picLocks noChangeAspect="1"/>
          </p:cNvPicPr>
          <p:nvPr/>
        </p:nvPicPr>
        <p:blipFill>
          <a:blip r:embed="rId3"/>
          <a:stretch>
            <a:fillRect/>
          </a:stretch>
        </p:blipFill>
        <p:spPr>
          <a:xfrm>
            <a:off x="411480" y="1417320"/>
            <a:ext cx="5366818" cy="4526280"/>
          </a:xfrm>
          <a:prstGeom prst="rect">
            <a:avLst/>
          </a:prstGeom>
        </p:spPr>
      </p:pic>
      <p:sp>
        <p:nvSpPr>
          <p:cNvPr id="145" name="Rounded Rectangle 144"/>
          <p:cNvSpPr/>
          <p:nvPr/>
        </p:nvSpPr>
        <p:spPr>
          <a:xfrm>
            <a:off x="6052618" y="1371600"/>
            <a:ext cx="5788861"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6052618" y="2377440"/>
            <a:ext cx="5788861"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6052618" y="2377440"/>
            <a:ext cx="5788861"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6125770" y="2834640"/>
            <a:ext cx="5642557"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Finance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Measure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Finance (đơn huỷ, thiếu ngày, VAT,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Finance: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Finance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Power BI (.pbix)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Dashboard 4 trang: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File mở được và làm mới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Sales ≠ Finance;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Finance,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As-of,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Rubric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Làm sạch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Bỏ trùng, COMPLETED, map theo hiệu lực, quan hệ đúng</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đổi online</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trang (12)</a:t>
            </a:r>
          </a:p>
          <a:p>
            <a:pPr algn="l" marL="182880" indent="-182880">
              <a:spcAft>
                <a:spcPts val="800"/>
              </a:spcAft>
              <a:buFont typeface="Arial"/>
              <a:buChar char=" "/>
            </a:pPr>
            <a:r>
              <a:rPr sz="1300" b="0" i="0">
                <a:solidFill>
                  <a:srgbClr val="222222"/>
                </a:solidFill>
                <a:latin typeface="Times New Roman"/>
                <a:ea typeface="Times New Roman"/>
                <a:cs typeface="Times New Roman"/>
              </a:rPr>
              <a:t>Đủ thẻ, biểu đồ, bảng; slicer đồng bộ</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caption,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As-of,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Drill-through cửa hàng – ngày, tooltip</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Finance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Finance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Finance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Finance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Finance theo ngày hạch toán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as-of</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Finance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Finance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