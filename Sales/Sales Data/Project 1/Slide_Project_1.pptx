
<file path=[Content_Types].xml><?xml version="1.0" encoding="utf-8"?>
<Types xmlns="http://schemas.openxmlformats.org/package/2006/content-types">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charts/chart2.xml" ContentType="application/vnd.openxmlformats-officedocument.drawingml.chart+xml"/>
  <Override PartName="/ppt/charts/chart3.xml" ContentType="application/vnd.openxmlformats-officedocument.drawingml.chart+xml"/>
  <Override PartName="/ppt/charts/chart4.xml" ContentType="application/vnd.openxmlformats-officedocument.drawingml.chart+xml"/>
  <Override PartName="/ppt/charts/chart5.xml" ContentType="application/vnd.openxmlformats-officedocument.drawingml.chart+xml"/>
  <Override PartName="/ppt/charts/chart6.xml" ContentType="application/vnd.openxmlformats-officedocument.drawingml.chart+xml"/>
  <Override PartName="/ppt/charts/chart7.xml" ContentType="application/vnd.openxmlformats-officedocument.drawingml.chart+xml"/>
  <Override PartName="/ppt/charts/chart8.xml" ContentType="application/vnd.openxmlformats-officedocument.drawingml.chart+xml"/>
  <Override PartName="/ppt/charts/chart9.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autoCompressPictures="0">
  <p:sldMasterIdLst>
    <p:sldMasterId id="2147483659" r:id="rId1"/>
  </p:sldMasterIdLst>
  <p:notesMasterIdLst>
    <p:notesMasterId r:id="rId60"/>
  </p:notes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 id="287" r:id="rId38"/>
    <p:sldId id="288" r:id="rId39"/>
    <p:sldId id="289" r:id="rId40"/>
    <p:sldId id="290" r:id="rId41"/>
    <p:sldId id="291" r:id="rId42"/>
    <p:sldId id="292" r:id="rId43"/>
    <p:sldId id="293" r:id="rId44"/>
    <p:sldId id="294" r:id="rId45"/>
    <p:sldId id="295" r:id="rId46"/>
    <p:sldId id="296" r:id="rId47"/>
    <p:sldId id="297" r:id="rId48"/>
    <p:sldId id="298" r:id="rId49"/>
    <p:sldId id="299" r:id="rId50"/>
    <p:sldId id="300" r:id="rId51"/>
    <p:sldId id="301" r:id="rId52"/>
    <p:sldId id="302" r:id="rId53"/>
  </p:sldIdLst>
  <p:sldSz cx="12192000" cy="6858000"/>
  <p:notesSz cx="6858000" cy="9144000"/>
  <p:defaultText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defaultTextStyle>
  <p:extLst>
    <p:ext uri="{521415D9-36F7-43E2-AB2F-B90AF26B5E84}">
      <p14:sectionLst xmlns:p14="http://schemas.microsoft.com/office/powerpoint/2010/main">
        <p14:section name="Mở đầu" id="{FB200B35-5723-57E7-BCA2-04A696BD0C23}">
          <p14:sldIdLst>
            <p14:sldId id="256"/>
            <p14:sldId id="257"/>
          </p14:sldIdLst>
        </p14:section>
        <p14:section name="Phần 1 · Bối cảnh" id="{CA9727B0-816C-57B5-A7EE-1041D6F58670}">
          <p14:sldIdLst>
            <p14:sldId id="258"/>
            <p14:sldId id="259"/>
            <p14:sldId id="260"/>
          </p14:sldIdLst>
        </p14:section>
        <p14:section name="Phần 2 · Đề bài" id="{A83B4ECC-E86D-534D-A49C-8F82043F2318}">
          <p14:sldIdLst>
            <p14:sldId id="261"/>
            <p14:sldId id="262"/>
            <p14:sldId id="263"/>
            <p14:sldId id="264"/>
            <p14:sldId id="265"/>
            <p14:sldId id="266"/>
          </p14:sldIdLst>
        </p14:section>
        <p14:section name="Phần 3 · KPI" id="{27970E54-C475-597F-8161-78EFCE9B5003}">
          <p14:sldIdLst>
            <p14:sldId id="267"/>
            <p14:sldId id="268"/>
            <p14:sldId id="269"/>
            <p14:sldId id="270"/>
            <p14:sldId id="271"/>
          </p14:sldIdLst>
        </p14:section>
        <p14:section name="Phần 4 · Dữ liệu &amp; modeling" id="{18F674DB-7378-55DE-BD5F-3792669B0C25}">
          <p14:sldIdLst>
            <p14:sldId id="272"/>
            <p14:sldId id="273"/>
            <p14:sldId id="274"/>
            <p14:sldId id="275"/>
            <p14:sldId id="276"/>
            <p14:sldId id="277"/>
          </p14:sldIdLst>
        </p14:section>
        <p14:section name="Phần 5 · Khám phá dữ liệu" id="{3A7D7AE7-21E4-5C31-B7BB-761A449440DF}">
          <p14:sldIdLst>
            <p14:sldId id="278"/>
            <p14:sldId id="279"/>
            <p14:sldId id="280"/>
            <p14:sldId id="281"/>
            <p14:sldId id="282"/>
          </p14:sldIdLst>
        </p14:section>
        <p14:section name="Phần 6 · DAX" id="{8AE14257-564C-5899-AD89-0D155765DAC5}">
          <p14:sldIdLst>
            <p14:sldId id="283"/>
            <p14:sldId id="284"/>
            <p14:sldId id="285"/>
            <p14:sldId id="286"/>
            <p14:sldId id="287"/>
          </p14:sldIdLst>
        </p14:section>
        <p14:section name="Phần 7 · Phân tích kết quả" id="{9E384DC5-995C-55E6-B0EF-B89EA27FDFFA}">
          <p14:sldIdLst>
            <p14:sldId id="288"/>
            <p14:sldId id="289"/>
            <p14:sldId id="290"/>
            <p14:sldId id="291"/>
            <p14:sldId id="292"/>
            <p14:sldId id="293"/>
            <p14:sldId id="294"/>
            <p14:sldId id="295"/>
          </p14:sldIdLst>
        </p14:section>
        <p14:section name="Phần 8 · Đầu ra &amp; chấm điểm" id="{2CB85F52-B697-5D48-9499-5FDA194CEDFA}">
          <p14:sldIdLst>
            <p14:sldId id="296"/>
            <p14:sldId id="297"/>
            <p14:sldId id="298"/>
          </p14:sldIdLst>
        </p14:section>
        <p14:section name="Phụ lục mentor – ẩn khi trình chiếu cho học viên" id="{06C17C6C-DED5-5777-8593-9B421A1CB2CA}">
          <p14:sldIdLst>
            <p14:sldId id="299"/>
            <p14:sldId id="300"/>
            <p14:sldId id="301"/>
            <p14:sldId id="302"/>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78" d="100"/>
          <a:sy n="78" d="100"/>
        </p:scale>
        <p:origin x="850" y="43"/>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 Id="rId38" Type="http://schemas.openxmlformats.org/officeDocument/2006/relationships/slide" Target="slides/slide32.xml"/><Relationship Id="rId39" Type="http://schemas.openxmlformats.org/officeDocument/2006/relationships/slide" Target="slides/slide33.xml"/><Relationship Id="rId40" Type="http://schemas.openxmlformats.org/officeDocument/2006/relationships/slide" Target="slides/slide34.xml"/><Relationship Id="rId41" Type="http://schemas.openxmlformats.org/officeDocument/2006/relationships/slide" Target="slides/slide35.xml"/><Relationship Id="rId42" Type="http://schemas.openxmlformats.org/officeDocument/2006/relationships/slide" Target="slides/slide36.xml"/><Relationship Id="rId43" Type="http://schemas.openxmlformats.org/officeDocument/2006/relationships/slide" Target="slides/slide37.xml"/><Relationship Id="rId44" Type="http://schemas.openxmlformats.org/officeDocument/2006/relationships/slide" Target="slides/slide38.xml"/><Relationship Id="rId45" Type="http://schemas.openxmlformats.org/officeDocument/2006/relationships/slide" Target="slides/slide39.xml"/><Relationship Id="rId46" Type="http://schemas.openxmlformats.org/officeDocument/2006/relationships/slide" Target="slides/slide40.xml"/><Relationship Id="rId47" Type="http://schemas.openxmlformats.org/officeDocument/2006/relationships/slide" Target="slides/slide41.xml"/><Relationship Id="rId48" Type="http://schemas.openxmlformats.org/officeDocument/2006/relationships/slide" Target="slides/slide42.xml"/><Relationship Id="rId49" Type="http://schemas.openxmlformats.org/officeDocument/2006/relationships/slide" Target="slides/slide43.xml"/><Relationship Id="rId50" Type="http://schemas.openxmlformats.org/officeDocument/2006/relationships/slide" Target="slides/slide44.xml"/><Relationship Id="rId51" Type="http://schemas.openxmlformats.org/officeDocument/2006/relationships/slide" Target="slides/slide45.xml"/><Relationship Id="rId52" Type="http://schemas.openxmlformats.org/officeDocument/2006/relationships/slide" Target="slides/slide46.xml"/><Relationship Id="rId53" Type="http://schemas.openxmlformats.org/officeDocument/2006/relationships/slide" Target="slides/slide47.xml"/><Relationship Id="rId60" Type="http://schemas.openxmlformats.org/officeDocument/2006/relationships/notesMaster" Target="notesMasters/notesMaster1.xml"/><Relationship Id="rId61" Type="http://schemas.openxmlformats.org/officeDocument/2006/relationships/presProps" Target="presProps.xml"/><Relationship Id="rId62" Type="http://schemas.openxmlformats.org/officeDocument/2006/relationships/viewProps" Target="viewProps.xml"/><Relationship Id="rId63" Type="http://schemas.openxmlformats.org/officeDocument/2006/relationships/theme" Target="theme/theme1.xml"/><Relationship Id="rId64" Type="http://schemas.openxmlformats.org/officeDocument/2006/relationships/tableStyles" Target="tableStyles.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_rels/chart3.xml.rels><?xml version='1.0' encoding='UTF-8' standalone='yes'?>
<Relationships xmlns="http://schemas.openxmlformats.org/package/2006/relationships"><Relationship Id="rId1" Type="http://schemas.openxmlformats.org/officeDocument/2006/relationships/package" Target="../embeddings/Microsoft_Excel_Sheet3.xlsx"/></Relationships>
</file>

<file path=ppt/charts/_rels/chart4.xml.rels><?xml version='1.0' encoding='UTF-8' standalone='yes'?>
<Relationships xmlns="http://schemas.openxmlformats.org/package/2006/relationships"><Relationship Id="rId1" Type="http://schemas.openxmlformats.org/officeDocument/2006/relationships/package" Target="../embeddings/Microsoft_Excel_Sheet4.xlsx"/></Relationships>
</file>

<file path=ppt/charts/_rels/chart5.xml.rels><?xml version='1.0' encoding='UTF-8' standalone='yes'?>
<Relationships xmlns="http://schemas.openxmlformats.org/package/2006/relationships"><Relationship Id="rId1" Type="http://schemas.openxmlformats.org/officeDocument/2006/relationships/package" Target="../embeddings/Microsoft_Excel_Sheet5.xlsx"/></Relationships>
</file>

<file path=ppt/charts/_rels/chart6.xml.rels><?xml version='1.0' encoding='UTF-8' standalone='yes'?>
<Relationships xmlns="http://schemas.openxmlformats.org/package/2006/relationships"><Relationship Id="rId1" Type="http://schemas.openxmlformats.org/officeDocument/2006/relationships/package" Target="../embeddings/Microsoft_Excel_Sheet6.xlsx"/></Relationships>
</file>

<file path=ppt/charts/_rels/chart7.xml.rels><?xml version='1.0' encoding='UTF-8' standalone='yes'?>
<Relationships xmlns="http://schemas.openxmlformats.org/package/2006/relationships"><Relationship Id="rId1" Type="http://schemas.openxmlformats.org/officeDocument/2006/relationships/package" Target="../embeddings/Microsoft_Excel_Sheet7.xlsx"/></Relationships>
</file>

<file path=ppt/charts/_rels/chart8.xml.rels><?xml version='1.0' encoding='UTF-8' standalone='yes'?>
<Relationships xmlns="http://schemas.openxmlformats.org/package/2006/relationships"><Relationship Id="rId1" Type="http://schemas.openxmlformats.org/officeDocument/2006/relationships/package" Target="../embeddings/Microsoft_Excel_Sheet8.xlsx"/></Relationships>
</file>

<file path=ppt/charts/_rels/chart9.xml.rels><?xml version='1.0' encoding='UTF-8' standalone='yes'?>
<Relationships xmlns="http://schemas.openxmlformats.org/package/2006/relationships"><Relationship Id="rId1" Type="http://schemas.openxmlformats.org/officeDocument/2006/relationships/package" Target="../embeddings/Microsoft_Excel_Sheet9.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clustered"/>
        <c:ser>
          <c:idx val="0"/>
          <c:order val="0"/>
          <c:tx>
            <c:strRef>
              <c:f>Sheet1!$B$1</c:f>
              <c:strCache>
                <c:ptCount val="1"/>
                <c:pt idx="0">
                  <c:v>Net Revenue (dữ liệu đơn)</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6,6</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8,7</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Sheet1!$B$2:$B$7</c:f>
              <c:numCache>
                <c:formatCode>General</c:formatCode>
                <c:ptCount val="6"/>
                <c:pt idx="0">
                  <c:v>6.55004821</c:v>
                </c:pt>
                <c:pt idx="1">
                  <c:v>6.87307383</c:v>
                </c:pt>
                <c:pt idx="2">
                  <c:v>11.92344934</c:v>
                </c:pt>
                <c:pt idx="3">
                  <c:v>16.92423312</c:v>
                </c:pt>
                <c:pt idx="4">
                  <c:v>8.73274823</c:v>
                </c:pt>
                <c:pt idx="5">
                  <c:v>0.9053749499999999</c:v>
                </c:pt>
              </c:numCache>
            </c:numRef>
          </c:val>
        </c:ser>
        <c:ser>
          <c:idx val="1"/>
          <c:order val="1"/>
          <c:tx>
            <c:strRef>
              <c:f>Sheet1!$C$1</c:f>
              <c:strCache>
                <c:ptCount val="1"/>
                <c:pt idx="0">
                  <c:v>Net Revenue (Finance)</c:v>
                </c:pt>
              </c:strCache>
            </c:strRef>
          </c:tx>
          <c:spPr>
            <a:solidFill>
              <a:srgbClr val="8CB86E"/>
            </a:solidFill>
            <a:ln>
              <a:noFill/>
            </a:ln>
          </c:spPr>
          <c:dLbls>
            <c:dLbl>
              <c:idx val="0"/>
              <c:tx>
                <c:rich>
                  <a:bodyPr/>
                  <a:lstStyle/>
                  <a:p>
                    <a:r>
                      <a:rPr sz="1100" b="0" i="0">
                        <a:solidFill>
                          <a:srgbClr val="595959"/>
                        </a:solidFill>
                        <a:latin typeface="Times New Roman"/>
                        <a:ea typeface="Times New Roman"/>
                        <a:cs typeface="Times New Roman"/>
                      </a:rPr>
                      <a:t>6,5</a:t>
                    </a:r>
                  </a:p>
                </c:rich>
              </c:tx>
              <c:dLblPos val="outEnd"/>
              <c:showLegendKey val="0"/>
              <c:showVal val="1"/>
              <c:showCatName val="0"/>
              <c:showSerName val="0"/>
              <c:showPercent val="0"/>
              <c:showBubbleSize val="0"/>
            </c:dLbl>
            <c:dLbl>
              <c:idx val="1"/>
              <c:tx>
                <c:rich>
                  <a:bodyPr/>
                  <a:lstStyle/>
                  <a:p>
                    <a:r>
                      <a:rPr sz="1100" b="0" i="0">
                        <a:solidFill>
                          <a:srgbClr val="595959"/>
                        </a:solidFill>
                        <a:latin typeface="Times New Roman"/>
                        <a:ea typeface="Times New Roman"/>
                        <a:cs typeface="Times New Roman"/>
                      </a:rPr>
                      <a:t>6,9</a:t>
                    </a:r>
                  </a:p>
                </c:rich>
              </c:tx>
              <c:dLblPos val="outEnd"/>
              <c:showLegendKey val="0"/>
              <c:showVal val="1"/>
              <c:showCatName val="0"/>
              <c:showSerName val="0"/>
              <c:showPercent val="0"/>
              <c:showBubbleSize val="0"/>
            </c:dLbl>
            <c:dLbl>
              <c:idx val="2"/>
              <c:tx>
                <c:rich>
                  <a:bodyPr/>
                  <a:lstStyle/>
                  <a:p>
                    <a:r>
                      <a:rPr sz="1100" b="0" i="0">
                        <a:solidFill>
                          <a:srgbClr val="595959"/>
                        </a:solidFill>
                        <a:latin typeface="Times New Roman"/>
                        <a:ea typeface="Times New Roman"/>
                        <a:cs typeface="Times New Roman"/>
                      </a:rPr>
                      <a:t>11,9</a:t>
                    </a:r>
                  </a:p>
                </c:rich>
              </c:tx>
              <c:dLblPos val="outEnd"/>
              <c:showLegendKey val="0"/>
              <c:showVal val="1"/>
              <c:showCatName val="0"/>
              <c:showSerName val="0"/>
              <c:showPercent val="0"/>
              <c:showBubbleSize val="0"/>
            </c:dLbl>
            <c:dLbl>
              <c:idx val="3"/>
              <c:tx>
                <c:rich>
                  <a:bodyPr/>
                  <a:lstStyle/>
                  <a:p>
                    <a:r>
                      <a:rPr sz="1100" b="0" i="0">
                        <a:solidFill>
                          <a:srgbClr val="595959"/>
                        </a:solidFill>
                        <a:latin typeface="Times New Roman"/>
                        <a:ea typeface="Times New Roman"/>
                        <a:cs typeface="Times New Roman"/>
                      </a:rPr>
                      <a:t>16,9</a:t>
                    </a:r>
                  </a:p>
                </c:rich>
              </c:tx>
              <c:dLblPos val="outEnd"/>
              <c:showLegendKey val="0"/>
              <c:showVal val="1"/>
              <c:showCatName val="0"/>
              <c:showSerName val="0"/>
              <c:showPercent val="0"/>
              <c:showBubbleSize val="0"/>
            </c:dLbl>
            <c:dLbl>
              <c:idx val="4"/>
              <c:tx>
                <c:rich>
                  <a:bodyPr/>
                  <a:lstStyle/>
                  <a:p>
                    <a:r>
                      <a:rPr sz="1100" b="0" i="0">
                        <a:solidFill>
                          <a:srgbClr val="595959"/>
                        </a:solidFill>
                        <a:latin typeface="Times New Roman"/>
                        <a:ea typeface="Times New Roman"/>
                        <a:cs typeface="Times New Roman"/>
                      </a:rPr>
                      <a:t>8,8</a:t>
                    </a:r>
                  </a:p>
                </c:rich>
              </c:tx>
              <c:dLblPos val="outEnd"/>
              <c:showLegendKey val="0"/>
              <c:showVal val="1"/>
              <c:showCatName val="0"/>
              <c:showSerName val="0"/>
              <c:showPercent val="0"/>
              <c:showBubbleSize val="0"/>
            </c:dLbl>
            <c:dLbl>
              <c:idx val="5"/>
              <c:tx>
                <c:rich>
                  <a:bodyPr/>
                  <a:lstStyle/>
                  <a:p>
                    <a:r>
                      <a:rPr sz="1100" b="0" i="0">
                        <a:solidFill>
                          <a:srgbClr val="595959"/>
                        </a:solidFill>
                        <a:latin typeface="Times New Roman"/>
                        <a:ea typeface="Times New Roman"/>
                        <a:cs typeface="Times New Roman"/>
                      </a:rPr>
                      <a:t>0,9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2016</c:v>
                </c:pt>
                <c:pt idx="1">
                  <c:v>2017</c:v>
                </c:pt>
                <c:pt idx="2">
                  <c:v>2018</c:v>
                </c:pt>
                <c:pt idx="3">
                  <c:v>2019</c:v>
                </c:pt>
                <c:pt idx="4">
                  <c:v>2020</c:v>
                </c:pt>
                <c:pt idx="5">
                  <c:v>2021*</c:v>
                </c:pt>
              </c:strCache>
            </c:strRef>
          </c:cat>
          <c:val>
            <c:numRef>
              <c:f>Sheet1!$C$2:$C$7</c:f>
              <c:numCache>
                <c:formatCode>General</c:formatCode>
                <c:ptCount val="6"/>
                <c:pt idx="0">
                  <c:v>6.464763980000001</c:v>
                </c:pt>
                <c:pt idx="1">
                  <c:v>6.90818202</c:v>
                </c:pt>
                <c:pt idx="2">
                  <c:v>11.89152855</c:v>
                </c:pt>
                <c:pt idx="3">
                  <c:v>16.94090823</c:v>
                </c:pt>
                <c:pt idx="4">
                  <c:v>8.79593491</c:v>
                </c:pt>
                <c:pt idx="5">
                  <c:v>0.93552474</c:v>
                </c:pt>
              </c:numCache>
            </c:numRef>
          </c:val>
        </c:ser>
        <c:gapWidth val="60"/>
        <c:overlap val="-1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autoTitleDeleted val="1"/>
    <c:plotArea>
      <c:lineChart>
        <c:grouping val="standard"/>
        <c:varyColors val="0"/>
        <c:ser>
          <c:idx val="0"/>
          <c:order val="0"/>
          <c:tx>
            <c:strRef>
              <c:f>Sheet1!$B$1</c:f>
              <c:strCache>
                <c:ptCount val="1"/>
                <c:pt idx="0">
                  <c:v>Net Revenue (dữ liệu đơn)</c:v>
                </c:pt>
              </c:strCache>
            </c:strRef>
          </c:tx>
          <c:spPr>
            <a:ln w="28575">
              <a:solidFill>
                <a:srgbClr val="2E5B31"/>
              </a:solidFill>
            </a:ln>
          </c:spPr>
          <c:marker>
            <c:symbol val="circle"/>
            <c:size val="5"/>
            <c:spPr>
              <a:solidFill>
                <a:srgbClr val="2E5B31"/>
              </a:solidFill>
              <a:ln>
                <a:solidFill>
                  <a:srgbClr val="2E5B31"/>
                </a:solidFill>
              </a:ln>
            </c:spPr>
          </c:marker>
          <c:dLbls>
            <c:dLbl>
              <c:idx val="11"/>
              <c:tx>
                <c:rich>
                  <a:bodyPr/>
                  <a:lstStyle/>
                  <a:p>
                    <a:r>
                      <a:rPr sz="1100" b="1" i="0">
                        <a:solidFill>
                          <a:srgbClr val="222222"/>
                        </a:solidFill>
                        <a:latin typeface="Times New Roman"/>
                        <a:ea typeface="Times New Roman"/>
                        <a:cs typeface="Times New Roman"/>
                      </a:rPr>
                      <a:t>2.263</a:t>
                    </a:r>
                  </a:p>
                </c:rich>
              </c:tx>
              <c:dLblPos val="t"/>
              <c:showLegendKey val="0"/>
              <c:showVal val="1"/>
              <c:showCatName val="0"/>
              <c:showSerName val="0"/>
              <c:showPercent val="0"/>
              <c:showBubbleSize val="0"/>
            </c:dLbl>
            <c:dLbl>
              <c:idx val="23"/>
              <c:tx>
                <c:rich>
                  <a:bodyPr/>
                  <a:lstStyle/>
                  <a:p>
                    <a:r>
                      <a:rPr sz="1100" b="1" i="0">
                        <a:solidFill>
                          <a:srgbClr val="222222"/>
                        </a:solidFill>
                        <a:latin typeface="Times New Roman"/>
                        <a:ea typeface="Times New Roman"/>
                        <a:cs typeface="Times New Roman"/>
                      </a:rPr>
                      <a:t>606</a:t>
                    </a:r>
                  </a:p>
                </c:rich>
              </c:tx>
              <c:dLblPos val="t"/>
              <c:showLegendKey val="0"/>
              <c:showVal val="1"/>
              <c:showCatName val="0"/>
              <c:showSerName val="0"/>
              <c:showPercent val="0"/>
              <c:showBubbleSize val="0"/>
            </c:dLbl>
            <c:showLegendKey val="0"/>
            <c:showVal val="0"/>
            <c:showCatName val="0"/>
            <c:showSerName val="0"/>
            <c:showPercent val="0"/>
            <c:showBubbleSize val="0"/>
            <c:showLeaderLines val="1"/>
          </c:dLbls>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Sheet1!$B$2:$B$25</c:f>
              <c:numCache>
                <c:formatCode>General</c:formatCode>
                <c:ptCount val="24"/>
                <c:pt idx="0">
                  <c:v>1797.96887</c:v>
                </c:pt>
                <c:pt idx="1">
                  <c:v>2004.56868</c:v>
                </c:pt>
                <c:pt idx="2">
                  <c:v>742.70609</c:v>
                </c:pt>
                <c:pt idx="3">
                  <c:v>139.51809</c:v>
                </c:pt>
                <c:pt idx="4">
                  <c:v>1514.71303</c:v>
                </c:pt>
                <c:pt idx="5">
                  <c:v>1317.2358800000002</c:v>
                </c:pt>
                <c:pt idx="6">
                  <c:v>1322.89155</c:v>
                </c:pt>
                <c:pt idx="7">
                  <c:v>1339.30325</c:v>
                </c:pt>
                <c:pt idx="8">
                  <c:v>1430.22698</c:v>
                </c:pt>
                <c:pt idx="9">
                  <c:v>1488.3058700000001</c:v>
                </c:pt>
                <c:pt idx="10">
                  <c:v>1563.37986</c:v>
                </c:pt>
                <c:pt idx="11">
                  <c:v>2263.4149700000003</c:v>
                </c:pt>
                <c:pt idx="12">
                  <c:v>1911.3349200000002</c:v>
                </c:pt>
                <c:pt idx="13">
                  <c:v>2158.2621799999997</c:v>
                </c:pt>
                <c:pt idx="14">
                  <c:v>614.1452099999999</c:v>
                </c:pt>
                <c:pt idx="15">
                  <c:v>202.94221</c:v>
                </c:pt>
                <c:pt idx="16">
                  <c:v>837.31026</c:v>
                </c:pt>
                <c:pt idx="17">
                  <c:v>714.3334</c:v>
                </c:pt>
                <c:pt idx="18">
                  <c:v>477.06367</c:v>
                </c:pt>
                <c:pt idx="19">
                  <c:v>378.42989</c:v>
                </c:pt>
                <c:pt idx="20">
                  <c:v>357.63703000000004</c:v>
                </c:pt>
                <c:pt idx="21">
                  <c:v>237.12771</c:v>
                </c:pt>
                <c:pt idx="22">
                  <c:v>238.03668</c:v>
                </c:pt>
                <c:pt idx="23">
                  <c:v>606.1250699999999</c:v>
                </c:pt>
              </c:numCache>
            </c:numRef>
          </c:val>
          <c:smooth val="0"/>
        </c:ser>
        <c:ser>
          <c:idx val="1"/>
          <c:order val="1"/>
          <c:tx>
            <c:strRef>
              <c:f>Sheet1!$C$1</c:f>
              <c:strCache>
                <c:ptCount val="1"/>
                <c:pt idx="0">
                  <c:v>Net Revenue (Finance)</c:v>
                </c:pt>
              </c:strCache>
            </c:strRef>
          </c:tx>
          <c:spPr>
            <a:ln w="22225">
              <a:solidFill>
                <a:srgbClr val="C55A11"/>
              </a:solidFill>
              <a:prstDash val="dash"/>
            </a:ln>
          </c:spPr>
          <c:marker>
            <c:symbol val="none"/>
          </c:marker>
          <c:cat>
            <c:strRef>
              <c:f>Sheet1!$A$2:$A$25</c:f>
              <c:strCache>
                <c:ptCount val="24"/>
                <c:pt idx="0">
                  <c:v>01/19</c:v>
                </c:pt>
                <c:pt idx="1">
                  <c:v>02/19</c:v>
                </c:pt>
                <c:pt idx="2">
                  <c:v>03/19</c:v>
                </c:pt>
                <c:pt idx="3">
                  <c:v>04/19</c:v>
                </c:pt>
                <c:pt idx="4">
                  <c:v>05/19</c:v>
                </c:pt>
                <c:pt idx="5">
                  <c:v>06/19</c:v>
                </c:pt>
                <c:pt idx="6">
                  <c:v>07/19</c:v>
                </c:pt>
                <c:pt idx="7">
                  <c:v>08/19</c:v>
                </c:pt>
                <c:pt idx="8">
                  <c:v>09/19</c:v>
                </c:pt>
                <c:pt idx="9">
                  <c:v>10/19</c:v>
                </c:pt>
                <c:pt idx="10">
                  <c:v>11/19</c:v>
                </c:pt>
                <c:pt idx="11">
                  <c:v>12/19</c:v>
                </c:pt>
                <c:pt idx="12">
                  <c:v>01/20</c:v>
                </c:pt>
                <c:pt idx="13">
                  <c:v>02/20</c:v>
                </c:pt>
                <c:pt idx="14">
                  <c:v>03/20</c:v>
                </c:pt>
                <c:pt idx="15">
                  <c:v>04/20</c:v>
                </c:pt>
                <c:pt idx="16">
                  <c:v>05/20</c:v>
                </c:pt>
                <c:pt idx="17">
                  <c:v>06/20</c:v>
                </c:pt>
                <c:pt idx="18">
                  <c:v>07/20</c:v>
                </c:pt>
                <c:pt idx="19">
                  <c:v>08/20</c:v>
                </c:pt>
                <c:pt idx="20">
                  <c:v>09/20</c:v>
                </c:pt>
                <c:pt idx="21">
                  <c:v>10/20</c:v>
                </c:pt>
                <c:pt idx="22">
                  <c:v>11/20</c:v>
                </c:pt>
                <c:pt idx="23">
                  <c:v>12/20</c:v>
                </c:pt>
              </c:strCache>
            </c:strRef>
          </c:cat>
          <c:val>
            <c:numRef>
              <c:f>Sheet1!$C$2:$C$25</c:f>
              <c:numCache>
                <c:formatCode>General</c:formatCode>
                <c:ptCount val="24"/>
                <c:pt idx="0">
                  <c:v>1848.06513</c:v>
                </c:pt>
                <c:pt idx="1">
                  <c:v>1953.1373</c:v>
                </c:pt>
                <c:pt idx="2">
                  <c:v>838.0922800000001</c:v>
                </c:pt>
                <c:pt idx="3">
                  <c:v>111.56246</c:v>
                </c:pt>
                <c:pt idx="4">
                  <c:v>1487.64784</c:v>
                </c:pt>
                <c:pt idx="5">
                  <c:v>1350.83665</c:v>
                </c:pt>
                <c:pt idx="6">
                  <c:v>1337.4678600000002</c:v>
                </c:pt>
                <c:pt idx="7">
                  <c:v>1275.1990700000001</c:v>
                </c:pt>
                <c:pt idx="8">
                  <c:v>1465.91527</c:v>
                </c:pt>
                <c:pt idx="9">
                  <c:v>1483.3001399999998</c:v>
                </c:pt>
                <c:pt idx="10">
                  <c:v>1543.51486</c:v>
                </c:pt>
                <c:pt idx="11">
                  <c:v>2246.16937</c:v>
                </c:pt>
                <c:pt idx="12">
                  <c:v>1951.6841399999998</c:v>
                </c:pt>
                <c:pt idx="13">
                  <c:v>2129.45535</c:v>
                </c:pt>
                <c:pt idx="14">
                  <c:v>680.02625</c:v>
                </c:pt>
                <c:pt idx="15">
                  <c:v>156.01443</c:v>
                </c:pt>
                <c:pt idx="16">
                  <c:v>864.51761</c:v>
                </c:pt>
                <c:pt idx="17">
                  <c:v>715.61251</c:v>
                </c:pt>
                <c:pt idx="18">
                  <c:v>498.40886</c:v>
                </c:pt>
                <c:pt idx="19">
                  <c:v>378.21194</c:v>
                </c:pt>
                <c:pt idx="20">
                  <c:v>353.07253000000003</c:v>
                </c:pt>
                <c:pt idx="21">
                  <c:v>244.31874</c:v>
                </c:pt>
                <c:pt idx="22">
                  <c:v>232.45920999999998</c:v>
                </c:pt>
                <c:pt idx="23">
                  <c:v>592.15334</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40495176"/>
        <c:crosses val="autoZero"/>
        <c:auto val="1"/>
        <c:lblAlgn val="ctr"/>
        <c:lblOffset val="100"/>
        <c:noMultiLvlLbl val="0"/>
      </c:catAx>
      <c:valAx>
        <c:axId val="2140495176"/>
        <c:scaling>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118791784"/>
        <c:crosses val="autoZero"/>
      </c:valAx>
    </c:plotArea>
    <c:legend>
      <c:legendPos val="t"/>
      <c:layout/>
      <c:overlay val="0"/>
      <c:txPr>
        <a:bodyPr/>
        <a:lstStyle/>
        <a:p>
          <a:pPr>
            <a:defRPr sz="1200">
              <a:latin typeface="Times New Roman"/>
            </a:defRPr>
          </a:pPr>
        </a:p>
      </c:txPr>
    </c:legend>
    <c:plotVisOnly val="1"/>
    <c:dispBlanksAs val="gap"/>
    <c:showDLblsOverMax val="0"/>
  </c:chart>
  <c:txPr>
    <a:bodyPr/>
    <a:lstStyle/>
    <a:p>
      <a:pPr>
        <a:defRPr sz="1200">
          <a:solidFill>
            <a:srgbClr val="595959"/>
          </a:solidFill>
          <a:latin typeface="Times New Roman"/>
        </a:defRPr>
      </a:pPr>
      <a:endParaRPr lang="en-US"/>
    </a:p>
  </c:txPr>
  <c:externalData r:id="rId1">
    <c:autoUpdate val="0"/>
  </c:externalData>
</c:chartSpace>
</file>

<file path=ppt/charts/chart3.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percentStacked"/>
        <c:ser>
          <c:idx val="0"/>
          <c:order val="0"/>
          <c:tx>
            <c:strRef>
              <c:f>Sheet1!$B$1</c:f>
              <c:strCache>
                <c:ptCount val="1"/>
                <c:pt idx="0">
                  <c:v>Cửa hàng (POS)</c:v>
                </c:pt>
              </c:strCache>
            </c:strRef>
          </c:tx>
          <c:spPr>
            <a:solidFill>
              <a:srgbClr val="2E5B31"/>
            </a:solidFill>
            <a:ln>
              <a:noFill/>
            </a:ln>
          </c:spPr>
          <c:dLbls>
            <c:dLbl>
              <c:idx val="0"/>
              <c:tx>
                <c:rich>
                  <a:bodyPr/>
                  <a:lstStyle/>
                  <a:p>
                    <a:r>
                      <a:rPr sz="1100" b="1" i="0">
                        <a:solidFill>
                          <a:srgbClr val="FFFFFF"/>
                        </a:solidFill>
                        <a:latin typeface="Times New Roman"/>
                        <a:ea typeface="Times New Roman"/>
                        <a:cs typeface="Times New Roman"/>
                      </a:rPr>
                      <a:t>83,5%</a:t>
                    </a:r>
                  </a:p>
                </c:rich>
              </c:tx>
              <c:dLblPos val="ctr"/>
              <c:showLegendKey val="0"/>
              <c:showVal val="1"/>
              <c:showCatName val="0"/>
              <c:showSerName val="0"/>
              <c:showPercent val="0"/>
              <c:showBubbleSize val="0"/>
            </c:dLbl>
            <c:dLbl>
              <c:idx val="1"/>
              <c:tx>
                <c:rich>
                  <a:bodyPr/>
                  <a:lstStyle/>
                  <a:p>
                    <a:r>
                      <a:rPr sz="1100" b="1" i="0">
                        <a:solidFill>
                          <a:srgbClr val="FFFFFF"/>
                        </a:solidFill>
                        <a:latin typeface="Times New Roman"/>
                        <a:ea typeface="Times New Roman"/>
                        <a:cs typeface="Times New Roman"/>
                      </a:rPr>
                      <a:t>82,2%</a:t>
                    </a:r>
                  </a:p>
                </c:rich>
              </c:tx>
              <c:dLblPos val="ctr"/>
              <c:showLegendKey val="0"/>
              <c:showVal val="1"/>
              <c:showCatName val="0"/>
              <c:showSerName val="0"/>
              <c:showPercent val="0"/>
              <c:showBubbleSize val="0"/>
            </c:dLbl>
            <c:dLbl>
              <c:idx val="2"/>
              <c:tx>
                <c:rich>
                  <a:bodyPr/>
                  <a:lstStyle/>
                  <a:p>
                    <a:r>
                      <a:rPr sz="1100" b="1" i="0">
                        <a:solidFill>
                          <a:srgbClr val="FFFFFF"/>
                        </a:solidFill>
                        <a:latin typeface="Times New Roman"/>
                        <a:ea typeface="Times New Roman"/>
                        <a:cs typeface="Times New Roman"/>
                      </a:rPr>
                      <a:t>80,4%</a:t>
                    </a:r>
                  </a:p>
                </c:rich>
              </c:tx>
              <c:dLblPos val="ctr"/>
              <c:showLegendKey val="0"/>
              <c:showVal val="1"/>
              <c:showCatName val="0"/>
              <c:showSerName val="0"/>
              <c:showPercent val="0"/>
              <c:showBubbleSize val="0"/>
            </c:dLbl>
            <c:dLbl>
              <c:idx val="3"/>
              <c:tx>
                <c:rich>
                  <a:bodyPr/>
                  <a:lstStyle/>
                  <a:p>
                    <a:r>
                      <a:rPr sz="1100" b="1" i="0">
                        <a:solidFill>
                          <a:srgbClr val="FFFFFF"/>
                        </a:solidFill>
                        <a:latin typeface="Times New Roman"/>
                        <a:ea typeface="Times New Roman"/>
                        <a:cs typeface="Times New Roman"/>
                      </a:rPr>
                      <a:t>78,9%</a:t>
                    </a:r>
                  </a:p>
                </c:rich>
              </c:tx>
              <c:dLblPos val="ctr"/>
              <c:showLegendKey val="0"/>
              <c:showVal val="1"/>
              <c:showCatName val="0"/>
              <c:showSerName val="0"/>
              <c:showPercent val="0"/>
              <c:showBubbleSize val="0"/>
            </c:dLbl>
            <c:dLbl>
              <c:idx val="4"/>
              <c:tx>
                <c:rich>
                  <a:bodyPr/>
                  <a:lstStyle/>
                  <a:p>
                    <a:r>
                      <a:rPr sz="1100" b="1" i="0">
                        <a:solidFill>
                          <a:srgbClr val="FFFFFF"/>
                        </a:solidFill>
                        <a:latin typeface="Times New Roman"/>
                        <a:ea typeface="Times New Roman"/>
                        <a:cs typeface="Times New Roman"/>
                      </a:rPr>
                      <a:t>78,2%</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Sheet1!$B$2:$B$6</c:f>
              <c:numCache>
                <c:formatCode>General</c:formatCode>
                <c:ptCount val="5"/>
                <c:pt idx="0">
                  <c:v>0.8351813790926098</c:v>
                </c:pt>
                <c:pt idx="1">
                  <c:v>0.8218381331419139</c:v>
                </c:pt>
                <c:pt idx="2">
                  <c:v>0.8036151237271278</c:v>
                </c:pt>
                <c:pt idx="3">
                  <c:v>0.7885337514562929</c:v>
                </c:pt>
                <c:pt idx="4">
                  <c:v>0.7820754563402775</c:v>
                </c:pt>
              </c:numCache>
            </c:numRef>
          </c:val>
        </c:ser>
        <c:ser>
          <c:idx val="1"/>
          <c:order val="1"/>
          <c:tx>
            <c:strRef>
              <c:f>Sheet1!$C$1</c:f>
              <c:strCache>
                <c:ptCount val="1"/>
                <c:pt idx="0">
                  <c:v>Website/app</c:v>
                </c:pt>
              </c:strCache>
            </c:strRef>
          </c:tx>
          <c:spPr>
            <a:solidFill>
              <a:srgbClr val="8CB86E"/>
            </a:solidFill>
            <a:ln>
              <a:noFill/>
            </a:ln>
          </c:spPr>
          <c:dLbls>
            <c:dLbl>
              <c:idx val="0"/>
              <c:tx>
                <c:rich>
                  <a:bodyPr/>
                  <a:lstStyle/>
                  <a:p>
                    <a:r>
                      <a:rPr sz="1100" b="1" i="0">
                        <a:solidFill>
                          <a:srgbClr val="222222"/>
                        </a:solidFill>
                        <a:latin typeface="Times New Roman"/>
                        <a:ea typeface="Times New Roman"/>
                        <a:cs typeface="Times New Roman"/>
                      </a:rPr>
                      <a:t>16,5%</a:t>
                    </a:r>
                  </a:p>
                </c:rich>
              </c:tx>
              <c:dLblPos val="ctr"/>
              <c:showLegendKey val="0"/>
              <c:showVal val="1"/>
              <c:showCatName val="0"/>
              <c:showSerName val="0"/>
              <c:showPercent val="0"/>
              <c:showBubbleSize val="0"/>
            </c:dLbl>
            <c:dLbl>
              <c:idx val="1"/>
              <c:tx>
                <c:rich>
                  <a:bodyPr/>
                  <a:lstStyle/>
                  <a:p>
                    <a:r>
                      <a:rPr sz="1100" b="1" i="0">
                        <a:solidFill>
                          <a:srgbClr val="222222"/>
                        </a:solidFill>
                        <a:latin typeface="Times New Roman"/>
                        <a:ea typeface="Times New Roman"/>
                        <a:cs typeface="Times New Roman"/>
                      </a:rPr>
                      <a:t>17,8%</a:t>
                    </a:r>
                  </a:p>
                </c:rich>
              </c:tx>
              <c:dLblPos val="ctr"/>
              <c:showLegendKey val="0"/>
              <c:showVal val="1"/>
              <c:showCatName val="0"/>
              <c:showSerName val="0"/>
              <c:showPercent val="0"/>
              <c:showBubbleSize val="0"/>
            </c:dLbl>
            <c:dLbl>
              <c:idx val="2"/>
              <c:tx>
                <c:rich>
                  <a:bodyPr/>
                  <a:lstStyle/>
                  <a:p>
                    <a:r>
                      <a:rPr sz="1100" b="1" i="0">
                        <a:solidFill>
                          <a:srgbClr val="222222"/>
                        </a:solidFill>
                        <a:latin typeface="Times New Roman"/>
                        <a:ea typeface="Times New Roman"/>
                        <a:cs typeface="Times New Roman"/>
                      </a:rPr>
                      <a:t>19,6%</a:t>
                    </a:r>
                  </a:p>
                </c:rich>
              </c:tx>
              <c:dLblPos val="ctr"/>
              <c:showLegendKey val="0"/>
              <c:showVal val="1"/>
              <c:showCatName val="0"/>
              <c:showSerName val="0"/>
              <c:showPercent val="0"/>
              <c:showBubbleSize val="0"/>
            </c:dLbl>
            <c:dLbl>
              <c:idx val="3"/>
              <c:tx>
                <c:rich>
                  <a:bodyPr/>
                  <a:lstStyle/>
                  <a:p>
                    <a:r>
                      <a:rPr sz="1100" b="1" i="0">
                        <a:solidFill>
                          <a:srgbClr val="222222"/>
                        </a:solidFill>
                        <a:latin typeface="Times New Roman"/>
                        <a:ea typeface="Times New Roman"/>
                        <a:cs typeface="Times New Roman"/>
                      </a:rPr>
                      <a:t>21,1%</a:t>
                    </a:r>
                  </a:p>
                </c:rich>
              </c:tx>
              <c:dLblPos val="ctr"/>
              <c:showLegendKey val="0"/>
              <c:showVal val="1"/>
              <c:showCatName val="0"/>
              <c:showSerName val="0"/>
              <c:showPercent val="0"/>
              <c:showBubbleSize val="0"/>
            </c:dLbl>
            <c:dLbl>
              <c:idx val="4"/>
              <c:tx>
                <c:rich>
                  <a:bodyPr/>
                  <a:lstStyle/>
                  <a:p>
                    <a:r>
                      <a:rPr sz="1100" b="1" i="0">
                        <a:solidFill>
                          <a:srgbClr val="222222"/>
                        </a:solidFill>
                        <a:latin typeface="Times New Roman"/>
                        <a:ea typeface="Times New Roman"/>
                        <a:cs typeface="Times New Roman"/>
                      </a:rPr>
                      <a:t>21,8%</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Sheet1!$A$2:$A$6</c:f>
              <c:strCache>
                <c:ptCount val="5"/>
                <c:pt idx="0">
                  <c:v>2016</c:v>
                </c:pt>
                <c:pt idx="1">
                  <c:v>2017</c:v>
                </c:pt>
                <c:pt idx="2">
                  <c:v>2018</c:v>
                </c:pt>
                <c:pt idx="3">
                  <c:v>2019</c:v>
                </c:pt>
                <c:pt idx="4">
                  <c:v>2020</c:v>
                </c:pt>
              </c:strCache>
            </c:strRef>
          </c:cat>
          <c:val>
            <c:numRef>
              <c:f>Sheet1!$C$2:$C$6</c:f>
              <c:numCache>
                <c:formatCode>General</c:formatCode>
                <c:ptCount val="5"/>
                <c:pt idx="0">
                  <c:v>0.1648186209073902</c:v>
                </c:pt>
                <c:pt idx="1">
                  <c:v>0.1781618668580861</c:v>
                </c:pt>
                <c:pt idx="2">
                  <c:v>0.19638487627287216</c:v>
                </c:pt>
                <c:pt idx="3">
                  <c:v>0.2114662485437071</c:v>
                </c:pt>
                <c:pt idx="4">
                  <c:v>0.21792454365972247</c:v>
                </c:pt>
              </c:numCache>
            </c:numRef>
          </c:val>
        </c:ser>
        <c:gapWidth val="55"/>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ax val="1.0"/>
          <c:min val="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legend>
      <c:legendPos val="t"/>
      <c:overlay val="0"/>
      <c:txPr>
        <a:bodyPr/>
        <a:lstStyle/>
        <a:p>
          <a:pPr>
            <a:defRPr sz="1200">
              <a:latin typeface="Times New Roman"/>
            </a:defRPr>
          </a:pPr>
        </a:p>
      </c:txPr>
    </c:legend>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4.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AOV 2020</c:v>
                </c:pt>
              </c:strCache>
            </c:strRef>
          </c:tx>
          <c:spPr>
            <a:solidFill>
              <a:srgbClr val="2E5B31"/>
            </a:solidFill>
            <a:ln>
              <a:noFill/>
            </a:ln>
          </c:spPr>
          <c:dPt>
            <c:idx val="1"/>
            <c:spPr>
              <a:solidFill>
                <a:srgbClr val="8CB86E"/>
              </a:solidFill>
            </c:spPr>
          </c:dPt>
          <c:dLbls>
            <c:dLbl>
              <c:idx val="0"/>
              <c:tx>
                <c:rich>
                  <a:bodyPr/>
                  <a:lstStyle/>
                  <a:p>
                    <a:r>
                      <a:rPr sz="1200" b="1" i="0">
                        <a:solidFill>
                          <a:srgbClr val="222222"/>
                        </a:solidFill>
                        <a:latin typeface="Times New Roman"/>
                        <a:ea typeface="Times New Roman"/>
                        <a:cs typeface="Times New Roman"/>
                      </a:rPr>
                      <a:t>2.010</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1.858</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Sheet1!$A$2:$A$3</c:f>
              <c:strCache>
                <c:ptCount val="2"/>
                <c:pt idx="0">
                  <c:v>Cửa hàng (POS)</c:v>
                </c:pt>
                <c:pt idx="1">
                  <c:v>Website/app</c:v>
                </c:pt>
              </c:strCache>
            </c:strRef>
          </c:cat>
          <c:val>
            <c:numRef>
              <c:f>Sheet1!$B$2:$B$3</c:f>
              <c:numCache>
                <c:formatCode>General</c:formatCode>
                <c:ptCount val="2"/>
                <c:pt idx="0">
                  <c:v>2010.020074734119</c:v>
                </c:pt>
                <c:pt idx="1">
                  <c:v>1857.53422306959</c:v>
                </c:pt>
              </c:numCache>
            </c:numRef>
          </c:val>
        </c:ser>
        <c:gapWidth val="5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5.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Net Sales</c:v>
                </c:pt>
              </c:strCache>
            </c:strRef>
          </c:tx>
          <c:spPr>
            <a:solidFill>
              <a:srgbClr val="2E5B31"/>
            </a:solidFill>
            <a:ln>
              <a:noFill/>
            </a:ln>
          </c:spPr>
          <c:dLbls>
            <c:dLbl>
              <c:idx val="0"/>
              <c:tx>
                <c:rich>
                  <a:bodyPr/>
                  <a:lstStyle/>
                  <a:p>
                    <a:r>
                      <a:rPr sz="1100" b="0" i="0">
                        <a:solidFill>
                          <a:srgbClr val="222222"/>
                        </a:solidFill>
                        <a:latin typeface="Times New Roman"/>
                        <a:ea typeface="Times New Roman"/>
                        <a:cs typeface="Times New Roman"/>
                      </a:rPr>
                      <a:t>149 (2%)</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437 (5%)</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541 (6%)</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853 (10%)</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1.072 (12%)</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1.170 (13%)</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1.207 (13%)</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3.512 (39%)</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Game &amp; Đồ chơi</c:v>
                </c:pt>
                <c:pt idx="1">
                  <c:v>Âm thanh</c:v>
                </c:pt>
                <c:pt idx="2">
                  <c:v>Nhạc, phim, sách nói</c:v>
                </c:pt>
                <c:pt idx="3">
                  <c:v>TV &amp; Video</c:v>
                </c:pt>
                <c:pt idx="4">
                  <c:v>Gia dụng</c:v>
                </c:pt>
                <c:pt idx="5">
                  <c:v>Máy ảnh</c:v>
                </c:pt>
                <c:pt idx="6">
                  <c:v>Điện thoại</c:v>
                </c:pt>
                <c:pt idx="7">
                  <c:v>Máy tính</c:v>
                </c:pt>
              </c:strCache>
            </c:strRef>
          </c:cat>
          <c:val>
            <c:numRef>
              <c:f>Sheet1!$B$2:$B$9</c:f>
              <c:numCache>
                <c:formatCode>General</c:formatCode>
                <c:ptCount val="8"/>
                <c:pt idx="0">
                  <c:v>149.48492000000002</c:v>
                </c:pt>
                <c:pt idx="1">
                  <c:v>437.33593</c:v>
                </c:pt>
                <c:pt idx="2">
                  <c:v>541.38284</c:v>
                </c:pt>
                <c:pt idx="3">
                  <c:v>852.6435</c:v>
                </c:pt>
                <c:pt idx="4">
                  <c:v>1072.05762</c:v>
                </c:pt>
                <c:pt idx="5">
                  <c:v>1169.7288500000002</c:v>
                </c:pt>
                <c:pt idx="6">
                  <c:v>1206.78748</c:v>
                </c:pt>
                <c:pt idx="7">
                  <c:v>3511.9921</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6.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Tỷ lệ hoàn trả</c:v>
                </c:pt>
              </c:strCache>
            </c:strRef>
          </c:tx>
          <c:spPr>
            <a:solidFill>
              <a:srgbClr val="D98C8C"/>
            </a:solidFill>
            <a:ln>
              <a:noFill/>
            </a:ln>
          </c:spPr>
          <c:dPt>
            <c:idx val="7"/>
            <c:spPr>
              <a:solidFill>
                <a:srgbClr val="C00000"/>
              </a:solidFill>
            </c:spPr>
          </c:dPt>
          <c:dLbls>
            <c:dLbl>
              <c:idx val="0"/>
              <c:tx>
                <c:rich>
                  <a:bodyPr/>
                  <a:lstStyle/>
                  <a:p>
                    <a:r>
                      <a:rPr sz="1100" b="0" i="0">
                        <a:solidFill>
                          <a:srgbClr val="222222"/>
                        </a:solidFill>
                        <a:latin typeface="Times New Roman"/>
                        <a:ea typeface="Times New Roman"/>
                        <a:cs typeface="Times New Roman"/>
                      </a:rPr>
                      <a:t>2,05%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2,13%</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2,14%</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2,55%</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2,58%</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2,70%</a:t>
                    </a:r>
                  </a:p>
                </c:rich>
              </c:tx>
              <c:dLblPos val="outEnd"/>
              <c:showLegendKey val="0"/>
              <c:showVal val="1"/>
              <c:showCatName val="0"/>
              <c:showSerName val="0"/>
              <c:showPercent val="0"/>
              <c:showBubbleSize val="0"/>
            </c:dLbl>
            <c:dLbl>
              <c:idx val="6"/>
              <c:tx>
                <c:rich>
                  <a:bodyPr/>
                  <a:lstStyle/>
                  <a:p>
                    <a:r>
                      <a:rPr sz="1100" b="0" i="0">
                        <a:solidFill>
                          <a:srgbClr val="222222"/>
                        </a:solidFill>
                        <a:latin typeface="Times New Roman"/>
                        <a:ea typeface="Times New Roman"/>
                        <a:cs typeface="Times New Roman"/>
                      </a:rPr>
                      <a:t>2,84%</a:t>
                    </a:r>
                  </a:p>
                </c:rich>
              </c:tx>
              <c:dLblPos val="outEnd"/>
              <c:showLegendKey val="0"/>
              <c:showVal val="1"/>
              <c:showCatName val="0"/>
              <c:showSerName val="0"/>
              <c:showPercent val="0"/>
              <c:showBubbleSize val="0"/>
            </c:dLbl>
            <c:dLbl>
              <c:idx val="7"/>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Sheet1!$A$2:$A$9</c:f>
              <c:strCache>
                <c:ptCount val="8"/>
                <c:pt idx="0">
                  <c:v>Máy tính</c:v>
                </c:pt>
                <c:pt idx="1">
                  <c:v>Âm thanh</c:v>
                </c:pt>
                <c:pt idx="2">
                  <c:v>Gia dụng</c:v>
                </c:pt>
                <c:pt idx="3">
                  <c:v>Điện thoại</c:v>
                </c:pt>
                <c:pt idx="4">
                  <c:v>Máy ảnh</c:v>
                </c:pt>
                <c:pt idx="5">
                  <c:v>TV &amp; Video</c:v>
                </c:pt>
                <c:pt idx="6">
                  <c:v>Nhạc, phim, sách nói</c:v>
                </c:pt>
                <c:pt idx="7">
                  <c:v>Game &amp; Đồ chơi</c:v>
                </c:pt>
              </c:strCache>
            </c:strRef>
          </c:cat>
          <c:val>
            <c:numRef>
              <c:f>Sheet1!$B$2:$B$9</c:f>
              <c:numCache>
                <c:formatCode>General</c:formatCode>
                <c:ptCount val="8"/>
                <c:pt idx="0">
                  <c:v>0.020473536942181614</c:v>
                </c:pt>
                <c:pt idx="1">
                  <c:v>0.02125613141367095</c:v>
                </c:pt>
                <c:pt idx="2">
                  <c:v>0.02143155327789191</c:v>
                </c:pt>
                <c:pt idx="3">
                  <c:v>0.025491348319258332</c:v>
                </c:pt>
                <c:pt idx="4">
                  <c:v>0.025802492603307168</c:v>
                </c:pt>
                <c:pt idx="5">
                  <c:v>0.02701180505099728</c:v>
                </c:pt>
                <c:pt idx="6">
                  <c:v>0.0283964670915687</c:v>
                </c:pt>
                <c:pt idx="7">
                  <c:v>0.03439022477986408</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7.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Giảm giá</c:v>
                </c:pt>
              </c:strCache>
            </c:strRef>
          </c:tx>
          <c:spPr>
            <a:solidFill>
              <a:srgbClr val="C55A11"/>
            </a:solidFill>
            <a:ln>
              <a:noFill/>
            </a:ln>
          </c:spPr>
          <c:dLbls>
            <c:dLbl>
              <c:idx val="0"/>
              <c:tx>
                <c:rich>
                  <a:bodyPr/>
                  <a:lstStyle/>
                  <a:p>
                    <a:r>
                      <a:rPr sz="1100" b="0" i="0">
                        <a:solidFill>
                          <a:srgbClr val="222222"/>
                        </a:solidFill>
                        <a:latin typeface="Times New Roman"/>
                        <a:ea typeface="Times New Roman"/>
                        <a:cs typeface="Times New Roman"/>
                      </a:rPr>
                      <a:t>0,5</a:t>
                    </a:r>
                  </a:p>
                </c:rich>
              </c:tx>
              <c:dLblPos val="outEnd"/>
              <c:showLegendKey val="0"/>
              <c:showVal val="1"/>
              <c:showCatName val="0"/>
              <c:showSerName val="0"/>
              <c:showPercent val="0"/>
              <c:showBubbleSize val="0"/>
            </c:dLbl>
            <c:dLbl>
              <c:idx val="1"/>
              <c:tx>
                <c:rich>
                  <a:bodyPr/>
                  <a:lstStyle/>
                  <a:p>
                    <a:r>
                      <a:rPr sz="1100" b="0" i="0">
                        <a:solidFill>
                          <a:srgbClr val="222222"/>
                        </a:solidFill>
                        <a:latin typeface="Times New Roman"/>
                        <a:ea typeface="Times New Roman"/>
                        <a:cs typeface="Times New Roman"/>
                      </a:rPr>
                      <a:t>10,9</a:t>
                    </a:r>
                  </a:p>
                </c:rich>
              </c:tx>
              <c:dLblPos val="outEnd"/>
              <c:showLegendKey val="0"/>
              <c:showVal val="1"/>
              <c:showCatName val="0"/>
              <c:showSerName val="0"/>
              <c:showPercent val="0"/>
              <c:showBubbleSize val="0"/>
            </c:dLbl>
            <c:dLbl>
              <c:idx val="2"/>
              <c:tx>
                <c:rich>
                  <a:bodyPr/>
                  <a:lstStyle/>
                  <a:p>
                    <a:r>
                      <a:rPr sz="1100" b="0" i="0">
                        <a:solidFill>
                          <a:srgbClr val="222222"/>
                        </a:solidFill>
                        <a:latin typeface="Times New Roman"/>
                        <a:ea typeface="Times New Roman"/>
                        <a:cs typeface="Times New Roman"/>
                      </a:rPr>
                      <a:t>22,9</a:t>
                    </a:r>
                  </a:p>
                </c:rich>
              </c:tx>
              <c:dLblPos val="outEnd"/>
              <c:showLegendKey val="0"/>
              <c:showVal val="1"/>
              <c:showCatName val="0"/>
              <c:showSerName val="0"/>
              <c:showPercent val="0"/>
              <c:showBubbleSize val="0"/>
            </c:dLbl>
            <c:dLbl>
              <c:idx val="3"/>
              <c:tx>
                <c:rich>
                  <a:bodyPr/>
                  <a:lstStyle/>
                  <a:p>
                    <a:r>
                      <a:rPr sz="1100" b="0" i="0">
                        <a:solidFill>
                          <a:srgbClr val="222222"/>
                        </a:solidFill>
                        <a:latin typeface="Times New Roman"/>
                        <a:ea typeface="Times New Roman"/>
                        <a:cs typeface="Times New Roman"/>
                      </a:rPr>
                      <a:t>33,3</a:t>
                    </a:r>
                  </a:p>
                </c:rich>
              </c:tx>
              <c:dLblPos val="outEnd"/>
              <c:showLegendKey val="0"/>
              <c:showVal val="1"/>
              <c:showCatName val="0"/>
              <c:showSerName val="0"/>
              <c:showPercent val="0"/>
              <c:showBubbleSize val="0"/>
            </c:dLbl>
            <c:dLbl>
              <c:idx val="4"/>
              <c:tx>
                <c:rich>
                  <a:bodyPr/>
                  <a:lstStyle/>
                  <a:p>
                    <a:r>
                      <a:rPr sz="1100" b="0" i="0">
                        <a:solidFill>
                          <a:srgbClr val="222222"/>
                        </a:solidFill>
                        <a:latin typeface="Times New Roman"/>
                        <a:ea typeface="Times New Roman"/>
                        <a:cs typeface="Times New Roman"/>
                      </a:rPr>
                      <a:t>34,4</a:t>
                    </a:r>
                  </a:p>
                </c:rich>
              </c:tx>
              <c:dLblPos val="outEnd"/>
              <c:showLegendKey val="0"/>
              <c:showVal val="1"/>
              <c:showCatName val="0"/>
              <c:showSerName val="0"/>
              <c:showPercent val="0"/>
              <c:showBubbleSize val="0"/>
            </c:dLbl>
            <c:dLbl>
              <c:idx val="5"/>
              <c:tx>
                <c:rich>
                  <a:bodyPr/>
                  <a:lstStyle/>
                  <a:p>
                    <a:r>
                      <a:rPr sz="1100" b="0" i="0">
                        <a:solidFill>
                          <a:srgbClr val="222222"/>
                        </a:solidFill>
                        <a:latin typeface="Times New Roman"/>
                        <a:ea typeface="Times New Roman"/>
                        <a:cs typeface="Times New Roman"/>
                      </a:rPr>
                      <a:t>37,0</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Sheet1!$A$2:$A$7</c:f>
              <c:strCache>
                <c:ptCount val="6"/>
                <c:pt idx="0">
                  <c:v>Mùa xuân (SPRING5)</c:v>
                </c:pt>
                <c:pt idx="1">
                  <c:v>Black Friday (BF15)</c:v>
                </c:pt>
                <c:pt idx="2">
                  <c:v>Giáng sinh (XMAS10)</c:v>
                </c:pt>
                <c:pt idx="3">
                  <c:v>Back to school (BTS10)</c:v>
                </c:pt>
                <c:pt idx="4">
                  <c:v>Năm mới (NEWYEAR5)</c:v>
                </c:pt>
                <c:pt idx="5">
                  <c:v>Ưu đãi đặt online (WEB10)</c:v>
                </c:pt>
              </c:strCache>
            </c:strRef>
          </c:cat>
          <c:val>
            <c:numRef>
              <c:f>Sheet1!$B$2:$B$7</c:f>
              <c:numCache>
                <c:formatCode>General</c:formatCode>
                <c:ptCount val="6"/>
                <c:pt idx="0">
                  <c:v>0.5241399999999999</c:v>
                </c:pt>
                <c:pt idx="1">
                  <c:v>10.883899999999999</c:v>
                </c:pt>
                <c:pt idx="2">
                  <c:v>22.85443</c:v>
                </c:pt>
                <c:pt idx="3">
                  <c:v>33.327400000000004</c:v>
                </c:pt>
                <c:pt idx="4">
                  <c:v>34.41312</c:v>
                </c:pt>
                <c:pt idx="5">
                  <c:v>36.971669999999996</c:v>
                </c:pt>
              </c:numCache>
            </c:numRef>
          </c:val>
        </c:ser>
        <c:gapWidth val="45"/>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8.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bar"/>
        <c:grouping val="clustered"/>
        <c:ser>
          <c:idx val="0"/>
          <c:order val="0"/>
          <c:tx>
            <c:strRef>
              <c:f>Sheet1!$B$1</c:f>
              <c:strCache>
                <c:ptCount val="1"/>
                <c:pt idx="0">
                  <c:v>Số đơn</c:v>
                </c:pt>
              </c:strCache>
            </c:strRef>
          </c:tx>
          <c:spPr>
            <a:solidFill>
              <a:srgbClr val="123A7A"/>
            </a:solidFill>
            <a:ln>
              <a:noFill/>
            </a:ln>
          </c:spPr>
          <c:dPt>
            <c:idx val="0"/>
            <c:spPr>
              <a:solidFill>
                <a:srgbClr val="2E5B31"/>
              </a:solidFill>
            </c:spPr>
          </c:dPt>
          <c:dPt>
            <c:idx val="1"/>
            <c:spPr>
              <a:solidFill>
                <a:srgbClr val="C00000"/>
              </a:solidFill>
            </c:spPr>
          </c:dPt>
          <c:dPt>
            <c:idx val="2"/>
            <c:spPr>
              <a:solidFill>
                <a:srgbClr val="C55A11"/>
              </a:solidFill>
            </c:spPr>
          </c:dPt>
          <c:dLbls>
            <c:dLbl>
              <c:idx val="0"/>
              <c:tx>
                <c:rich>
                  <a:bodyPr/>
                  <a:lstStyle/>
                  <a:p>
                    <a:r>
                      <a:rPr sz="1200" b="1" i="0">
                        <a:solidFill>
                          <a:srgbClr val="222222"/>
                        </a:solidFill>
                        <a:latin typeface="Times New Roman"/>
                        <a:ea typeface="Times New Roman"/>
                        <a:cs typeface="Times New Roman"/>
                      </a:rPr>
                      <a:t>25.639 (97,4%)</a:t>
                    </a:r>
                  </a:p>
                </c:rich>
              </c:tx>
              <c:dLblPos val="outEnd"/>
              <c:showLegendKey val="0"/>
              <c:showVal val="1"/>
              <c:showCatName val="0"/>
              <c:showSerName val="0"/>
              <c:showPercent val="0"/>
              <c:showBubbleSize val="0"/>
            </c:dLbl>
            <c:dLbl>
              <c:idx val="1"/>
              <c:tx>
                <c:rich>
                  <a:bodyPr/>
                  <a:lstStyle/>
                  <a:p>
                    <a:r>
                      <a:rPr sz="1200" b="1" i="0">
                        <a:solidFill>
                          <a:srgbClr val="222222"/>
                        </a:solidFill>
                        <a:latin typeface="Times New Roman"/>
                        <a:ea typeface="Times New Roman"/>
                        <a:cs typeface="Times New Roman"/>
                      </a:rPr>
                      <a:t>658 (2,5%)</a:t>
                    </a:r>
                  </a:p>
                </c:rich>
              </c:tx>
              <c:dLblPos val="outEnd"/>
              <c:showLegendKey val="0"/>
              <c:showVal val="1"/>
              <c:showCatName val="0"/>
              <c:showSerName val="0"/>
              <c:showPercent val="0"/>
              <c:showBubbleSize val="0"/>
            </c:dLbl>
            <c:dLbl>
              <c:idx val="2"/>
              <c:tx>
                <c:rich>
                  <a:bodyPr/>
                  <a:lstStyle/>
                  <a:p>
                    <a:r>
                      <a:rPr sz="1200" b="1" i="0">
                        <a:solidFill>
                          <a:srgbClr val="222222"/>
                        </a:solidFill>
                        <a:latin typeface="Times New Roman"/>
                        <a:ea typeface="Times New Roman"/>
                        <a:cs typeface="Times New Roman"/>
                      </a:rPr>
                      <a:t>29 (0,1%)</a:t>
                    </a:r>
                  </a:p>
                </c:rich>
              </c:tx>
              <c:dLblPos val="out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Sheet1!$A$2:$A$4</c:f>
              <c:strCache>
                <c:ptCount val="3"/>
                <c:pt idx="0">
                  <c:v>COMPLETED</c:v>
                </c:pt>
                <c:pt idx="1">
                  <c:v>CANCELLED</c:v>
                </c:pt>
                <c:pt idx="2">
                  <c:v>PENDING</c:v>
                </c:pt>
              </c:strCache>
            </c:strRef>
          </c:cat>
          <c:val>
            <c:numRef>
              <c:f>Sheet1!$B$2:$B$4</c:f>
              <c:numCache>
                <c:formatCode>General</c:formatCode>
                <c:ptCount val="3"/>
                <c:pt idx="0">
                  <c:v>25639</c:v>
                </c:pt>
                <c:pt idx="1">
                  <c:v>658</c:v>
                </c:pt>
                <c:pt idx="2">
                  <c:v>29</c:v>
                </c:pt>
              </c:numCache>
            </c:numRef>
          </c:val>
        </c:ser>
        <c:gapWidth val="40"/>
        <c:axId val="-2068027336"/>
        <c:axId val="-2113994440"/>
      </c:barChart>
      <c:catAx>
        <c:axId val="-2068027336"/>
        <c:scaling>
          <c:orientation val="minMax"/>
        </c:scaling>
        <c:delete val="0"/>
        <c:axPos val="l"/>
        <c:majorTickMark val="out"/>
        <c:minorTickMark val="none"/>
        <c:tickLblPos val="nextTo"/>
        <c:spPr>
          <a:ln>
            <a:solidFill>
              <a:srgbClr val="A6A6A6"/>
            </a:solidFill>
          </a:ln>
        </c:spPr>
        <c:txPr>
          <a:bodyPr/>
          <a:lstStyle/>
          <a:p>
            <a:pPr>
              <a:defRPr sz="1100">
                <a:latin typeface="Times New Roman"/>
              </a:defRPr>
            </a:pPr>
          </a:p>
        </c:txPr>
        <c:crossAx val="-2113994440"/>
        <c:crosses val="autoZero"/>
        <c:auto val="1"/>
        <c:lblAlgn val="ctr"/>
        <c:lblOffset val="100"/>
        <c:noMultiLvlLbl val="0"/>
      </c:catAx>
      <c:valAx>
        <c:axId val="-2113994440"/>
        <c:scaling>
          <c:min val="0.0"/>
        </c:scaling>
        <c:delete val="0"/>
        <c:axPos val="b"/>
        <c:numFmt formatCode="#,##0" sourceLinked="0"/>
        <c:majorTickMark val="out"/>
        <c:minorTickMark val="none"/>
        <c:tickLblPos val="none"/>
        <c:spPr>
          <a:ln>
            <a:noFill/>
          </a:ln>
        </c:spPr>
        <c:txPr>
          <a:bodyPr/>
          <a:lstStyle/>
          <a:p>
            <a:pPr>
              <a:defRPr sz="1100">
                <a:latin typeface="Times New Roman"/>
              </a:defRPr>
            </a:pPr>
          </a:p>
        </c:txPr>
        <c:crossAx val="-2068027336"/>
        <c:crosses val="autoZero"/>
      </c:valAx>
    </c:plotArea>
    <c:dispBlanksAs val="gap"/>
  </c:chart>
  <c:txPr>
    <a:bodyPr/>
    <a:lstStyle/>
    <a:p>
      <a:pPr>
        <a:defRPr sz="1200">
          <a:solidFill>
            <a:srgbClr val="595959"/>
          </a:solidFill>
          <a:latin typeface="Times New Roman"/>
        </a:defRPr>
      </a:pPr>
      <a:endParaRPr lang="en-US"/>
    </a:p>
  </c:txPr>
  <c:externalData r:id="rId1">
    <c:autoUpdate val="0"/>
  </c:externalData>
</c:chartSpace>
</file>

<file path=ppt/charts/chart9.xml><?xml version="1.0" encoding="utf-8"?>
<c:chartSpace xmlns:c="http://schemas.openxmlformats.org/drawingml/2006/chart" xmlns:a="http://schemas.openxmlformats.org/drawingml/2006/main" xmlns:r="http://schemas.openxmlformats.org/officeDocument/2006/relationships">
  <c:date1904 val="0"/>
  <c:chart>
    <c:autoTitleDeleted val="1"/>
    <c:plotArea>
      <c:barChart>
        <c:barDir val="col"/>
        <c:grouping val="stacked"/>
        <c:ser>
          <c:idx val="0"/>
          <c:order val="0"/>
          <c:tx>
            <c:strRef>
              <c:f>Sheet1!$B$1</c:f>
              <c:strCache>
                <c:ptCount val="1"/>
                <c:pt idx="0">
                  <c:v>base</c:v>
                </c:pt>
              </c:strCache>
            </c:strRef>
          </c:tx>
          <c:spPr>
            <a:noFill/>
            <a:ln>
              <a:noFill/>
            </a:ln>
          </c:spPr>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Sheet1!$B$2:$B$11</c:f>
              <c:numCache>
                <c:formatCode>General</c:formatCode>
                <c:ptCount val="10"/>
                <c:pt idx="0">
                  <c:v>0</c:v>
                </c:pt>
                <c:pt idx="1">
                  <c:v>8732.748230000001</c:v>
                </c:pt>
                <c:pt idx="2">
                  <c:v>8789.493970000001</c:v>
                </c:pt>
                <c:pt idx="3">
                  <c:v>8789.493970000001</c:v>
                </c:pt>
                <c:pt idx="4">
                  <c:v>8784.32774</c:v>
                </c:pt>
                <c:pt idx="5">
                  <c:v>8784.32774</c:v>
                </c:pt>
                <c:pt idx="6">
                  <c:v>8787.229370000001</c:v>
                </c:pt>
                <c:pt idx="7">
                  <c:v>0</c:v>
                </c:pt>
                <c:pt idx="8">
                  <c:v>8795.93491</c:v>
                </c:pt>
                <c:pt idx="9">
                  <c:v>0</c:v>
                </c:pt>
              </c:numCache>
            </c:numRef>
          </c:val>
        </c:ser>
        <c:ser>
          <c:idx val="1"/>
          <c:order val="1"/>
          <c:tx>
            <c:strRef>
              <c:f>Sheet1!$C$1</c:f>
              <c:strCache>
                <c:ptCount val="1"/>
                <c:pt idx="0">
                  <c:v>Tổng</c:v>
                </c:pt>
              </c:strCache>
            </c:strRef>
          </c:tx>
          <c:spPr>
            <a:solidFill>
              <a:srgbClr val="123A7A"/>
            </a:solidFill>
            <a:ln>
              <a:noFill/>
            </a:ln>
          </c:spPr>
          <c:dLbls>
            <c:dLbl>
              <c:idx val="0"/>
              <c:tx>
                <c:rich>
                  <a:bodyPr/>
                  <a:lstStyle/>
                  <a:p>
                    <a:r>
                      <a:rPr sz="1000" b="1" i="0">
                        <a:solidFill>
                          <a:srgbClr val="FFFFFF"/>
                        </a:solidFill>
                        <a:latin typeface="Times New Roman"/>
                        <a:ea typeface="Times New Roman"/>
                        <a:cs typeface="Times New Roman"/>
                      </a:rPr>
                      <a:t>8.733</a:t>
                    </a:r>
                  </a:p>
                </c:rich>
              </c:tx>
              <c:dLblPos val="inEnd"/>
              <c:showLegendKey val="0"/>
              <c:showVal val="1"/>
              <c:showCatName val="0"/>
              <c:showSerName val="0"/>
              <c:showPercent val="0"/>
              <c:showBubbleSize val="0"/>
            </c:dLbl>
            <c:dLbl>
              <c:idx val="7"/>
              <c:tx>
                <c:rich>
                  <a:bodyPr/>
                  <a:lstStyle/>
                  <a:p>
                    <a:r>
                      <a:rPr sz="1000" b="1" i="0">
                        <a:solidFill>
                          <a:srgbClr val="FFFFFF"/>
                        </a:solidFill>
                        <a:latin typeface="Times New Roman"/>
                        <a:ea typeface="Times New Roman"/>
                        <a:cs typeface="Times New Roman"/>
                      </a:rPr>
                      <a:t>8.797</a:t>
                    </a:r>
                  </a:p>
                </c:rich>
              </c:tx>
              <c:dLblPos val="inEnd"/>
              <c:showLegendKey val="0"/>
              <c:showVal val="1"/>
              <c:showCatName val="0"/>
              <c:showSerName val="0"/>
              <c:showPercent val="0"/>
              <c:showBubbleSize val="0"/>
            </c:dLbl>
            <c:dLbl>
              <c:idx val="9"/>
              <c:tx>
                <c:rich>
                  <a:bodyPr/>
                  <a:lstStyle/>
                  <a:p>
                    <a:r>
                      <a:rPr sz="1000" b="1" i="0">
                        <a:solidFill>
                          <a:srgbClr val="FFFFFF"/>
                        </a:solidFill>
                        <a:latin typeface="Times New Roman"/>
                        <a:ea typeface="Times New Roman"/>
                        <a:cs typeface="Times New Roman"/>
                      </a:rPr>
                      <a:t>8.796</a:t>
                    </a:r>
                  </a:p>
                </c:rich>
              </c:tx>
              <c:dLblPos val="inEnd"/>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Sheet1!$C$2:$C$11</c:f>
              <c:numCache>
                <c:formatCode>General</c:formatCode>
                <c:ptCount val="10"/>
                <c:pt idx="0">
                  <c:v>8732.748230000001</c:v>
                </c:pt>
                <c:pt idx="1">
                  <c:v>0</c:v>
                </c:pt>
                <c:pt idx="2">
                  <c:v>0</c:v>
                </c:pt>
                <c:pt idx="3">
                  <c:v>0</c:v>
                </c:pt>
                <c:pt idx="4">
                  <c:v>0</c:v>
                </c:pt>
                <c:pt idx="5">
                  <c:v>0</c:v>
                </c:pt>
                <c:pt idx="6">
                  <c:v>0</c:v>
                </c:pt>
                <c:pt idx="7">
                  <c:v>8797.37041</c:v>
                </c:pt>
                <c:pt idx="8">
                  <c:v>0</c:v>
                </c:pt>
                <c:pt idx="9">
                  <c:v>8795.93491</c:v>
                </c:pt>
              </c:numCache>
            </c:numRef>
          </c:val>
        </c:ser>
        <c:ser>
          <c:idx val="2"/>
          <c:order val="2"/>
          <c:tx>
            <c:strRef>
              <c:f>Sheet1!$D$1</c:f>
              <c:strCache>
                <c:ptCount val="1"/>
                <c:pt idx="0">
                  <c:v>Tăng</c:v>
                </c:pt>
              </c:strCache>
            </c:strRef>
          </c:tx>
          <c:spPr>
            <a:solidFill>
              <a:srgbClr val="2E5B31"/>
            </a:solidFill>
            <a:ln>
              <a:noFill/>
            </a:ln>
          </c:spPr>
          <c:dLbls>
            <c:dLbl>
              <c:idx val="1"/>
              <c:tx>
                <c:rich>
                  <a:bodyPr/>
                  <a:lstStyle/>
                  <a:p>
                    <a:r>
                      <a:rPr sz="1000" b="1" i="0">
                        <a:solidFill>
                          <a:srgbClr val="FFFFFF"/>
                        </a:solidFill>
                        <a:latin typeface="Times New Roman"/>
                        <a:ea typeface="Times New Roman"/>
                        <a:cs typeface="Times New Roman"/>
                      </a:rPr>
                      <a:t>+59,7</a:t>
                    </a:r>
                  </a:p>
                </c:rich>
              </c:tx>
              <c:dLblPos val="ctr"/>
              <c:showLegendKey val="0"/>
              <c:showVal val="1"/>
              <c:showCatName val="0"/>
              <c:showSerName val="0"/>
              <c:showPercent val="0"/>
              <c:showBubbleSize val="0"/>
            </c:dLbl>
            <c:dLbl>
              <c:idx val="3"/>
              <c:tx>
                <c:rich>
                  <a:bodyPr/>
                  <a:lstStyle/>
                  <a:p>
                    <a:r>
                      <a:rPr sz="1000" b="1" i="0">
                        <a:solidFill>
                          <a:srgbClr val="FFFFFF"/>
                        </a:solidFill>
                        <a:latin typeface="Times New Roman"/>
                        <a:ea typeface="Times New Roman"/>
                        <a:cs typeface="Times New Roman"/>
                      </a:rPr>
                      <a:t>+17,0</a:t>
                    </a:r>
                  </a:p>
                </c:rich>
              </c:tx>
              <c:dLblPos val="ctr"/>
              <c:showLegendKey val="0"/>
              <c:showVal val="1"/>
              <c:showCatName val="0"/>
              <c:showSerName val="0"/>
              <c:showPercent val="0"/>
              <c:showBubbleSize val="0"/>
            </c:dLbl>
            <c:dLbl>
              <c:idx val="5"/>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6"/>
              <c:tx>
                <c:rich>
                  <a:bodyPr/>
                  <a:lstStyle/>
                  <a:p>
                    <a:r>
                      <a:rPr sz="1000" b="1" i="0">
                        <a:solidFill>
                          <a:srgbClr val="FFFFFF"/>
                        </a:solidFill>
                        <a:latin typeface="Times New Roman"/>
                        <a:ea typeface="Times New Roman"/>
                        <a:cs typeface="Times New Roman"/>
                      </a:rPr>
                      <a:t>+10,1</a:t>
                    </a:r>
                  </a:p>
                </c:rich>
              </c:tx>
              <c:dLblPos val="ctr"/>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Sheet1!$D$2:$D$11</c:f>
              <c:numCache>
                <c:formatCode>General</c:formatCode>
                <c:ptCount val="10"/>
                <c:pt idx="0">
                  <c:v>0</c:v>
                </c:pt>
                <c:pt idx="1">
                  <c:v>59.68278</c:v>
                </c:pt>
                <c:pt idx="2">
                  <c:v>0</c:v>
                </c:pt>
                <c:pt idx="3">
                  <c:v>17.00268</c:v>
                </c:pt>
                <c:pt idx="4">
                  <c:v>0</c:v>
                </c:pt>
                <c:pt idx="5">
                  <c:v>2.90163</c:v>
                </c:pt>
                <c:pt idx="6">
                  <c:v>10.14104</c:v>
                </c:pt>
                <c:pt idx="7">
                  <c:v>0</c:v>
                </c:pt>
                <c:pt idx="8">
                  <c:v>0</c:v>
                </c:pt>
                <c:pt idx="9">
                  <c:v>0</c:v>
                </c:pt>
              </c:numCache>
            </c:numRef>
          </c:val>
        </c:ser>
        <c:ser>
          <c:idx val="3"/>
          <c:order val="3"/>
          <c:tx>
            <c:strRef>
              <c:f>Sheet1!$E$1</c:f>
              <c:strCache>
                <c:ptCount val="1"/>
                <c:pt idx="0">
                  <c:v>Giảm</c:v>
                </c:pt>
              </c:strCache>
            </c:strRef>
          </c:tx>
          <c:spPr>
            <a:solidFill>
              <a:srgbClr val="C00000"/>
            </a:solidFill>
            <a:ln>
              <a:noFill/>
            </a:ln>
          </c:spPr>
          <c:dLbls>
            <c:dLbl>
              <c:idx val="2"/>
              <c:tx>
                <c:rich>
                  <a:bodyPr/>
                  <a:lstStyle/>
                  <a:p>
                    <a:r>
                      <a:rPr sz="1000" b="1" i="0">
                        <a:solidFill>
                          <a:srgbClr val="222222"/>
                        </a:solidFill>
                        <a:latin typeface="Times New Roman"/>
                        <a:ea typeface="Times New Roman"/>
                        <a:cs typeface="Times New Roman"/>
                      </a:rPr>
                      <a:t>−2,9</a:t>
                    </a:r>
                  </a:p>
                </c:rich>
              </c:tx>
              <c:dLblPos val="inBase"/>
              <c:showLegendKey val="0"/>
              <c:showVal val="1"/>
              <c:showCatName val="0"/>
              <c:showSerName val="0"/>
              <c:showPercent val="0"/>
              <c:showBubbleSize val="0"/>
            </c:dLbl>
            <c:dLbl>
              <c:idx val="4"/>
              <c:tx>
                <c:rich>
                  <a:bodyPr/>
                  <a:lstStyle/>
                  <a:p>
                    <a:r>
                      <a:rPr sz="1000" b="1" i="0">
                        <a:solidFill>
                          <a:srgbClr val="FFFFFF"/>
                        </a:solidFill>
                        <a:latin typeface="Times New Roman"/>
                        <a:ea typeface="Times New Roman"/>
                        <a:cs typeface="Times New Roman"/>
                      </a:rPr>
                      <a:t>−22,2</a:t>
                    </a:r>
                  </a:p>
                </c:rich>
              </c:tx>
              <c:dLblPos val="ctr"/>
              <c:showLegendKey val="0"/>
              <c:showVal val="1"/>
              <c:showCatName val="0"/>
              <c:showSerName val="0"/>
              <c:showPercent val="0"/>
              <c:showBubbleSize val="0"/>
            </c:dLbl>
            <c:dLbl>
              <c:idx val="8"/>
              <c:tx>
                <c:rich>
                  <a:bodyPr/>
                  <a:lstStyle/>
                  <a:p>
                    <a:r>
                      <a:rPr sz="1000" b="1" i="0">
                        <a:solidFill>
                          <a:srgbClr val="222222"/>
                        </a:solidFill>
                        <a:latin typeface="Times New Roman"/>
                        <a:ea typeface="Times New Roman"/>
                        <a:cs typeface="Times New Roman"/>
                      </a:rPr>
                      <a:t>−1,4</a:t>
                    </a:r>
                  </a:p>
                </c:rich>
              </c:tx>
              <c:dLblPos val="inBase"/>
              <c:showLegendKey val="0"/>
              <c:showVal val="1"/>
              <c:showCatName val="0"/>
              <c:showSerName val="0"/>
              <c:showPercent val="0"/>
              <c:showBubbleSize val="0"/>
            </c:dLbl>
            <c:showLegendKey val="0"/>
            <c:showVal val="0"/>
            <c:showCatName val="0"/>
            <c:showSerName val="0"/>
            <c:showPercent val="0"/>
            <c:showBubbleSize val="0"/>
            <c:showLeaderLines val="1"/>
          </c:dLbls>
          <c:cat>
            <c:strRef>
              <c:f>Sheet1!$A$2:$A$11</c:f>
              <c:strCache>
                <c:ptCount val="10"/>
                <c:pt idx="0">
                  <c:v>Net Revenue đơn</c:v>
                </c:pt>
                <c:pt idx="1">
                  <c:v>Online lệch thời điểm</c:v>
                </c:pt>
                <c:pt idx="2">
                  <c:v>Hoàn tiền trễ</c:v>
                </c:pt>
                <c:pt idx="3">
                  <c:v>Đơn huỷ vẫn ghi nhận</c:v>
                </c:pt>
                <c:pt idx="4">
                  <c:v>Thiếu dữ liệu ngày</c:v>
                </c:pt>
                <c:pt idx="5">
                  <c:v>Doanh thu gồm VAT</c:v>
                </c:pt>
                <c:pt idx="6">
                  <c:v>Ghi trùng bút toán</c:v>
                </c:pt>
                <c:pt idx="7">
                  <c:v>Finance cửa hàng + online</c:v>
                </c:pt>
                <c:pt idx="8">
                  <c:v>HQ-ADJ</c:v>
                </c:pt>
                <c:pt idx="9">
                  <c:v>Finance toàn chuỗi</c:v>
                </c:pt>
              </c:strCache>
            </c:strRef>
          </c:cat>
          <c:val>
            <c:numRef>
              <c:f>Sheet1!$E$2:$E$11</c:f>
              <c:numCache>
                <c:formatCode>General</c:formatCode>
                <c:ptCount val="10"/>
                <c:pt idx="0">
                  <c:v>0</c:v>
                </c:pt>
                <c:pt idx="1">
                  <c:v>0</c:v>
                </c:pt>
                <c:pt idx="2">
                  <c:v>2.93704</c:v>
                </c:pt>
                <c:pt idx="3">
                  <c:v>0</c:v>
                </c:pt>
                <c:pt idx="4">
                  <c:v>22.16891</c:v>
                </c:pt>
                <c:pt idx="5">
                  <c:v>0</c:v>
                </c:pt>
                <c:pt idx="6">
                  <c:v>0</c:v>
                </c:pt>
                <c:pt idx="7">
                  <c:v>0</c:v>
                </c:pt>
                <c:pt idx="8">
                  <c:v>1.4355</c:v>
                </c:pt>
                <c:pt idx="9">
                  <c:v>0</c:v>
                </c:pt>
              </c:numCache>
            </c:numRef>
          </c:val>
        </c:ser>
        <c:gapWidth val="40"/>
        <c:overlap val="100"/>
        <c:axId val="-2068027336"/>
        <c:axId val="-2113994440"/>
      </c:barChart>
      <c:catAx>
        <c:axId val="-2068027336"/>
        <c:scaling>
          <c:orientation val="minMax"/>
        </c:scaling>
        <c:delete val="0"/>
        <c:axPos val="b"/>
        <c:majorTickMark val="out"/>
        <c:minorTickMark val="none"/>
        <c:tickLblPos val="nextTo"/>
        <c:spPr>
          <a:ln>
            <a:solidFill>
              <a:srgbClr val="A6A6A6"/>
            </a:solidFill>
          </a:ln>
        </c:spPr>
        <c:txPr>
          <a:bodyPr/>
          <a:lstStyle/>
          <a:p>
            <a:pPr>
              <a:defRPr sz="1000">
                <a:latin typeface="Times New Roman"/>
              </a:defRPr>
            </a:pPr>
          </a:p>
        </c:txPr>
        <c:crossAx val="-2113994440"/>
        <c:crosses val="autoZero"/>
        <c:auto val="1"/>
        <c:lblAlgn val="ctr"/>
        <c:lblOffset val="100"/>
        <c:noMultiLvlLbl val="0"/>
      </c:catAx>
      <c:valAx>
        <c:axId val="-2113994440"/>
        <c:scaling>
          <c:max val="8820.0"/>
          <c:min val="8660.0"/>
        </c:scaling>
        <c:delete val="0"/>
        <c:axPos val="l"/>
        <c:majorGridlines>
          <c:spPr>
            <a:ln w="9525">
              <a:solidFill>
                <a:srgbClr val="D9D9D9"/>
              </a:solidFill>
            </a:ln>
          </c:spPr>
        </c:majorGridlines>
        <c:numFmt formatCode="#,##0" sourceLinked="0"/>
        <c:majorTickMark val="out"/>
        <c:minorTickMark val="none"/>
        <c:tickLblPos val="nextTo"/>
        <c:spPr>
          <a:ln>
            <a:noFill/>
          </a:ln>
        </c:spPr>
        <c:txPr>
          <a:bodyPr/>
          <a:lstStyle/>
          <a:p>
            <a:pPr>
              <a:defRPr sz="1100">
                <a:latin typeface="Times New Roman"/>
              </a:defRPr>
            </a:pPr>
          </a:p>
        </c:txPr>
        <c:crossAx val="-2068027336"/>
        <c:crosses val="autoZero"/>
      </c:valAx>
    </c:plotArea>
    <c:dispBlanksAs val="gap"/>
  </c:chart>
  <c:txPr>
    <a:bodyPr/>
    <a:lstStyle/>
    <a:p>
      <a:pPr>
        <a:defRPr sz="1000">
          <a:solidFill>
            <a:srgbClr val="595959"/>
          </a:solidFill>
          <a:latin typeface="Times New Roman"/>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2"/>
        <p:cNvGrpSpPr/>
        <p:nvPr/>
      </p:nvGrpSpPr>
      <p:grpSpPr>
        <a:xfrm>
          <a:off x="0" y="0"/>
          <a:ext cx="0" cy="0"/>
          <a:chOff x="0" y="0"/>
          <a:chExt cx="0" cy="0"/>
        </a:xfrm>
      </p:grpSpPr>
      <p:sp>
        <p:nvSpPr>
          <p:cNvPr id="3" name="Google Shape;3;n"/>
          <p:cNvSpPr txBox="1">
            <a:spLocks noGrp="1"/>
          </p:cNvSpPr>
          <p:nvPr>
            <p:ph type="hdr" idx="2"/>
          </p:nvPr>
        </p:nvSpPr>
        <p:spPr>
          <a:xfrm>
            <a:off x="0" y="0"/>
            <a:ext cx="2971800" cy="458788"/>
          </a:xfrm>
          <a:prstGeom prst="rect">
            <a:avLst/>
          </a:prstGeom>
          <a:noFill/>
          <a:ln>
            <a:noFill/>
          </a:ln>
        </p:spPr>
        <p:txBody>
          <a:bodyPr spcFirstLastPara="1" wrap="square" lIns="91425" tIns="45700" rIns="91425" bIns="45700" anchor="t"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4" name="Google Shape;4;n"/>
          <p:cNvSpPr txBox="1">
            <a:spLocks noGrp="1"/>
          </p:cNvSpPr>
          <p:nvPr>
            <p:ph type="dt" idx="10"/>
          </p:nvPr>
        </p:nvSpPr>
        <p:spPr>
          <a:xfrm>
            <a:off x="3884613" y="0"/>
            <a:ext cx="2971800" cy="458788"/>
          </a:xfrm>
          <a:prstGeom prst="rect">
            <a:avLst/>
          </a:prstGeom>
          <a:noFill/>
          <a:ln>
            <a:noFill/>
          </a:ln>
        </p:spPr>
        <p:txBody>
          <a:bodyPr spcFirstLastPara="1" wrap="square" lIns="91425" tIns="45700" rIns="91425" bIns="45700" anchor="t" anchorCtr="0">
            <a:noAutofit/>
          </a:bodyPr>
          <a:lstStyle>
            <a:lvl1pPr marR="0" lvl="0" algn="r"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5" name="Google Shape;5;n"/>
          <p:cNvSpPr>
            <a:spLocks noGrp="1" noRot="1" noChangeAspect="1"/>
          </p:cNvSpPr>
          <p:nvPr>
            <p:ph type="sldImg" idx="3"/>
          </p:nvPr>
        </p:nvSpPr>
        <p:spPr>
          <a:xfrm>
            <a:off x="685800" y="1143000"/>
            <a:ext cx="5486400" cy="3086100"/>
          </a:xfrm>
          <a:custGeom>
            <a:avLst/>
            <a:gdLst/>
            <a:ahLst/>
            <a:cxnLst/>
            <a:rect l="l" t="t" r="r" b="b"/>
            <a:pathLst>
              <a:path w="120000" h="120000" extrusionOk="0">
                <a:moveTo>
                  <a:pt x="0" y="0"/>
                </a:moveTo>
                <a:lnTo>
                  <a:pt x="120000" y="0"/>
                </a:lnTo>
                <a:lnTo>
                  <a:pt x="120000" y="120000"/>
                </a:lnTo>
                <a:lnTo>
                  <a:pt x="0" y="120000"/>
                </a:lnTo>
                <a:close/>
              </a:path>
            </a:pathLst>
          </a:custGeom>
          <a:noFill/>
          <a:ln w="12700" cap="flat" cmpd="sng">
            <a:solidFill>
              <a:srgbClr val="000000"/>
            </a:solidFill>
            <a:prstDash val="solid"/>
            <a:round/>
            <a:headEnd type="none" w="sm" len="sm"/>
            <a:tailEnd type="none" w="sm" len="sm"/>
          </a:ln>
        </p:spPr>
      </p:sp>
      <p:sp>
        <p:nvSpPr>
          <p:cNvPr id="6" name="Google Shape;6;n"/>
          <p:cNvSpPr txBox="1">
            <a:spLocks noGrp="1"/>
          </p:cNvSpPr>
          <p:nvPr>
            <p:ph type="body" idx="1"/>
          </p:nvPr>
        </p:nvSpPr>
        <p:spPr>
          <a:xfrm>
            <a:off x="685800" y="4400550"/>
            <a:ext cx="5486400" cy="3600450"/>
          </a:xfrm>
          <a:prstGeom prst="rect">
            <a:avLst/>
          </a:prstGeom>
          <a:noFill/>
          <a:ln>
            <a:noFill/>
          </a:ln>
        </p:spPr>
        <p:txBody>
          <a:bodyPr spcFirstLastPara="1" wrap="square" lIns="91425" tIns="45700" rIns="91425" bIns="45700" anchor="t" anchorCtr="0">
            <a:noAutofit/>
          </a:bodyPr>
          <a:lstStyle>
            <a:lvl1pPr marL="457200" marR="0" lvl="0"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L="914400" marR="0" lvl="1"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2pPr>
            <a:lvl3pPr marL="1371600" marR="0" lvl="2"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3pPr>
            <a:lvl4pPr marL="1828800" marR="0" lvl="3"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4pPr>
            <a:lvl5pPr marL="2286000" marR="0" lvl="4"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5pPr>
            <a:lvl6pPr marL="2743200" marR="0" lvl="5"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6pPr>
            <a:lvl7pPr marL="3200400" marR="0" lvl="6"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7pPr>
            <a:lvl8pPr marL="3657600" marR="0" lvl="7"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8pPr>
            <a:lvl9pPr marL="4114800" marR="0" lvl="8" indent="-22860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9pPr>
          </a:lstStyle>
          <a:p>
            <a:endParaRPr/>
          </a:p>
        </p:txBody>
      </p:sp>
      <p:sp>
        <p:nvSpPr>
          <p:cNvPr id="7" name="Google Shape;7;n"/>
          <p:cNvSpPr txBox="1">
            <a:spLocks noGrp="1"/>
          </p:cNvSpPr>
          <p:nvPr>
            <p:ph type="ftr" idx="11"/>
          </p:nvPr>
        </p:nvSpPr>
        <p:spPr>
          <a:xfrm>
            <a:off x="0" y="8685213"/>
            <a:ext cx="2971800" cy="458787"/>
          </a:xfrm>
          <a:prstGeom prst="rect">
            <a:avLst/>
          </a:prstGeom>
          <a:noFill/>
          <a:ln>
            <a:noFill/>
          </a:ln>
        </p:spPr>
        <p:txBody>
          <a:bodyPr spcFirstLastPara="1" wrap="square" lIns="91425" tIns="45700" rIns="91425" bIns="45700" anchor="b" anchorCtr="0">
            <a:noAutofit/>
          </a:bodyPr>
          <a:lstStyle>
            <a:lvl1pPr marR="0" lvl="0" algn="l" rtl="0">
              <a:spcBef>
                <a:spcPts val="0"/>
              </a:spcBef>
              <a:spcAft>
                <a:spcPts val="0"/>
              </a:spcAft>
              <a:buSzPts val="1400"/>
              <a:buNone/>
              <a:defRPr sz="1200" b="0" i="0" u="none" strike="noStrike" cap="none">
                <a:solidFill>
                  <a:schemeClr val="dk1"/>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8" name="Google Shape;8;n"/>
          <p:cNvSpPr txBox="1">
            <a:spLocks noGrp="1"/>
          </p:cNvSpPr>
          <p:nvPr>
            <p:ph type="sldNum" idx="12"/>
          </p:nvPr>
        </p:nvSpPr>
        <p:spPr>
          <a:xfrm>
            <a:off x="3884613" y="8685213"/>
            <a:ext cx="2971800" cy="458787"/>
          </a:xfrm>
          <a:prstGeom prst="rect">
            <a:avLst/>
          </a:prstGeom>
          <a:noFill/>
          <a:ln>
            <a:noFill/>
          </a:ln>
        </p:spPr>
        <p:txBody>
          <a:bodyPr spcFirstLastPara="1" wrap="square" lIns="91425" tIns="45700" rIns="91425" bIns="45700" anchor="b" anchorCtr="0">
            <a:noAutofit/>
          </a:bodyPr>
          <a:lstStyle/>
          <a:p>
            <a:pPr marL="0" marR="0" lvl="0" indent="0" algn="r" rtl="0">
              <a:spcBef>
                <a:spcPts val="0"/>
              </a:spcBef>
              <a:spcAft>
                <a:spcPts val="0"/>
              </a:spcAft>
              <a:buNone/>
            </a:pPr>
            <a:fld id="{00000000-1234-1234-1234-123412341234}" type="slidenum">
              <a:rPr lang="vi-VN" sz="1200" b="0" i="0" u="none" strike="noStrike" cap="none">
                <a:solidFill>
                  <a:schemeClr val="dk1"/>
                </a:solidFill>
                <a:latin typeface="Calibri"/>
                <a:ea typeface="Calibri"/>
                <a:cs typeface="Calibri"/>
                <a:sym typeface="Calibri"/>
              </a:rPr>
              <a:t>‹#›</a:t>
            </a:fld>
            <a:endParaRPr sz="1200" b="0" i="0" u="none" strike="noStrike" cap="none">
              <a:solidFill>
                <a:schemeClr val="dk1"/>
              </a:solidFill>
              <a:latin typeface="Calibri"/>
              <a:ea typeface="Calibri"/>
              <a:cs typeface="Calibri"/>
              <a:sym typeface="Calibri"/>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Giới thiệu buổi học: Project 1 của nhóm Sales Operations, tình huống Nexa Home – chuỗi bán lẻ điện máy bán qua cửa hàng (POS) và website/app. Mục tiêu: học viên dựng dashboard Power BI 4 trang từ dữ liệu đơn hàng, tính đúng Gross Sales, Net Revenue, số đơn, AOV, ASP, rồi đối soát với file doanh thu Finance và giải thích các chênh lệch vượt ngưỡng. Đây là project đầu tiên nên mentor hỗ trợ nhiều (khoảng 80 %): đi cùng học viên qua từng bước, học viên tự làm phần giải thích chênh lệch. Giới thiệu mentor và quy ước hỏi đáp trong buổi.</a:t>
            </a:r>
          </a:p>
        </p:txBody>
      </p:sp>
      <p:sp>
        <p:nvSpPr>
          <p:cNvPr id="4" name="Slide Number Placeholder 3"/>
          <p:cNvSpPr>
            <a:spLocks noGrp="1"/>
          </p:cNvSpPr>
          <p:nvPr>
            <p:ph type="sldNum" idx="12"/>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Mạch buổi học (≈ 180 phút): hiểu bối cảnh bán lẻ và vì sao phải đối soát (15') → đề bài dashboard (20') → hệ thống KPI (20') → dữ liệu và mô hình (25') → khám phá dữ liệu (20') → mẫu DAX (35') → đọc kết quả và lập luận (35') → sản phẩm nộp và chấm điểm (10'). Nhấn mạnh: phần 3 và 4 là nền móng; sai định nghĩa KPI hoặc sai số dòng sau khi nạp thì mọi con số phía sau đều sai, kể cả bảng đối soát.</a:t>
            </a:r>
          </a:p>
        </p:txBody>
      </p:sp>
      <p:sp>
        <p:nvSpPr>
          <p:cNvPr id="4" name="Slide Number Placeholder 3"/>
          <p:cNvSpPr>
            <a:spLocks noGrp="1"/>
          </p:cNvSpPr>
          <p:nvPr>
            <p:ph type="sldNum" idx="12"/>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1 · khoảng 15 phút.) Mở bằng tình huống: 10 phút nữa họp với Finance, Sales Manager cần trả lời 3 câu: tháng này thực sự bán được bao nhiêu; bao nhiêu bị mất vì giảm giá, hoàn trả, huỷ đơn; và vì sao số của Sales khác số Finance đã xác nhận. Vai trò của Data Analyst là trả lời cả ba bằng con số kiểm chứng được. Hỏi lớp: “Nếu số của bạn lệch Finance 2 %, bạn tin số nào? Cần gì để thuyết phục người kia?” – dẫn sang ý: phải giải thích được chênh lệch đến từ đâu, bao nhiêu tiền.</a:t>
            </a:r>
          </a:p>
        </p:txBody>
      </p:sp>
      <p:sp>
        <p:nvSpPr>
          <p:cNvPr id="4" name="Slide Number Placeholder 3"/>
          <p:cNvSpPr>
            <a:spLocks noGrp="1"/>
          </p:cNvSpPr>
          <p:nvPr>
            <p:ph type="sldNum" idx="12"/>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Quy mô dữ liệu: 66 cửa hàng ở 8 quốc gia cộng một kênh online, 2.517 sản phẩm, 26.326 đơn từ 01/2016 đến 20/02/2021. Đi qua 5 bước của một đơn: đặt hàng (order_date; POS trả tiền và nhận hàng ngay), giao hàng (delivery_date, chỉ online), hoàn tất (chỉ đơn COMPLETED mới là doanh thu), hoàn trả (trừ vào tháng trả hàng, không phải tháng bán), Finance ghi nhận (posting_date). Ý chính cần chốt: cùng một đơn có thể rơi vào hai tháng khác nhau tuỳ theo mốc ngày mà mỗi bên dùng.</a:t>
            </a:r>
          </a:p>
        </p:txBody>
      </p:sp>
      <p:sp>
        <p:nvSpPr>
          <p:cNvPr id="4" name="Slide Number Placeholder 3"/>
          <p:cNvSpPr>
            <a:spLocks noGrp="1"/>
          </p:cNvSpPr>
          <p:nvPr>
            <p:ph type="sldNum" idx="12"/>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cách ghi sổ cho cùng một giao dịch: dữ liệu đơn ghi theo ngày đặt và còn lẫn đơn huỷ, đơn đang giao, dòng trùng; Finance ghi theo ngày hạch toán, online khi giao xong, hoàn tiền khi xử lý, dùng mã cửa hàng riêng. Vì vậy chênh lệch không mặc định là lỗi: có lệch thời điểm, lệch quy tắc và lỗi thật. Nếu không đối soát: hai phòng báo hai số, thưởng doanh số tính sai, lỗi thật bị che trong tổng. Giới thiệu ba vai trò trong vòng đối soát: DA lập bảng chênh lệch, Finance xác nhận phía sổ sách, cửa hàng/e-commerce xác nhận trạng thái đơn khi DA hỏi lại.</a:t>
            </a:r>
          </a:p>
        </p:txBody>
      </p:sp>
      <p:sp>
        <p:nvSpPr>
          <p:cNvPr id="4" name="Slide Number Placeholder 3"/>
          <p:cNvSpPr>
            <a:spLocks noGrp="1"/>
          </p:cNvSpPr>
          <p:nvPr>
            <p:ph type="sldNum" idx="12"/>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2 · khoảng 20 phút.) Hai sản phẩm: file Power BI 4 trang và báo cáo 8 phần theo guild_report_template. Ba bộ lọc dùng chung cho cả 4 trang: Tháng báo cáo (chọn một, mặc định 12/2020), Kênh bán (Tất cả / Cửa hàng / Website-app), Quốc gia. Giới thiệu nhanh 4 trang: Tổng quan, Doanh thu, Đối soát, Hoàn trả &amp; chất lượng. Lưu ý kênh online không thuộc quốc gia nào: khi chọn một quốc gia thì online bị loại khỏi phạm vi. Các slide sau đi vào yêu cầu tối thiểu của từng trang.</a:t>
            </a:r>
          </a:p>
        </p:txBody>
      </p:sp>
      <p:sp>
        <p:nvSpPr>
          <p:cNvPr id="4" name="Slide Number Placeholder 3"/>
          <p:cNvSpPr>
            <a:spLocks noGrp="1"/>
          </p:cNvSpPr>
          <p:nvPr>
            <p:ph type="sldNum" idx="12"/>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1 trả lời câu: tháng này bán được bao nhiêu và có khớp Finance không. Sáu thẻ KPI, mỗi thẻ có giá trị, so với tháng trước và so với cùng tháng năm trước. Ba biểu đồ: đường Net Revenue của dữ liệu đơn và Finance trong 24 tháng (không bị slicer Tháng lọc để luôn thấy xu hướng), đường số đơn hoàn tất, và waterfall từ Gross Sales trừ giảm giá, trừ hoàn trả ra Net Revenue cho tháng đang chọn. Nhắc: thẻ “Chênh lệch Finance” là cầu nối sang trang Đối soát.</a:t>
            </a:r>
          </a:p>
        </p:txBody>
      </p:sp>
      <p:sp>
        <p:nvSpPr>
          <p:cNvPr id="4" name="Slide Number Placeholder 3"/>
          <p:cNvSpPr>
            <a:spLocks noGrp="1"/>
          </p:cNvSpPr>
          <p:nvPr>
            <p:ph type="sldNum" idx="12"/>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2 trả lời: doanh thu tập trung ở đâu, kênh nào tăng. Hai thẻ Net Sales và Units; bảng doanh thu theo kênh có tỷ trọng, số đơn, tháng trước, cùng kỳ; pie theo danh mục (tối đa 7 lát + Khác), treemap theo quốc gia (online là một ô), cột AOV theo kênh và bảng Top 10 cửa hàng. Gợi ý cho học viên: bảng nào cũng phải có cột Thay đổi với ▲/▼, không chỉ đưa số tuyệt đối.</a:t>
            </a:r>
          </a:p>
        </p:txBody>
      </p:sp>
      <p:sp>
        <p:nvSpPr>
          <p:cNvPr id="4" name="Slide Number Placeholder 3"/>
          <p:cNvSpPr>
            <a:spLocks noGrp="1"/>
          </p:cNvSpPr>
          <p:nvPr>
            <p:ph type="sldNum" idx="12"/>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3 là trọng tâm của project. Δ luôn tính Finance − dữ liệu đơn, nên Δ dương nghĩa là Finance ghi cao hơn. Cờ vượt ngưỡng khi |Δ| &gt; 200 USD và |Δ %| &gt; 1%, xét ở mức tháng × cửa hàng. Bốn thẻ: Net Revenue phía đơn, phía Finance, Δ (kèm Δ sau khi quy online về ngày giao) và số ô vượt ngưỡng. Biểu đồ Δ theo tháng có hai đường: gốc và sau quy đổi; bảng cửa hàng xếp theo |Δ|. Hỏi lớp: “Vì sao cần thêm đường Δ sau quy đổi?” – để tách lệch thời điểm khỏi lỗi thật.</a:t>
            </a:r>
          </a:p>
        </p:txBody>
      </p:sp>
      <p:sp>
        <p:nvSpPr>
          <p:cNvPr id="4" name="Slide Number Placeholder 3"/>
          <p:cNvSpPr>
            <a:spLocks noGrp="1"/>
          </p:cNvSpPr>
          <p:nvPr>
            <p:ph type="sldNum" idx="12"/>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Trang 4 trả lời: doanh thu có “sạch” không. Thẻ giá trị hoàn trả, tỷ lệ hoàn trả (thay đổi đo bằng điểm %, không dùng %), số đơn huỷ, số dòng trùng đã loại kèm số đơn đang giao. Biểu đồ lý do trả hàng, bảng tỷ lệ hoàn trả theo danh mục, xu hướng tỷ lệ hoàn trả và xu hướng đơn huỷ/đang giao. Lưu ý màu đảo: tỷ lệ hoàn trả tăng là xấu nên tô đỏ, khác với doanh thu.</a:t>
            </a:r>
          </a:p>
        </p:txBody>
      </p:sp>
      <p:sp>
        <p:nvSpPr>
          <p:cNvPr id="4" name="Slide Number Placeholder 3"/>
          <p:cNvSpPr>
            <a:spLocks noGrp="1"/>
          </p:cNvSpPr>
          <p:nvPr>
            <p:ph type="sldNum" idx="12"/>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Checklist để học viên tự chấm trước khi nộp, chia 3 mức. Bắt buộc: bỏ 120 dòng trùng, chỉ tính COMPLETED, đủ 4 trang, slicer đồng bộ, map Finance theo hiệu lực, có cờ vượt ngưỡng. Nên có: Δ sau quy đổi online, line chart đủ 24 tháng, caption và đơn vị rõ, nút Đặt lại. Sáng tạo: drill-through cửa hàng – ngày, tooltip, bảng giải thích chênh lệch có tổng nguyên nhân bằng Δ, dùng bảng bổ sung. Khuyến khích học viên chụp lại slide này để rà trước khi nộp.</a:t>
            </a:r>
          </a:p>
        </p:txBody>
      </p:sp>
      <p:sp>
        <p:nvSpPr>
          <p:cNvPr id="4" name="Slide Number Placeholder 3"/>
          <p:cNvSpPr>
            <a:spLocks noGrp="1"/>
          </p:cNvSpPr>
          <p:nvPr>
            <p:ph type="sldNum" idx="12"/>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3 · khoảng 20 phút.) Đọc cây KPI từ trái sang phải: Gross Sales trừ giảm giá ra Net Sales, trừ hoàn trả ra Net Revenue, rồi so với Finance Net Revenue ra Δ và cờ ngưỡng. Nhánh trên: Orders và Units là mẫu số của AOV và ASP, với tử số chung là Net Sales. Thông điệp: hiểu định nghĩa và thứ tự trước, viết DAX sau; sơ đồ này nằm ở diagrams/04_cay_kpi.drawio để mentor sửa khi cần.</a:t>
            </a:r>
          </a:p>
        </p:txBody>
      </p:sp>
      <p:sp>
        <p:nvSpPr>
          <p:cNvPr id="4" name="Slide Number Placeholder 3"/>
          <p:cNvSpPr>
            <a:spLocks noGrp="1"/>
          </p:cNvSpPr>
          <p:nvPr>
            <p:ph type="sldNum" idx="12"/>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5 chỉ tiêu nhóm doanh thu và phạm vi: chỉ đơn COMPLETED, đã bỏ dòng trùng; Returns tính theo ngày trả hàng. Làm ví dụ tính tay ở khung bên phải (sheet sample_transactions): đơn POS dùng mã BF15, Gross 5.509,99 USD, giảm giá 826,50 USD, đúng 15 %, ra Net Sales 4.683,49 USD; không có hoàn trả nên Net Revenue bằng Net Sales. Hoạt động: cho học viên tự mở sheet, lọc order_number này và tính lại bằng Excel trước khi viết DAX. Chốt: Net Revenue là số đem đi đối soát.</a:t>
            </a:r>
          </a:p>
        </p:txBody>
      </p:sp>
      <p:sp>
        <p:nvSpPr>
          <p:cNvPr id="4" name="Slide Number Placeholder 3"/>
          <p:cNvSpPr>
            <a:spLocks noGrp="1"/>
          </p:cNvSpPr>
          <p:nvPr>
            <p:ph type="sldNum" idx="12"/>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Orders đếm phân biệt order_number, không đếm dòng. Tháng 12/2020: 310 đơn, 2.359 sản phẩm, AOV 1.986,49 USD/đơn, ASP 261,05 USD/sản phẩm, tỷ lệ hoàn trả 1,57%. Giới thiệu bốn mốc thời gian: tháng báo cáo, tháng trước (LM), cùng kỳ năm trước (SPLY) và lũy kế năm (YTD). Bẫy hay gặp: COUNT trên bảng dòng làm số đơn tăng gấp nhiều lần; tính AOV trên Gross thay vì Net Sales làm AOV cao hơn thực tế.</a:t>
            </a:r>
          </a:p>
        </p:txBody>
      </p:sp>
      <p:sp>
        <p:nvSpPr>
          <p:cNvPr id="4" name="Slide Number Placeholder 3"/>
          <p:cNvSpPr>
            <a:spLocks noGrp="1"/>
          </p:cNvSpPr>
          <p:nvPr>
            <p:ph type="sldNum" idx="12"/>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Ba trạng thái: COMPLETED 25.639 đơn (tính doanh thu), CANCELLED 658 đơn và PENDING 29 đơn (không tính). PENDING là đơn online chưa giao tại ngày trích dữ liệu 20/02/2021. Phía Finance: POS ghi nhận ngày bán, online ghi nhận ngày giao, hoàn tiền ghi theo ngày xử lý (có thể trễ vài ngày), net_revenue chưa gồm VAT 10 %. Hỏi lớp: “Nếu so số của mình với cột total_incl_vat thì chuyện gì xảy ra?” – mọi ô sẽ lệch khoảng 10 %.</a:t>
            </a:r>
          </a:p>
        </p:txBody>
      </p:sp>
      <p:sp>
        <p:nvSpPr>
          <p:cNvPr id="4" name="Slide Number Placeholder 3"/>
          <p:cNvSpPr>
            <a:spLocks noGrp="1"/>
          </p:cNvSpPr>
          <p:nvPr>
            <p:ph type="sldNum" idx="12"/>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vì sao cần cả hai điều kiện: cửa hàng lớn lệch 300 USD có thể chỉ 0,1 % – không đáng truy; cửa hàng nhỏ lệch 5 % nhưng chỉ 50 USD – cũng không đáng công. Hai ví dụ thật tháng 12/2020: một cửa hàng lệch dưới 200 USD nên trong ngưỡng; cửa hàng S12 lệch +10.141 USD (+32,7%) nên bắt buộc tìm nguyên nhân. Không nói trước nguyên nhân của S12; để học viên tự tìm ở trang Đối soát.</a:t>
            </a:r>
          </a:p>
        </p:txBody>
      </p:sp>
      <p:sp>
        <p:nvSpPr>
          <p:cNvPr id="4" name="Slide Number Placeholder 3"/>
          <p:cNvSpPr>
            <a:spLocks noGrp="1"/>
          </p:cNvSpPr>
          <p:nvPr>
            <p:ph type="sldNum" idx="12"/>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4 · khoảng 25 phút.) Đọc sơ đồ theo ba làn: mentor chuẩn bị dữ liệu (nguồn Global Electronics Retailer, script sinh dữ liệu), học viên làm 5 bước trong Power BI (Power Query → mô hình → DAX → dashboard → báo cáo), và các điểm kiểm tra (QC_Summary, số đối soát, rubric). Nhấn mạnh hai file đầu vào của học viên: dataset và finance_revenue.xlsx. Sơ đồ gốc ở diagrams/01_pipeline_du_lieu.drawio.</a:t>
            </a:r>
          </a:p>
        </p:txBody>
      </p:sp>
      <p:sp>
        <p:nvSpPr>
          <p:cNvPr id="4" name="Slide Number Placeholder 3"/>
          <p:cNvSpPr>
            <a:spLocks noGrp="1"/>
          </p:cNvSpPr>
          <p:nvPr>
            <p:ph type="sldNum" idx="12"/>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file, ba bảng fact với ba grain khác nhau: fact_sales_line 63.004 dòng, mỗi dòng là một sản phẩm trong một đơn; fact_return 2.430 dòng, mỗi dòng một lần trả hàng; finance_revenue 19.400 dòng, mỗi dòng một ngày × một mã cửa hàng Finance. Ba lưu ý: có 120 dòng trùng hoàn toàn cần loại; fact_return không có store_key nên phải lấy qua order_number + line_item; fin_store_code không phải store_key nên phải map.</a:t>
            </a:r>
          </a:p>
        </p:txBody>
      </p:sp>
      <p:sp>
        <p:nvSpPr>
          <p:cNvPr id="4" name="Slide Number Placeholder 3"/>
          <p:cNvSpPr>
            <a:spLocks noGrp="1"/>
          </p:cNvSpPr>
          <p:nvPr>
            <p:ph type="sldNum" idx="12"/>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nhanh qua các dim: dim_date (một dòng một ngày, phải Mark as date table), dim_store (store_key 0 là online), dim_product, dim_channel kèm quy tắc ghi nhận, dim_promotion, dim_order_status (có tính doanh thu không) và map_store_finance. dim_customer và fx_rate là bảng bổ sung cho phần sáng tạo, không bắt buộc. Hỏi lớp: “Muốn so tháng này với tháng trước bằng DATEADD thì cần gì?” – cần bảng ngày liên tục và đã đánh dấu.</a:t>
            </a:r>
          </a:p>
        </p:txBody>
      </p:sp>
      <p:sp>
        <p:nvSpPr>
          <p:cNvPr id="4" name="Slide Number Placeholder 3"/>
          <p:cNvSpPr>
            <a:spLocks noGrp="1"/>
          </p:cNvSpPr>
          <p:nvPr>
            <p:ph type="sldNum" idx="12"/>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Mô hình hình sao, quan hệ 1 → nhiều, lọc một chiều. dim_date nối fact_sales_line qua order_date (active) và delivery_date (inactive, bật bằng USERELATIONSHIP khi cần quy online về ngày giao); nối fact_return qua return_date và fact_finance qua posting_date. Hai bảng fact không nối trực tiếp với nhau, chúng gặp nhau qua dim_date và dim_store. Phần làm trong Power Query: merge store_key vào fact_return, map store_key cho Finance.</a:t>
            </a:r>
          </a:p>
        </p:txBody>
      </p:sp>
      <p:sp>
        <p:nvSpPr>
          <p:cNvPr id="4" name="Slide Number Placeholder 3"/>
          <p:cNvSpPr>
            <a:spLocks noGrp="1"/>
          </p:cNvSpPr>
          <p:nvPr>
            <p:ph type="sldNum" idx="12"/>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Bảng map có hiệu lực theo ngày. Bẫy 1: cửa hàng 38 dùng mã GBR-03 đến 30/06/2019, sau đó GBR-03N; nếu chỉ join theo mã mà không lọc posting_date trong [valid_from, valid_to] thì doanh thu bị mất hoặc nhân đôi. Bẫy 2: dòng HQ-ADJ là bút toán ở văn phòng chính, store_key trống, không gán cho cửa hàng nào mà giải thích ở cấp tổng chuỗi. Kiểm tra sau merge: số dòng Finance vẫn đúng 19.400.</a:t>
            </a:r>
          </a:p>
        </p:txBody>
      </p:sp>
      <p:sp>
        <p:nvSpPr>
          <p:cNvPr id="4" name="Slide Number Placeholder 3"/>
          <p:cNvSpPr>
            <a:spLocks noGrp="1"/>
          </p:cNvSpPr>
          <p:nvPr>
            <p:ph type="sldNum" idx="12"/>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Chưa khớp số dòng thì chưa tính KPI. Sau khi nạp: 63.004 dòng, bỏ 120 dòng trùng còn 62.884; tổng 26.326 đơn trong đó 25.639 COMPLETED. Ba quy tắc: bỏ trùng trên toàn bộ cột; lọc COMPLETED trong measure chứ không xoá dòng (để vẫn đếm được đơn huỷ); đặt đúng kiểu dữ liệu (ngày là Date, tiền là Decimal, store_key là Whole Number ở mọi bảng). Hoạt động: học viên đối chiếu số dòng của mình với QC_Summary ngay tại lớp.</a:t>
            </a:r>
          </a:p>
        </p:txBody>
      </p:sp>
      <p:sp>
        <p:nvSpPr>
          <p:cNvPr id="4" name="Slide Number Placeholder 3"/>
          <p:cNvSpPr>
            <a:spLocks noGrp="1"/>
          </p:cNvSpPr>
          <p:nvPr>
            <p:ph type="sldNum" idx="12"/>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5 · khoảng 20 phút.) Ở cấp năm hai nguồn gần khớp. Năm 2020 Net Revenue 8,73 triệu USD, giảm 48,4% so với 2019. Số đơn giảm từ 8.842 xuống 4.528 trong khi AOV gần như đi ngang (1.965 → 1.975 USD). Hỏi lớp: “Doanh thu giảm do ít đơn hơn hay đơn nhỏ hơn?” – đáp án: do ít đơn. Năm 2021 chỉ có dữ liệu đến 20/02 nên không so sánh trực tiếp.</a:t>
            </a:r>
          </a:p>
        </p:txBody>
      </p:sp>
      <p:sp>
        <p:nvSpPr>
          <p:cNvPr id="4" name="Slide Number Placeholder 3"/>
          <p:cNvSpPr>
            <a:spLocks noGrp="1"/>
          </p:cNvSpPr>
          <p:nvPr>
            <p:ph type="sldNum" idx="12"/>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Hai đường gần như chồng nhau; đỉnh cuối năm, đáy tháng 4. Năm 2020 sụt mạnh từ tháng 3: khi viết báo cáo, học viên cần nêu bối cảnh thay vì chỉ mô tả số. Tháng báo cáo 12/2020: Net Revenue 606 nghìn USD. Chỉ ra chỗ đường Finance lệch đường dữ liệu đơn ở các tháng có nhiều đơn online giao sang tháng sau – đây là gợi ý đầu tiên cho phần đối soát.</a:t>
            </a:r>
          </a:p>
        </p:txBody>
      </p:sp>
      <p:sp>
        <p:nvSpPr>
          <p:cNvPr id="4" name="Slide Number Placeholder 3"/>
          <p:cNvSpPr>
            <a:spLocks noGrp="1"/>
          </p:cNvSpPr>
          <p:nvPr>
            <p:ph type="sldNum" idx="12"/>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Online chỉ chiếm khoảng một phần năm Net Sales nhưng là nguồn chênh lệch lớn nhất khi đối soát theo tháng, vì dữ liệu đơn tính theo ngày đặt còn Finance tính theo ngày giao. Đơn đặt cuối tháng, giao đầu tháng sau sẽ “nhảy” sang tháng khác. AOV online thấp hơn cửa hàng. Hỏi lớp: “Cộng cả năm thì lệch thời điểm online còn bao nhiêu?” – gần bằng 0, chỉ còn phần ở hai đầu năm.</a:t>
            </a:r>
          </a:p>
        </p:txBody>
      </p:sp>
      <p:sp>
        <p:nvSpPr>
          <p:cNvPr id="4" name="Slide Number Placeholder 3"/>
          <p:cNvSpPr>
            <a:spLocks noGrp="1"/>
          </p:cNvSpPr>
          <p:nvPr>
            <p:ph type="sldNum" idx="12"/>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hai biểu đồ cùng nhau: danh mục lớn nhất (máy tính) chưa chắc có tỷ lệ hoàn trả cao nhất. Danh mục nhỏ dễ có tỷ lệ cao vì ít đơn, nên khi viết báo cáo phải nêu cả quy mô lẫn tỷ lệ. Gợi ý câu hỏi phân tích cho báo cáo: danh mục nào vừa lớn vừa có tỷ lệ hoàn trả tăng.</a:t>
            </a:r>
          </a:p>
        </p:txBody>
      </p:sp>
      <p:sp>
        <p:nvSpPr>
          <p:cNvPr id="4" name="Slide Number Placeholder 3"/>
          <p:cNvSpPr>
            <a:spLocks noGrp="1"/>
          </p:cNvSpPr>
          <p:nvPr>
            <p:ph type="sldNum" idx="12"/>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Giảm giá năm 2020 là 138.975 USD, khoảng 1,5% Gross Sales; chương trình lớn nhất là ưu đãi đặt online. Biểu đồ trạng thái cho thấy phần lớn đơn COMPLETED; đơn huỷ và đơn đang giao phải loại. Đơn PENDING đều là đơn online đặt sát ngày trích dữ liệu: nếu tính nhầm, doanh thu phía đơn sẽ cao hơn Finance.</a:t>
            </a:r>
          </a:p>
        </p:txBody>
      </p:sp>
      <p:sp>
        <p:nvSpPr>
          <p:cNvPr id="4" name="Slide Number Placeholder 3"/>
          <p:cNvSpPr>
            <a:spLocks noGrp="1"/>
          </p:cNvSpPr>
          <p:nvPr>
            <p:ph type="sldNum" idx="12"/>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6 · khoảng 35 phút.) Viết measure theo 5 nhóm và theo thứ tự: doanh thu → đơn &amp; giá → thời gian → Finance → quy đổi online. Measure sau dùng lại measure trước, ví dụ [Net Revenue] = [Net Sales] − [Returns]: sửa định nghĩa ở một chỗ thì đúng ở mọi nơi. Đặt tất cả trong bảng _Measures và gom theo display folder. Mỗi measure mới kiểm ngay bằng một card trước khi dùng tiếp.</a:t>
            </a:r>
          </a:p>
        </p:txBody>
      </p:sp>
      <p:sp>
        <p:nvSpPr>
          <p:cNvPr id="4" name="Slide Number Placeholder 3"/>
          <p:cNvSpPr>
            <a:spLocks noGrp="1"/>
          </p:cNvSpPr>
          <p:nvPr>
            <p:ph type="sldNum" idx="12"/>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Giải thích SUMX: nhân quantity × unit_price từng dòng rồi mới cộng; CALCULATE thêm điều kiện COMPLETED cho mọi visual. Returns không lọc trạng thái vì mọi dòng trả hàng đều thuộc đơn COMPLETED (QC đã kiểm). Kiểm chứng tháng 12/2020: Gross 640.551,11 − Discounts 24.739,37 = Net Sales 615.811,74; trừ Returns 9.686,67 ra Net Revenue 606.125,07 USD. Cho học viên gõ và đối chiếu số trong lớp.</a:t>
            </a:r>
          </a:p>
        </p:txBody>
      </p:sp>
      <p:sp>
        <p:nvSpPr>
          <p:cNvPr id="4" name="Slide Number Placeholder 3"/>
          <p:cNvSpPr>
            <a:spLocks noGrp="1"/>
          </p:cNvSpPr>
          <p:nvPr>
            <p:ph type="sldNum" idx="12"/>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DIVIDE thay cho dấu “/” để tránh lỗi chia cho 0. Time intelligence (DATEADD, SAMEPERIODLASTYEAR, DATESYTD) chỉ chạy đúng khi dim_date đã Mark as date table. Kiểm chứng tháng 12/2020: Net Revenue 606.125 USD; tháng trước 238.037 (+154,6%); cùng kỳ 2.263.415 (−73,2%); YTD 8.732.748 USD. Với tỷ lệ (Return Rate) so sánh bằng điểm %, không dùng %.</a:t>
            </a:r>
          </a:p>
        </p:txBody>
      </p:sp>
      <p:sp>
        <p:nvSpPr>
          <p:cNvPr id="4" name="Slide Number Placeholder 3"/>
          <p:cNvSpPr>
            <a:spLocks noGrp="1"/>
          </p:cNvSpPr>
          <p:nvPr>
            <p:ph type="sldNum" idx="12"/>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Finance Net Revenue loại các dòng HQ-ADJ (store_key trống). Δ = Finance − Net Revenue; Δ % chia cho trị tuyệt đối của Finance để giữ dấu. Cờ vượt ngưỡng xét ở từng ô tháng × cửa hàng; để đếm số ô ở mức năm, dùng SUMX qua CROSSJOIN tháng × cửa hàng – context transition tính lại measure cho từng ô. Nhấn mạnh: không so tổng của cả bảng, vì các lệch trái dấu sẽ triệt tiêu nhau.</a:t>
            </a:r>
          </a:p>
        </p:txBody>
      </p:sp>
      <p:sp>
        <p:nvSpPr>
          <p:cNvPr id="4" name="Slide Number Placeholder 3"/>
          <p:cNvSpPr>
            <a:spLocks noGrp="1"/>
          </p:cNvSpPr>
          <p:nvPr>
            <p:ph type="sldNum" idx="12"/>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USERELATIONSHIP bật quan hệ inactive delivery_date chỉ trong measure này; KEEPFILTERS giữ lựa chọn của slicer Kênh. POS giữ ngày đặt hàng vì Finance ghi POS theo ngày bán. Ví dụ tháng 12/2020: Δ toàn chuỗi −12.536 USD; sau quy đổi online phần còn lại nằm ở kênh cửa hàng. Thông điệp: nếu Δ online biến mất sau quy đổi thì đó là lệch thời điểm, không phải lỗi dữ liệu.</a:t>
            </a:r>
          </a:p>
        </p:txBody>
      </p:sp>
      <p:sp>
        <p:nvSpPr>
          <p:cNvPr id="4" name="Slide Number Placeholder 3"/>
          <p:cNvSpPr>
            <a:spLocks noGrp="1"/>
          </p:cNvSpPr>
          <p:nvPr>
            <p:ph type="sldNum" idx="12"/>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7 · khoảng 35 phút.) Mở file Nexa_Sales_P1_Dashboard.html để trình chiếu trực tiếp nếu có thể. Bố cục lưới: thẻ KPI ở trên, biểu đồ ở giữa, bảng chi tiết ở dưới. Mỗi trang gắn với một câu hỏi khai phá; khi đọc dashboard luôn bắt đầu từ câu hỏi chứ không bắt đầu từ biểu đồ.</a:t>
            </a:r>
          </a:p>
        </p:txBody>
      </p:sp>
      <p:sp>
        <p:nvSpPr>
          <p:cNvPr id="4" name="Slide Number Placeholder 3"/>
          <p:cNvSpPr>
            <a:spLocks noGrp="1"/>
          </p:cNvSpPr>
          <p:nvPr>
            <p:ph type="sldNum" idx="12"/>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thẻ: Net Revenue 606,1 nghìn USD, +154,6% so với 11/2020, −73,2% so với 12/2019. Số đơn 310 so với 1.223 cùng kỳ, nhưng AOV 1.986 USD tăng +4,9% → doanh thu giảm vì ít đơn, không phải vì đơn nhỏ. Δ Finance −12.536 USD (−2,11%), chưa gồm HQ-ADJ −1.436 USD. Thông điệp: một mốc so sánh không đủ để kết luận.</a:t>
            </a:r>
          </a:p>
        </p:txBody>
      </p:sp>
      <p:sp>
        <p:nvSpPr>
          <p:cNvPr id="4" name="Slide Number Placeholder 3"/>
          <p:cNvSpPr>
            <a:spLocks noGrp="1"/>
          </p:cNvSpPr>
          <p:nvPr>
            <p:ph type="sldNum" idx="12"/>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Đọc bảng kênh: cửa hàng chiếm khoảng ba phần tư Net Sales; cả hai kênh tăng mạnh so với tháng trước nhưng giảm sâu so với cùng kỳ. Máy tính là danh mục lớn nhất. AOV cửa hàng cao hơn online. Ở bảng Top 10, đọc cột Thay đổi; ô “–” nghĩa là cửa hàng không bán ở kỳ so sánh, không phải lỗi. Hỏi lớp: “Tăng so với tháng trước có phải tin tốt không khi cùng kỳ giảm hơn 70 %?”</a:t>
            </a:r>
          </a:p>
        </p:txBody>
      </p:sp>
      <p:sp>
        <p:nvSpPr>
          <p:cNvPr id="4" name="Slide Number Placeholder 3"/>
          <p:cNvSpPr>
            <a:spLocks noGrp="1"/>
          </p:cNvSpPr>
          <p:nvPr>
            <p:ph type="sldNum" idx="12"/>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Đối soát theo thứ tự: tổng chuỗi → kênh → cửa hàng → ngày. Tháng 12/2020: Δ toàn chuỗi −12.536 USD. Kênh online lệch −22.812 USD và về 0 sau khi quy về ngày giao → lệch thời điểm. Cửa hàng S12 lệch +10.141 USD và không đổi sau quy đổi → phải xuống từng posting_date để tìm. Mẹo: xếp bảng theo |Δ| giảm dần, chỉ đào sâu các dòng có cờ Vượt. Không nói đáp án của S12 – để học viên tự tìm trong finance_revenue.xlsx.</a:t>
            </a:r>
          </a:p>
        </p:txBody>
      </p:sp>
      <p:sp>
        <p:nvSpPr>
          <p:cNvPr id="4" name="Slide Number Placeholder 3"/>
          <p:cNvSpPr>
            <a:spLocks noGrp="1"/>
          </p:cNvSpPr>
          <p:nvPr>
            <p:ph type="sldNum" idx="12"/>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Hoàn trả tháng 12/2020: 9.687 USD, tỷ lệ 1,57%; thay đổi tính bằng điểm % so với tháng trước và cùng kỳ. Lý do trả hàng lớn nhất trong tháng là giao nhầm hàng. Khi đọc bảng danh mục, đọc tỷ lệ cùng quy mô. Chất lượng dữ liệu: 120 dòng trùng đã loại và 29 đơn PENDING tại ngày trích – hai con số này nên xuất hiện trong phần Data &amp; Preparation của báo cáo.</a:t>
            </a:r>
          </a:p>
        </p:txBody>
      </p:sp>
      <p:sp>
        <p:nvSpPr>
          <p:cNvPr id="4" name="Slide Number Placeholder 3"/>
          <p:cNvSpPr>
            <a:spLocks noGrp="1"/>
          </p:cNvSpPr>
          <p:nvPr>
            <p:ph type="sldNum" idx="12"/>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Đi qua 8 bước theo sơ đồ diagrams/03_quy_trinh_doi_soat.drawio: bỏ trùng, giữ COMPLETED, tính Net Sales và Net Revenue phía đơn; map Finance theo hiệu lực và tách HQ-ADJ; ghép theo tháng × cửa hàng, tính Δ và Δ %; với ô vượt ngưỡng thì xem theo ngày và theo kênh; cuối cùng lập bảng giải thích. Quy tắc vàng: mỗi nguyên nhân phải có số tiền, tổng các nguyên nhân bằng Δ, phần chưa giải thích bằng 0. Bảy nguyên nhân cần dò trong khung bên phải sơ đồ là gợi ý hướng tìm, không phải danh sách đáp án theo từng ô.</a:t>
            </a:r>
          </a:p>
        </p:txBody>
      </p:sp>
      <p:sp>
        <p:nvSpPr>
          <p:cNvPr id="4" name="Slide Number Placeholder 3"/>
          <p:cNvSpPr>
            <a:spLocks noGrp="1"/>
          </p:cNvSpPr>
          <p:nvPr>
            <p:ph type="sldNum" idx="12"/>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Khung học viên phải điền. Hai đầu cầu tính được: Net Revenue dữ liệu đơn năm 2020 8.732.748,23 và Finance Net Revenue các cửa hàng 8.797.370,41 USD, tổng cần giải thích +64.622,18 USD. Phần giữa là bài làm: mỗi dòng một nguyên nhân, số tiền và bằng chứng. Gợi ý: lệch thời điểm online cộng cả năm gần 0 nhưng từng tháng rất lớn; nguyên nhân phía Finance phải ghi rõ cửa hàng, ngày, số tiền. Không “ép” phần dư vào một dòng “khác”.</a:t>
            </a:r>
          </a:p>
        </p:txBody>
      </p:sp>
      <p:sp>
        <p:nvSpPr>
          <p:cNvPr id="4" name="Slide Number Placeholder 3"/>
          <p:cNvSpPr>
            <a:spLocks noGrp="1"/>
          </p:cNvSpPr>
          <p:nvPr>
            <p:ph type="sldNum" idx="12"/>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Bốn tầng kết luận. Finding: dữ liệu cho thấy gì, ở đâu, bao nhiêu. Insight: ý nghĩa với kinh doanh, không nhắc lại số. Recommendation: ai làm gì, theo dõi chỉ số nào. Limitation: giới hạn ảnh hưởng kết luận và bước kiểm tra tiếp. Dùng ví dụ trên slide (Δ online về 0 khi tính theo ngày giao → lệch thời điểm, không phải doanh thu bị mất). Hoạt động: mỗi nhóm viết một bộ 4 câu cho một ô vượt ngưỡng của chính mình.</a:t>
            </a:r>
          </a:p>
        </p:txBody>
      </p:sp>
      <p:sp>
        <p:nvSpPr>
          <p:cNvPr id="4" name="Slide Number Placeholder 3"/>
          <p:cNvSpPr>
            <a:spLocks noGrp="1"/>
          </p:cNvSpPr>
          <p:nvPr>
            <p:ph type="sldNum" idx="12"/>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(Phần 8 · khoảng 10 phút.) Nộp file .pbix mở và làm mới được, cùng báo cáo PDF 8 phần theo guild_report_template, phụ lục có bảng cầu nối và danh sách ô vượt ngưỡng. Phần IV (Main Analysis) là đối soát tháng × cửa hàng × kênh; phần VII nêu as-of 20/02/2021, đơn PENDING và các giả định ghi nhận. Số trong báo cáo phải khớp dashboard.</a:t>
            </a:r>
          </a:p>
        </p:txBody>
      </p:sp>
      <p:sp>
        <p:nvSpPr>
          <p:cNvPr id="4" name="Slide Number Placeholder 3"/>
          <p:cNvSpPr>
            <a:spLocks noGrp="1"/>
          </p:cNvSpPr>
          <p:nvPr>
            <p:ph type="sldNum" idx="12"/>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Rubric 100 điểm: 40 kỹ thuật (làm sạch và mô hình 10, DAX 12, dashboard 12, trải nghiệm 6), 40 báo cáo (cấu trúc 8, đối soát 16, lập luận 10, giới hạn 6) và 20 sáng tạo (drill-through, bảng bổ sung, cảnh báo ô vượt ngưỡng hằng tháng). Phần đối soát 16 điểm: giải thích đủ mọi ô vượt ngưỡng năm 2020 và cầu nối còn lại bằng 0. Nhắc học viên dùng checklist ở slide tự rà soát trước khi nộp.</a:t>
            </a:r>
          </a:p>
        </p:txBody>
      </p:sp>
      <p:sp>
        <p:nvSpPr>
          <p:cNvPr id="4" name="Slide Number Placeholder 3"/>
          <p:cNvSpPr>
            <a:spLocks noGrp="1"/>
          </p:cNvSpPr>
          <p:nvPr>
            <p:ph type="sldNum" idx="12"/>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Mở phần hỏi đáp. Câu hỏi thường gặp: (1) Có cần giải thích ô trong ngưỡng không? – Không bắt buộc. (2) HQ-ADJ đặt ở đâu? – Ở tổng chuỗi, không gán cửa hàng. (3) Dùng total_incl_vat được không? – Không, so với net_revenue. (4) Có được sửa dữ liệu gốc không? – Không; mọi xử lý làm trong Power Query và ghi lại trong báo cáo. Nhắc hạn nộp và kênh hỏi bài.</a:t>
            </a:r>
          </a:p>
        </p:txBody>
      </p:sp>
      <p:sp>
        <p:nvSpPr>
          <p:cNvPr id="4" name="Slide Number Placeholder 3"/>
          <p:cNvSpPr>
            <a:spLocks noGrp="1"/>
          </p:cNvSpPr>
          <p:nvPr>
            <p:ph type="sldNum" idx="12"/>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Cầu nối 2020: dữ liệu đơn 8.732.748,23; lệch thời điểm online +59.682,78; hoàn tiền trễ −2.937,04; đơn huỷ vẫn ghi nhận +17.002,68 (11 đơn); Finance thiếu dữ liệu −22.168,91 (cửa hàng S24); VAT +2.901,63 (S54, 06/2020); ghi trùng +10.141,04 (S12, 10/12/2020); ra Finance cửa hàng 8.797.370,41; cộng HQ-ADJ −1.435,50 ra tổng Finance. Còn lại chưa giải thích bằng 0 ở mọi ô. Khi chấm, chấp nhận gộp lệch thời điểm và trễ hoàn tiền thành một dòng nếu có giải thích.</a:t>
            </a:r>
          </a:p>
        </p:txBody>
      </p:sp>
      <p:sp>
        <p:nvSpPr>
          <p:cNvPr id="4" name="Slide Number Placeholder 3"/>
          <p:cNvSpPr>
            <a:spLocks noGrp="1"/>
          </p:cNvSpPr>
          <p:nvPr>
            <p:ph type="sldNum" idx="12"/>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Năm 2020 có 32 ô vượt ngưỡng (toàn kỳ 120). Mọi ô online (ONL) là lệch thời điểm; các cặp ô trái dấu ở hai tháng liền kề của cùng cửa hàng (ví dụ S16 01–02/2020) là hoàn tiền hạch toán trễ; các ô dương lẻ ở cửa hàng là đơn huỷ vẫn được ghi nhận; S24 02/2020 âm lớn là thiếu dữ liệu; S54 06/2020 là VAT; S12 12/2020 là ghi trùng. Gợi ý dẫn dắt khi học viên bí: “Δ của ô này có bằng giá trị một đơn CANCELLED nào cùng ngày không?”</a:t>
            </a:r>
          </a:p>
        </p:txBody>
      </p:sp>
      <p:sp>
        <p:nvSpPr>
          <p:cNvPr id="4" name="Slide Number Placeholder 3"/>
          <p:cNvSpPr>
            <a:spLocks noGrp="1"/>
          </p:cNvSpPr>
          <p:nvPr>
            <p:ph type="sldNum" idx="12"/>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Cách phát hiện từng loại: thiếu dữ liệu (S24, −22.168,91 USD) – Finance không có dòng ở ngày cửa hàng có bán; đơn huỷ vẫn ghi nhận – ghép đơn CANCELLED với posting_date cùng cửa hàng; ghi trùng (S12, +10.141,04 USD) – hai dòng Finance giống hệt nhau; VAT (S54, +2.901,63 USD) – cả tháng cao hơn khoảng 10 %. Bẫy phía đơn: không bỏ trùng thì Net Sales toàn kỳ cao hơn 67.493,06 USD; tính nhầm PENDING thì cao hơn 73.105,11 USD.</a:t>
            </a:r>
          </a:p>
        </p:txBody>
      </p:sp>
      <p:sp>
        <p:nvSpPr>
          <p:cNvPr id="4" name="Slide Number Placeholder 3"/>
          <p:cNvSpPr>
            <a:spLocks noGrp="1"/>
          </p:cNvSpPr>
          <p:nvPr>
            <p:ph type="sldNum" idx="12"/>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3"/>
          </p:nvPr>
        </p:nvSpPr>
        <p:spPr/>
      </p:sp>
      <p:sp>
        <p:nvSpPr>
          <p:cNvPr id="3" name="Notes Placeholder 2"/>
          <p:cNvSpPr>
            <a:spLocks noGrp="1"/>
          </p:cNvSpPr>
          <p:nvPr>
            <p:ph type="body" idx="1"/>
          </p:nvPr>
        </p:nvSpPr>
        <p:spPr/>
        <p:txBody>
          <a:bodyPr/>
          <a:lstStyle/>
          <a:p>
            <a:r>
              <a:t>CHỈ MENTOR. Dùng khi chấm phần DAX (12 điểm). Lệch quá 0,01 USD thì kiểm theo thứ tự: đã bỏ dòng trùng chưa, đã lọc COMPLETED chưa, Returns có theo return_date không, Orders có đếm phân biệt không. Số mốc tháng 12/2020: Net Revenue 606.125,07, Orders 310; YTD 2020 Net Revenue 8.732.748,23 USD.</a:t>
            </a:r>
          </a:p>
        </p:txBody>
      </p:sp>
      <p:sp>
        <p:nvSpPr>
          <p:cNvPr id="4" name="Slide Number Placeholder 3"/>
          <p:cNvSpPr>
            <a:spLocks noGrp="1"/>
          </p:cNvSpPr>
          <p:nvPr>
            <p:ph type="sldNum" idx="12"/>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matchingName="Title Slide" type="title">
  <p:cSld name="TITLE">
    <p:spTree>
      <p:nvGrpSpPr>
        <p:cNvPr id="1" name="Shape 15"/>
        <p:cNvGrpSpPr/>
        <p:nvPr/>
      </p:nvGrpSpPr>
      <p:grpSpPr>
        <a:xfrm>
          <a:off x="0" y="0"/>
          <a:ext cx="0" cy="0"/>
          <a:chOff x="0" y="0"/>
          <a:chExt cx="0" cy="0"/>
        </a:xfrm>
      </p:grpSpPr>
      <p:sp>
        <p:nvSpPr>
          <p:cNvPr id="16" name="Google Shape;16;p2"/>
          <p:cNvSpPr txBox="1">
            <a:spLocks noGrp="1"/>
          </p:cNvSpPr>
          <p:nvPr>
            <p:ph type="ctrTitle"/>
          </p:nvPr>
        </p:nvSpPr>
        <p:spPr>
          <a:xfrm>
            <a:off x="1524000" y="1122363"/>
            <a:ext cx="9144000" cy="2387600"/>
          </a:xfrm>
          <a:prstGeom prst="rect">
            <a:avLst/>
          </a:prstGeom>
          <a:noFill/>
          <a:ln>
            <a:noFill/>
          </a:ln>
        </p:spPr>
        <p:txBody>
          <a:bodyPr spcFirstLastPara="1" wrap="square" lIns="91425" tIns="45700" rIns="91425" bIns="45700" anchor="b" anchorCtr="0">
            <a:normAutofit/>
          </a:bodyPr>
          <a:lstStyle>
            <a:lvl1pPr lvl="0" algn="ctr">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17" name="Google Shape;17;p2"/>
          <p:cNvSpPr txBox="1">
            <a:spLocks noGrp="1"/>
          </p:cNvSpPr>
          <p:nvPr>
            <p:ph type="subTitle" idx="1"/>
          </p:nvPr>
        </p:nvSpPr>
        <p:spPr>
          <a:xfrm>
            <a:off x="1524000" y="3602038"/>
            <a:ext cx="9144000" cy="1655762"/>
          </a:xfrm>
          <a:prstGeom prst="rect">
            <a:avLst/>
          </a:prstGeom>
          <a:noFill/>
          <a:ln>
            <a:noFill/>
          </a:ln>
        </p:spPr>
        <p:txBody>
          <a:bodyPr spcFirstLastPara="1" wrap="square" lIns="91425" tIns="45700" rIns="91425" bIns="45700" anchor="t" anchorCtr="0">
            <a:normAutofit/>
          </a:bodyPr>
          <a:lstStyle>
            <a:lvl1pPr lvl="0" algn="ctr">
              <a:lnSpc>
                <a:spcPct val="90000"/>
              </a:lnSpc>
              <a:spcBef>
                <a:spcPts val="1000"/>
              </a:spcBef>
              <a:spcAft>
                <a:spcPts val="0"/>
              </a:spcAft>
              <a:buClr>
                <a:schemeClr val="dk1"/>
              </a:buClr>
              <a:buSzPts val="2400"/>
              <a:buNone/>
              <a:defRPr sz="2400"/>
            </a:lvl1pPr>
            <a:lvl2pPr lvl="1" algn="ctr">
              <a:lnSpc>
                <a:spcPct val="90000"/>
              </a:lnSpc>
              <a:spcBef>
                <a:spcPts val="500"/>
              </a:spcBef>
              <a:spcAft>
                <a:spcPts val="0"/>
              </a:spcAft>
              <a:buClr>
                <a:schemeClr val="dk1"/>
              </a:buClr>
              <a:buSzPts val="2000"/>
              <a:buNone/>
              <a:defRPr sz="2000"/>
            </a:lvl2pPr>
            <a:lvl3pPr lvl="2" algn="ctr">
              <a:lnSpc>
                <a:spcPct val="90000"/>
              </a:lnSpc>
              <a:spcBef>
                <a:spcPts val="500"/>
              </a:spcBef>
              <a:spcAft>
                <a:spcPts val="0"/>
              </a:spcAft>
              <a:buClr>
                <a:schemeClr val="dk1"/>
              </a:buClr>
              <a:buSzPts val="1800"/>
              <a:buNone/>
              <a:defRPr sz="1800"/>
            </a:lvl3pPr>
            <a:lvl4pPr lvl="3" algn="ctr">
              <a:lnSpc>
                <a:spcPct val="90000"/>
              </a:lnSpc>
              <a:spcBef>
                <a:spcPts val="500"/>
              </a:spcBef>
              <a:spcAft>
                <a:spcPts val="0"/>
              </a:spcAft>
              <a:buClr>
                <a:schemeClr val="dk1"/>
              </a:buClr>
              <a:buSzPts val="1600"/>
              <a:buNone/>
              <a:defRPr sz="1600"/>
            </a:lvl4pPr>
            <a:lvl5pPr lvl="4" algn="ctr">
              <a:lnSpc>
                <a:spcPct val="90000"/>
              </a:lnSpc>
              <a:spcBef>
                <a:spcPts val="500"/>
              </a:spcBef>
              <a:spcAft>
                <a:spcPts val="0"/>
              </a:spcAft>
              <a:buClr>
                <a:schemeClr val="dk1"/>
              </a:buClr>
              <a:buSzPts val="1600"/>
              <a:buNone/>
              <a:defRPr sz="1600"/>
            </a:lvl5pPr>
            <a:lvl6pPr lvl="5" algn="ctr">
              <a:lnSpc>
                <a:spcPct val="90000"/>
              </a:lnSpc>
              <a:spcBef>
                <a:spcPts val="500"/>
              </a:spcBef>
              <a:spcAft>
                <a:spcPts val="0"/>
              </a:spcAft>
              <a:buClr>
                <a:schemeClr val="dk1"/>
              </a:buClr>
              <a:buSzPts val="1600"/>
              <a:buNone/>
              <a:defRPr sz="1600"/>
            </a:lvl6pPr>
            <a:lvl7pPr lvl="6" algn="ctr">
              <a:lnSpc>
                <a:spcPct val="90000"/>
              </a:lnSpc>
              <a:spcBef>
                <a:spcPts val="500"/>
              </a:spcBef>
              <a:spcAft>
                <a:spcPts val="0"/>
              </a:spcAft>
              <a:buClr>
                <a:schemeClr val="dk1"/>
              </a:buClr>
              <a:buSzPts val="1600"/>
              <a:buNone/>
              <a:defRPr sz="1600"/>
            </a:lvl7pPr>
            <a:lvl8pPr lvl="7" algn="ctr">
              <a:lnSpc>
                <a:spcPct val="90000"/>
              </a:lnSpc>
              <a:spcBef>
                <a:spcPts val="500"/>
              </a:spcBef>
              <a:spcAft>
                <a:spcPts val="0"/>
              </a:spcAft>
              <a:buClr>
                <a:schemeClr val="dk1"/>
              </a:buClr>
              <a:buSzPts val="1600"/>
              <a:buNone/>
              <a:defRPr sz="1600"/>
            </a:lvl8pPr>
            <a:lvl9pPr lvl="8" algn="ctr">
              <a:lnSpc>
                <a:spcPct val="90000"/>
              </a:lnSpc>
              <a:spcBef>
                <a:spcPts val="500"/>
              </a:spcBef>
              <a:spcAft>
                <a:spcPts val="0"/>
              </a:spcAft>
              <a:buClr>
                <a:schemeClr val="dk1"/>
              </a:buClr>
              <a:buSzPts val="1600"/>
              <a:buNone/>
              <a:defRPr sz="1600"/>
            </a:lvl9pPr>
          </a:lstStyle>
          <a:p>
            <a:endParaRPr/>
          </a:p>
        </p:txBody>
      </p:sp>
      <p:sp>
        <p:nvSpPr>
          <p:cNvPr id="18" name="Google Shape;18;p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19" name="Google Shape;19;p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0" name="Google Shape;20;p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matchingName="Title and Content" type="obj">
  <p:cSld name="OBJECT">
    <p:spTree>
      <p:nvGrpSpPr>
        <p:cNvPr id="1" name="Shape 21"/>
        <p:cNvGrpSpPr/>
        <p:nvPr/>
      </p:nvGrpSpPr>
      <p:grpSpPr>
        <a:xfrm>
          <a:off x="0" y="0"/>
          <a:ext cx="0" cy="0"/>
          <a:chOff x="0" y="0"/>
          <a:chExt cx="0" cy="0"/>
        </a:xfrm>
      </p:grpSpPr>
      <p:sp>
        <p:nvSpPr>
          <p:cNvPr id="22" name="Google Shape;22;p3"/>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23" name="Google Shape;23;p3"/>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24" name="Google Shape;24;p3"/>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5" name="Google Shape;25;p3"/>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26" name="Google Shape;26;p3"/>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91425" tIns="45700" rIns="91425" bIns="45700" anchor="ctr" anchorCtr="0">
            <a:noAutofit/>
          </a:bodyPr>
          <a:lstStyle>
            <a:lvl1pPr marL="0" marR="0" lvl="0" indent="0" algn="ctr">
              <a:spcBef>
                <a:spcPts val="0"/>
              </a:spcBef>
              <a:buNone/>
              <a:defRPr sz="1800">
                <a:solidFill>
                  <a:srgbClr val="0C0C0C"/>
                </a:solidFill>
                <a:latin typeface="Algerian"/>
                <a:ea typeface="Algerian"/>
                <a:cs typeface="Algerian"/>
                <a:sym typeface="Algerian"/>
              </a:defRPr>
            </a:lvl1pPr>
            <a:lvl2pPr marL="0" marR="0" lvl="1" indent="0" algn="ctr">
              <a:spcBef>
                <a:spcPts val="0"/>
              </a:spcBef>
              <a:buNone/>
              <a:defRPr sz="1800">
                <a:solidFill>
                  <a:srgbClr val="0C0C0C"/>
                </a:solidFill>
                <a:latin typeface="Algerian"/>
                <a:ea typeface="Algerian"/>
                <a:cs typeface="Algerian"/>
                <a:sym typeface="Algerian"/>
              </a:defRPr>
            </a:lvl2pPr>
            <a:lvl3pPr marL="0" marR="0" lvl="2" indent="0" algn="ctr">
              <a:spcBef>
                <a:spcPts val="0"/>
              </a:spcBef>
              <a:buNone/>
              <a:defRPr sz="1800">
                <a:solidFill>
                  <a:srgbClr val="0C0C0C"/>
                </a:solidFill>
                <a:latin typeface="Algerian"/>
                <a:ea typeface="Algerian"/>
                <a:cs typeface="Algerian"/>
                <a:sym typeface="Algerian"/>
              </a:defRPr>
            </a:lvl3pPr>
            <a:lvl4pPr marL="0" marR="0" lvl="3" indent="0" algn="ctr">
              <a:spcBef>
                <a:spcPts val="0"/>
              </a:spcBef>
              <a:buNone/>
              <a:defRPr sz="1800">
                <a:solidFill>
                  <a:srgbClr val="0C0C0C"/>
                </a:solidFill>
                <a:latin typeface="Algerian"/>
                <a:ea typeface="Algerian"/>
                <a:cs typeface="Algerian"/>
                <a:sym typeface="Algerian"/>
              </a:defRPr>
            </a:lvl4pPr>
            <a:lvl5pPr marL="0" marR="0" lvl="4" indent="0" algn="ctr">
              <a:spcBef>
                <a:spcPts val="0"/>
              </a:spcBef>
              <a:buNone/>
              <a:defRPr sz="1800">
                <a:solidFill>
                  <a:srgbClr val="0C0C0C"/>
                </a:solidFill>
                <a:latin typeface="Algerian"/>
                <a:ea typeface="Algerian"/>
                <a:cs typeface="Algerian"/>
                <a:sym typeface="Algerian"/>
              </a:defRPr>
            </a:lvl5pPr>
            <a:lvl6pPr marL="0" marR="0" lvl="5" indent="0" algn="ctr">
              <a:spcBef>
                <a:spcPts val="0"/>
              </a:spcBef>
              <a:buNone/>
              <a:defRPr sz="1800">
                <a:solidFill>
                  <a:srgbClr val="0C0C0C"/>
                </a:solidFill>
                <a:latin typeface="Algerian"/>
                <a:ea typeface="Algerian"/>
                <a:cs typeface="Algerian"/>
                <a:sym typeface="Algerian"/>
              </a:defRPr>
            </a:lvl6pPr>
            <a:lvl7pPr marL="0" marR="0" lvl="6" indent="0" algn="ctr">
              <a:spcBef>
                <a:spcPts val="0"/>
              </a:spcBef>
              <a:buNone/>
              <a:defRPr sz="1800">
                <a:solidFill>
                  <a:srgbClr val="0C0C0C"/>
                </a:solidFill>
                <a:latin typeface="Algerian"/>
                <a:ea typeface="Algerian"/>
                <a:cs typeface="Algerian"/>
                <a:sym typeface="Algerian"/>
              </a:defRPr>
            </a:lvl7pPr>
            <a:lvl8pPr marL="0" marR="0" lvl="7" indent="0" algn="ctr">
              <a:spcBef>
                <a:spcPts val="0"/>
              </a:spcBef>
              <a:buNone/>
              <a:defRPr sz="1800">
                <a:solidFill>
                  <a:srgbClr val="0C0C0C"/>
                </a:solidFill>
                <a:latin typeface="Algerian"/>
                <a:ea typeface="Algerian"/>
                <a:cs typeface="Algerian"/>
                <a:sym typeface="Algerian"/>
              </a:defRPr>
            </a:lvl8pPr>
            <a:lvl9pPr marL="0" marR="0" lvl="8" indent="0" algn="ctr">
              <a:spcBef>
                <a:spcPts val="0"/>
              </a:spcBef>
              <a:buNone/>
              <a:defRPr sz="1800">
                <a:solidFill>
                  <a:srgbClr val="0C0C0C"/>
                </a:solidFill>
                <a:latin typeface="Algerian"/>
                <a:ea typeface="Algerian"/>
                <a:cs typeface="Algerian"/>
                <a:sym typeface="Algerian"/>
              </a:defRPr>
            </a:lvl9pPr>
          </a:lstStyle>
          <a:p>
            <a:pPr marL="0" lvl="0" indent="0" algn="ctr" rtl="0">
              <a:spcBef>
                <a:spcPts val="0"/>
              </a:spcBef>
              <a:spcAft>
                <a:spcPts val="0"/>
              </a:spcAft>
              <a:buNone/>
            </a:pPr>
            <a:fld id="{00000000-1234-1234-1234-123412341234}" type="slidenum">
              <a:rPr lang="vi-VN"/>
              <a:t>‹#›</a:t>
            </a:fld>
            <a:endParaRPr/>
          </a:p>
        </p:txBody>
      </p:sp>
      <p:sp>
        <p:nvSpPr>
          <p:cNvPr id="27" name="Google Shape;27;p3"/>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pic>
        <p:nvPicPr>
          <p:cNvPr id="28" name="Google Shape;28;p3" descr="Logo"/>
          <p:cNvPicPr preferRelativeResize="0"/>
          <p:nvPr/>
        </p:nvPicPr>
        <p:blipFill rotWithShape="1">
          <a:blip r:embed="rId2">
            <a:alphaModFix/>
          </a:blip>
          <a:srcRect/>
          <a:stretch/>
        </p:blipFill>
        <p:spPr>
          <a:xfrm>
            <a:off x="89103" y="47409"/>
            <a:ext cx="1815898" cy="718793"/>
          </a:xfrm>
          <a:prstGeom prst="rect">
            <a:avLst/>
          </a:prstGeom>
          <a:noFill/>
          <a:ln>
            <a:noFill/>
          </a:ln>
        </p:spPr>
      </p:pic>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matchingName="Section Header" type="secHead">
  <p:cSld name="SECTION_HEADER">
    <p:spTree>
      <p:nvGrpSpPr>
        <p:cNvPr id="1" name="Shape 29"/>
        <p:cNvGrpSpPr/>
        <p:nvPr/>
      </p:nvGrpSpPr>
      <p:grpSpPr>
        <a:xfrm>
          <a:off x="0" y="0"/>
          <a:ext cx="0" cy="0"/>
          <a:chOff x="0" y="0"/>
          <a:chExt cx="0" cy="0"/>
        </a:xfrm>
      </p:grpSpPr>
      <p:sp>
        <p:nvSpPr>
          <p:cNvPr id="30" name="Google Shape;30;p4"/>
          <p:cNvSpPr txBox="1">
            <a:spLocks noGrp="1"/>
          </p:cNvSpPr>
          <p:nvPr>
            <p:ph type="title"/>
          </p:nvPr>
        </p:nvSpPr>
        <p:spPr>
          <a:xfrm>
            <a:off x="831850" y="1709738"/>
            <a:ext cx="10515600" cy="2852737"/>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6000"/>
              <a:buFont typeface="Calibri"/>
              <a:buNone/>
              <a:defRPr sz="6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1" name="Google Shape;31;p4"/>
          <p:cNvSpPr txBox="1">
            <a:spLocks noGrp="1"/>
          </p:cNvSpPr>
          <p:nvPr>
            <p:ph type="body" idx="1"/>
          </p:nvPr>
        </p:nvSpPr>
        <p:spPr>
          <a:xfrm>
            <a:off x="831850" y="4589463"/>
            <a:ext cx="10515600" cy="1500187"/>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rgbClr val="888888"/>
              </a:buClr>
              <a:buSzPts val="2400"/>
              <a:buNone/>
              <a:defRPr sz="2400">
                <a:solidFill>
                  <a:srgbClr val="888888"/>
                </a:solidFill>
              </a:defRPr>
            </a:lvl1pPr>
            <a:lvl2pPr marL="914400" lvl="1" indent="-228600" algn="l">
              <a:lnSpc>
                <a:spcPct val="90000"/>
              </a:lnSpc>
              <a:spcBef>
                <a:spcPts val="500"/>
              </a:spcBef>
              <a:spcAft>
                <a:spcPts val="0"/>
              </a:spcAft>
              <a:buClr>
                <a:srgbClr val="888888"/>
              </a:buClr>
              <a:buSzPts val="2000"/>
              <a:buNone/>
              <a:defRPr sz="2000">
                <a:solidFill>
                  <a:srgbClr val="888888"/>
                </a:solidFill>
              </a:defRPr>
            </a:lvl2pPr>
            <a:lvl3pPr marL="1371600" lvl="2" indent="-228600" algn="l">
              <a:lnSpc>
                <a:spcPct val="90000"/>
              </a:lnSpc>
              <a:spcBef>
                <a:spcPts val="500"/>
              </a:spcBef>
              <a:spcAft>
                <a:spcPts val="0"/>
              </a:spcAft>
              <a:buClr>
                <a:srgbClr val="888888"/>
              </a:buClr>
              <a:buSzPts val="1800"/>
              <a:buNone/>
              <a:defRPr sz="1800">
                <a:solidFill>
                  <a:srgbClr val="888888"/>
                </a:solidFill>
              </a:defRPr>
            </a:lvl3pPr>
            <a:lvl4pPr marL="1828800" lvl="3" indent="-228600" algn="l">
              <a:lnSpc>
                <a:spcPct val="90000"/>
              </a:lnSpc>
              <a:spcBef>
                <a:spcPts val="500"/>
              </a:spcBef>
              <a:spcAft>
                <a:spcPts val="0"/>
              </a:spcAft>
              <a:buClr>
                <a:srgbClr val="888888"/>
              </a:buClr>
              <a:buSzPts val="1600"/>
              <a:buNone/>
              <a:defRPr sz="1600">
                <a:solidFill>
                  <a:srgbClr val="888888"/>
                </a:solidFill>
              </a:defRPr>
            </a:lvl4pPr>
            <a:lvl5pPr marL="2286000" lvl="4" indent="-228600" algn="l">
              <a:lnSpc>
                <a:spcPct val="90000"/>
              </a:lnSpc>
              <a:spcBef>
                <a:spcPts val="500"/>
              </a:spcBef>
              <a:spcAft>
                <a:spcPts val="0"/>
              </a:spcAft>
              <a:buClr>
                <a:srgbClr val="888888"/>
              </a:buClr>
              <a:buSzPts val="1600"/>
              <a:buNone/>
              <a:defRPr sz="1600">
                <a:solidFill>
                  <a:srgbClr val="888888"/>
                </a:solidFill>
              </a:defRPr>
            </a:lvl5pPr>
            <a:lvl6pPr marL="2743200" lvl="5" indent="-228600" algn="l">
              <a:lnSpc>
                <a:spcPct val="90000"/>
              </a:lnSpc>
              <a:spcBef>
                <a:spcPts val="500"/>
              </a:spcBef>
              <a:spcAft>
                <a:spcPts val="0"/>
              </a:spcAft>
              <a:buClr>
                <a:srgbClr val="888888"/>
              </a:buClr>
              <a:buSzPts val="1600"/>
              <a:buNone/>
              <a:defRPr sz="1600">
                <a:solidFill>
                  <a:srgbClr val="888888"/>
                </a:solidFill>
              </a:defRPr>
            </a:lvl6pPr>
            <a:lvl7pPr marL="3200400" lvl="6" indent="-228600" algn="l">
              <a:lnSpc>
                <a:spcPct val="90000"/>
              </a:lnSpc>
              <a:spcBef>
                <a:spcPts val="500"/>
              </a:spcBef>
              <a:spcAft>
                <a:spcPts val="0"/>
              </a:spcAft>
              <a:buClr>
                <a:srgbClr val="888888"/>
              </a:buClr>
              <a:buSzPts val="1600"/>
              <a:buNone/>
              <a:defRPr sz="1600">
                <a:solidFill>
                  <a:srgbClr val="888888"/>
                </a:solidFill>
              </a:defRPr>
            </a:lvl7pPr>
            <a:lvl8pPr marL="3657600" lvl="7" indent="-228600" algn="l">
              <a:lnSpc>
                <a:spcPct val="90000"/>
              </a:lnSpc>
              <a:spcBef>
                <a:spcPts val="500"/>
              </a:spcBef>
              <a:spcAft>
                <a:spcPts val="0"/>
              </a:spcAft>
              <a:buClr>
                <a:srgbClr val="888888"/>
              </a:buClr>
              <a:buSzPts val="1600"/>
              <a:buNone/>
              <a:defRPr sz="1600">
                <a:solidFill>
                  <a:srgbClr val="888888"/>
                </a:solidFill>
              </a:defRPr>
            </a:lvl8pPr>
            <a:lvl9pPr marL="4114800" lvl="8" indent="-228600" algn="l">
              <a:lnSpc>
                <a:spcPct val="90000"/>
              </a:lnSpc>
              <a:spcBef>
                <a:spcPts val="500"/>
              </a:spcBef>
              <a:spcAft>
                <a:spcPts val="0"/>
              </a:spcAft>
              <a:buClr>
                <a:srgbClr val="888888"/>
              </a:buClr>
              <a:buSzPts val="1600"/>
              <a:buNone/>
              <a:defRPr sz="1600">
                <a:solidFill>
                  <a:srgbClr val="888888"/>
                </a:solidFill>
              </a:defRPr>
            </a:lvl9pPr>
          </a:lstStyle>
          <a:p>
            <a:endParaRPr/>
          </a:p>
        </p:txBody>
      </p:sp>
      <p:sp>
        <p:nvSpPr>
          <p:cNvPr id="32" name="Google Shape;32;p4"/>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3" name="Google Shape;33;p4"/>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34" name="Google Shape;34;p4"/>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
        <p:nvSpPr>
          <p:cNvPr id="35" name="Google Shape;35;p4"/>
          <p:cNvSpPr/>
          <p:nvPr/>
        </p:nvSpPr>
        <p:spPr>
          <a:xfrm>
            <a:off x="-2512" y="738391"/>
            <a:ext cx="12192000" cy="136156"/>
          </a:xfrm>
          <a:prstGeom prst="rect">
            <a:avLst/>
          </a:prstGeom>
          <a:solidFill>
            <a:srgbClr val="D89A6A"/>
          </a:solidFill>
          <a:ln>
            <a:noFill/>
          </a:ln>
        </p:spPr>
        <p:txBody>
          <a:bodyPr spcFirstLastPara="1" wrap="square" lIns="91425" tIns="45700" rIns="91425" bIns="45700" anchor="ctr" anchorCtr="0">
            <a:noAutofit/>
          </a:bodyPr>
          <a:lstStyle/>
          <a:p>
            <a:pPr marL="0" marR="0" lvl="0" indent="0" algn="ctr" rtl="0">
              <a:spcBef>
                <a:spcPts val="0"/>
              </a:spcBef>
              <a:spcAft>
                <a:spcPts val="0"/>
              </a:spcAft>
              <a:buNone/>
            </a:pPr>
            <a:endParaRPr sz="1800">
              <a:solidFill>
                <a:schemeClr val="lt1"/>
              </a:solidFill>
              <a:latin typeface="Calibri"/>
              <a:ea typeface="Calibri"/>
              <a:cs typeface="Calibri"/>
              <a:sym typeface="Calibri"/>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matchingName="Two Content" type="twoObj">
  <p:cSld name="TWO_OBJECTS">
    <p:spTree>
      <p:nvGrpSpPr>
        <p:cNvPr id="1" name="Shape 36"/>
        <p:cNvGrpSpPr/>
        <p:nvPr/>
      </p:nvGrpSpPr>
      <p:grpSpPr>
        <a:xfrm>
          <a:off x="0" y="0"/>
          <a:ext cx="0" cy="0"/>
          <a:chOff x="0" y="0"/>
          <a:chExt cx="0" cy="0"/>
        </a:xfrm>
      </p:grpSpPr>
      <p:sp>
        <p:nvSpPr>
          <p:cNvPr id="37" name="Google Shape;37;p5"/>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38" name="Google Shape;38;p5"/>
          <p:cNvSpPr txBox="1">
            <a:spLocks noGrp="1"/>
          </p:cNvSpPr>
          <p:nvPr>
            <p:ph type="body" idx="1"/>
          </p:nvPr>
        </p:nvSpPr>
        <p:spPr>
          <a:xfrm>
            <a:off x="838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39" name="Google Shape;39;p5"/>
          <p:cNvSpPr txBox="1">
            <a:spLocks noGrp="1"/>
          </p:cNvSpPr>
          <p:nvPr>
            <p:ph type="body" idx="2"/>
          </p:nvPr>
        </p:nvSpPr>
        <p:spPr>
          <a:xfrm>
            <a:off x="6172200" y="1825625"/>
            <a:ext cx="5181600" cy="435133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0" name="Google Shape;40;p5"/>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1" name="Google Shape;41;p5"/>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42" name="Google Shape;42;p5"/>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matchingName="Comparison" type="twoTxTwoObj">
  <p:cSld name="TWO_OBJECTS_WITH_TEXT">
    <p:spTree>
      <p:nvGrpSpPr>
        <p:cNvPr id="1" name="Shape 43"/>
        <p:cNvGrpSpPr/>
        <p:nvPr/>
      </p:nvGrpSpPr>
      <p:grpSpPr>
        <a:xfrm>
          <a:off x="0" y="0"/>
          <a:ext cx="0" cy="0"/>
          <a:chOff x="0" y="0"/>
          <a:chExt cx="0" cy="0"/>
        </a:xfrm>
      </p:grpSpPr>
      <p:sp>
        <p:nvSpPr>
          <p:cNvPr id="44" name="Google Shape;44;p6"/>
          <p:cNvSpPr txBox="1">
            <a:spLocks noGrp="1"/>
          </p:cNvSpPr>
          <p:nvPr>
            <p:ph type="title"/>
          </p:nvPr>
        </p:nvSpPr>
        <p:spPr>
          <a:xfrm>
            <a:off x="839788"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45" name="Google Shape;45;p6"/>
          <p:cNvSpPr txBox="1">
            <a:spLocks noGrp="1"/>
          </p:cNvSpPr>
          <p:nvPr>
            <p:ph type="body" idx="1"/>
          </p:nvPr>
        </p:nvSpPr>
        <p:spPr>
          <a:xfrm>
            <a:off x="839788" y="1681163"/>
            <a:ext cx="5157787"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6" name="Google Shape;46;p6"/>
          <p:cNvSpPr txBox="1">
            <a:spLocks noGrp="1"/>
          </p:cNvSpPr>
          <p:nvPr>
            <p:ph type="body" idx="2"/>
          </p:nvPr>
        </p:nvSpPr>
        <p:spPr>
          <a:xfrm>
            <a:off x="839788" y="2505075"/>
            <a:ext cx="5157787"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7" name="Google Shape;47;p6"/>
          <p:cNvSpPr txBox="1">
            <a:spLocks noGrp="1"/>
          </p:cNvSpPr>
          <p:nvPr>
            <p:ph type="body" idx="3"/>
          </p:nvPr>
        </p:nvSpPr>
        <p:spPr>
          <a:xfrm>
            <a:off x="6172200" y="1681163"/>
            <a:ext cx="5183188" cy="823912"/>
          </a:xfrm>
          <a:prstGeom prst="rect">
            <a:avLst/>
          </a:prstGeom>
          <a:noFill/>
          <a:ln>
            <a:noFill/>
          </a:ln>
        </p:spPr>
        <p:txBody>
          <a:bodyPr spcFirstLastPara="1" wrap="square" lIns="91425" tIns="45700" rIns="91425" bIns="45700" anchor="b" anchorCtr="0">
            <a:normAutofit/>
          </a:bodyPr>
          <a:lstStyle>
            <a:lvl1pPr marL="457200" lvl="0" indent="-228600" algn="l">
              <a:lnSpc>
                <a:spcPct val="90000"/>
              </a:lnSpc>
              <a:spcBef>
                <a:spcPts val="1000"/>
              </a:spcBef>
              <a:spcAft>
                <a:spcPts val="0"/>
              </a:spcAft>
              <a:buClr>
                <a:schemeClr val="dk1"/>
              </a:buClr>
              <a:buSzPts val="2400"/>
              <a:buNone/>
              <a:defRPr sz="2400" b="1"/>
            </a:lvl1pPr>
            <a:lvl2pPr marL="914400" lvl="1" indent="-228600" algn="l">
              <a:lnSpc>
                <a:spcPct val="90000"/>
              </a:lnSpc>
              <a:spcBef>
                <a:spcPts val="500"/>
              </a:spcBef>
              <a:spcAft>
                <a:spcPts val="0"/>
              </a:spcAft>
              <a:buClr>
                <a:schemeClr val="dk1"/>
              </a:buClr>
              <a:buSzPts val="2000"/>
              <a:buNone/>
              <a:defRPr sz="2000" b="1"/>
            </a:lvl2pPr>
            <a:lvl3pPr marL="1371600" lvl="2" indent="-228600" algn="l">
              <a:lnSpc>
                <a:spcPct val="90000"/>
              </a:lnSpc>
              <a:spcBef>
                <a:spcPts val="500"/>
              </a:spcBef>
              <a:spcAft>
                <a:spcPts val="0"/>
              </a:spcAft>
              <a:buClr>
                <a:schemeClr val="dk1"/>
              </a:buClr>
              <a:buSzPts val="1800"/>
              <a:buNone/>
              <a:defRPr sz="1800" b="1"/>
            </a:lvl3pPr>
            <a:lvl4pPr marL="1828800" lvl="3" indent="-228600" algn="l">
              <a:lnSpc>
                <a:spcPct val="90000"/>
              </a:lnSpc>
              <a:spcBef>
                <a:spcPts val="500"/>
              </a:spcBef>
              <a:spcAft>
                <a:spcPts val="0"/>
              </a:spcAft>
              <a:buClr>
                <a:schemeClr val="dk1"/>
              </a:buClr>
              <a:buSzPts val="1600"/>
              <a:buNone/>
              <a:defRPr sz="1600" b="1"/>
            </a:lvl4pPr>
            <a:lvl5pPr marL="2286000" lvl="4" indent="-228600" algn="l">
              <a:lnSpc>
                <a:spcPct val="90000"/>
              </a:lnSpc>
              <a:spcBef>
                <a:spcPts val="500"/>
              </a:spcBef>
              <a:spcAft>
                <a:spcPts val="0"/>
              </a:spcAft>
              <a:buClr>
                <a:schemeClr val="dk1"/>
              </a:buClr>
              <a:buSzPts val="1600"/>
              <a:buNone/>
              <a:defRPr sz="1600" b="1"/>
            </a:lvl5pPr>
            <a:lvl6pPr marL="2743200" lvl="5" indent="-228600" algn="l">
              <a:lnSpc>
                <a:spcPct val="90000"/>
              </a:lnSpc>
              <a:spcBef>
                <a:spcPts val="500"/>
              </a:spcBef>
              <a:spcAft>
                <a:spcPts val="0"/>
              </a:spcAft>
              <a:buClr>
                <a:schemeClr val="dk1"/>
              </a:buClr>
              <a:buSzPts val="1600"/>
              <a:buNone/>
              <a:defRPr sz="1600" b="1"/>
            </a:lvl6pPr>
            <a:lvl7pPr marL="3200400" lvl="6" indent="-228600" algn="l">
              <a:lnSpc>
                <a:spcPct val="90000"/>
              </a:lnSpc>
              <a:spcBef>
                <a:spcPts val="500"/>
              </a:spcBef>
              <a:spcAft>
                <a:spcPts val="0"/>
              </a:spcAft>
              <a:buClr>
                <a:schemeClr val="dk1"/>
              </a:buClr>
              <a:buSzPts val="1600"/>
              <a:buNone/>
              <a:defRPr sz="1600" b="1"/>
            </a:lvl7pPr>
            <a:lvl8pPr marL="3657600" lvl="7" indent="-228600" algn="l">
              <a:lnSpc>
                <a:spcPct val="90000"/>
              </a:lnSpc>
              <a:spcBef>
                <a:spcPts val="500"/>
              </a:spcBef>
              <a:spcAft>
                <a:spcPts val="0"/>
              </a:spcAft>
              <a:buClr>
                <a:schemeClr val="dk1"/>
              </a:buClr>
              <a:buSzPts val="1600"/>
              <a:buNone/>
              <a:defRPr sz="1600" b="1"/>
            </a:lvl8pPr>
            <a:lvl9pPr marL="4114800" lvl="8" indent="-228600" algn="l">
              <a:lnSpc>
                <a:spcPct val="90000"/>
              </a:lnSpc>
              <a:spcBef>
                <a:spcPts val="500"/>
              </a:spcBef>
              <a:spcAft>
                <a:spcPts val="0"/>
              </a:spcAft>
              <a:buClr>
                <a:schemeClr val="dk1"/>
              </a:buClr>
              <a:buSzPts val="1600"/>
              <a:buNone/>
              <a:defRPr sz="1600" b="1"/>
            </a:lvl9pPr>
          </a:lstStyle>
          <a:p>
            <a:endParaRPr/>
          </a:p>
        </p:txBody>
      </p:sp>
      <p:sp>
        <p:nvSpPr>
          <p:cNvPr id="48" name="Google Shape;48;p6"/>
          <p:cNvSpPr txBox="1">
            <a:spLocks noGrp="1"/>
          </p:cNvSpPr>
          <p:nvPr>
            <p:ph type="body" idx="4"/>
          </p:nvPr>
        </p:nvSpPr>
        <p:spPr>
          <a:xfrm>
            <a:off x="6172200" y="2505075"/>
            <a:ext cx="5183188" cy="3684588"/>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49" name="Google Shape;49;p6"/>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0" name="Google Shape;50;p6"/>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1" name="Google Shape;51;p6"/>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matchingName="Title Only" type="titleOnly">
  <p:cSld name="TITLE_ONLY">
    <p:spTree>
      <p:nvGrpSpPr>
        <p:cNvPr id="1" name="Shape 52"/>
        <p:cNvGrpSpPr/>
        <p:nvPr/>
      </p:nvGrpSpPr>
      <p:grpSpPr>
        <a:xfrm>
          <a:off x="0" y="0"/>
          <a:ext cx="0" cy="0"/>
          <a:chOff x="0" y="0"/>
          <a:chExt cx="0" cy="0"/>
        </a:xfrm>
      </p:grpSpPr>
      <p:sp>
        <p:nvSpPr>
          <p:cNvPr id="53" name="Google Shape;53;p7"/>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54" name="Google Shape;54;p7"/>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5" name="Google Shape;55;p7"/>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6" name="Google Shape;56;p7"/>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matchingName="Blank" type="blank">
  <p:cSld name="BLANK">
    <p:spTree>
      <p:nvGrpSpPr>
        <p:cNvPr id="1" name="Shape 57"/>
        <p:cNvGrpSpPr/>
        <p:nvPr/>
      </p:nvGrpSpPr>
      <p:grpSpPr>
        <a:xfrm>
          <a:off x="0" y="0"/>
          <a:ext cx="0" cy="0"/>
          <a:chOff x="0" y="0"/>
          <a:chExt cx="0" cy="0"/>
        </a:xfrm>
      </p:grpSpPr>
      <p:sp>
        <p:nvSpPr>
          <p:cNvPr id="58" name="Google Shape;58;p8"/>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59" name="Google Shape;59;p8"/>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0" name="Google Shape;60;p8"/>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matchingName="Content with Caption" type="objTx">
  <p:cSld name="OBJECT_WITH_CAPTION_TEXT">
    <p:spTree>
      <p:nvGrpSpPr>
        <p:cNvPr id="1" name="Shape 61"/>
        <p:cNvGrpSpPr/>
        <p:nvPr/>
      </p:nvGrpSpPr>
      <p:grpSpPr>
        <a:xfrm>
          <a:off x="0" y="0"/>
          <a:ext cx="0" cy="0"/>
          <a:chOff x="0" y="0"/>
          <a:chExt cx="0" cy="0"/>
        </a:xfrm>
      </p:grpSpPr>
      <p:sp>
        <p:nvSpPr>
          <p:cNvPr id="62" name="Google Shape;62;p9"/>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63" name="Google Shape;63;p9"/>
          <p:cNvSpPr txBox="1">
            <a:spLocks noGrp="1"/>
          </p:cNvSpPr>
          <p:nvPr>
            <p:ph type="body" idx="1"/>
          </p:nvPr>
        </p:nvSpPr>
        <p:spPr>
          <a:xfrm>
            <a:off x="5183188" y="987425"/>
            <a:ext cx="6172200" cy="4873625"/>
          </a:xfrm>
          <a:prstGeom prst="rect">
            <a:avLst/>
          </a:prstGeom>
          <a:noFill/>
          <a:ln>
            <a:noFill/>
          </a:ln>
        </p:spPr>
        <p:txBody>
          <a:bodyPr spcFirstLastPara="1" wrap="square" lIns="91425" tIns="45700" rIns="91425" bIns="45700" anchor="t" anchorCtr="0">
            <a:normAutofit/>
          </a:bodyPr>
          <a:lstStyle>
            <a:lvl1pPr marL="457200" lvl="0" indent="-431800" algn="l">
              <a:lnSpc>
                <a:spcPct val="90000"/>
              </a:lnSpc>
              <a:spcBef>
                <a:spcPts val="1000"/>
              </a:spcBef>
              <a:spcAft>
                <a:spcPts val="0"/>
              </a:spcAft>
              <a:buClr>
                <a:schemeClr val="dk1"/>
              </a:buClr>
              <a:buSzPts val="3200"/>
              <a:buChar char="•"/>
              <a:defRPr sz="3200"/>
            </a:lvl1pPr>
            <a:lvl2pPr marL="914400" lvl="1" indent="-406400" algn="l">
              <a:lnSpc>
                <a:spcPct val="90000"/>
              </a:lnSpc>
              <a:spcBef>
                <a:spcPts val="500"/>
              </a:spcBef>
              <a:spcAft>
                <a:spcPts val="0"/>
              </a:spcAft>
              <a:buClr>
                <a:schemeClr val="dk1"/>
              </a:buClr>
              <a:buSzPts val="2800"/>
              <a:buChar char="•"/>
              <a:defRPr sz="2800"/>
            </a:lvl2pPr>
            <a:lvl3pPr marL="1371600" lvl="2" indent="-381000" algn="l">
              <a:lnSpc>
                <a:spcPct val="90000"/>
              </a:lnSpc>
              <a:spcBef>
                <a:spcPts val="500"/>
              </a:spcBef>
              <a:spcAft>
                <a:spcPts val="0"/>
              </a:spcAft>
              <a:buClr>
                <a:schemeClr val="dk1"/>
              </a:buClr>
              <a:buSzPts val="2400"/>
              <a:buChar char="•"/>
              <a:defRPr sz="2400"/>
            </a:lvl3pPr>
            <a:lvl4pPr marL="1828800" lvl="3" indent="-355600" algn="l">
              <a:lnSpc>
                <a:spcPct val="90000"/>
              </a:lnSpc>
              <a:spcBef>
                <a:spcPts val="500"/>
              </a:spcBef>
              <a:spcAft>
                <a:spcPts val="0"/>
              </a:spcAft>
              <a:buClr>
                <a:schemeClr val="dk1"/>
              </a:buClr>
              <a:buSzPts val="2000"/>
              <a:buChar char="•"/>
              <a:defRPr sz="2000"/>
            </a:lvl4pPr>
            <a:lvl5pPr marL="2286000" lvl="4" indent="-355600" algn="l">
              <a:lnSpc>
                <a:spcPct val="90000"/>
              </a:lnSpc>
              <a:spcBef>
                <a:spcPts val="500"/>
              </a:spcBef>
              <a:spcAft>
                <a:spcPts val="0"/>
              </a:spcAft>
              <a:buClr>
                <a:schemeClr val="dk1"/>
              </a:buClr>
              <a:buSzPts val="2000"/>
              <a:buChar char="•"/>
              <a:defRPr sz="2000"/>
            </a:lvl5pPr>
            <a:lvl6pPr marL="2743200" lvl="5" indent="-355600" algn="l">
              <a:lnSpc>
                <a:spcPct val="90000"/>
              </a:lnSpc>
              <a:spcBef>
                <a:spcPts val="500"/>
              </a:spcBef>
              <a:spcAft>
                <a:spcPts val="0"/>
              </a:spcAft>
              <a:buClr>
                <a:schemeClr val="dk1"/>
              </a:buClr>
              <a:buSzPts val="2000"/>
              <a:buChar char="•"/>
              <a:defRPr sz="2000"/>
            </a:lvl6pPr>
            <a:lvl7pPr marL="3200400" lvl="6" indent="-355600" algn="l">
              <a:lnSpc>
                <a:spcPct val="90000"/>
              </a:lnSpc>
              <a:spcBef>
                <a:spcPts val="500"/>
              </a:spcBef>
              <a:spcAft>
                <a:spcPts val="0"/>
              </a:spcAft>
              <a:buClr>
                <a:schemeClr val="dk1"/>
              </a:buClr>
              <a:buSzPts val="2000"/>
              <a:buChar char="•"/>
              <a:defRPr sz="2000"/>
            </a:lvl7pPr>
            <a:lvl8pPr marL="3657600" lvl="7" indent="-355600" algn="l">
              <a:lnSpc>
                <a:spcPct val="90000"/>
              </a:lnSpc>
              <a:spcBef>
                <a:spcPts val="500"/>
              </a:spcBef>
              <a:spcAft>
                <a:spcPts val="0"/>
              </a:spcAft>
              <a:buClr>
                <a:schemeClr val="dk1"/>
              </a:buClr>
              <a:buSzPts val="2000"/>
              <a:buChar char="•"/>
              <a:defRPr sz="2000"/>
            </a:lvl8pPr>
            <a:lvl9pPr marL="4114800" lvl="8" indent="-355600" algn="l">
              <a:lnSpc>
                <a:spcPct val="90000"/>
              </a:lnSpc>
              <a:spcBef>
                <a:spcPts val="500"/>
              </a:spcBef>
              <a:spcAft>
                <a:spcPts val="0"/>
              </a:spcAft>
              <a:buClr>
                <a:schemeClr val="dk1"/>
              </a:buClr>
              <a:buSzPts val="2000"/>
              <a:buChar char="•"/>
              <a:defRPr sz="2000"/>
            </a:lvl9pPr>
          </a:lstStyle>
          <a:p>
            <a:endParaRPr/>
          </a:p>
        </p:txBody>
      </p:sp>
      <p:sp>
        <p:nvSpPr>
          <p:cNvPr id="64" name="Google Shape;64;p9"/>
          <p:cNvSpPr txBox="1">
            <a:spLocks noGrp="1"/>
          </p:cNvSpPr>
          <p:nvPr>
            <p:ph type="body" idx="2"/>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65" name="Google Shape;65;p9"/>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6" name="Google Shape;66;p9"/>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67" name="Google Shape;67;p9"/>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matchingName="Picture with Caption" type="picTx">
  <p:cSld name="PICTURE_WITH_CAPTION_TEXT">
    <p:spTree>
      <p:nvGrpSpPr>
        <p:cNvPr id="1" name="Shape 68"/>
        <p:cNvGrpSpPr/>
        <p:nvPr/>
      </p:nvGrpSpPr>
      <p:grpSpPr>
        <a:xfrm>
          <a:off x="0" y="0"/>
          <a:ext cx="0" cy="0"/>
          <a:chOff x="0" y="0"/>
          <a:chExt cx="0" cy="0"/>
        </a:xfrm>
      </p:grpSpPr>
      <p:sp>
        <p:nvSpPr>
          <p:cNvPr id="69" name="Google Shape;69;p10"/>
          <p:cNvSpPr txBox="1">
            <a:spLocks noGrp="1"/>
          </p:cNvSpPr>
          <p:nvPr>
            <p:ph type="title"/>
          </p:nvPr>
        </p:nvSpPr>
        <p:spPr>
          <a:xfrm>
            <a:off x="839788" y="457200"/>
            <a:ext cx="3932237" cy="1600200"/>
          </a:xfrm>
          <a:prstGeom prst="rect">
            <a:avLst/>
          </a:prstGeom>
          <a:noFill/>
          <a:ln>
            <a:noFill/>
          </a:ln>
        </p:spPr>
        <p:txBody>
          <a:bodyPr spcFirstLastPara="1" wrap="square" lIns="91425" tIns="45700" rIns="91425" bIns="45700" anchor="b" anchorCtr="0">
            <a:normAutofit/>
          </a:bodyPr>
          <a:lstStyle>
            <a:lvl1pPr lvl="0" algn="l">
              <a:lnSpc>
                <a:spcPct val="90000"/>
              </a:lnSpc>
              <a:spcBef>
                <a:spcPts val="0"/>
              </a:spcBef>
              <a:spcAft>
                <a:spcPts val="0"/>
              </a:spcAft>
              <a:buClr>
                <a:schemeClr val="dk1"/>
              </a:buClr>
              <a:buSzPts val="3200"/>
              <a:buFont typeface="Calibri"/>
              <a:buNone/>
              <a:defRPr sz="32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0" name="Google Shape;70;p10"/>
          <p:cNvSpPr>
            <a:spLocks noGrp="1"/>
          </p:cNvSpPr>
          <p:nvPr>
            <p:ph type="pic" idx="2"/>
          </p:nvPr>
        </p:nvSpPr>
        <p:spPr>
          <a:xfrm>
            <a:off x="5183188" y="987425"/>
            <a:ext cx="6172200" cy="4873625"/>
          </a:xfrm>
          <a:prstGeom prst="rect">
            <a:avLst/>
          </a:prstGeom>
          <a:noFill/>
          <a:ln>
            <a:noFill/>
          </a:ln>
        </p:spPr>
      </p:sp>
      <p:sp>
        <p:nvSpPr>
          <p:cNvPr id="71" name="Google Shape;71;p10"/>
          <p:cNvSpPr txBox="1">
            <a:spLocks noGrp="1"/>
          </p:cNvSpPr>
          <p:nvPr>
            <p:ph type="body" idx="1"/>
          </p:nvPr>
        </p:nvSpPr>
        <p:spPr>
          <a:xfrm>
            <a:off x="839788" y="2057400"/>
            <a:ext cx="3932237" cy="3811588"/>
          </a:xfrm>
          <a:prstGeom prst="rect">
            <a:avLst/>
          </a:prstGeom>
          <a:noFill/>
          <a:ln>
            <a:noFill/>
          </a:ln>
        </p:spPr>
        <p:txBody>
          <a:bodyPr spcFirstLastPara="1" wrap="square" lIns="91425" tIns="45700" rIns="91425" bIns="45700" anchor="t" anchorCtr="0">
            <a:normAutofit/>
          </a:bodyPr>
          <a:lstStyle>
            <a:lvl1pPr marL="457200" lvl="0" indent="-228600" algn="l">
              <a:lnSpc>
                <a:spcPct val="90000"/>
              </a:lnSpc>
              <a:spcBef>
                <a:spcPts val="1000"/>
              </a:spcBef>
              <a:spcAft>
                <a:spcPts val="0"/>
              </a:spcAft>
              <a:buClr>
                <a:schemeClr val="dk1"/>
              </a:buClr>
              <a:buSzPts val="1600"/>
              <a:buNone/>
              <a:defRPr sz="1600"/>
            </a:lvl1pPr>
            <a:lvl2pPr marL="914400" lvl="1" indent="-228600" algn="l">
              <a:lnSpc>
                <a:spcPct val="90000"/>
              </a:lnSpc>
              <a:spcBef>
                <a:spcPts val="500"/>
              </a:spcBef>
              <a:spcAft>
                <a:spcPts val="0"/>
              </a:spcAft>
              <a:buClr>
                <a:schemeClr val="dk1"/>
              </a:buClr>
              <a:buSzPts val="1400"/>
              <a:buNone/>
              <a:defRPr sz="1400"/>
            </a:lvl2pPr>
            <a:lvl3pPr marL="1371600" lvl="2" indent="-228600" algn="l">
              <a:lnSpc>
                <a:spcPct val="90000"/>
              </a:lnSpc>
              <a:spcBef>
                <a:spcPts val="500"/>
              </a:spcBef>
              <a:spcAft>
                <a:spcPts val="0"/>
              </a:spcAft>
              <a:buClr>
                <a:schemeClr val="dk1"/>
              </a:buClr>
              <a:buSzPts val="1200"/>
              <a:buNone/>
              <a:defRPr sz="1200"/>
            </a:lvl3pPr>
            <a:lvl4pPr marL="1828800" lvl="3" indent="-228600" algn="l">
              <a:lnSpc>
                <a:spcPct val="90000"/>
              </a:lnSpc>
              <a:spcBef>
                <a:spcPts val="500"/>
              </a:spcBef>
              <a:spcAft>
                <a:spcPts val="0"/>
              </a:spcAft>
              <a:buClr>
                <a:schemeClr val="dk1"/>
              </a:buClr>
              <a:buSzPts val="1000"/>
              <a:buNone/>
              <a:defRPr sz="1000"/>
            </a:lvl4pPr>
            <a:lvl5pPr marL="2286000" lvl="4" indent="-228600" algn="l">
              <a:lnSpc>
                <a:spcPct val="90000"/>
              </a:lnSpc>
              <a:spcBef>
                <a:spcPts val="500"/>
              </a:spcBef>
              <a:spcAft>
                <a:spcPts val="0"/>
              </a:spcAft>
              <a:buClr>
                <a:schemeClr val="dk1"/>
              </a:buClr>
              <a:buSzPts val="1000"/>
              <a:buNone/>
              <a:defRPr sz="1000"/>
            </a:lvl5pPr>
            <a:lvl6pPr marL="2743200" lvl="5" indent="-228600" algn="l">
              <a:lnSpc>
                <a:spcPct val="90000"/>
              </a:lnSpc>
              <a:spcBef>
                <a:spcPts val="500"/>
              </a:spcBef>
              <a:spcAft>
                <a:spcPts val="0"/>
              </a:spcAft>
              <a:buClr>
                <a:schemeClr val="dk1"/>
              </a:buClr>
              <a:buSzPts val="1000"/>
              <a:buNone/>
              <a:defRPr sz="1000"/>
            </a:lvl6pPr>
            <a:lvl7pPr marL="3200400" lvl="6" indent="-228600" algn="l">
              <a:lnSpc>
                <a:spcPct val="90000"/>
              </a:lnSpc>
              <a:spcBef>
                <a:spcPts val="500"/>
              </a:spcBef>
              <a:spcAft>
                <a:spcPts val="0"/>
              </a:spcAft>
              <a:buClr>
                <a:schemeClr val="dk1"/>
              </a:buClr>
              <a:buSzPts val="1000"/>
              <a:buNone/>
              <a:defRPr sz="1000"/>
            </a:lvl7pPr>
            <a:lvl8pPr marL="3657600" lvl="7" indent="-228600" algn="l">
              <a:lnSpc>
                <a:spcPct val="90000"/>
              </a:lnSpc>
              <a:spcBef>
                <a:spcPts val="500"/>
              </a:spcBef>
              <a:spcAft>
                <a:spcPts val="0"/>
              </a:spcAft>
              <a:buClr>
                <a:schemeClr val="dk1"/>
              </a:buClr>
              <a:buSzPts val="1000"/>
              <a:buNone/>
              <a:defRPr sz="1000"/>
            </a:lvl8pPr>
            <a:lvl9pPr marL="4114800" lvl="8" indent="-228600" algn="l">
              <a:lnSpc>
                <a:spcPct val="90000"/>
              </a:lnSpc>
              <a:spcBef>
                <a:spcPts val="500"/>
              </a:spcBef>
              <a:spcAft>
                <a:spcPts val="0"/>
              </a:spcAft>
              <a:buClr>
                <a:schemeClr val="dk1"/>
              </a:buClr>
              <a:buSzPts val="1000"/>
              <a:buNone/>
              <a:defRPr sz="1000"/>
            </a:lvl9pPr>
          </a:lstStyle>
          <a:p>
            <a:endParaRPr/>
          </a:p>
        </p:txBody>
      </p:sp>
      <p:sp>
        <p:nvSpPr>
          <p:cNvPr id="72" name="Google Shape;72;p10"/>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3" name="Google Shape;73;p10"/>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4" name="Google Shape;74;p10"/>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matchingName="Title and Vertical Text" type="vertTx">
  <p:cSld name="VERTICAL_TEXT">
    <p:spTree>
      <p:nvGrpSpPr>
        <p:cNvPr id="1" name="Shape 75"/>
        <p:cNvGrpSpPr/>
        <p:nvPr/>
      </p:nvGrpSpPr>
      <p:grpSpPr>
        <a:xfrm>
          <a:off x="0" y="0"/>
          <a:ext cx="0" cy="0"/>
          <a:chOff x="0" y="0"/>
          <a:chExt cx="0" cy="0"/>
        </a:xfrm>
      </p:grpSpPr>
      <p:sp>
        <p:nvSpPr>
          <p:cNvPr id="76" name="Google Shape;76;p1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77" name="Google Shape;77;p11"/>
          <p:cNvSpPr txBox="1">
            <a:spLocks noGrp="1"/>
          </p:cNvSpPr>
          <p:nvPr>
            <p:ph type="body" idx="1"/>
          </p:nvPr>
        </p:nvSpPr>
        <p:spPr>
          <a:xfrm rot="5400000">
            <a:off x="3920331" y="-1256506"/>
            <a:ext cx="4351338" cy="105156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78" name="Google Shape;78;p1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79" name="Google Shape;79;p1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0" name="Google Shape;80;p1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matchingName="Vertical Title and Text" type="vertTitleAndTx">
  <p:cSld name="VERTICAL_TITLE_AND_VERTICAL_TEXT">
    <p:spTree>
      <p:nvGrpSpPr>
        <p:cNvPr id="1" name="Shape 81"/>
        <p:cNvGrpSpPr/>
        <p:nvPr/>
      </p:nvGrpSpPr>
      <p:grpSpPr>
        <a:xfrm>
          <a:off x="0" y="0"/>
          <a:ext cx="0" cy="0"/>
          <a:chOff x="0" y="0"/>
          <a:chExt cx="0" cy="0"/>
        </a:xfrm>
      </p:grpSpPr>
      <p:sp>
        <p:nvSpPr>
          <p:cNvPr id="82" name="Google Shape;82;p12"/>
          <p:cNvSpPr txBox="1">
            <a:spLocks noGrp="1"/>
          </p:cNvSpPr>
          <p:nvPr>
            <p:ph type="title"/>
          </p:nvPr>
        </p:nvSpPr>
        <p:spPr>
          <a:xfrm rot="5400000">
            <a:off x="7133431" y="1956594"/>
            <a:ext cx="5811838" cy="2628900"/>
          </a:xfrm>
          <a:prstGeom prst="rect">
            <a:avLst/>
          </a:prstGeom>
          <a:noFill/>
          <a:ln>
            <a:noFill/>
          </a:ln>
        </p:spPr>
        <p:txBody>
          <a:bodyPr spcFirstLastPara="1" wrap="square" lIns="91425" tIns="45700" rIns="91425" bIns="45700" anchor="ctr" anchorCtr="0">
            <a:normAutofit/>
          </a:bodyPr>
          <a:lstStyle>
            <a:lvl1pPr lvl="0" algn="l">
              <a:lnSpc>
                <a:spcPct val="90000"/>
              </a:lnSpc>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a:endParaRPr/>
          </a:p>
        </p:txBody>
      </p:sp>
      <p:sp>
        <p:nvSpPr>
          <p:cNvPr id="83" name="Google Shape;83;p12"/>
          <p:cNvSpPr txBox="1">
            <a:spLocks noGrp="1"/>
          </p:cNvSpPr>
          <p:nvPr>
            <p:ph type="body" idx="1"/>
          </p:nvPr>
        </p:nvSpPr>
        <p:spPr>
          <a:xfrm rot="5400000">
            <a:off x="1799431" y="-596106"/>
            <a:ext cx="5811838" cy="7734300"/>
          </a:xfrm>
          <a:prstGeom prst="rect">
            <a:avLst/>
          </a:prstGeom>
          <a:noFill/>
          <a:ln>
            <a:noFill/>
          </a:ln>
        </p:spPr>
        <p:txBody>
          <a:bodyPr spcFirstLastPara="1" wrap="square" lIns="91425" tIns="45700" rIns="91425" bIns="45700" anchor="t" anchorCtr="0">
            <a:normAutofit/>
          </a:bodyPr>
          <a:lstStyle>
            <a:lvl1pPr marL="457200" lvl="0" indent="-342900" algn="l">
              <a:lnSpc>
                <a:spcPct val="90000"/>
              </a:lnSpc>
              <a:spcBef>
                <a:spcPts val="1000"/>
              </a:spcBef>
              <a:spcAft>
                <a:spcPts val="0"/>
              </a:spcAft>
              <a:buClr>
                <a:schemeClr val="dk1"/>
              </a:buClr>
              <a:buSzPts val="1800"/>
              <a:buChar char="•"/>
              <a:defRPr/>
            </a:lvl1pPr>
            <a:lvl2pPr marL="914400" lvl="1" indent="-342900" algn="l">
              <a:lnSpc>
                <a:spcPct val="90000"/>
              </a:lnSpc>
              <a:spcBef>
                <a:spcPts val="500"/>
              </a:spcBef>
              <a:spcAft>
                <a:spcPts val="0"/>
              </a:spcAft>
              <a:buClr>
                <a:schemeClr val="dk1"/>
              </a:buClr>
              <a:buSzPts val="1800"/>
              <a:buChar char="•"/>
              <a:defRPr/>
            </a:lvl2pPr>
            <a:lvl3pPr marL="1371600" lvl="2" indent="-342900" algn="l">
              <a:lnSpc>
                <a:spcPct val="90000"/>
              </a:lnSpc>
              <a:spcBef>
                <a:spcPts val="500"/>
              </a:spcBef>
              <a:spcAft>
                <a:spcPts val="0"/>
              </a:spcAft>
              <a:buClr>
                <a:schemeClr val="dk1"/>
              </a:buClr>
              <a:buSzPts val="1800"/>
              <a:buChar char="•"/>
              <a:defRPr/>
            </a:lvl3pPr>
            <a:lvl4pPr marL="1828800" lvl="3" indent="-342900" algn="l">
              <a:lnSpc>
                <a:spcPct val="90000"/>
              </a:lnSpc>
              <a:spcBef>
                <a:spcPts val="500"/>
              </a:spcBef>
              <a:spcAft>
                <a:spcPts val="0"/>
              </a:spcAft>
              <a:buClr>
                <a:schemeClr val="dk1"/>
              </a:buClr>
              <a:buSzPts val="1800"/>
              <a:buChar char="•"/>
              <a:defRPr/>
            </a:lvl4pPr>
            <a:lvl5pPr marL="2286000" lvl="4" indent="-342900" algn="l">
              <a:lnSpc>
                <a:spcPct val="90000"/>
              </a:lnSpc>
              <a:spcBef>
                <a:spcPts val="500"/>
              </a:spcBef>
              <a:spcAft>
                <a:spcPts val="0"/>
              </a:spcAft>
              <a:buClr>
                <a:schemeClr val="dk1"/>
              </a:buClr>
              <a:buSzPts val="1800"/>
              <a:buChar char="•"/>
              <a:defRPr/>
            </a:lvl5pPr>
            <a:lvl6pPr marL="2743200" lvl="5" indent="-342900" algn="l">
              <a:lnSpc>
                <a:spcPct val="90000"/>
              </a:lnSpc>
              <a:spcBef>
                <a:spcPts val="500"/>
              </a:spcBef>
              <a:spcAft>
                <a:spcPts val="0"/>
              </a:spcAft>
              <a:buClr>
                <a:schemeClr val="dk1"/>
              </a:buClr>
              <a:buSzPts val="1800"/>
              <a:buChar char="•"/>
              <a:defRPr/>
            </a:lvl6pPr>
            <a:lvl7pPr marL="3200400" lvl="6" indent="-342900" algn="l">
              <a:lnSpc>
                <a:spcPct val="90000"/>
              </a:lnSpc>
              <a:spcBef>
                <a:spcPts val="500"/>
              </a:spcBef>
              <a:spcAft>
                <a:spcPts val="0"/>
              </a:spcAft>
              <a:buClr>
                <a:schemeClr val="dk1"/>
              </a:buClr>
              <a:buSzPts val="1800"/>
              <a:buChar char="•"/>
              <a:defRPr/>
            </a:lvl7pPr>
            <a:lvl8pPr marL="3657600" lvl="7" indent="-342900" algn="l">
              <a:lnSpc>
                <a:spcPct val="90000"/>
              </a:lnSpc>
              <a:spcBef>
                <a:spcPts val="500"/>
              </a:spcBef>
              <a:spcAft>
                <a:spcPts val="0"/>
              </a:spcAft>
              <a:buClr>
                <a:schemeClr val="dk1"/>
              </a:buClr>
              <a:buSzPts val="1800"/>
              <a:buChar char="•"/>
              <a:defRPr/>
            </a:lvl8pPr>
            <a:lvl9pPr marL="4114800" lvl="8" indent="-342900" algn="l">
              <a:lnSpc>
                <a:spcPct val="90000"/>
              </a:lnSpc>
              <a:spcBef>
                <a:spcPts val="500"/>
              </a:spcBef>
              <a:spcAft>
                <a:spcPts val="0"/>
              </a:spcAft>
              <a:buClr>
                <a:schemeClr val="dk1"/>
              </a:buClr>
              <a:buSzPts val="1800"/>
              <a:buChar char="•"/>
              <a:defRPr/>
            </a:lvl9pPr>
          </a:lstStyle>
          <a:p>
            <a:endParaRPr/>
          </a:p>
        </p:txBody>
      </p:sp>
      <p:sp>
        <p:nvSpPr>
          <p:cNvPr id="84" name="Google Shape;84;p12"/>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5" name="Google Shape;85;p12"/>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a:endParaRPr/>
          </a:p>
        </p:txBody>
      </p:sp>
      <p:sp>
        <p:nvSpPr>
          <p:cNvPr id="86" name="Google Shape;86;p12"/>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lvl="0" indent="0" algn="r">
              <a:spcBef>
                <a:spcPts val="0"/>
              </a:spcBef>
              <a:buNone/>
              <a:defRPr/>
            </a:lvl1pPr>
            <a:lvl2pPr marL="0" lvl="1" indent="0" algn="r">
              <a:spcBef>
                <a:spcPts val="0"/>
              </a:spcBef>
              <a:buNone/>
              <a:defRPr/>
            </a:lvl2pPr>
            <a:lvl3pPr marL="0" lvl="2" indent="0" algn="r">
              <a:spcBef>
                <a:spcPts val="0"/>
              </a:spcBef>
              <a:buNone/>
              <a:defRPr/>
            </a:lvl3pPr>
            <a:lvl4pPr marL="0" lvl="3" indent="0" algn="r">
              <a:spcBef>
                <a:spcPts val="0"/>
              </a:spcBef>
              <a:buNone/>
              <a:defRPr/>
            </a:lvl4pPr>
            <a:lvl5pPr marL="0" lvl="4" indent="0" algn="r">
              <a:spcBef>
                <a:spcPts val="0"/>
              </a:spcBef>
              <a:buNone/>
              <a:defRPr/>
            </a:lvl5pPr>
            <a:lvl6pPr marL="0" lvl="5" indent="0" algn="r">
              <a:spcBef>
                <a:spcPts val="0"/>
              </a:spcBef>
              <a:buNone/>
              <a:defRPr/>
            </a:lvl6pPr>
            <a:lvl7pPr marL="0" lvl="6" indent="0" algn="r">
              <a:spcBef>
                <a:spcPts val="0"/>
              </a:spcBef>
              <a:buNone/>
              <a:defRPr/>
            </a:lvl7pPr>
            <a:lvl8pPr marL="0" lvl="7" indent="0" algn="r">
              <a:spcBef>
                <a:spcPts val="0"/>
              </a:spcBef>
              <a:buNone/>
              <a:defRPr/>
            </a:lvl8pPr>
            <a:lvl9pPr marL="0" lvl="8" indent="0" algn="r">
              <a:spcBef>
                <a:spcPts val="0"/>
              </a:spcBef>
              <a:buNone/>
              <a:defRPr/>
            </a:lvl9pPr>
          </a:lstStyle>
          <a:p>
            <a:pPr marL="0" lvl="0" indent="0" algn="r" rtl="0">
              <a:spcBef>
                <a:spcPts val="0"/>
              </a:spcBef>
              <a:spcAft>
                <a:spcPts val="0"/>
              </a:spcAft>
              <a:buNone/>
            </a:pPr>
            <a:fld id="{00000000-1234-1234-1234-123412341234}" type="slidenum">
              <a:rPr lang="vi-VN"/>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lt1"/>
        </a:solidFill>
        <a:effectLst/>
      </p:bgPr>
    </p:bg>
    <p:spTree>
      <p:nvGrpSpPr>
        <p:cNvPr id="1" name="Shape 9"/>
        <p:cNvGrpSpPr/>
        <p:nvPr/>
      </p:nvGrpSpPr>
      <p:grpSpPr>
        <a:xfrm>
          <a:off x="0" y="0"/>
          <a:ext cx="0" cy="0"/>
          <a:chOff x="0" y="0"/>
          <a:chExt cx="0" cy="0"/>
        </a:xfrm>
      </p:grpSpPr>
      <p:sp>
        <p:nvSpPr>
          <p:cNvPr id="10" name="Google Shape;10;p1"/>
          <p:cNvSpPr txBox="1">
            <a:spLocks noGrp="1"/>
          </p:cNvSpPr>
          <p:nvPr>
            <p:ph type="title"/>
          </p:nvPr>
        </p:nvSpPr>
        <p:spPr>
          <a:xfrm>
            <a:off x="838200" y="365125"/>
            <a:ext cx="10515600" cy="1325563"/>
          </a:xfrm>
          <a:prstGeom prst="rect">
            <a:avLst/>
          </a:prstGeom>
          <a:noFill/>
          <a:ln>
            <a:noFill/>
          </a:ln>
        </p:spPr>
        <p:txBody>
          <a:bodyPr spcFirstLastPara="1" wrap="square" lIns="91425" tIns="45700" rIns="91425" bIns="45700" anchor="ctr" anchorCtr="0">
            <a:normAutofit/>
          </a:bodyPr>
          <a:lstStyle>
            <a:lvl1pPr marR="0" lvl="0" algn="l" rtl="0">
              <a:lnSpc>
                <a:spcPct val="90000"/>
              </a:lnSpc>
              <a:spcBef>
                <a:spcPts val="0"/>
              </a:spcBef>
              <a:spcAft>
                <a:spcPts val="0"/>
              </a:spcAft>
              <a:buClr>
                <a:schemeClr val="dk1"/>
              </a:buClr>
              <a:buSzPts val="4400"/>
              <a:buFont typeface="Calibri"/>
              <a:buNone/>
              <a:defRPr sz="4400" b="0" i="0" u="none" strike="noStrike" cap="non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a:endParaRPr/>
          </a:p>
        </p:txBody>
      </p:sp>
      <p:sp>
        <p:nvSpPr>
          <p:cNvPr id="11" name="Google Shape;11;p1"/>
          <p:cNvSpPr txBox="1">
            <a:spLocks noGrp="1"/>
          </p:cNvSpPr>
          <p:nvPr>
            <p:ph type="body" idx="1"/>
          </p:nvPr>
        </p:nvSpPr>
        <p:spPr>
          <a:xfrm>
            <a:off x="838200" y="1825625"/>
            <a:ext cx="10515600" cy="4351338"/>
          </a:xfrm>
          <a:prstGeom prst="rect">
            <a:avLst/>
          </a:prstGeom>
          <a:noFill/>
          <a:ln>
            <a:noFill/>
          </a:ln>
        </p:spPr>
        <p:txBody>
          <a:bodyPr spcFirstLastPara="1" wrap="square" lIns="91425" tIns="45700" rIns="91425" bIns="45700" anchor="t" anchorCtr="0">
            <a:normAutofit/>
          </a:bodyPr>
          <a:lstStyle>
            <a:lvl1pPr marL="457200" marR="0" lvl="0" indent="-406400" algn="l" rtl="0">
              <a:lnSpc>
                <a:spcPct val="90000"/>
              </a:lnSpc>
              <a:spcBef>
                <a:spcPts val="1000"/>
              </a:spcBef>
              <a:spcAft>
                <a:spcPts val="0"/>
              </a:spcAft>
              <a:buClr>
                <a:schemeClr val="dk1"/>
              </a:buClr>
              <a:buSzPts val="2800"/>
              <a:buFont typeface="Arial"/>
              <a:buChar char="•"/>
              <a:defRPr sz="2800" b="0" i="0" u="none" strike="noStrike" cap="none">
                <a:solidFill>
                  <a:schemeClr val="dk1"/>
                </a:solidFill>
                <a:latin typeface="Calibri"/>
                <a:ea typeface="Calibri"/>
                <a:cs typeface="Calibri"/>
                <a:sym typeface="Calibri"/>
              </a:defRPr>
            </a:lvl1pPr>
            <a:lvl2pPr marL="914400" marR="0" lvl="1" indent="-381000" algn="l" rtl="0">
              <a:lnSpc>
                <a:spcPct val="90000"/>
              </a:lnSpc>
              <a:spcBef>
                <a:spcPts val="500"/>
              </a:spcBef>
              <a:spcAft>
                <a:spcPts val="0"/>
              </a:spcAft>
              <a:buClr>
                <a:schemeClr val="dk1"/>
              </a:buClr>
              <a:buSzPts val="2400"/>
              <a:buFont typeface="Arial"/>
              <a:buChar char="•"/>
              <a:defRPr sz="2400" b="0" i="0" u="none" strike="noStrike" cap="none">
                <a:solidFill>
                  <a:schemeClr val="dk1"/>
                </a:solidFill>
                <a:latin typeface="Calibri"/>
                <a:ea typeface="Calibri"/>
                <a:cs typeface="Calibri"/>
                <a:sym typeface="Calibri"/>
              </a:defRPr>
            </a:lvl2pPr>
            <a:lvl3pPr marL="1371600" marR="0" lvl="2" indent="-355600" algn="l" rtl="0">
              <a:lnSpc>
                <a:spcPct val="90000"/>
              </a:lnSpc>
              <a:spcBef>
                <a:spcPts val="500"/>
              </a:spcBef>
              <a:spcAft>
                <a:spcPts val="0"/>
              </a:spcAft>
              <a:buClr>
                <a:schemeClr val="dk1"/>
              </a:buClr>
              <a:buSzPts val="2000"/>
              <a:buFont typeface="Arial"/>
              <a:buChar char="•"/>
              <a:defRPr sz="2000" b="0" i="0" u="none" strike="noStrike" cap="none">
                <a:solidFill>
                  <a:schemeClr val="dk1"/>
                </a:solidFill>
                <a:latin typeface="Calibri"/>
                <a:ea typeface="Calibri"/>
                <a:cs typeface="Calibri"/>
                <a:sym typeface="Calibri"/>
              </a:defRPr>
            </a:lvl3pPr>
            <a:lvl4pPr marL="1828800" marR="0" lvl="3"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4pPr>
            <a:lvl5pPr marL="2286000" marR="0" lvl="4"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5pPr>
            <a:lvl6pPr marL="2743200" marR="0" lvl="5"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6pPr>
            <a:lvl7pPr marL="3200400" marR="0" lvl="6"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7pPr>
            <a:lvl8pPr marL="3657600" marR="0" lvl="7"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8pPr>
            <a:lvl9pPr marL="4114800" marR="0" lvl="8" indent="-342900" algn="l" rtl="0">
              <a:lnSpc>
                <a:spcPct val="90000"/>
              </a:lnSpc>
              <a:spcBef>
                <a:spcPts val="500"/>
              </a:spcBef>
              <a:spcAft>
                <a:spcPts val="0"/>
              </a:spcAft>
              <a:buClr>
                <a:schemeClr val="dk1"/>
              </a:buClr>
              <a:buSzPts val="1800"/>
              <a:buFont typeface="Arial"/>
              <a:buChar char="•"/>
              <a:defRPr sz="1800" b="0" i="0" u="none" strike="noStrike" cap="none">
                <a:solidFill>
                  <a:schemeClr val="dk1"/>
                </a:solidFill>
                <a:latin typeface="Calibri"/>
                <a:ea typeface="Calibri"/>
                <a:cs typeface="Calibri"/>
                <a:sym typeface="Calibri"/>
              </a:defRPr>
            </a:lvl9pPr>
          </a:lstStyle>
          <a:p>
            <a:endParaRPr/>
          </a:p>
        </p:txBody>
      </p:sp>
      <p:sp>
        <p:nvSpPr>
          <p:cNvPr id="12" name="Google Shape;12;p1"/>
          <p:cNvSpPr txBox="1">
            <a:spLocks noGrp="1"/>
          </p:cNvSpPr>
          <p:nvPr>
            <p:ph type="dt" idx="10"/>
          </p:nvPr>
        </p:nvSpPr>
        <p:spPr>
          <a:xfrm>
            <a:off x="838200" y="6356350"/>
            <a:ext cx="2743200" cy="365125"/>
          </a:xfrm>
          <a:prstGeom prst="rect">
            <a:avLst/>
          </a:prstGeom>
          <a:noFill/>
          <a:ln>
            <a:noFill/>
          </a:ln>
        </p:spPr>
        <p:txBody>
          <a:bodyPr spcFirstLastPara="1" wrap="square" lIns="91425" tIns="45700" rIns="91425" bIns="45700" anchor="ctr" anchorCtr="0">
            <a:noAutofit/>
          </a:bodyPr>
          <a:lstStyle>
            <a:lvl1pPr marR="0" lvl="0" algn="l"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3" name="Google Shape;13;p1"/>
          <p:cNvSpPr txBox="1">
            <a:spLocks noGrp="1"/>
          </p:cNvSpPr>
          <p:nvPr>
            <p:ph type="ftr" idx="11"/>
          </p:nvPr>
        </p:nvSpPr>
        <p:spPr>
          <a:xfrm>
            <a:off x="4038600" y="6356350"/>
            <a:ext cx="4114800" cy="365125"/>
          </a:xfrm>
          <a:prstGeom prst="rect">
            <a:avLst/>
          </a:prstGeom>
          <a:noFill/>
          <a:ln>
            <a:noFill/>
          </a:ln>
        </p:spPr>
        <p:txBody>
          <a:bodyPr spcFirstLastPara="1" wrap="square" lIns="91425" tIns="45700" rIns="91425" bIns="45700" anchor="ctr" anchorCtr="0">
            <a:noAutofit/>
          </a:bodyPr>
          <a:lstStyle>
            <a:lvl1pPr marR="0" lvl="0" algn="ctr" rtl="0">
              <a:spcBef>
                <a:spcPts val="0"/>
              </a:spcBef>
              <a:spcAft>
                <a:spcPts val="0"/>
              </a:spcAft>
              <a:buSzPts val="1400"/>
              <a:buNone/>
              <a:defRPr sz="1200" b="0" i="0" u="none" strike="noStrike" cap="none">
                <a:solidFill>
                  <a:srgbClr val="888888"/>
                </a:solidFill>
                <a:latin typeface="Calibri"/>
                <a:ea typeface="Calibri"/>
                <a:cs typeface="Calibri"/>
                <a:sym typeface="Calibri"/>
              </a:defRPr>
            </a:lvl1pPr>
            <a:lvl2pPr marR="0" lvl="1"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2pPr>
            <a:lvl3pPr marR="0" lvl="2"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3pPr>
            <a:lvl4pPr marR="0" lvl="3"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4pPr>
            <a:lvl5pPr marR="0" lvl="4"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5pPr>
            <a:lvl6pPr marR="0" lvl="5"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6pPr>
            <a:lvl7pPr marR="0" lvl="6"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7pPr>
            <a:lvl8pPr marR="0" lvl="7"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8pPr>
            <a:lvl9pPr marR="0" lvl="8" algn="l" rtl="0">
              <a:spcBef>
                <a:spcPts val="0"/>
              </a:spcBef>
              <a:spcAft>
                <a:spcPts val="0"/>
              </a:spcAft>
              <a:buSzPts val="1400"/>
              <a:buNone/>
              <a:defRPr sz="1800" b="0" i="0" u="none" strike="noStrike" cap="none">
                <a:solidFill>
                  <a:schemeClr val="dk1"/>
                </a:solidFill>
                <a:latin typeface="Calibri"/>
                <a:ea typeface="Calibri"/>
                <a:cs typeface="Calibri"/>
                <a:sym typeface="Calibri"/>
              </a:defRPr>
            </a:lvl9pPr>
          </a:lstStyle>
          <a:p>
            <a:endParaRPr/>
          </a:p>
        </p:txBody>
      </p:sp>
      <p:sp>
        <p:nvSpPr>
          <p:cNvPr id="14" name="Google Shape;14;p1"/>
          <p:cNvSpPr txBox="1">
            <a:spLocks noGrp="1"/>
          </p:cNvSpPr>
          <p:nvPr>
            <p:ph type="sldNum" idx="12"/>
          </p:nvPr>
        </p:nvSpPr>
        <p:spPr>
          <a:xfrm>
            <a:off x="186690" y="93504"/>
            <a:ext cx="1367790" cy="365125"/>
          </a:xfrm>
          <a:prstGeom prst="rect">
            <a:avLst/>
          </a:prstGeom>
          <a:noFill/>
          <a:ln>
            <a:noFill/>
          </a:ln>
        </p:spPr>
        <p:txBody>
          <a:bodyPr spcFirstLastPara="1" wrap="square" lIns="91425" tIns="45700" rIns="91425" bIns="45700" anchor="ctr" anchorCtr="0">
            <a:noAutofit/>
          </a:bodyPr>
          <a:lstStyle>
            <a:lvl1pPr marL="0" marR="0" lvl="0" indent="0" algn="r" rtl="0">
              <a:spcBef>
                <a:spcPts val="0"/>
              </a:spcBef>
              <a:buNone/>
              <a:defRPr sz="1200" b="0" i="0" u="none" strike="noStrike" cap="none">
                <a:solidFill>
                  <a:srgbClr val="888888"/>
                </a:solidFill>
                <a:latin typeface="Calibri"/>
                <a:ea typeface="Calibri"/>
                <a:cs typeface="Calibri"/>
                <a:sym typeface="Calibri"/>
              </a:defRPr>
            </a:lvl1pPr>
            <a:lvl2pPr marL="0" marR="0" lvl="1" indent="0" algn="r" rtl="0">
              <a:spcBef>
                <a:spcPts val="0"/>
              </a:spcBef>
              <a:buNone/>
              <a:defRPr sz="1200" b="0" i="0" u="none" strike="noStrike" cap="none">
                <a:solidFill>
                  <a:srgbClr val="888888"/>
                </a:solidFill>
                <a:latin typeface="Calibri"/>
                <a:ea typeface="Calibri"/>
                <a:cs typeface="Calibri"/>
                <a:sym typeface="Calibri"/>
              </a:defRPr>
            </a:lvl2pPr>
            <a:lvl3pPr marL="0" marR="0" lvl="2" indent="0" algn="r" rtl="0">
              <a:spcBef>
                <a:spcPts val="0"/>
              </a:spcBef>
              <a:buNone/>
              <a:defRPr sz="1200" b="0" i="0" u="none" strike="noStrike" cap="none">
                <a:solidFill>
                  <a:srgbClr val="888888"/>
                </a:solidFill>
                <a:latin typeface="Calibri"/>
                <a:ea typeface="Calibri"/>
                <a:cs typeface="Calibri"/>
                <a:sym typeface="Calibri"/>
              </a:defRPr>
            </a:lvl3pPr>
            <a:lvl4pPr marL="0" marR="0" lvl="3" indent="0" algn="r" rtl="0">
              <a:spcBef>
                <a:spcPts val="0"/>
              </a:spcBef>
              <a:buNone/>
              <a:defRPr sz="1200" b="0" i="0" u="none" strike="noStrike" cap="none">
                <a:solidFill>
                  <a:srgbClr val="888888"/>
                </a:solidFill>
                <a:latin typeface="Calibri"/>
                <a:ea typeface="Calibri"/>
                <a:cs typeface="Calibri"/>
                <a:sym typeface="Calibri"/>
              </a:defRPr>
            </a:lvl4pPr>
            <a:lvl5pPr marL="0" marR="0" lvl="4" indent="0" algn="r" rtl="0">
              <a:spcBef>
                <a:spcPts val="0"/>
              </a:spcBef>
              <a:buNone/>
              <a:defRPr sz="1200" b="0" i="0" u="none" strike="noStrike" cap="none">
                <a:solidFill>
                  <a:srgbClr val="888888"/>
                </a:solidFill>
                <a:latin typeface="Calibri"/>
                <a:ea typeface="Calibri"/>
                <a:cs typeface="Calibri"/>
                <a:sym typeface="Calibri"/>
              </a:defRPr>
            </a:lvl5pPr>
            <a:lvl6pPr marL="0" marR="0" lvl="5" indent="0" algn="r" rtl="0">
              <a:spcBef>
                <a:spcPts val="0"/>
              </a:spcBef>
              <a:buNone/>
              <a:defRPr sz="1200" b="0" i="0" u="none" strike="noStrike" cap="none">
                <a:solidFill>
                  <a:srgbClr val="888888"/>
                </a:solidFill>
                <a:latin typeface="Calibri"/>
                <a:ea typeface="Calibri"/>
                <a:cs typeface="Calibri"/>
                <a:sym typeface="Calibri"/>
              </a:defRPr>
            </a:lvl6pPr>
            <a:lvl7pPr marL="0" marR="0" lvl="6" indent="0" algn="r" rtl="0">
              <a:spcBef>
                <a:spcPts val="0"/>
              </a:spcBef>
              <a:buNone/>
              <a:defRPr sz="1200" b="0" i="0" u="none" strike="noStrike" cap="none">
                <a:solidFill>
                  <a:srgbClr val="888888"/>
                </a:solidFill>
                <a:latin typeface="Calibri"/>
                <a:ea typeface="Calibri"/>
                <a:cs typeface="Calibri"/>
                <a:sym typeface="Calibri"/>
              </a:defRPr>
            </a:lvl7pPr>
            <a:lvl8pPr marL="0" marR="0" lvl="7" indent="0" algn="r" rtl="0">
              <a:spcBef>
                <a:spcPts val="0"/>
              </a:spcBef>
              <a:buNone/>
              <a:defRPr sz="1200" b="0" i="0" u="none" strike="noStrike" cap="none">
                <a:solidFill>
                  <a:srgbClr val="888888"/>
                </a:solidFill>
                <a:latin typeface="Calibri"/>
                <a:ea typeface="Calibri"/>
                <a:cs typeface="Calibri"/>
                <a:sym typeface="Calibri"/>
              </a:defRPr>
            </a:lvl8pPr>
            <a:lvl9pPr marL="0" marR="0" lvl="8" indent="0" algn="r" rtl="0">
              <a:spcBef>
                <a:spcPts val="0"/>
              </a:spcBef>
              <a:buNone/>
              <a:defRPr sz="1200" b="0" i="0" u="none" strike="noStrike" cap="none">
                <a:solidFill>
                  <a:srgbClr val="888888"/>
                </a:solidFill>
                <a:latin typeface="Calibri"/>
                <a:ea typeface="Calibri"/>
                <a:cs typeface="Calibri"/>
                <a:sym typeface="Calibri"/>
              </a:defRPr>
            </a:lvl9pPr>
          </a:lstStyle>
          <a:p>
            <a:pPr marL="0" lvl="0" indent="0" algn="r" rtl="0">
              <a:spcBef>
                <a:spcPts val="0"/>
              </a:spcBef>
              <a:spcAft>
                <a:spcPts val="0"/>
              </a:spcAft>
              <a:buNone/>
            </a:pPr>
            <a:fld id="{00000000-1234-1234-1234-123412341234}" type="slidenum">
              <a:rPr lang="vi-VN"/>
              <a:t>‹#›</a:t>
            </a:fld>
            <a:endParaRPr/>
          </a:p>
        </p:txBody>
      </p:sp>
    </p:spTree>
  </p:cSld>
  <p:clrMap bg1="lt1" tx1="dk1" bg2="dk2" tx2="lt2" accent1="accent1" accent2="accent2" accent3="accent3" accent4="accent4" accent5="accent5" accent6="accent6" hlink="hlink" folHlink="fol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hdr="0" ftr="0" dt="0"/>
  <p:txStyles>
    <p:title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titleStyle>
    <p:body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bodyStyle>
    <p:other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spc="0">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image" Target="../media/image1.png"/><Relationship Id="rId4"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image" Target="../media/image6.png"/><Relationship Id="rId7" Type="http://schemas.openxmlformats.org/officeDocument/2006/relationships/image" Target="../media/image7.png"/><Relationship Id="rId8" Type="http://schemas.openxmlformats.org/officeDocument/2006/relationships/image" Target="../media/image8.png"/><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 Id="rId6" Type="http://schemas.openxmlformats.org/officeDocument/2006/relationships/image" Target="../media/image12.png"/><Relationship Id="rId7" Type="http://schemas.openxmlformats.org/officeDocument/2006/relationships/image" Target="../media/image13.png"/><Relationship Id="rId8"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5.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image" Target="../media/image18.png"/><Relationship Id="rId6" Type="http://schemas.openxmlformats.org/officeDocument/2006/relationships/image" Target="../media/image19.png"/><Relationship Id="rId7" Type="http://schemas.openxmlformats.org/officeDocument/2006/relationships/image" Target="../media/image15.png"/><Relationship Id="rId8" Type="http://schemas.openxmlformats.org/officeDocument/2006/relationships/image" Target="../media/image20.png"/><Relationship Id="rId9" Type="http://schemas.openxmlformats.org/officeDocument/2006/relationships/image" Target="../media/image21.png"/><Relationship Id="rId10" Type="http://schemas.openxmlformats.org/officeDocument/2006/relationships/image" Target="../media/image22.png"/><Relationship Id="rId11" Type="http://schemas.openxmlformats.org/officeDocument/2006/relationships/image" Target="../media/image12.png"/><Relationship Id="rId1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6.png"/><Relationship Id="rId4" Type="http://schemas.openxmlformats.org/officeDocument/2006/relationships/image" Target="../media/image27.png"/><Relationship Id="rId5" Type="http://schemas.openxmlformats.org/officeDocument/2006/relationships/image" Target="../media/image28.png"/><Relationship Id="rId6" Type="http://schemas.openxmlformats.org/officeDocument/2006/relationships/image" Target="../media/image29.png"/><Relationship Id="rId7" Type="http://schemas.openxmlformats.org/officeDocument/2006/relationships/image" Target="../media/image30.png"/><Relationship Id="rId8"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24.png"/><Relationship Id="rId4" Type="http://schemas.openxmlformats.org/officeDocument/2006/relationships/image" Target="../media/image31.png"/><Relationship Id="rId5" Type="http://schemas.openxmlformats.org/officeDocument/2006/relationships/image" Target="../media/image32.png"/><Relationship Id="rId6" Type="http://schemas.openxmlformats.org/officeDocument/2006/relationships/image" Target="../media/image23.png"/><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3.png"/><Relationship Id="rId4" Type="http://schemas.openxmlformats.org/officeDocument/2006/relationships/image" Target="../media/image30.png"/><Relationship Id="rId5" Type="http://schemas.openxmlformats.org/officeDocument/2006/relationships/image" Target="../media/image32.png"/><Relationship Id="rId6" Type="http://schemas.openxmlformats.org/officeDocument/2006/relationships/image" Target="../media/image24.png"/><Relationship Id="rId7"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4.png"/><Relationship Id="rId4"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5.png"/><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8.png"/><Relationship Id="rId4" Type="http://schemas.openxmlformats.org/officeDocument/2006/relationships/image" Target="../media/image15.png"/><Relationship Id="rId5" Type="http://schemas.openxmlformats.org/officeDocument/2006/relationships/image" Target="../media/image36.png"/><Relationship Id="rId6" Type="http://schemas.openxmlformats.org/officeDocument/2006/relationships/image" Target="../media/image37.png"/><Relationship Id="rId7" Type="http://schemas.openxmlformats.org/officeDocument/2006/relationships/image" Target="../media/image19.png"/><Relationship Id="rId8" Type="http://schemas.openxmlformats.org/officeDocument/2006/relationships/image" Target="../media/image38.png"/><Relationship Id="rId9" Type="http://schemas.openxmlformats.org/officeDocument/2006/relationships/image" Target="../media/image11.png"/><Relationship Id="rId10" Type="http://schemas.openxmlformats.org/officeDocument/2006/relationships/image" Target="../media/image7.png"/><Relationship Id="rId11"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39.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1.xm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2.xml"/><Relationship Id="rId4"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3.xml"/><Relationship Id="rId4" Type="http://schemas.openxmlformats.org/officeDocument/2006/relationships/chart" Target="../charts/chart4.xml"/><Relationship Id="rId5"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5.xml"/><Relationship Id="rId4" Type="http://schemas.openxmlformats.org/officeDocument/2006/relationships/chart" Target="../charts/chart6.xml"/><Relationship Id="rId5"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7.xml"/><Relationship Id="rId4" Type="http://schemas.openxmlformats.org/officeDocument/2006/relationships/chart" Target="../charts/chart8.xml"/><Relationship Id="rId5"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image" Target="../media/image41.png"/><Relationship Id="rId5" Type="http://schemas.openxmlformats.org/officeDocument/2006/relationships/image" Target="../media/image42.png"/><Relationship Id="rId6" Type="http://schemas.openxmlformats.org/officeDocument/2006/relationships/image" Target="../media/image43.png"/><Relationship Id="rId7"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0.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1.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2.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4.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5.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46.png"/><Relationship Id="rId4" Type="http://schemas.openxmlformats.org/officeDocument/2006/relationships/image" Target="../media/image47.png"/><Relationship Id="rId5" Type="http://schemas.openxmlformats.org/officeDocument/2006/relationships/image" Target="../media/image48.png"/><Relationship Id="rId6" Type="http://schemas.openxmlformats.org/officeDocument/2006/relationships/image" Target="../media/image49.png"/><Relationship Id="rId7"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image" Target="../media/image16.png"/><Relationship Id="rId4" Type="http://schemas.openxmlformats.org/officeDocument/2006/relationships/image" Target="../media/image17.png"/><Relationship Id="rId5"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0.jpg"/><Relationship Id="rId3"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chart" Target="../charts/chart9.xml"/><Relationship Id="rId4"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png"/><Relationship Id="rId3" Type="http://schemas.openxmlformats.org/officeDocument/2006/relationships/notesSlide" Target="../notesSlides/notesSlide47.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92" name="Google Shape;92;p13"/>
          <p:cNvSpPr txBox="1">
            <a:spLocks noGrp="1"/>
          </p:cNvSpPr>
          <p:nvPr>
            <p:ph type="ctrTitle"/>
          </p:nvPr>
        </p:nvSpPr>
        <p:spPr>
          <a:xfrm>
            <a:off x="24959" y="1172886"/>
            <a:ext cx="12167041" cy="1485752"/>
          </a:xfrm>
          <a:prstGeom prst="rect">
            <a:avLst/>
          </a:prstGeom>
          <a:noFill/>
          <a:ln>
            <a:noFill/>
          </a:ln>
        </p:spPr>
        <p:txBody>
          <a:bodyPr spcFirstLastPara="1" wrap="square" lIns="91425" tIns="45700" rIns="91425" bIns="45700" anchor="b" anchorCtr="0">
            <a:normAutofit/>
          </a:bodyPr>
          <a:lstStyle/>
          <a:p>
            <a:pPr marL="0" lvl="0" indent="0" algn="ctr" rtl="0">
              <a:lnSpc>
                <a:spcPct val="90000"/>
              </a:lnSpc>
              <a:spcBef>
                <a:spcPts val="0"/>
              </a:spcBef>
              <a:spcAft>
                <a:spcPts val="0"/>
              </a:spcAft>
              <a:buClr>
                <a:srgbClr val="2FA6FF"/>
              </a:buClr>
              <a:buSzPts val="4800"/>
              <a:buFont typeface="Times New Roman"/>
              <a:buNone/>
            </a:pPr>
            <a:r>
              <a:rPr lang="vi-VN" b="1">
                <a:solidFill>
                  <a:srgbClr val="2FA6FF"/>
                </a:solidFill>
                <a:latin typeface="Times New Roman"/>
                <a:ea typeface="Times New Roman"/>
                <a:cs typeface="Times New Roman"/>
                <a:sym typeface="Times New Roman"/>
              </a:rPr>
              <a:t>EDA MENTORSHIP</a:t>
            </a:r>
            <a:endParaRPr b="1">
              <a:solidFill>
                <a:srgbClr val="2FA6FF"/>
              </a:solidFill>
              <a:latin typeface="Times New Roman"/>
              <a:ea typeface="Times New Roman"/>
              <a:cs typeface="Times New Roman"/>
              <a:sym typeface="Times New Roman"/>
            </a:endParaRPr>
          </a:p>
        </p:txBody>
      </p:sp>
      <p:sp>
        <p:nvSpPr>
          <p:cNvPr id="93" name="Google Shape;93;p13"/>
          <p:cNvSpPr txBox="1">
            <a:spLocks noGrp="1"/>
          </p:cNvSpPr>
          <p:nvPr>
            <p:ph type="subTitle" idx="1"/>
          </p:nvPr>
        </p:nvSpPr>
        <p:spPr>
          <a:xfrm>
            <a:off x="1759047" y="2759426"/>
            <a:ext cx="9144000" cy="1655762"/>
          </a:xfrm>
          <a:prstGeom prst="rect">
            <a:avLst/>
          </a:prstGeom>
          <a:noFill/>
          <a:ln>
            <a:noFill/>
          </a:ln>
        </p:spPr>
        <p:txBody>
          <a:bodyPr spcFirstLastPara="1" wrap="square" lIns="91425" tIns="45700" rIns="91425" bIns="45700" anchor="t" anchorCtr="0">
            <a:normAutofit/>
          </a:bodyPr>
          <a:lstStyle/>
          <a:p>
            <a:pPr marL="0" lvl="0" indent="0" algn="ctr" rtl="0">
              <a:spcBef>
                <a:spcPts val="1000"/>
              </a:spcBef>
              <a:spcAft>
                <a:spcPts val="0"/>
              </a:spcAft>
              <a:buClr>
                <a:schemeClr val="dk1"/>
              </a:buClr>
              <a:buSzPts val="1100"/>
              <a:buFont typeface="Arial"/>
              <a:buNone/>
            </a:pPr>
            <a:r>
              <a:rPr lang="vi-VN" sz="3600" b="1">
                <a:solidFill>
                  <a:srgbClr val="00B050"/>
                </a:solidFill>
                <a:latin typeface="Times New Roman"/>
                <a:ea typeface="Times New Roman"/>
                <a:cs typeface="Times New Roman"/>
                <a:sym typeface="Times New Roman"/>
              </a:rPr>
              <a:t>Sales Project 1</a:t>
            </a:r>
            <a:endParaRPr sz="3600" b="1">
              <a:solidFill>
                <a:srgbClr val="00B050"/>
              </a:solidFill>
              <a:latin typeface="Times New Roman"/>
              <a:ea typeface="Times New Roman"/>
              <a:cs typeface="Times New Roman"/>
              <a:sym typeface="Times New Roman"/>
            </a:endParaRPr>
          </a:p>
          <a:p>
            <a:pPr marL="0" lvl="0" indent="0" algn="l" rtl="0">
              <a:lnSpc>
                <a:spcPct val="90000"/>
              </a:lnSpc>
              <a:spcBef>
                <a:spcPts val="0"/>
              </a:spcBef>
              <a:spcAft>
                <a:spcPts val="0"/>
              </a:spcAft>
              <a:buClr>
                <a:srgbClr val="00B050"/>
              </a:buClr>
              <a:buSzPts val="2400"/>
              <a:buNone/>
            </a:pPr>
            <a:endParaRPr b="1">
              <a:solidFill>
                <a:srgbClr val="00B050"/>
              </a:solidFill>
              <a:latin typeface="Times New Roman"/>
              <a:ea typeface="Times New Roman"/>
              <a:cs typeface="Times New Roman"/>
              <a:sym typeface="Times New Roman"/>
            </a:endParaRPr>
          </a:p>
        </p:txBody>
      </p:sp>
      <p:sp>
        <p:nvSpPr>
          <p:cNvPr id="94" name="Google Shape;94;p13"/>
          <p:cNvSpPr txBox="1"/>
          <p:nvPr/>
        </p:nvSpPr>
        <p:spPr>
          <a:xfrm>
            <a:off x="7147249" y="6488668"/>
            <a:ext cx="5044752" cy="369332"/>
          </a:xfrm>
          <a:prstGeom prst="rect">
            <a:avLst/>
          </a:prstGeom>
          <a:solidFill>
            <a:srgbClr val="F8D6FC"/>
          </a:solidFill>
          <a:ln>
            <a:noFill/>
          </a:ln>
        </p:spPr>
        <p:txBody>
          <a:bodyPr spcFirstLastPara="1" wrap="square" lIns="91425" tIns="45700" rIns="91425" bIns="45700" anchor="t" anchorCtr="0">
            <a:spAutoFit/>
          </a:bodyPr>
          <a:lstStyle/>
          <a:p>
            <a:pPr marL="0" marR="0" lvl="0" indent="0" algn="ctr" rtl="0">
              <a:spcBef>
                <a:spcPts val="0"/>
              </a:spcBef>
              <a:spcAft>
                <a:spcPts val="0"/>
              </a:spcAft>
              <a:buNone/>
            </a:pPr>
            <a:r>
              <a:rPr lang="vi-VN" sz="1800" b="0" i="0" u="none" strike="noStrike" cap="none">
                <a:solidFill>
                  <a:schemeClr val="dk1"/>
                </a:solidFill>
                <a:latin typeface="Times New Roman"/>
                <a:ea typeface="Times New Roman"/>
                <a:cs typeface="Times New Roman"/>
                <a:sym typeface="Times New Roman"/>
              </a:rPr>
              <a:t>Proofreaders &amp; QA/QC:</a:t>
            </a:r>
            <a:endParaRPr sz="1800" b="0" i="0" u="none" strike="noStrike" cap="none">
              <a:solidFill>
                <a:schemeClr val="dk1"/>
              </a:solidFill>
              <a:latin typeface="Times New Roman"/>
              <a:ea typeface="Times New Roman"/>
              <a:cs typeface="Times New Roman"/>
              <a:sym typeface="Times New Roman"/>
            </a:endParaRPr>
          </a:p>
        </p:txBody>
      </p:sp>
      <p:sp>
        <p:nvSpPr>
          <p:cNvPr id="95" name="Google Shape;95;p13"/>
          <p:cNvSpPr/>
          <p:nvPr/>
        </p:nvSpPr>
        <p:spPr>
          <a:xfrm>
            <a:off x="2237591" y="4588698"/>
            <a:ext cx="647700" cy="647700"/>
          </a:xfrm>
          <a:custGeom>
            <a:avLst/>
            <a:gdLst/>
            <a:ahLst/>
            <a:cxnLst/>
            <a:rect l="l" t="t" r="r" b="b"/>
            <a:pathLst>
              <a:path w="647700" h="647700" extrusionOk="0">
                <a:moveTo>
                  <a:pt x="647780" y="323890"/>
                </a:moveTo>
                <a:cubicBezTo>
                  <a:pt x="647780" y="502747"/>
                  <a:pt x="502787" y="647740"/>
                  <a:pt x="323930" y="647740"/>
                </a:cubicBezTo>
                <a:cubicBezTo>
                  <a:pt x="145073" y="647740"/>
                  <a:pt x="80" y="502747"/>
                  <a:pt x="80" y="323890"/>
                </a:cubicBezTo>
                <a:cubicBezTo>
                  <a:pt x="80" y="145033"/>
                  <a:pt x="145073" y="40"/>
                  <a:pt x="323930" y="40"/>
                </a:cubicBezTo>
                <a:cubicBezTo>
                  <a:pt x="502787" y="40"/>
                  <a:pt x="647780" y="145033"/>
                  <a:pt x="647780" y="32389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6" name="Google Shape;96;p13"/>
          <p:cNvSpPr/>
          <p:nvPr/>
        </p:nvSpPr>
        <p:spPr>
          <a:xfrm>
            <a:off x="3228191" y="4341048"/>
            <a:ext cx="9525" cy="1143000"/>
          </a:xfrm>
          <a:custGeom>
            <a:avLst/>
            <a:gdLst/>
            <a:ahLst/>
            <a:cxnLst/>
            <a:rect l="l" t="t" r="r" b="b"/>
            <a:pathLst>
              <a:path w="9525" h="1143000" extrusionOk="0">
                <a:moveTo>
                  <a:pt x="80" y="40"/>
                </a:moveTo>
                <a:lnTo>
                  <a:pt x="80" y="1143040"/>
                </a:lnTo>
              </a:path>
            </a:pathLst>
          </a:custGeom>
          <a:noFill/>
          <a:ln w="14275" cap="flat" cmpd="sng">
            <a:solidFill>
              <a:srgbClr val="E0C898"/>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97" name="Google Shape;97;p13"/>
          <p:cNvSpPr txBox="1"/>
          <p:nvPr/>
        </p:nvSpPr>
        <p:spPr>
          <a:xfrm>
            <a:off x="3327251" y="4245798"/>
            <a:ext cx="1278255" cy="43434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B8860B"/>
                </a:solidFill>
                <a:latin typeface="Times New Roman"/>
                <a:ea typeface="Times New Roman"/>
                <a:cs typeface="Times New Roman"/>
                <a:sym typeface="Times New Roman"/>
              </a:rPr>
              <a:t>Mentor:</a:t>
            </a:r>
            <a:endParaRPr/>
          </a:p>
        </p:txBody>
      </p:sp>
      <p:sp>
        <p:nvSpPr>
          <p:cNvPr id="98" name="Google Shape;98;p13"/>
          <p:cNvSpPr txBox="1"/>
          <p:nvPr/>
        </p:nvSpPr>
        <p:spPr>
          <a:xfrm>
            <a:off x="3327250" y="4731580"/>
            <a:ext cx="3108960" cy="3924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Phúc Nguyên</a:t>
            </a:r>
            <a:endParaRPr/>
          </a:p>
        </p:txBody>
      </p:sp>
      <p:sp>
        <p:nvSpPr>
          <p:cNvPr id="99" name="Google Shape;99;p13"/>
          <p:cNvSpPr txBox="1"/>
          <p:nvPr/>
        </p:nvSpPr>
        <p:spPr>
          <a:xfrm>
            <a:off x="3327251" y="511828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spc="0">
                <a:solidFill>
                  <a:srgbClr val="1C3664"/>
                </a:solidFill>
                <a:latin typeface="Times New Roman"/>
                <a:ea typeface="Times New Roman"/>
                <a:cs typeface="Times New Roman"/>
                <a:sym typeface="Times New Roman"/>
              </a:rPr>
              <a:t>Nguyễn Thảo Nhi</a:t>
            </a:r>
            <a:endParaRPr/>
          </a:p>
        </p:txBody>
      </p:sp>
      <p:pic>
        <p:nvPicPr>
          <p:cNvPr id="100" name="Google Shape;100;p13" descr="Graduation cap Generic Flat icon | Magnific (trước đây là Freepik)"/>
          <p:cNvPicPr preferRelativeResize="0"/>
          <p:nvPr/>
        </p:nvPicPr>
        <p:blipFill rotWithShape="1">
          <a:blip r:embed="rId2">
            <a:alphaModFix/>
          </a:blip>
          <a:srcRect/>
          <a:stretch/>
        </p:blipFill>
        <p:spPr>
          <a:xfrm>
            <a:off x="1759047" y="4189736"/>
            <a:ext cx="1478669" cy="1478669"/>
          </a:xfrm>
          <a:prstGeom prst="rect">
            <a:avLst/>
          </a:prstGeom>
          <a:noFill/>
          <a:ln>
            <a:noFill/>
          </a:ln>
        </p:spPr>
      </p:pic>
      <p:sp>
        <p:nvSpPr>
          <p:cNvPr id="101" name="Google Shape;101;p13"/>
          <p:cNvSpPr/>
          <p:nvPr/>
        </p:nvSpPr>
        <p:spPr>
          <a:xfrm>
            <a:off x="6598699" y="4720143"/>
            <a:ext cx="647700" cy="647700"/>
          </a:xfrm>
          <a:custGeom>
            <a:avLst/>
            <a:gdLst/>
            <a:ahLst/>
            <a:cxnLst/>
            <a:rect l="l" t="t" r="r" b="b"/>
            <a:pathLst>
              <a:path w="647700" h="647700" extrusionOk="0">
                <a:moveTo>
                  <a:pt x="648320" y="323880"/>
                </a:moveTo>
                <a:cubicBezTo>
                  <a:pt x="648320" y="502737"/>
                  <a:pt x="503327" y="647730"/>
                  <a:pt x="324470" y="647730"/>
                </a:cubicBezTo>
                <a:cubicBezTo>
                  <a:pt x="145613" y="647730"/>
                  <a:pt x="620" y="502737"/>
                  <a:pt x="620" y="323880"/>
                </a:cubicBezTo>
                <a:cubicBezTo>
                  <a:pt x="620" y="145023"/>
                  <a:pt x="145613" y="30"/>
                  <a:pt x="324470" y="30"/>
                </a:cubicBezTo>
                <a:cubicBezTo>
                  <a:pt x="503327" y="30"/>
                  <a:pt x="648320" y="145023"/>
                  <a:pt x="648320" y="323880"/>
                </a:cubicBezTo>
                <a:close/>
              </a:path>
            </a:pathLst>
          </a:custGeom>
          <a:noFill/>
          <a:ln w="19050" cap="flat" cmpd="sng">
            <a:solidFill>
              <a:srgbClr val="FFFFFF"/>
            </a:solidFill>
            <a:prstDash val="solid"/>
            <a:miter lim="8000"/>
            <a:headEnd type="none" w="sm" len="sm"/>
            <a:tailEnd type="none" w="sm" len="sm"/>
          </a:ln>
        </p:spPr>
        <p:txBody>
          <a:bodyPr spcFirstLastPara="1" wrap="square" lIns="91425" tIns="45700" rIns="91425" bIns="45700" anchor="ctr" anchorCtr="0">
            <a:noAutofit/>
          </a:bodyPr>
          <a:lstStyle/>
          <a:p>
            <a:pPr marL="0" marR="0" lvl="0" indent="0" algn="l" rtl="0">
              <a:spcBef>
                <a:spcPts val="0"/>
              </a:spcBef>
              <a:spcAft>
                <a:spcPts val="0"/>
              </a:spcAft>
              <a:buNone/>
            </a:pPr>
            <a:endParaRPr sz="1800">
              <a:solidFill>
                <a:schemeClr val="dk1"/>
              </a:solidFill>
              <a:latin typeface="Calibri"/>
              <a:ea typeface="Calibri"/>
              <a:cs typeface="Calibri"/>
              <a:sym typeface="Calibri"/>
            </a:endParaRPr>
          </a:p>
        </p:txBody>
      </p:sp>
      <p:sp>
        <p:nvSpPr>
          <p:cNvPr id="103" name="Google Shape;103;p13"/>
          <p:cNvSpPr txBox="1"/>
          <p:nvPr/>
        </p:nvSpPr>
        <p:spPr>
          <a:xfrm>
            <a:off x="7156878" y="4245805"/>
            <a:ext cx="3384300" cy="461700"/>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vi-VN" sz="2400" b="1" spc="0">
                <a:solidFill>
                  <a:srgbClr val="2E8B57"/>
                </a:solidFill>
                <a:latin typeface="Times New Roman"/>
                <a:ea typeface="Times New Roman"/>
                <a:cs typeface="Times New Roman"/>
                <a:sym typeface="Times New Roman"/>
              </a:rPr>
              <a:t>Quality Guardian:</a:t>
            </a:r>
            <a:endParaRPr/>
          </a:p>
        </p:txBody>
      </p:sp>
      <p:pic>
        <p:nvPicPr>
          <p:cNvPr id="108" name="Google Shape;108;p13" descr="Logo"/>
          <p:cNvPicPr preferRelativeResize="0"/>
          <p:nvPr/>
        </p:nvPicPr>
        <p:blipFill rotWithShape="1">
          <a:blip r:embed="rId3">
            <a:alphaModFix/>
          </a:blip>
          <a:srcRect/>
          <a:stretch/>
        </p:blipFill>
        <p:spPr>
          <a:xfrm>
            <a:off x="309235" y="73262"/>
            <a:ext cx="2479685" cy="981542"/>
          </a:xfrm>
          <a:prstGeom prst="rect">
            <a:avLst/>
          </a:prstGeom>
          <a:noFill/>
          <a:ln>
            <a:noFill/>
          </a:ln>
        </p:spPr>
      </p:pic>
      <p:sp>
        <p:nvSpPr>
          <p:cNvPr id="109" name="Google Shape;109;p13"/>
          <p:cNvSpPr txBox="1"/>
          <p:nvPr/>
        </p:nvSpPr>
        <p:spPr>
          <a:xfrm>
            <a:off x="3327251" y="5484048"/>
            <a:ext cx="3108960" cy="392375"/>
          </a:xfrm>
          <a:prstGeom prst="rect">
            <a:avLst/>
          </a:prstGeom>
          <a:noFill/>
          <a:ln>
            <a:noFill/>
          </a:ln>
        </p:spPr>
        <p:txBody>
          <a:bodyPr spcFirstLastPara="1" wrap="square" lIns="91425" tIns="45700" rIns="91425" bIns="45700" anchor="t" anchorCtr="0">
            <a:spAutoFit/>
          </a:bodyPr>
          <a:lstStyle/>
          <a:p>
            <a:pPr marL="0" marR="0" lvl="0" indent="0" algn="l" rtl="0">
              <a:spcBef>
                <a:spcPts val="0"/>
              </a:spcBef>
              <a:spcAft>
                <a:spcPts val="0"/>
              </a:spcAft>
              <a:buNone/>
            </a:pPr>
            <a:r>
              <a:rPr lang="en-US" sz="1950">
                <a:solidFill>
                  <a:srgbClr val="1C3664"/>
                </a:solidFill>
                <a:latin typeface="Times New Roman"/>
                <a:cs typeface="Times New Roman"/>
                <a:sym typeface="Times New Roman"/>
              </a:rPr>
              <a:t>Đinh Thị Thu Hà</a:t>
            </a:r>
            <a:endParaRPr/>
          </a:p>
        </p:txBody>
      </p:sp>
      <p:sp>
        <p:nvSpPr>
          <p:cNvPr id="110" name="TextBox 109"/>
          <p:cNvSpPr txBox="1"/>
          <p:nvPr/>
        </p:nvSpPr>
        <p:spPr>
          <a:xfrm>
            <a:off x="1371600" y="3310128"/>
            <a:ext cx="9445752" cy="457200"/>
          </a:xfrm>
          <a:prstGeom prst="rect">
            <a:avLst/>
          </a:prstGeom>
          <a:noFill/>
        </p:spPr>
        <p:txBody>
          <a:bodyPr wrap="square" lIns="45720" tIns="27432" rIns="45720" bIns="27432" anchor="t"/>
          <a:lstStyle/>
          <a:p>
            <a:pPr algn="ctr">
              <a:buNone/>
            </a:pPr>
            <a:r>
              <a:rPr sz="2200" b="0" i="1">
                <a:solidFill>
                  <a:srgbClr val="123A7A"/>
                </a:solidFill>
                <a:latin typeface="Times New Roman"/>
                <a:ea typeface="Times New Roman"/>
                <a:cs typeface="Times New Roman"/>
              </a:rPr>
              <a:t>Kết quả bán hàng và đối soát doanh thu · Nexa Home</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1133856"/>
          </a:xfrm>
          <a:prstGeom prst="rect">
            <a:avLst/>
          </a:prstGeom>
          <a:solidFill>
            <a:srgbClr val="538135"/>
          </a:solidFill>
          <a:ln>
            <a:noFill/>
          </a:ln>
          <a:effectLst/>
        </p:spPr>
        <p:txBody>
          <a:bodyPr rtlCol="0" anchor="ctr" wrap="square" lIns="73152" tIns="36576" rIns="73152" bIns="36576"/>
          <a:lstStyle/>
          <a:p>
            <a:pPr algn="ctr">
              <a:buNone/>
            </a:pPr>
            <a:r>
              <a:rPr sz="6000" b="1" i="0">
                <a:solidFill>
                  <a:srgbClr val="FFFFFF"/>
                </a:solidFill>
                <a:latin typeface="Times New Roman"/>
                <a:ea typeface="Times New Roman"/>
                <a:cs typeface="Times New Roman"/>
              </a:rPr>
              <a:t>Outline</a:t>
            </a:r>
          </a:p>
        </p:txBody>
      </p:sp>
      <p:sp>
        <p:nvSpPr>
          <p:cNvPr id="3" name="Rounded Rectangle 2"/>
          <p:cNvSpPr/>
          <p:nvPr/>
        </p:nvSpPr>
        <p:spPr>
          <a:xfrm>
            <a:off x="68580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Bối cảnh bán lẻ và đối soát doanh thu</a:t>
            </a:r>
          </a:p>
        </p:txBody>
      </p:sp>
      <p:sp>
        <p:nvSpPr>
          <p:cNvPr id="4" name="Rounded Rectangle 3"/>
          <p:cNvSpPr/>
          <p:nvPr/>
        </p:nvSpPr>
        <p:spPr>
          <a:xfrm>
            <a:off x="42976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1</a:t>
            </a:r>
          </a:p>
        </p:txBody>
      </p:sp>
      <p:sp>
        <p:nvSpPr>
          <p:cNvPr id="5" name="Rounded Rectangle 4"/>
          <p:cNvSpPr/>
          <p:nvPr/>
        </p:nvSpPr>
        <p:spPr>
          <a:xfrm>
            <a:off x="68580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Đề bài xây dựng dashboard</a:t>
            </a:r>
          </a:p>
        </p:txBody>
      </p:sp>
      <p:sp>
        <p:nvSpPr>
          <p:cNvPr id="6" name="Rounded Rectangle 5"/>
          <p:cNvSpPr/>
          <p:nvPr/>
        </p:nvSpPr>
        <p:spPr>
          <a:xfrm>
            <a:off x="42976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2</a:t>
            </a:r>
          </a:p>
        </p:txBody>
      </p:sp>
      <p:sp>
        <p:nvSpPr>
          <p:cNvPr id="7" name="Rounded Rectangle 6"/>
          <p:cNvSpPr/>
          <p:nvPr/>
        </p:nvSpPr>
        <p:spPr>
          <a:xfrm>
            <a:off x="68580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Hệ thống chỉ số KPI</a:t>
            </a:r>
          </a:p>
        </p:txBody>
      </p:sp>
      <p:sp>
        <p:nvSpPr>
          <p:cNvPr id="8" name="Rounded Rectangle 7"/>
          <p:cNvSpPr/>
          <p:nvPr/>
        </p:nvSpPr>
        <p:spPr>
          <a:xfrm>
            <a:off x="42976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3</a:t>
            </a:r>
          </a:p>
        </p:txBody>
      </p:sp>
      <p:sp>
        <p:nvSpPr>
          <p:cNvPr id="9" name="Rounded Rectangle 8"/>
          <p:cNvSpPr/>
          <p:nvPr/>
        </p:nvSpPr>
        <p:spPr>
          <a:xfrm>
            <a:off x="68580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Nguồn dữ liệu và data modeling</a:t>
            </a:r>
          </a:p>
        </p:txBody>
      </p:sp>
      <p:sp>
        <p:nvSpPr>
          <p:cNvPr id="10" name="Rounded Rectangle 9"/>
          <p:cNvSpPr/>
          <p:nvPr/>
        </p:nvSpPr>
        <p:spPr>
          <a:xfrm>
            <a:off x="42976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4</a:t>
            </a:r>
          </a:p>
        </p:txBody>
      </p:sp>
      <p:sp>
        <p:nvSpPr>
          <p:cNvPr id="11" name="Rounded Rectangle 10"/>
          <p:cNvSpPr/>
          <p:nvPr/>
        </p:nvSpPr>
        <p:spPr>
          <a:xfrm>
            <a:off x="6446520" y="169164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Khám phá dữ liệu</a:t>
            </a:r>
          </a:p>
        </p:txBody>
      </p:sp>
      <p:sp>
        <p:nvSpPr>
          <p:cNvPr id="12" name="Rounded Rectangle 11"/>
          <p:cNvSpPr/>
          <p:nvPr/>
        </p:nvSpPr>
        <p:spPr>
          <a:xfrm>
            <a:off x="6190488" y="153619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5</a:t>
            </a:r>
          </a:p>
        </p:txBody>
      </p:sp>
      <p:sp>
        <p:nvSpPr>
          <p:cNvPr id="13" name="Rounded Rectangle 12"/>
          <p:cNvSpPr/>
          <p:nvPr/>
        </p:nvSpPr>
        <p:spPr>
          <a:xfrm>
            <a:off x="6446520" y="292608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Các mẫu công thức DAX</a:t>
            </a:r>
          </a:p>
        </p:txBody>
      </p:sp>
      <p:sp>
        <p:nvSpPr>
          <p:cNvPr id="14" name="Rounded Rectangle 13"/>
          <p:cNvSpPr/>
          <p:nvPr/>
        </p:nvSpPr>
        <p:spPr>
          <a:xfrm>
            <a:off x="6190488" y="277063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6</a:t>
            </a:r>
          </a:p>
        </p:txBody>
      </p:sp>
      <p:sp>
        <p:nvSpPr>
          <p:cNvPr id="15" name="Rounded Rectangle 14"/>
          <p:cNvSpPr/>
          <p:nvPr/>
        </p:nvSpPr>
        <p:spPr>
          <a:xfrm>
            <a:off x="6446520" y="416052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Phân tích kết quả</a:t>
            </a:r>
          </a:p>
        </p:txBody>
      </p:sp>
      <p:sp>
        <p:nvSpPr>
          <p:cNvPr id="16" name="Rounded Rectangle 15"/>
          <p:cNvSpPr/>
          <p:nvPr/>
        </p:nvSpPr>
        <p:spPr>
          <a:xfrm>
            <a:off x="6190488" y="400507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7</a:t>
            </a:r>
          </a:p>
        </p:txBody>
      </p:sp>
      <p:sp>
        <p:nvSpPr>
          <p:cNvPr id="17" name="Rounded Rectangle 16"/>
          <p:cNvSpPr/>
          <p:nvPr/>
        </p:nvSpPr>
        <p:spPr>
          <a:xfrm>
            <a:off x="6446520" y="5394960"/>
            <a:ext cx="5257800" cy="868680"/>
          </a:xfrm>
          <a:prstGeom prst="roundRect">
            <a:avLst>
              <a:gd name="adj" fmla="val 20000"/>
            </a:avLst>
          </a:prstGeom>
          <a:solidFill>
            <a:srgbClr val="FBE4D4"/>
          </a:solidFill>
          <a:ln w="19050">
            <a:solidFill>
              <a:srgbClr val="BF9000"/>
            </a:solidFill>
          </a:ln>
          <a:effectLst/>
        </p:spPr>
        <p:txBody>
          <a:bodyPr rtlCol="0" anchor="ctr" wrap="square" lIns="73152" tIns="36576" rIns="73152" bIns="36576"/>
          <a:lstStyle/>
          <a:p>
            <a:pPr algn="ctr">
              <a:buNone/>
            </a:pPr>
            <a:r>
              <a:rPr sz="1900" b="1" i="0">
                <a:solidFill>
                  <a:srgbClr val="C55A11"/>
                </a:solidFill>
                <a:latin typeface="Times New Roman"/>
                <a:ea typeface="Times New Roman"/>
                <a:cs typeface="Times New Roman"/>
              </a:rPr>
              <a:t>Báo cáo đầu ra và thang chấm điểm</a:t>
            </a:r>
          </a:p>
        </p:txBody>
      </p:sp>
      <p:sp>
        <p:nvSpPr>
          <p:cNvPr id="18" name="Rounded Rectangle 17"/>
          <p:cNvSpPr/>
          <p:nvPr/>
        </p:nvSpPr>
        <p:spPr>
          <a:xfrm>
            <a:off x="6190488" y="5239512"/>
            <a:ext cx="1371600" cy="310896"/>
          </a:xfrm>
          <a:prstGeom prst="roundRect">
            <a:avLst>
              <a:gd name="adj" fmla="val 20000"/>
            </a:avLst>
          </a:prstGeom>
          <a:solidFill>
            <a:srgbClr val="7030A0"/>
          </a:solidFill>
          <a:ln>
            <a:noFill/>
          </a:ln>
          <a:effectLst/>
        </p:spPr>
        <p:txBody>
          <a:bodyPr rtlCol="0" anchor="ctr" wrap="square" lIns="73152" tIns="36576" rIns="73152" bIns="36576"/>
          <a:lstStyle/>
          <a:p>
            <a:pPr algn="ctr">
              <a:buNone/>
            </a:pPr>
            <a:r>
              <a:rPr sz="1200" b="1" i="0">
                <a:solidFill>
                  <a:srgbClr val="FFFFFF"/>
                </a:solidFill>
                <a:latin typeface="Times New Roman"/>
                <a:ea typeface="Times New Roman"/>
                <a:cs typeface="Times New Roman"/>
              </a:rPr>
              <a:t>PHẦN 8</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Tình huống thực tế: còn 10 phút trước cuộc họp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Muốn tin con số doanh thu, trước hết phải </a:t>
            </a:r>
            <a:r>
              <a:rPr sz="1700" b="1" i="0">
                <a:solidFill>
                  <a:srgbClr val="123A7A"/>
                </a:solidFill>
                <a:latin typeface="Times New Roman"/>
                <a:ea typeface="Times New Roman"/>
                <a:cs typeface="Times New Roman"/>
              </a:rPr>
              <a:t>khớp được số của mình với số Finance</a:t>
            </a:r>
          </a:p>
        </p:txBody>
      </p:sp>
      <p:sp>
        <p:nvSpPr>
          <p:cNvPr id="143" name="Rounded Rectangle 142"/>
          <p:cNvSpPr/>
          <p:nvPr/>
        </p:nvSpPr>
        <p:spPr>
          <a:xfrm>
            <a:off x="365760" y="1417320"/>
            <a:ext cx="3200400" cy="32461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4" name="Oval 143"/>
          <p:cNvSpPr/>
          <p:nvPr/>
        </p:nvSpPr>
        <p:spPr>
          <a:xfrm>
            <a:off x="1463040" y="1554480"/>
            <a:ext cx="1005840" cy="1005840"/>
          </a:xfrm>
          <a:prstGeom prst="ellipse">
            <a:avLst/>
          </a:prstGeom>
          <a:solidFill>
            <a:srgbClr val="C55A11"/>
          </a:solidFill>
          <a:ln>
            <a:noFill/>
          </a:ln>
          <a:effectLst/>
        </p:spPr>
        <p:txBody>
          <a:bodyPr rtlCol="0" anchor="ctr" wrap="square" lIns="73152" tIns="36576" rIns="73152" bIns="36576"/>
          <a:lstStyle/>
          <a:p>
            <a:pPr algn="ctr"/>
          </a:p>
        </p:txBody>
      </p:sp>
      <p:pic>
        <p:nvPicPr>
          <p:cNvPr id="145" name="Picture 144" descr="image.png"/>
          <p:cNvPicPr>
            <a:picLocks noChangeAspect="1"/>
          </p:cNvPicPr>
          <p:nvPr/>
        </p:nvPicPr>
        <p:blipFill>
          <a:blip r:embed="rId3"/>
          <a:stretch>
            <a:fillRect/>
          </a:stretch>
        </p:blipFill>
        <p:spPr>
          <a:xfrm>
            <a:off x="1684324" y="1775764"/>
            <a:ext cx="563270" cy="563270"/>
          </a:xfrm>
          <a:prstGeom prst="rect">
            <a:avLst/>
          </a:prstGeom>
        </p:spPr>
      </p:pic>
      <p:sp>
        <p:nvSpPr>
          <p:cNvPr id="146" name="TextBox 145"/>
          <p:cNvSpPr txBox="1"/>
          <p:nvPr/>
        </p:nvSpPr>
        <p:spPr>
          <a:xfrm>
            <a:off x="502920" y="2606040"/>
            <a:ext cx="2926080" cy="731520"/>
          </a:xfrm>
          <a:prstGeom prst="rect">
            <a:avLst/>
          </a:prstGeom>
          <a:noFill/>
        </p:spPr>
        <p:txBody>
          <a:bodyPr wrap="square" lIns="45720" tIns="27432" rIns="45720" bIns="27432" anchor="t"/>
          <a:lstStyle/>
          <a:p>
            <a:pPr algn="ctr">
              <a:buNone/>
            </a:pPr>
            <a:r>
              <a:rPr sz="1800" b="0" i="0">
                <a:solidFill>
                  <a:srgbClr val="222222"/>
                </a:solidFill>
                <a:latin typeface="Times New Roman"/>
                <a:ea typeface="Times New Roman"/>
                <a:cs typeface="Times New Roman"/>
              </a:rPr>
              <a:t>Còn </a:t>
            </a:r>
            <a:r>
              <a:rPr sz="1800" b="1" i="0">
                <a:solidFill>
                  <a:srgbClr val="222222"/>
                </a:solidFill>
                <a:latin typeface="Times New Roman"/>
                <a:ea typeface="Times New Roman"/>
                <a:cs typeface="Times New Roman"/>
              </a:rPr>
              <a:t>10 phút</a:t>
            </a:r>
            <a:r>
              <a:rPr sz="1800" b="0" i="0">
                <a:solidFill>
                  <a:srgbClr val="222222"/>
                </a:solidFill>
                <a:latin typeface="Times New Roman"/>
                <a:ea typeface="Times New Roman"/>
                <a:cs typeface="Times New Roman"/>
              </a:rPr>
              <a:t> trước họp</a:t>
            </a:r>
          </a:p>
          <a:p>
            <a:pPr algn="ctr">
              <a:buNone/>
            </a:pPr>
            <a:r>
              <a:rPr sz="1800" b="0" i="0">
                <a:solidFill>
                  <a:srgbClr val="222222"/>
                </a:solidFill>
                <a:latin typeface="Times New Roman"/>
                <a:ea typeface="Times New Roman"/>
                <a:cs typeface="Times New Roman"/>
              </a:rPr>
              <a:t>với Finance</a:t>
            </a:r>
          </a:p>
        </p:txBody>
      </p:sp>
      <p:pic>
        <p:nvPicPr>
          <p:cNvPr id="147" name="Picture 146" descr="image.png"/>
          <p:cNvPicPr>
            <a:picLocks noChangeAspect="1"/>
          </p:cNvPicPr>
          <p:nvPr/>
        </p:nvPicPr>
        <p:blipFill>
          <a:blip r:embed="rId4"/>
          <a:stretch>
            <a:fillRect/>
          </a:stretch>
        </p:blipFill>
        <p:spPr>
          <a:xfrm>
            <a:off x="1600200" y="3310128"/>
            <a:ext cx="731520" cy="731520"/>
          </a:xfrm>
          <a:prstGeom prst="rect">
            <a:avLst/>
          </a:prstGeom>
        </p:spPr>
      </p:pic>
      <p:sp>
        <p:nvSpPr>
          <p:cNvPr id="148" name="TextBox 147"/>
          <p:cNvSpPr txBox="1"/>
          <p:nvPr/>
        </p:nvSpPr>
        <p:spPr>
          <a:xfrm>
            <a:off x="502920" y="4069080"/>
            <a:ext cx="2926080" cy="548640"/>
          </a:xfrm>
          <a:prstGeom prst="rect">
            <a:avLst/>
          </a:prstGeom>
          <a:noFill/>
        </p:spPr>
        <p:txBody>
          <a:bodyPr wrap="square" lIns="45720" tIns="27432" rIns="45720" bIns="27432" anchor="t"/>
          <a:lstStyle/>
          <a:p>
            <a:pPr algn="ctr">
              <a:buNone/>
            </a:pPr>
            <a:r>
              <a:rPr sz="1400" b="0" i="0">
                <a:solidFill>
                  <a:srgbClr val="595959"/>
                </a:solidFill>
                <a:latin typeface="Times New Roman"/>
                <a:ea typeface="Times New Roman"/>
                <a:cs typeface="Times New Roman"/>
              </a:rPr>
              <a:t>Sales Manager cần trả lời nhanh 3 câu hỏi</a:t>
            </a:r>
          </a:p>
        </p:txBody>
      </p:sp>
      <p:sp>
        <p:nvSpPr>
          <p:cNvPr id="149" name="Right Arrow 148"/>
          <p:cNvSpPr/>
          <p:nvPr/>
        </p:nvSpPr>
        <p:spPr>
          <a:xfrm>
            <a:off x="3611880" y="2788920"/>
            <a:ext cx="320040" cy="411480"/>
          </a:xfrm>
          <a:prstGeom prst="rightArrow">
            <a:avLst/>
          </a:prstGeom>
          <a:solidFill>
            <a:srgbClr val="C55A11"/>
          </a:solidFill>
          <a:ln>
            <a:noFill/>
          </a:ln>
          <a:effectLst/>
        </p:spPr>
        <p:txBody>
          <a:bodyPr rtlCol="0" anchor="ctr" wrap="square" lIns="73152" tIns="36576" rIns="73152" bIns="36576"/>
          <a:lstStyle/>
          <a:p>
            <a:pPr algn="ctr"/>
          </a:p>
        </p:txBody>
      </p:sp>
      <p:sp>
        <p:nvSpPr>
          <p:cNvPr id="150" name="Rounded Rectangle 149"/>
          <p:cNvSpPr/>
          <p:nvPr/>
        </p:nvSpPr>
        <p:spPr>
          <a:xfrm>
            <a:off x="3977639" y="1417320"/>
            <a:ext cx="4846320" cy="1005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Oval 150"/>
          <p:cNvSpPr/>
          <p:nvPr/>
        </p:nvSpPr>
        <p:spPr>
          <a:xfrm>
            <a:off x="4087368" y="1691640"/>
            <a:ext cx="457200" cy="457200"/>
          </a:xfrm>
          <a:prstGeom prst="ellipse">
            <a:avLst/>
          </a:prstGeom>
          <a:solidFill>
            <a:srgbClr val="2E5B3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1</a:t>
            </a:r>
          </a:p>
        </p:txBody>
      </p:sp>
      <p:sp>
        <p:nvSpPr>
          <p:cNvPr id="152" name="Oval 151"/>
          <p:cNvSpPr/>
          <p:nvPr/>
        </p:nvSpPr>
        <p:spPr>
          <a:xfrm>
            <a:off x="4645152" y="1645920"/>
            <a:ext cx="548640" cy="548640"/>
          </a:xfrm>
          <a:prstGeom prst="ellipse">
            <a:avLst/>
          </a:prstGeom>
          <a:solidFill>
            <a:srgbClr val="2E5B31"/>
          </a:solidFill>
          <a:ln>
            <a:noFill/>
          </a:ln>
          <a:effectLst/>
        </p:spPr>
        <p:txBody>
          <a:bodyPr rtlCol="0" anchor="ctr" wrap="square" lIns="73152" tIns="36576" rIns="73152" bIns="36576"/>
          <a:lstStyle/>
          <a:p>
            <a:pPr algn="ctr"/>
          </a:p>
        </p:txBody>
      </p:sp>
      <p:pic>
        <p:nvPicPr>
          <p:cNvPr id="153" name="Picture 152" descr="image.png"/>
          <p:cNvPicPr>
            <a:picLocks noChangeAspect="1"/>
          </p:cNvPicPr>
          <p:nvPr/>
        </p:nvPicPr>
        <p:blipFill>
          <a:blip r:embed="rId5"/>
          <a:stretch>
            <a:fillRect/>
          </a:stretch>
        </p:blipFill>
        <p:spPr>
          <a:xfrm>
            <a:off x="4765852" y="1766620"/>
            <a:ext cx="307238" cy="307238"/>
          </a:xfrm>
          <a:prstGeom prst="rect">
            <a:avLst/>
          </a:prstGeom>
        </p:spPr>
      </p:pic>
      <p:sp>
        <p:nvSpPr>
          <p:cNvPr id="154" name="TextBox 153"/>
          <p:cNvSpPr txBox="1"/>
          <p:nvPr/>
        </p:nvSpPr>
        <p:spPr>
          <a:xfrm>
            <a:off x="5303520" y="1472184"/>
            <a:ext cx="3474720" cy="9144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Quy mô</a:t>
            </a:r>
          </a:p>
          <a:p>
            <a:pPr algn="l">
              <a:buNone/>
            </a:pPr>
            <a:r>
              <a:rPr sz="1400" b="0" i="0">
                <a:solidFill>
                  <a:srgbClr val="222222"/>
                </a:solidFill>
                <a:latin typeface="Times New Roman"/>
                <a:ea typeface="Times New Roman"/>
                <a:cs typeface="Times New Roman"/>
              </a:rPr>
              <a:t>Tháng này Nexa Home thực sự bán được bao nhiêu (Net Revenue, số đơn)?</a:t>
            </a:r>
          </a:p>
        </p:txBody>
      </p:sp>
      <p:sp>
        <p:nvSpPr>
          <p:cNvPr id="155" name="Rounded Rectangle 154"/>
          <p:cNvSpPr/>
          <p:nvPr/>
        </p:nvSpPr>
        <p:spPr>
          <a:xfrm>
            <a:off x="3977639" y="2514600"/>
            <a:ext cx="4846320" cy="1005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6" name="Oval 155"/>
          <p:cNvSpPr/>
          <p:nvPr/>
        </p:nvSpPr>
        <p:spPr>
          <a:xfrm>
            <a:off x="4087368" y="2788920"/>
            <a:ext cx="457200" cy="457200"/>
          </a:xfrm>
          <a:prstGeom prst="ellipse">
            <a:avLst/>
          </a:prstGeom>
          <a:solidFill>
            <a:srgbClr val="C55A11"/>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2</a:t>
            </a:r>
          </a:p>
        </p:txBody>
      </p:sp>
      <p:sp>
        <p:nvSpPr>
          <p:cNvPr id="157" name="Oval 156"/>
          <p:cNvSpPr/>
          <p:nvPr/>
        </p:nvSpPr>
        <p:spPr>
          <a:xfrm>
            <a:off x="4645152" y="2743200"/>
            <a:ext cx="548640" cy="548640"/>
          </a:xfrm>
          <a:prstGeom prst="ellipse">
            <a:avLst/>
          </a:prstGeom>
          <a:solidFill>
            <a:srgbClr val="C55A1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6"/>
          <a:stretch>
            <a:fillRect/>
          </a:stretch>
        </p:blipFill>
        <p:spPr>
          <a:xfrm>
            <a:off x="4765852" y="2863900"/>
            <a:ext cx="307238" cy="307238"/>
          </a:xfrm>
          <a:prstGeom prst="rect">
            <a:avLst/>
          </a:prstGeom>
        </p:spPr>
      </p:pic>
      <p:sp>
        <p:nvSpPr>
          <p:cNvPr id="159" name="TextBox 158"/>
          <p:cNvSpPr txBox="1"/>
          <p:nvPr/>
        </p:nvSpPr>
        <p:spPr>
          <a:xfrm>
            <a:off x="5303520" y="2569464"/>
            <a:ext cx="3474720" cy="9144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Chất lượng doanh thu</a:t>
            </a:r>
          </a:p>
          <a:p>
            <a:pPr algn="l">
              <a:buNone/>
            </a:pPr>
            <a:r>
              <a:rPr sz="1400" b="0" i="0">
                <a:solidFill>
                  <a:srgbClr val="222222"/>
                </a:solidFill>
                <a:latin typeface="Times New Roman"/>
                <a:ea typeface="Times New Roman"/>
                <a:cs typeface="Times New Roman"/>
              </a:rPr>
              <a:t>Bao nhiêu bị mất vì giảm giá, hoàn trả, đơn huỷ?</a:t>
            </a:r>
          </a:p>
        </p:txBody>
      </p:sp>
      <p:sp>
        <p:nvSpPr>
          <p:cNvPr id="160" name="Rounded Rectangle 159"/>
          <p:cNvSpPr/>
          <p:nvPr/>
        </p:nvSpPr>
        <p:spPr>
          <a:xfrm>
            <a:off x="3977639" y="3611880"/>
            <a:ext cx="4846320" cy="100584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1" name="Oval 160"/>
          <p:cNvSpPr/>
          <p:nvPr/>
        </p:nvSpPr>
        <p:spPr>
          <a:xfrm>
            <a:off x="4087368" y="3886200"/>
            <a:ext cx="457200" cy="457200"/>
          </a:xfrm>
          <a:prstGeom prst="ellipse">
            <a:avLst/>
          </a:prstGeom>
          <a:solidFill>
            <a:srgbClr val="C00000"/>
          </a:solidFill>
          <a:ln>
            <a:noFill/>
          </a:ln>
          <a:effectLst/>
        </p:spPr>
        <p:txBody>
          <a:bodyPr rtlCol="0" anchor="ctr" wrap="square" lIns="0" tIns="0" rIns="0" bIns="0"/>
          <a:lstStyle/>
          <a:p>
            <a:pPr algn="ctr">
              <a:buNone/>
            </a:pPr>
            <a:r>
              <a:rPr sz="1600" b="1" i="0">
                <a:solidFill>
                  <a:srgbClr val="FFFFFF"/>
                </a:solidFill>
                <a:latin typeface="Times New Roman"/>
                <a:ea typeface="Times New Roman"/>
                <a:cs typeface="Times New Roman"/>
              </a:rPr>
              <a:t>3</a:t>
            </a:r>
          </a:p>
        </p:txBody>
      </p:sp>
      <p:pic>
        <p:nvPicPr>
          <p:cNvPr id="162" name="Picture 161" descr="image.png"/>
          <p:cNvPicPr>
            <a:picLocks noChangeAspect="1"/>
          </p:cNvPicPr>
          <p:nvPr/>
        </p:nvPicPr>
        <p:blipFill>
          <a:blip r:embed="rId7"/>
          <a:stretch>
            <a:fillRect/>
          </a:stretch>
        </p:blipFill>
        <p:spPr>
          <a:xfrm>
            <a:off x="4663440" y="3858768"/>
            <a:ext cx="512064" cy="512064"/>
          </a:xfrm>
          <a:prstGeom prst="rect">
            <a:avLst/>
          </a:prstGeom>
        </p:spPr>
      </p:pic>
      <p:sp>
        <p:nvSpPr>
          <p:cNvPr id="163" name="TextBox 162"/>
          <p:cNvSpPr txBox="1"/>
          <p:nvPr/>
        </p:nvSpPr>
        <p:spPr>
          <a:xfrm>
            <a:off x="5303520" y="3666744"/>
            <a:ext cx="3474720" cy="914400"/>
          </a:xfrm>
          <a:prstGeom prst="rect">
            <a:avLst/>
          </a:prstGeom>
          <a:noFill/>
        </p:spPr>
        <p:txBody>
          <a:bodyPr wrap="square" lIns="45720" tIns="27432" rIns="45720" bIns="27432" anchor="ctr"/>
          <a:lstStyle/>
          <a:p>
            <a:pPr algn="l">
              <a:buNone/>
            </a:pPr>
            <a:r>
              <a:rPr sz="1400" b="1" i="0">
                <a:solidFill>
                  <a:srgbClr val="C00000"/>
                </a:solidFill>
                <a:latin typeface="Times New Roman"/>
                <a:ea typeface="Times New Roman"/>
                <a:cs typeface="Times New Roman"/>
              </a:rPr>
              <a:t>Khớp số</a:t>
            </a:r>
          </a:p>
          <a:p>
            <a:pPr algn="l">
              <a:buNone/>
            </a:pPr>
            <a:r>
              <a:rPr sz="1400" b="0" i="0">
                <a:solidFill>
                  <a:srgbClr val="222222"/>
                </a:solidFill>
                <a:latin typeface="Times New Roman"/>
                <a:ea typeface="Times New Roman"/>
                <a:cs typeface="Times New Roman"/>
              </a:rPr>
              <a:t>Vì sao số của Sales khác số Finance xác nhận? Chênh ở đâu, bao nhiêu?</a:t>
            </a:r>
          </a:p>
        </p:txBody>
      </p:sp>
      <p:sp>
        <p:nvSpPr>
          <p:cNvPr id="164" name="Right Arrow 163"/>
          <p:cNvSpPr/>
          <p:nvPr/>
        </p:nvSpPr>
        <p:spPr>
          <a:xfrm>
            <a:off x="8869680" y="2788920"/>
            <a:ext cx="320040" cy="411480"/>
          </a:xfrm>
          <a:prstGeom prst="rightArrow">
            <a:avLst/>
          </a:prstGeom>
          <a:solidFill>
            <a:srgbClr val="2E5B31"/>
          </a:solidFill>
          <a:ln>
            <a:noFill/>
          </a:ln>
          <a:effectLst/>
        </p:spPr>
        <p:txBody>
          <a:bodyPr rtlCol="0" anchor="ctr" wrap="square" lIns="73152" tIns="36576" rIns="73152" bIns="36576"/>
          <a:lstStyle/>
          <a:p>
            <a:pPr algn="ctr"/>
          </a:p>
        </p:txBody>
      </p:sp>
      <p:sp>
        <p:nvSpPr>
          <p:cNvPr id="165" name="Rounded Rectangle 164"/>
          <p:cNvSpPr/>
          <p:nvPr/>
        </p:nvSpPr>
        <p:spPr>
          <a:xfrm>
            <a:off x="9235440" y="1417320"/>
            <a:ext cx="2587752" cy="3246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sp>
        <p:nvSpPr>
          <p:cNvPr id="166" name="Oval 165"/>
          <p:cNvSpPr/>
          <p:nvPr/>
        </p:nvSpPr>
        <p:spPr>
          <a:xfrm>
            <a:off x="10030968" y="1554480"/>
            <a:ext cx="1005840" cy="1005840"/>
          </a:xfrm>
          <a:prstGeom prst="ellipse">
            <a:avLst/>
          </a:prstGeom>
          <a:solidFill>
            <a:srgbClr val="2E5B31"/>
          </a:solidFill>
          <a:ln>
            <a:noFill/>
          </a:ln>
          <a:effectLst/>
        </p:spPr>
        <p:txBody>
          <a:bodyPr rtlCol="0" anchor="ctr" wrap="square" lIns="73152" tIns="36576" rIns="73152" bIns="36576"/>
          <a:lstStyle/>
          <a:p>
            <a:pPr algn="ctr"/>
          </a:p>
        </p:txBody>
      </p:sp>
      <p:pic>
        <p:nvPicPr>
          <p:cNvPr id="167" name="Picture 166" descr="image.png"/>
          <p:cNvPicPr>
            <a:picLocks noChangeAspect="1"/>
          </p:cNvPicPr>
          <p:nvPr/>
        </p:nvPicPr>
        <p:blipFill>
          <a:blip r:embed="rId8"/>
          <a:stretch>
            <a:fillRect/>
          </a:stretch>
        </p:blipFill>
        <p:spPr>
          <a:xfrm>
            <a:off x="10252252" y="1775764"/>
            <a:ext cx="563270" cy="563270"/>
          </a:xfrm>
          <a:prstGeom prst="rect">
            <a:avLst/>
          </a:prstGeom>
        </p:spPr>
      </p:pic>
      <p:sp>
        <p:nvSpPr>
          <p:cNvPr id="168" name="TextBox 167"/>
          <p:cNvSpPr txBox="1"/>
          <p:nvPr/>
        </p:nvSpPr>
        <p:spPr>
          <a:xfrm>
            <a:off x="9326880" y="2651760"/>
            <a:ext cx="2404872" cy="685800"/>
          </a:xfrm>
          <a:prstGeom prst="rect">
            <a:avLst/>
          </a:prstGeom>
          <a:noFill/>
        </p:spPr>
        <p:txBody>
          <a:bodyPr wrap="square" lIns="45720" tIns="27432" rIns="45720" bIns="27432" anchor="t"/>
          <a:lstStyle/>
          <a:p>
            <a:pPr algn="ctr">
              <a:buNone/>
            </a:pPr>
            <a:r>
              <a:rPr sz="1800" b="1" i="0">
                <a:solidFill>
                  <a:srgbClr val="222222"/>
                </a:solidFill>
                <a:latin typeface="Times New Roman"/>
                <a:ea typeface="Times New Roman"/>
                <a:cs typeface="Times New Roman"/>
              </a:rPr>
              <a:t>Data Analyst</a:t>
            </a:r>
          </a:p>
          <a:p>
            <a:pPr algn="ctr">
              <a:buNone/>
            </a:pPr>
            <a:r>
              <a:rPr sz="1800" b="0" i="0">
                <a:solidFill>
                  <a:srgbClr val="222222"/>
                </a:solidFill>
                <a:latin typeface="Times New Roman"/>
                <a:ea typeface="Times New Roman"/>
                <a:cs typeface="Times New Roman"/>
              </a:rPr>
              <a:t>bán lẻ</a:t>
            </a:r>
          </a:p>
        </p:txBody>
      </p:sp>
      <p:sp>
        <p:nvSpPr>
          <p:cNvPr id="169" name="TextBox 168"/>
          <p:cNvSpPr txBox="1"/>
          <p:nvPr/>
        </p:nvSpPr>
        <p:spPr>
          <a:xfrm>
            <a:off x="9326880" y="3337560"/>
            <a:ext cx="2404872" cy="1280160"/>
          </a:xfrm>
          <a:prstGeom prst="rect">
            <a:avLst/>
          </a:prstGeom>
          <a:noFill/>
        </p:spPr>
        <p:txBody>
          <a:bodyPr wrap="square" lIns="45720" tIns="27432" rIns="45720" bIns="27432" anchor="t"/>
          <a:lstStyle/>
          <a:p>
            <a:pPr algn="ctr">
              <a:buNone/>
            </a:pPr>
            <a:r>
              <a:rPr sz="1300" b="0" i="0">
                <a:solidFill>
                  <a:srgbClr val="595959"/>
                </a:solidFill>
                <a:latin typeface="Times New Roman"/>
                <a:ea typeface="Times New Roman"/>
                <a:cs typeface="Times New Roman"/>
              </a:rPr>
              <a:t>Tính KPI từ dữ liệu đơn hàng, đối chiếu với Finance và giải thích từng chênh lệch vượt ngưỡng bằng con số</a:t>
            </a:r>
          </a:p>
        </p:txBody>
      </p:sp>
      <p:sp>
        <p:nvSpPr>
          <p:cNvPr id="170" name="Pentagon 169"/>
          <p:cNvSpPr/>
          <p:nvPr/>
        </p:nvSpPr>
        <p:spPr>
          <a:xfrm>
            <a:off x="384048" y="4983480"/>
            <a:ext cx="2240280" cy="868680"/>
          </a:xfrm>
          <a:prstGeom prst="homePlate">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Doanh thu hình thành thế nào</a:t>
            </a:r>
          </a:p>
        </p:txBody>
      </p:sp>
      <p:sp>
        <p:nvSpPr>
          <p:cNvPr id="171" name="Chevron 170"/>
          <p:cNvSpPr/>
          <p:nvPr/>
        </p:nvSpPr>
        <p:spPr>
          <a:xfrm>
            <a:off x="2670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Hai hệ thống ghi nhận khác nhau</a:t>
            </a:r>
          </a:p>
        </p:txBody>
      </p:sp>
      <p:sp>
        <p:nvSpPr>
          <p:cNvPr id="172" name="Chevron 171"/>
          <p:cNvSpPr/>
          <p:nvPr/>
        </p:nvSpPr>
        <p:spPr>
          <a:xfrm>
            <a:off x="4956048" y="4983480"/>
            <a:ext cx="2240280" cy="868680"/>
          </a:xfrm>
          <a:prstGeom prst="chevron">
            <a:avLst>
              <a:gd name="adj" fmla="val 25000"/>
            </a:avLst>
          </a:prstGeom>
          <a:solidFill>
            <a:srgbClr val="2E5B31"/>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Vai trò DA và Finance</a:t>
            </a:r>
          </a:p>
        </p:txBody>
      </p:sp>
      <p:sp>
        <p:nvSpPr>
          <p:cNvPr id="173" name="Chevron 172"/>
          <p:cNvSpPr/>
          <p:nvPr/>
        </p:nvSpPr>
        <p:spPr>
          <a:xfrm>
            <a:off x="7242048" y="4983480"/>
            <a:ext cx="2240280" cy="868680"/>
          </a:xfrm>
          <a:prstGeom prst="chevron">
            <a:avLst>
              <a:gd name="adj" fmla="val 25000"/>
            </a:avLst>
          </a:prstGeom>
          <a:solidFill>
            <a:srgbClr val="548235"/>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Xây dashboard 4 trang</a:t>
            </a:r>
          </a:p>
        </p:txBody>
      </p:sp>
      <p:sp>
        <p:nvSpPr>
          <p:cNvPr id="174" name="Chevron 173"/>
          <p:cNvSpPr/>
          <p:nvPr/>
        </p:nvSpPr>
        <p:spPr>
          <a:xfrm>
            <a:off x="9528048" y="4983480"/>
            <a:ext cx="2240280" cy="868680"/>
          </a:xfrm>
          <a:prstGeom prst="chevron">
            <a:avLst>
              <a:gd name="adj" fmla="val 25000"/>
            </a:avLst>
          </a:prstGeom>
          <a:solidFill>
            <a:srgbClr val="123A7A"/>
          </a:solidFill>
          <a:ln>
            <a:noFill/>
          </a:ln>
          <a:effectLst/>
        </p:spPr>
        <p:txBody>
          <a:bodyPr rtlCol="0" anchor="ctr" wrap="square" lIns="274320" tIns="18288" rIns="182880" bIns="18288"/>
          <a:lstStyle/>
          <a:p>
            <a:pPr algn="ctr">
              <a:buNone/>
            </a:pPr>
            <a:r>
              <a:rPr sz="1300" b="1" i="0">
                <a:solidFill>
                  <a:srgbClr val="FFFFFF"/>
                </a:solidFill>
                <a:latin typeface="Times New Roman"/>
                <a:ea typeface="Times New Roman"/>
                <a:cs typeface="Times New Roman"/>
              </a:rPr>
              <a:t>Giải thích chênh lệch</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Nexa Home bán hàng thế nào và doanh thu đi qua những bước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Một đơn hàng chỉ thành </a:t>
            </a:r>
            <a:r>
              <a:rPr sz="1700" b="1" i="0">
                <a:solidFill>
                  <a:srgbClr val="123A7A"/>
                </a:solidFill>
                <a:latin typeface="Times New Roman"/>
                <a:ea typeface="Times New Roman"/>
                <a:cs typeface="Times New Roman"/>
              </a:rPr>
              <a:t>doanh thu</a:t>
            </a:r>
            <a:r>
              <a:rPr sz="1700" b="0" i="0">
                <a:solidFill>
                  <a:srgbClr val="222222"/>
                </a:solidFill>
                <a:latin typeface="Times New Roman"/>
                <a:ea typeface="Times New Roman"/>
                <a:cs typeface="Times New Roman"/>
              </a:rPr>
              <a:t> khi đã hoàn tất; hoàn trả làm giảm doanh thu ở </a:t>
            </a:r>
            <a:r>
              <a:rPr sz="1700" b="1" i="0">
                <a:solidFill>
                  <a:srgbClr val="C55A11"/>
                </a:solidFill>
                <a:latin typeface="Times New Roman"/>
                <a:ea typeface="Times New Roman"/>
                <a:cs typeface="Times New Roman"/>
              </a:rPr>
              <a:t>tháng trả hàng</a:t>
            </a:r>
          </a:p>
        </p:txBody>
      </p:sp>
      <p:sp>
        <p:nvSpPr>
          <p:cNvPr id="143" name="Rounded Rectangle 142"/>
          <p:cNvSpPr/>
          <p:nvPr/>
        </p:nvSpPr>
        <p:spPr>
          <a:xfrm>
            <a:off x="365760" y="1371600"/>
            <a:ext cx="2697480" cy="114300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417320"/>
            <a:ext cx="2697480" cy="548640"/>
          </a:xfrm>
          <a:prstGeom prst="rect">
            <a:avLst/>
          </a:prstGeom>
          <a:noFill/>
        </p:spPr>
        <p:txBody>
          <a:bodyPr wrap="square" lIns="45720" tIns="27432" rIns="45720" bIns="27432" anchor="t"/>
          <a:lstStyle/>
          <a:p>
            <a:pPr algn="ctr">
              <a:buNone/>
            </a:pPr>
            <a:r>
              <a:rPr sz="2800" b="1" i="0">
                <a:solidFill>
                  <a:srgbClr val="2E5B31"/>
                </a:solidFill>
                <a:latin typeface="Times New Roman"/>
                <a:ea typeface="Times New Roman"/>
                <a:cs typeface="Times New Roman"/>
              </a:rPr>
              <a:t>66</a:t>
            </a:r>
          </a:p>
        </p:txBody>
      </p:sp>
      <p:sp>
        <p:nvSpPr>
          <p:cNvPr id="145" name="TextBox 144"/>
          <p:cNvSpPr txBox="1"/>
          <p:nvPr/>
        </p:nvSpPr>
        <p:spPr>
          <a:xfrm>
            <a:off x="36576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cửa hàng (POS)</a:t>
            </a:r>
          </a:p>
          <a:p>
            <a:pPr algn="ctr">
              <a:buNone/>
            </a:pPr>
            <a:r>
              <a:rPr sz="1300" b="0" i="0">
                <a:solidFill>
                  <a:srgbClr val="595959"/>
                </a:solidFill>
                <a:latin typeface="Times New Roman"/>
                <a:ea typeface="Times New Roman"/>
                <a:cs typeface="Times New Roman"/>
              </a:rPr>
              <a:t>tại 8 quốc gia</a:t>
            </a:r>
          </a:p>
        </p:txBody>
      </p:sp>
      <p:sp>
        <p:nvSpPr>
          <p:cNvPr id="146" name="Rounded Rectangle 145"/>
          <p:cNvSpPr/>
          <p:nvPr/>
        </p:nvSpPr>
        <p:spPr>
          <a:xfrm>
            <a:off x="3246120" y="1371600"/>
            <a:ext cx="2697480" cy="114300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417320"/>
            <a:ext cx="2697480" cy="548640"/>
          </a:xfrm>
          <a:prstGeom prst="rect">
            <a:avLst/>
          </a:prstGeom>
          <a:noFill/>
        </p:spPr>
        <p:txBody>
          <a:bodyPr wrap="square" lIns="45720" tIns="27432" rIns="45720" bIns="27432" anchor="t"/>
          <a:lstStyle/>
          <a:p>
            <a:pPr algn="ctr">
              <a:buNone/>
            </a:pPr>
            <a:r>
              <a:rPr sz="2800" b="1" i="0">
                <a:solidFill>
                  <a:srgbClr val="C55A11"/>
                </a:solidFill>
                <a:latin typeface="Times New Roman"/>
                <a:ea typeface="Times New Roman"/>
                <a:cs typeface="Times New Roman"/>
              </a:rPr>
              <a:t>1</a:t>
            </a:r>
          </a:p>
        </p:txBody>
      </p:sp>
      <p:sp>
        <p:nvSpPr>
          <p:cNvPr id="148" name="TextBox 147"/>
          <p:cNvSpPr txBox="1"/>
          <p:nvPr/>
        </p:nvSpPr>
        <p:spPr>
          <a:xfrm>
            <a:off x="324612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kênh online</a:t>
            </a:r>
          </a:p>
          <a:p>
            <a:pPr algn="ctr">
              <a:buNone/>
            </a:pPr>
            <a:r>
              <a:rPr sz="1300" b="0" i="0">
                <a:solidFill>
                  <a:srgbClr val="595959"/>
                </a:solidFill>
                <a:latin typeface="Times New Roman"/>
                <a:ea typeface="Times New Roman"/>
                <a:cs typeface="Times New Roman"/>
              </a:rPr>
              <a:t>website/app</a:t>
            </a:r>
          </a:p>
        </p:txBody>
      </p:sp>
      <p:sp>
        <p:nvSpPr>
          <p:cNvPr id="149" name="Rounded Rectangle 148"/>
          <p:cNvSpPr/>
          <p:nvPr/>
        </p:nvSpPr>
        <p:spPr>
          <a:xfrm>
            <a:off x="6126480" y="1371600"/>
            <a:ext cx="2697480" cy="114300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417320"/>
            <a:ext cx="2697480" cy="548640"/>
          </a:xfrm>
          <a:prstGeom prst="rect">
            <a:avLst/>
          </a:prstGeom>
          <a:noFill/>
        </p:spPr>
        <p:txBody>
          <a:bodyPr wrap="square" lIns="45720" tIns="27432" rIns="45720" bIns="27432" anchor="t"/>
          <a:lstStyle/>
          <a:p>
            <a:pPr algn="ctr">
              <a:buNone/>
            </a:pPr>
            <a:r>
              <a:rPr sz="2800" b="1" i="0">
                <a:solidFill>
                  <a:srgbClr val="123A7A"/>
                </a:solidFill>
                <a:latin typeface="Times New Roman"/>
                <a:ea typeface="Times New Roman"/>
                <a:cs typeface="Times New Roman"/>
              </a:rPr>
              <a:t>2.517</a:t>
            </a:r>
          </a:p>
        </p:txBody>
      </p:sp>
      <p:sp>
        <p:nvSpPr>
          <p:cNvPr id="151" name="TextBox 150"/>
          <p:cNvSpPr txBox="1"/>
          <p:nvPr/>
        </p:nvSpPr>
        <p:spPr>
          <a:xfrm>
            <a:off x="612648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sản phẩm</a:t>
            </a:r>
          </a:p>
          <a:p>
            <a:pPr algn="ctr">
              <a:buNone/>
            </a:pPr>
            <a:r>
              <a:rPr sz="1300" b="0" i="0">
                <a:solidFill>
                  <a:srgbClr val="595959"/>
                </a:solidFill>
                <a:latin typeface="Times New Roman"/>
                <a:ea typeface="Times New Roman"/>
                <a:cs typeface="Times New Roman"/>
              </a:rPr>
              <a:t>điện tử, gia dụng</a:t>
            </a:r>
          </a:p>
        </p:txBody>
      </p:sp>
      <p:sp>
        <p:nvSpPr>
          <p:cNvPr id="152" name="Rounded Rectangle 151"/>
          <p:cNvSpPr/>
          <p:nvPr/>
        </p:nvSpPr>
        <p:spPr>
          <a:xfrm>
            <a:off x="9006840" y="1371600"/>
            <a:ext cx="2697480" cy="114300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3" name="TextBox 152"/>
          <p:cNvSpPr txBox="1"/>
          <p:nvPr/>
        </p:nvSpPr>
        <p:spPr>
          <a:xfrm>
            <a:off x="9006840" y="1417320"/>
            <a:ext cx="2697480" cy="548640"/>
          </a:xfrm>
          <a:prstGeom prst="rect">
            <a:avLst/>
          </a:prstGeom>
          <a:noFill/>
        </p:spPr>
        <p:txBody>
          <a:bodyPr wrap="square" lIns="45720" tIns="27432" rIns="45720" bIns="27432" anchor="t"/>
          <a:lstStyle/>
          <a:p>
            <a:pPr algn="ctr">
              <a:buNone/>
            </a:pPr>
            <a:r>
              <a:rPr sz="2800" b="1" i="0">
                <a:solidFill>
                  <a:srgbClr val="0F6E56"/>
                </a:solidFill>
                <a:latin typeface="Times New Roman"/>
                <a:ea typeface="Times New Roman"/>
                <a:cs typeface="Times New Roman"/>
              </a:rPr>
              <a:t>26.326</a:t>
            </a:r>
          </a:p>
        </p:txBody>
      </p:sp>
      <p:sp>
        <p:nvSpPr>
          <p:cNvPr id="154" name="TextBox 153"/>
          <p:cNvSpPr txBox="1"/>
          <p:nvPr/>
        </p:nvSpPr>
        <p:spPr>
          <a:xfrm>
            <a:off x="9006840" y="1947672"/>
            <a:ext cx="2697480" cy="548640"/>
          </a:xfrm>
          <a:prstGeom prst="rect">
            <a:avLst/>
          </a:prstGeom>
          <a:noFill/>
        </p:spPr>
        <p:txBody>
          <a:bodyPr wrap="square" lIns="45720" tIns="27432" rIns="45720" bIns="27432" anchor="t"/>
          <a:lstStyle/>
          <a:p>
            <a:pPr algn="ctr">
              <a:buNone/>
            </a:pPr>
            <a:r>
              <a:rPr sz="1300" b="1" i="0">
                <a:solidFill>
                  <a:srgbClr val="222222"/>
                </a:solidFill>
                <a:latin typeface="Times New Roman"/>
                <a:ea typeface="Times New Roman"/>
                <a:cs typeface="Times New Roman"/>
              </a:rPr>
              <a:t>đơn hàng</a:t>
            </a:r>
          </a:p>
          <a:p>
            <a:pPr algn="ctr">
              <a:buNone/>
            </a:pPr>
            <a:r>
              <a:rPr sz="1300" b="0" i="0">
                <a:solidFill>
                  <a:srgbClr val="595959"/>
                </a:solidFill>
                <a:latin typeface="Times New Roman"/>
                <a:ea typeface="Times New Roman"/>
                <a:cs typeface="Times New Roman"/>
              </a:rPr>
              <a:t>01/2016 → 20/02/2021</a:t>
            </a:r>
          </a:p>
        </p:txBody>
      </p:sp>
      <p:sp>
        <p:nvSpPr>
          <p:cNvPr id="155" name="Rounded Rectangle 154"/>
          <p:cNvSpPr/>
          <p:nvPr/>
        </p:nvSpPr>
        <p:spPr>
          <a:xfrm>
            <a:off x="365760" y="2788920"/>
            <a:ext cx="2011680" cy="310896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Oval 155"/>
          <p:cNvSpPr/>
          <p:nvPr/>
        </p:nvSpPr>
        <p:spPr>
          <a:xfrm>
            <a:off x="1005840" y="29260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3"/>
          <a:stretch>
            <a:fillRect/>
          </a:stretch>
        </p:blipFill>
        <p:spPr>
          <a:xfrm>
            <a:off x="1166774" y="3087014"/>
            <a:ext cx="409651" cy="409651"/>
          </a:xfrm>
          <a:prstGeom prst="rect">
            <a:avLst/>
          </a:prstGeom>
        </p:spPr>
      </p:pic>
      <p:sp>
        <p:nvSpPr>
          <p:cNvPr id="158" name="TextBox 157"/>
          <p:cNvSpPr txBox="1"/>
          <p:nvPr/>
        </p:nvSpPr>
        <p:spPr>
          <a:xfrm>
            <a:off x="411480" y="3749039"/>
            <a:ext cx="1920240" cy="411480"/>
          </a:xfrm>
          <a:prstGeom prst="rect">
            <a:avLst/>
          </a:prstGeom>
          <a:noFill/>
        </p:spPr>
        <p:txBody>
          <a:bodyPr wrap="square" lIns="45720" tIns="27432" rIns="45720" bIns="27432" anchor="t"/>
          <a:lstStyle/>
          <a:p>
            <a:pPr algn="ctr">
              <a:buNone/>
            </a:pPr>
            <a:r>
              <a:rPr sz="1500" b="1" i="0">
                <a:solidFill>
                  <a:srgbClr val="2E5B31"/>
                </a:solidFill>
                <a:latin typeface="Times New Roman"/>
                <a:ea typeface="Times New Roman"/>
                <a:cs typeface="Times New Roman"/>
              </a:rPr>
              <a:t>1 · Đặt hàng</a:t>
            </a:r>
          </a:p>
        </p:txBody>
      </p:sp>
      <p:sp>
        <p:nvSpPr>
          <p:cNvPr id="159" name="TextBox 158"/>
          <p:cNvSpPr txBox="1"/>
          <p:nvPr/>
        </p:nvSpPr>
        <p:spPr>
          <a:xfrm>
            <a:off x="43891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order_date</a:t>
            </a:r>
          </a:p>
          <a:p>
            <a:pPr algn="ctr">
              <a:spcAft>
                <a:spcPts val="400"/>
              </a:spcAft>
              <a:buNone/>
            </a:pPr>
            <a:r>
              <a:rPr sz="1300" b="0" i="0">
                <a:solidFill>
                  <a:srgbClr val="222222"/>
                </a:solidFill>
                <a:latin typeface="Times New Roman"/>
                <a:ea typeface="Times New Roman"/>
                <a:cs typeface="Times New Roman"/>
              </a:rPr>
              <a:t>POS: trả tiền, nhận hàng ngay</a:t>
            </a:r>
          </a:p>
        </p:txBody>
      </p:sp>
      <p:sp>
        <p:nvSpPr>
          <p:cNvPr id="160" name="Right Arrow 159"/>
          <p:cNvSpPr/>
          <p:nvPr/>
        </p:nvSpPr>
        <p:spPr>
          <a:xfrm>
            <a:off x="239572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1" name="Rounded Rectangle 160"/>
          <p:cNvSpPr/>
          <p:nvPr/>
        </p:nvSpPr>
        <p:spPr>
          <a:xfrm>
            <a:off x="2697479" y="2788920"/>
            <a:ext cx="2011680" cy="310896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62" name="Oval 161"/>
          <p:cNvSpPr/>
          <p:nvPr/>
        </p:nvSpPr>
        <p:spPr>
          <a:xfrm>
            <a:off x="3337559" y="2926080"/>
            <a:ext cx="731520" cy="731520"/>
          </a:xfrm>
          <a:prstGeom prst="ellipse">
            <a:avLst/>
          </a:prstGeom>
          <a:solidFill>
            <a:srgbClr val="0F6E56"/>
          </a:solidFill>
          <a:ln>
            <a:no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4"/>
          <a:stretch>
            <a:fillRect/>
          </a:stretch>
        </p:blipFill>
        <p:spPr>
          <a:xfrm>
            <a:off x="3498494" y="3087014"/>
            <a:ext cx="409651" cy="409651"/>
          </a:xfrm>
          <a:prstGeom prst="rect">
            <a:avLst/>
          </a:prstGeom>
        </p:spPr>
      </p:pic>
      <p:sp>
        <p:nvSpPr>
          <p:cNvPr id="164" name="TextBox 163"/>
          <p:cNvSpPr txBox="1"/>
          <p:nvPr/>
        </p:nvSpPr>
        <p:spPr>
          <a:xfrm>
            <a:off x="2743199" y="3749039"/>
            <a:ext cx="1920240" cy="411480"/>
          </a:xfrm>
          <a:prstGeom prst="rect">
            <a:avLst/>
          </a:prstGeom>
          <a:noFill/>
        </p:spPr>
        <p:txBody>
          <a:bodyPr wrap="square" lIns="45720" tIns="27432" rIns="45720" bIns="27432" anchor="t"/>
          <a:lstStyle/>
          <a:p>
            <a:pPr algn="ctr">
              <a:buNone/>
            </a:pPr>
            <a:r>
              <a:rPr sz="1500" b="1" i="0">
                <a:solidFill>
                  <a:srgbClr val="0F6E56"/>
                </a:solidFill>
                <a:latin typeface="Times New Roman"/>
                <a:ea typeface="Times New Roman"/>
                <a:cs typeface="Times New Roman"/>
              </a:rPr>
              <a:t>2 · Giao hàng</a:t>
            </a:r>
          </a:p>
        </p:txBody>
      </p:sp>
      <p:sp>
        <p:nvSpPr>
          <p:cNvPr id="165" name="TextBox 164"/>
          <p:cNvSpPr txBox="1"/>
          <p:nvPr/>
        </p:nvSpPr>
        <p:spPr>
          <a:xfrm>
            <a:off x="277063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delivery_date</a:t>
            </a:r>
          </a:p>
          <a:p>
            <a:pPr algn="ctr">
              <a:spcAft>
                <a:spcPts val="400"/>
              </a:spcAft>
              <a:buNone/>
            </a:pPr>
            <a:r>
              <a:rPr sz="1300" b="0" i="0">
                <a:solidFill>
                  <a:srgbClr val="222222"/>
                </a:solidFill>
                <a:latin typeface="Times New Roman"/>
                <a:ea typeface="Times New Roman"/>
                <a:cs typeface="Times New Roman"/>
              </a:rPr>
              <a:t>chỉ đơn online</a:t>
            </a:r>
          </a:p>
        </p:txBody>
      </p:sp>
      <p:sp>
        <p:nvSpPr>
          <p:cNvPr id="166" name="Right Arrow 165"/>
          <p:cNvSpPr/>
          <p:nvPr/>
        </p:nvSpPr>
        <p:spPr>
          <a:xfrm>
            <a:off x="472744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5029200" y="2788920"/>
            <a:ext cx="2011680" cy="310896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8" name="Picture 167" descr="image.png"/>
          <p:cNvPicPr>
            <a:picLocks noChangeAspect="1"/>
          </p:cNvPicPr>
          <p:nvPr/>
        </p:nvPicPr>
        <p:blipFill>
          <a:blip r:embed="rId5"/>
          <a:stretch>
            <a:fillRect/>
          </a:stretch>
        </p:blipFill>
        <p:spPr>
          <a:xfrm>
            <a:off x="5669280" y="2926080"/>
            <a:ext cx="731520" cy="731520"/>
          </a:xfrm>
          <a:prstGeom prst="rect">
            <a:avLst/>
          </a:prstGeom>
        </p:spPr>
      </p:pic>
      <p:sp>
        <p:nvSpPr>
          <p:cNvPr id="169" name="TextBox 168"/>
          <p:cNvSpPr txBox="1"/>
          <p:nvPr/>
        </p:nvSpPr>
        <p:spPr>
          <a:xfrm>
            <a:off x="5074920" y="3749039"/>
            <a:ext cx="1920240" cy="411480"/>
          </a:xfrm>
          <a:prstGeom prst="rect">
            <a:avLst/>
          </a:prstGeom>
          <a:noFill/>
        </p:spPr>
        <p:txBody>
          <a:bodyPr wrap="square" lIns="45720" tIns="27432" rIns="45720" bIns="27432" anchor="t"/>
          <a:lstStyle/>
          <a:p>
            <a:pPr algn="ctr">
              <a:buNone/>
            </a:pPr>
            <a:r>
              <a:rPr sz="1500" b="1" i="0">
                <a:solidFill>
                  <a:srgbClr val="C55A11"/>
                </a:solidFill>
                <a:latin typeface="Times New Roman"/>
                <a:ea typeface="Times New Roman"/>
                <a:cs typeface="Times New Roman"/>
              </a:rPr>
              <a:t>3 · Hoàn tất</a:t>
            </a:r>
          </a:p>
        </p:txBody>
      </p:sp>
      <p:sp>
        <p:nvSpPr>
          <p:cNvPr id="170" name="TextBox 169"/>
          <p:cNvSpPr txBox="1"/>
          <p:nvPr/>
        </p:nvSpPr>
        <p:spPr>
          <a:xfrm>
            <a:off x="510235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order_status = COMPLETED</a:t>
            </a:r>
          </a:p>
          <a:p>
            <a:pPr algn="ctr">
              <a:spcAft>
                <a:spcPts val="400"/>
              </a:spcAft>
              <a:buNone/>
            </a:pPr>
            <a:r>
              <a:rPr sz="1300" b="0" i="0">
                <a:solidFill>
                  <a:srgbClr val="222222"/>
                </a:solidFill>
                <a:latin typeface="Times New Roman"/>
                <a:ea typeface="Times New Roman"/>
                <a:cs typeface="Times New Roman"/>
              </a:rPr>
              <a:t>(huỷ, đang giao: không tính)</a:t>
            </a:r>
          </a:p>
        </p:txBody>
      </p:sp>
      <p:sp>
        <p:nvSpPr>
          <p:cNvPr id="171" name="Right Arrow 170"/>
          <p:cNvSpPr/>
          <p:nvPr/>
        </p:nvSpPr>
        <p:spPr>
          <a:xfrm>
            <a:off x="705916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2" name="Rounded Rectangle 171"/>
          <p:cNvSpPr/>
          <p:nvPr/>
        </p:nvSpPr>
        <p:spPr>
          <a:xfrm>
            <a:off x="7360919" y="2788920"/>
            <a:ext cx="2011680" cy="310896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3" name="Oval 172"/>
          <p:cNvSpPr/>
          <p:nvPr/>
        </p:nvSpPr>
        <p:spPr>
          <a:xfrm>
            <a:off x="8000999" y="29260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4" name="Picture 173" descr="image.png"/>
          <p:cNvPicPr>
            <a:picLocks noChangeAspect="1"/>
          </p:cNvPicPr>
          <p:nvPr/>
        </p:nvPicPr>
        <p:blipFill>
          <a:blip r:embed="rId6"/>
          <a:stretch>
            <a:fillRect/>
          </a:stretch>
        </p:blipFill>
        <p:spPr>
          <a:xfrm>
            <a:off x="8161934" y="3087014"/>
            <a:ext cx="409651" cy="409651"/>
          </a:xfrm>
          <a:prstGeom prst="rect">
            <a:avLst/>
          </a:prstGeom>
        </p:spPr>
      </p:pic>
      <p:sp>
        <p:nvSpPr>
          <p:cNvPr id="175" name="TextBox 174"/>
          <p:cNvSpPr txBox="1"/>
          <p:nvPr/>
        </p:nvSpPr>
        <p:spPr>
          <a:xfrm>
            <a:off x="7406640" y="3749039"/>
            <a:ext cx="1920240" cy="411480"/>
          </a:xfrm>
          <a:prstGeom prst="rect">
            <a:avLst/>
          </a:prstGeom>
          <a:noFill/>
        </p:spPr>
        <p:txBody>
          <a:bodyPr wrap="square" lIns="45720" tIns="27432" rIns="45720" bIns="27432" anchor="t"/>
          <a:lstStyle/>
          <a:p>
            <a:pPr algn="ctr">
              <a:buNone/>
            </a:pPr>
            <a:r>
              <a:rPr sz="1500" b="1" i="0">
                <a:solidFill>
                  <a:srgbClr val="C00000"/>
                </a:solidFill>
                <a:latin typeface="Times New Roman"/>
                <a:ea typeface="Times New Roman"/>
                <a:cs typeface="Times New Roman"/>
              </a:rPr>
              <a:t>4 · Hoàn trả</a:t>
            </a:r>
          </a:p>
        </p:txBody>
      </p:sp>
      <p:sp>
        <p:nvSpPr>
          <p:cNvPr id="176" name="TextBox 175"/>
          <p:cNvSpPr txBox="1"/>
          <p:nvPr/>
        </p:nvSpPr>
        <p:spPr>
          <a:xfrm>
            <a:off x="7434071"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return_date</a:t>
            </a:r>
          </a:p>
          <a:p>
            <a:pPr algn="ctr">
              <a:spcAft>
                <a:spcPts val="400"/>
              </a:spcAft>
              <a:buNone/>
            </a:pPr>
            <a:r>
              <a:rPr sz="1300" b="0" i="0">
                <a:solidFill>
                  <a:srgbClr val="222222"/>
                </a:solidFill>
                <a:latin typeface="Times New Roman"/>
                <a:ea typeface="Times New Roman"/>
                <a:cs typeface="Times New Roman"/>
              </a:rPr>
              <a:t>trừ vào tháng trả hàng</a:t>
            </a:r>
          </a:p>
        </p:txBody>
      </p:sp>
      <p:sp>
        <p:nvSpPr>
          <p:cNvPr id="177" name="Right Arrow 176"/>
          <p:cNvSpPr/>
          <p:nvPr/>
        </p:nvSpPr>
        <p:spPr>
          <a:xfrm>
            <a:off x="9390888" y="4069080"/>
            <a:ext cx="274320" cy="365760"/>
          </a:xfrm>
          <a:prstGeom prst="rightArrow">
            <a:avLst/>
          </a:prstGeom>
          <a:solidFill>
            <a:srgbClr val="595959"/>
          </a:solidFill>
          <a:ln>
            <a:noFill/>
          </a:ln>
          <a:effectLst/>
        </p:spPr>
        <p:txBody>
          <a:bodyPr rtlCol="0" anchor="ctr" wrap="square" lIns="73152" tIns="36576" rIns="73152" bIns="36576"/>
          <a:lstStyle/>
          <a:p>
            <a:pPr algn="ctr"/>
          </a:p>
        </p:txBody>
      </p:sp>
      <p:sp>
        <p:nvSpPr>
          <p:cNvPr id="178" name="Rounded Rectangle 177"/>
          <p:cNvSpPr/>
          <p:nvPr/>
        </p:nvSpPr>
        <p:spPr>
          <a:xfrm>
            <a:off x="9692640" y="2788920"/>
            <a:ext cx="2011680" cy="310896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79" name="Oval 178"/>
          <p:cNvSpPr/>
          <p:nvPr/>
        </p:nvSpPr>
        <p:spPr>
          <a:xfrm>
            <a:off x="10332719" y="29260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80" name="Picture 179" descr="image.png"/>
          <p:cNvPicPr>
            <a:picLocks noChangeAspect="1"/>
          </p:cNvPicPr>
          <p:nvPr/>
        </p:nvPicPr>
        <p:blipFill>
          <a:blip r:embed="rId7"/>
          <a:stretch>
            <a:fillRect/>
          </a:stretch>
        </p:blipFill>
        <p:spPr>
          <a:xfrm>
            <a:off x="10493654" y="3087014"/>
            <a:ext cx="409651" cy="409651"/>
          </a:xfrm>
          <a:prstGeom prst="rect">
            <a:avLst/>
          </a:prstGeom>
        </p:spPr>
      </p:pic>
      <p:sp>
        <p:nvSpPr>
          <p:cNvPr id="181" name="TextBox 180"/>
          <p:cNvSpPr txBox="1"/>
          <p:nvPr/>
        </p:nvSpPr>
        <p:spPr>
          <a:xfrm>
            <a:off x="9738360" y="3749039"/>
            <a:ext cx="1920240" cy="411480"/>
          </a:xfrm>
          <a:prstGeom prst="rect">
            <a:avLst/>
          </a:prstGeom>
          <a:noFill/>
        </p:spPr>
        <p:txBody>
          <a:bodyPr wrap="square" lIns="45720" tIns="27432" rIns="45720" bIns="27432" anchor="t"/>
          <a:lstStyle/>
          <a:p>
            <a:pPr algn="ctr">
              <a:buNone/>
            </a:pPr>
            <a:r>
              <a:rPr sz="1500" b="1" i="0">
                <a:solidFill>
                  <a:srgbClr val="123A7A"/>
                </a:solidFill>
                <a:latin typeface="Times New Roman"/>
                <a:ea typeface="Times New Roman"/>
                <a:cs typeface="Times New Roman"/>
              </a:rPr>
              <a:t>5 · Finance ghi nhận</a:t>
            </a:r>
          </a:p>
        </p:txBody>
      </p:sp>
      <p:sp>
        <p:nvSpPr>
          <p:cNvPr id="182" name="TextBox 181"/>
          <p:cNvSpPr txBox="1"/>
          <p:nvPr/>
        </p:nvSpPr>
        <p:spPr>
          <a:xfrm>
            <a:off x="9765792" y="4160520"/>
            <a:ext cx="1865376" cy="1645920"/>
          </a:xfrm>
          <a:prstGeom prst="rect">
            <a:avLst/>
          </a:prstGeom>
          <a:noFill/>
        </p:spPr>
        <p:txBody>
          <a:bodyPr wrap="square" lIns="45720" tIns="27432" rIns="45720" bIns="27432" anchor="t"/>
          <a:lstStyle/>
          <a:p>
            <a:pPr algn="ctr">
              <a:spcAft>
                <a:spcPts val="400"/>
              </a:spcAft>
              <a:buNone/>
            </a:pPr>
            <a:r>
              <a:rPr sz="1300" b="0" i="0">
                <a:solidFill>
                  <a:srgbClr val="222222"/>
                </a:solidFill>
                <a:latin typeface="Times New Roman"/>
                <a:ea typeface="Times New Roman"/>
                <a:cs typeface="Times New Roman"/>
              </a:rPr>
              <a:t>posting_date</a:t>
            </a:r>
          </a:p>
          <a:p>
            <a:pPr algn="ctr">
              <a:spcAft>
                <a:spcPts val="400"/>
              </a:spcAft>
              <a:buNone/>
            </a:pPr>
            <a:r>
              <a:rPr sz="1300" b="0" i="0">
                <a:solidFill>
                  <a:srgbClr val="222222"/>
                </a:solidFill>
                <a:latin typeface="Times New Roman"/>
                <a:ea typeface="Times New Roman"/>
                <a:cs typeface="Times New Roman"/>
              </a:rPr>
              <a:t>POS ngày bán · online ngày giao</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Bối cảnh bán lẻ</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Vì sao số đơn hàng khác số Finance và ai làm gì trong đối soát?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Chênh lệch </a:t>
            </a:r>
            <a:r>
              <a:rPr sz="1700" b="1" i="0">
                <a:solidFill>
                  <a:srgbClr val="C00000"/>
                </a:solidFill>
                <a:latin typeface="Times New Roman"/>
                <a:ea typeface="Times New Roman"/>
                <a:cs typeface="Times New Roman"/>
              </a:rPr>
              <a:t>không phải lúc nào cũng là lỗi</a:t>
            </a:r>
            <a:r>
              <a:rPr sz="1700" b="0" i="0">
                <a:solidFill>
                  <a:srgbClr val="222222"/>
                </a:solidFill>
                <a:latin typeface="Times New Roman"/>
                <a:ea typeface="Times New Roman"/>
                <a:cs typeface="Times New Roman"/>
              </a:rPr>
              <a:t>: phải tách lệch thời điểm, lệch quy tắc và lỗi thật</a:t>
            </a:r>
          </a:p>
        </p:txBody>
      </p:sp>
      <p:sp>
        <p:nvSpPr>
          <p:cNvPr id="143" name="Rounded Rectangle 142"/>
          <p:cNvSpPr/>
          <p:nvPr/>
        </p:nvSpPr>
        <p:spPr>
          <a:xfrm>
            <a:off x="365760" y="1371600"/>
            <a:ext cx="5623560" cy="224028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4" name="TextBox 143"/>
          <p:cNvSpPr txBox="1"/>
          <p:nvPr/>
        </p:nvSpPr>
        <p:spPr>
          <a:xfrm>
            <a:off x="502920" y="1417320"/>
            <a:ext cx="5394960" cy="365760"/>
          </a:xfrm>
          <a:prstGeom prst="rect">
            <a:avLst/>
          </a:prstGeom>
          <a:noFill/>
        </p:spPr>
        <p:txBody>
          <a:bodyPr wrap="square" lIns="45720" tIns="27432" rIns="45720" bIns="27432" anchor="t"/>
          <a:lstStyle/>
          <a:p>
            <a:pPr algn="l">
              <a:buNone/>
            </a:pPr>
            <a:r>
              <a:rPr sz="1600" b="1" i="0">
                <a:solidFill>
                  <a:srgbClr val="123A7A"/>
                </a:solidFill>
                <a:latin typeface="Times New Roman"/>
                <a:ea typeface="Times New Roman"/>
                <a:cs typeface="Times New Roman"/>
              </a:rPr>
              <a:t>Cùng một giao dịch, hai cách ghi sổ</a:t>
            </a:r>
          </a:p>
        </p:txBody>
      </p:sp>
      <p:sp>
        <p:nvSpPr>
          <p:cNvPr id="145" name="Rectangle 144"/>
          <p:cNvSpPr/>
          <p:nvPr/>
        </p:nvSpPr>
        <p:spPr>
          <a:xfrm>
            <a:off x="502920" y="1828800"/>
            <a:ext cx="109728" cy="731520"/>
          </a:xfrm>
          <a:prstGeom prst="rect">
            <a:avLst/>
          </a:prstGeom>
          <a:solidFill>
            <a:srgbClr val="2E5B31"/>
          </a:solidFill>
          <a:ln>
            <a:noFill/>
          </a:ln>
          <a:effectLst/>
        </p:spPr>
        <p:txBody>
          <a:bodyPr rtlCol="0" anchor="ctr" wrap="square" lIns="73152" tIns="36576" rIns="73152" bIns="36576"/>
          <a:lstStyle/>
          <a:p>
            <a:pPr algn="ctr"/>
          </a:p>
        </p:txBody>
      </p:sp>
      <p:sp>
        <p:nvSpPr>
          <p:cNvPr id="146" name="TextBox 145"/>
          <p:cNvSpPr txBox="1"/>
          <p:nvPr/>
        </p:nvSpPr>
        <p:spPr>
          <a:xfrm>
            <a:off x="685800" y="1810512"/>
            <a:ext cx="5212080" cy="82296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Dữ liệu đơn hàng (POS, website)</a:t>
            </a:r>
          </a:p>
          <a:p>
            <a:pPr algn="l">
              <a:buNone/>
            </a:pPr>
            <a:r>
              <a:rPr sz="1300" b="0" i="0">
                <a:solidFill>
                  <a:srgbClr val="222222"/>
                </a:solidFill>
                <a:latin typeface="Times New Roman"/>
                <a:ea typeface="Times New Roman"/>
                <a:cs typeface="Times New Roman"/>
              </a:rPr>
              <a:t>Ghi theo ngày đặt hàng, có cả đơn huỷ, đơn đang giao, dòng trùng do lỗi tải dữ liệu</a:t>
            </a:r>
          </a:p>
        </p:txBody>
      </p:sp>
      <p:sp>
        <p:nvSpPr>
          <p:cNvPr id="147" name="Rectangle 146"/>
          <p:cNvSpPr/>
          <p:nvPr/>
        </p:nvSpPr>
        <p:spPr>
          <a:xfrm>
            <a:off x="502920" y="2697480"/>
            <a:ext cx="109728" cy="731520"/>
          </a:xfrm>
          <a:prstGeom prst="rect">
            <a:avLst/>
          </a:prstGeom>
          <a:solidFill>
            <a:srgbClr val="C55A11"/>
          </a:solidFill>
          <a:ln>
            <a:noFill/>
          </a:ln>
          <a:effectLst/>
        </p:spPr>
        <p:txBody>
          <a:bodyPr rtlCol="0" anchor="ctr" wrap="square" lIns="73152" tIns="36576" rIns="73152" bIns="36576"/>
          <a:lstStyle/>
          <a:p>
            <a:pPr algn="ctr"/>
          </a:p>
        </p:txBody>
      </p:sp>
      <p:sp>
        <p:nvSpPr>
          <p:cNvPr id="148" name="TextBox 147"/>
          <p:cNvSpPr txBox="1"/>
          <p:nvPr/>
        </p:nvSpPr>
        <p:spPr>
          <a:xfrm>
            <a:off x="685800" y="2679192"/>
            <a:ext cx="5212080" cy="8229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File Finance (finance_revenue.xlsx)</a:t>
            </a:r>
          </a:p>
          <a:p>
            <a:pPr algn="l">
              <a:buNone/>
            </a:pPr>
            <a:r>
              <a:rPr sz="1300" b="0" i="0">
                <a:solidFill>
                  <a:srgbClr val="222222"/>
                </a:solidFill>
                <a:latin typeface="Times New Roman"/>
                <a:ea typeface="Times New Roman"/>
                <a:cs typeface="Times New Roman"/>
              </a:rPr>
              <a:t>Ghi theo ngày hạch toán: online khi giao xong, hoàn tiền khi Finance xử lý; mã cửa hàng riêng</a:t>
            </a:r>
          </a:p>
        </p:txBody>
      </p:sp>
      <p:sp>
        <p:nvSpPr>
          <p:cNvPr id="149" name="Rounded Rectangle 148"/>
          <p:cNvSpPr/>
          <p:nvPr/>
        </p:nvSpPr>
        <p:spPr>
          <a:xfrm>
            <a:off x="365760" y="3749039"/>
            <a:ext cx="5623560" cy="224028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0" name="TextBox 149"/>
          <p:cNvSpPr txBox="1"/>
          <p:nvPr/>
        </p:nvSpPr>
        <p:spPr>
          <a:xfrm>
            <a:off x="502920" y="3794760"/>
            <a:ext cx="5394960" cy="365760"/>
          </a:xfrm>
          <a:prstGeom prst="rect">
            <a:avLst/>
          </a:prstGeom>
          <a:noFill/>
        </p:spPr>
        <p:txBody>
          <a:bodyPr wrap="square" lIns="45720" tIns="27432" rIns="45720" bIns="27432" anchor="t"/>
          <a:lstStyle/>
          <a:p>
            <a:pPr algn="l">
              <a:buNone/>
            </a:pPr>
            <a:r>
              <a:rPr sz="1600" b="1" i="0">
                <a:solidFill>
                  <a:srgbClr val="C55A11"/>
                </a:solidFill>
                <a:latin typeface="Times New Roman"/>
                <a:ea typeface="Times New Roman"/>
                <a:cs typeface="Times New Roman"/>
              </a:rPr>
              <a:t>Nếu không đối soát thì sao?</a:t>
            </a:r>
          </a:p>
        </p:txBody>
      </p:sp>
      <p:sp>
        <p:nvSpPr>
          <p:cNvPr id="151" name="TextBox 150"/>
          <p:cNvSpPr txBox="1"/>
          <p:nvPr/>
        </p:nvSpPr>
        <p:spPr>
          <a:xfrm>
            <a:off x="502920" y="4206240"/>
            <a:ext cx="5394960" cy="1737360"/>
          </a:xfrm>
          <a:prstGeom prst="rect">
            <a:avLst/>
          </a:prstGeom>
          <a:noFill/>
        </p:spPr>
        <p:txBody>
          <a:bodyPr wrap="square" lIns="45720" tIns="27432" rIns="45720" bIns="27432" anchor="t"/>
          <a:lstStyle/>
          <a:p>
            <a:pPr algn="l" marL="182880" indent="-182880">
              <a:spcAft>
                <a:spcPts val="400"/>
              </a:spcAft>
              <a:buFont typeface="Arial"/>
              <a:buChar char="•"/>
            </a:pPr>
            <a:r>
              <a:rPr sz="1400" b="0" i="0">
                <a:solidFill>
                  <a:srgbClr val="222222"/>
                </a:solidFill>
                <a:latin typeface="Times New Roman"/>
                <a:ea typeface="Times New Roman"/>
                <a:cs typeface="Times New Roman"/>
              </a:rPr>
              <a:t>Sales báo cáo một số, Finance báo cáo số khác → lãnh đạo không biết tin số nào</a:t>
            </a:r>
          </a:p>
          <a:p>
            <a:pPr algn="l" marL="182880" indent="-182880">
              <a:spcAft>
                <a:spcPts val="400"/>
              </a:spcAft>
              <a:buFont typeface="Arial"/>
              <a:buChar char="•"/>
            </a:pPr>
            <a:r>
              <a:rPr sz="1400" b="0" i="0">
                <a:solidFill>
                  <a:srgbClr val="222222"/>
                </a:solidFill>
                <a:latin typeface="Times New Roman"/>
                <a:ea typeface="Times New Roman"/>
                <a:cs typeface="Times New Roman"/>
              </a:rPr>
              <a:t>Thưởng doanh số, chỉ tiêu cửa hàng tính trên số sai</a:t>
            </a:r>
          </a:p>
          <a:p>
            <a:pPr algn="l" marL="182880" indent="-182880">
              <a:spcAft>
                <a:spcPts val="400"/>
              </a:spcAft>
              <a:buFont typeface="Arial"/>
              <a:buChar char="•"/>
            </a:pPr>
            <a:r>
              <a:rPr sz="1400" b="0" i="0">
                <a:solidFill>
                  <a:srgbClr val="222222"/>
                </a:solidFill>
                <a:latin typeface="Times New Roman"/>
                <a:ea typeface="Times New Roman"/>
                <a:cs typeface="Times New Roman"/>
              </a:rPr>
              <a:t>Lỗi thật (ghi trùng, thiếu dữ liệu, sai thuế) bị che lấp trong tổng</a:t>
            </a:r>
          </a:p>
        </p:txBody>
      </p:sp>
      <p:sp>
        <p:nvSpPr>
          <p:cNvPr id="152" name="TextBox 151"/>
          <p:cNvSpPr txBox="1"/>
          <p:nvPr/>
        </p:nvSpPr>
        <p:spPr>
          <a:xfrm>
            <a:off x="6263640" y="1371600"/>
            <a:ext cx="5486400" cy="365760"/>
          </a:xfrm>
          <a:prstGeom prst="rect">
            <a:avLst/>
          </a:prstGeom>
          <a:noFill/>
        </p:spPr>
        <p:txBody>
          <a:bodyPr wrap="square" lIns="45720" tIns="27432" rIns="45720" bIns="27432" anchor="t"/>
          <a:lstStyle/>
          <a:p>
            <a:pPr algn="l">
              <a:buNone/>
            </a:pPr>
            <a:r>
              <a:rPr sz="1600" b="1" i="0">
                <a:solidFill>
                  <a:srgbClr val="2E5B31"/>
                </a:solidFill>
                <a:latin typeface="Times New Roman"/>
                <a:ea typeface="Times New Roman"/>
                <a:cs typeface="Times New Roman"/>
              </a:rPr>
              <a:t>Ba vai trò trong một vòng đối soát</a:t>
            </a:r>
          </a:p>
        </p:txBody>
      </p:sp>
      <p:sp>
        <p:nvSpPr>
          <p:cNvPr id="153" name="Rounded Rectangle 152"/>
          <p:cNvSpPr/>
          <p:nvPr/>
        </p:nvSpPr>
        <p:spPr>
          <a:xfrm>
            <a:off x="6263640" y="1828800"/>
            <a:ext cx="5577840" cy="12344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Oval 153"/>
          <p:cNvSpPr/>
          <p:nvPr/>
        </p:nvSpPr>
        <p:spPr>
          <a:xfrm>
            <a:off x="6400800" y="2103120"/>
            <a:ext cx="685800" cy="685800"/>
          </a:xfrm>
          <a:prstGeom prst="ellipse">
            <a:avLst/>
          </a:prstGeom>
          <a:solidFill>
            <a:srgbClr val="2E5B31"/>
          </a:solidFill>
          <a:ln>
            <a:no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6551676" y="2253996"/>
            <a:ext cx="384048" cy="384048"/>
          </a:xfrm>
          <a:prstGeom prst="rect">
            <a:avLst/>
          </a:prstGeom>
        </p:spPr>
      </p:pic>
      <p:sp>
        <p:nvSpPr>
          <p:cNvPr id="156" name="TextBox 155"/>
          <p:cNvSpPr txBox="1"/>
          <p:nvPr/>
        </p:nvSpPr>
        <p:spPr>
          <a:xfrm>
            <a:off x="7223760" y="1874519"/>
            <a:ext cx="4526280" cy="1143000"/>
          </a:xfrm>
          <a:prstGeom prst="rect">
            <a:avLst/>
          </a:prstGeom>
          <a:noFill/>
        </p:spPr>
        <p:txBody>
          <a:bodyPr wrap="square" lIns="45720" tIns="27432" rIns="45720" bIns="27432" anchor="ctr"/>
          <a:lstStyle/>
          <a:p>
            <a:pPr algn="l">
              <a:buNone/>
            </a:pPr>
            <a:r>
              <a:rPr sz="1400" b="1" i="0">
                <a:solidFill>
                  <a:srgbClr val="2E5B31"/>
                </a:solidFill>
                <a:latin typeface="Times New Roman"/>
                <a:ea typeface="Times New Roman"/>
                <a:cs typeface="Times New Roman"/>
              </a:rPr>
              <a:t>Data Analyst</a:t>
            </a:r>
          </a:p>
          <a:p>
            <a:pPr algn="l">
              <a:buNone/>
            </a:pPr>
            <a:r>
              <a:rPr sz="1400" b="0" i="0">
                <a:solidFill>
                  <a:srgbClr val="222222"/>
                </a:solidFill>
                <a:latin typeface="Times New Roman"/>
                <a:ea typeface="Times New Roman"/>
                <a:cs typeface="Times New Roman"/>
              </a:rPr>
              <a:t>Tính KPI từ dữ liệu đơn · ghép với Finance theo tháng × cửa hàng × kênh · lập bảng giải thích chênh lệch</a:t>
            </a:r>
          </a:p>
        </p:txBody>
      </p:sp>
      <p:sp>
        <p:nvSpPr>
          <p:cNvPr id="157" name="Rounded Rectangle 156"/>
          <p:cNvSpPr/>
          <p:nvPr/>
        </p:nvSpPr>
        <p:spPr>
          <a:xfrm>
            <a:off x="6263640" y="3200400"/>
            <a:ext cx="5577840" cy="12344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8" name="Oval 157"/>
          <p:cNvSpPr/>
          <p:nvPr/>
        </p:nvSpPr>
        <p:spPr>
          <a:xfrm>
            <a:off x="6400800" y="3474720"/>
            <a:ext cx="685800" cy="685800"/>
          </a:xfrm>
          <a:prstGeom prst="ellipse">
            <a:avLst/>
          </a:prstGeom>
          <a:solidFill>
            <a:srgbClr val="123A7A"/>
          </a:solidFill>
          <a:ln>
            <a:no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4"/>
          <a:stretch>
            <a:fillRect/>
          </a:stretch>
        </p:blipFill>
        <p:spPr>
          <a:xfrm>
            <a:off x="6551676" y="3625596"/>
            <a:ext cx="384048" cy="384048"/>
          </a:xfrm>
          <a:prstGeom prst="rect">
            <a:avLst/>
          </a:prstGeom>
        </p:spPr>
      </p:pic>
      <p:sp>
        <p:nvSpPr>
          <p:cNvPr id="160" name="TextBox 159"/>
          <p:cNvSpPr txBox="1"/>
          <p:nvPr/>
        </p:nvSpPr>
        <p:spPr>
          <a:xfrm>
            <a:off x="7223760" y="3246120"/>
            <a:ext cx="4526280" cy="1143000"/>
          </a:xfrm>
          <a:prstGeom prst="rect">
            <a:avLst/>
          </a:prstGeom>
          <a:noFill/>
        </p:spPr>
        <p:txBody>
          <a:bodyPr wrap="square" lIns="45720" tIns="27432" rIns="45720" bIns="27432" anchor="ctr"/>
          <a:lstStyle/>
          <a:p>
            <a:pPr algn="l">
              <a:buNone/>
            </a:pPr>
            <a:r>
              <a:rPr sz="1400" b="1" i="0">
                <a:solidFill>
                  <a:srgbClr val="123A7A"/>
                </a:solidFill>
                <a:latin typeface="Times New Roman"/>
                <a:ea typeface="Times New Roman"/>
                <a:cs typeface="Times New Roman"/>
              </a:rPr>
              <a:t>Finance</a:t>
            </a:r>
          </a:p>
          <a:p>
            <a:pPr algn="l">
              <a:buNone/>
            </a:pPr>
            <a:r>
              <a:rPr sz="1400" b="0" i="0">
                <a:solidFill>
                  <a:srgbClr val="222222"/>
                </a:solidFill>
                <a:latin typeface="Times New Roman"/>
                <a:ea typeface="Times New Roman"/>
                <a:cs typeface="Times New Roman"/>
              </a:rPr>
              <a:t>Cung cấp số đã xác nhận · xác nhận nguyên nhân phía sổ sách (bút toán trùng, thiếu dữ liệu, VAT)</a:t>
            </a:r>
          </a:p>
        </p:txBody>
      </p:sp>
      <p:sp>
        <p:nvSpPr>
          <p:cNvPr id="161" name="Rounded Rectangle 160"/>
          <p:cNvSpPr/>
          <p:nvPr/>
        </p:nvSpPr>
        <p:spPr>
          <a:xfrm>
            <a:off x="6263640" y="4572000"/>
            <a:ext cx="5577840" cy="12344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5"/>
          <a:stretch>
            <a:fillRect/>
          </a:stretch>
        </p:blipFill>
        <p:spPr>
          <a:xfrm>
            <a:off x="6446520" y="4864608"/>
            <a:ext cx="640080" cy="640080"/>
          </a:xfrm>
          <a:prstGeom prst="rect">
            <a:avLst/>
          </a:prstGeom>
        </p:spPr>
      </p:pic>
      <p:sp>
        <p:nvSpPr>
          <p:cNvPr id="163" name="TextBox 162"/>
          <p:cNvSpPr txBox="1"/>
          <p:nvPr/>
        </p:nvSpPr>
        <p:spPr>
          <a:xfrm>
            <a:off x="7223760" y="4617720"/>
            <a:ext cx="4526280" cy="1143000"/>
          </a:xfrm>
          <a:prstGeom prst="rect">
            <a:avLst/>
          </a:prstGeom>
          <a:noFill/>
        </p:spPr>
        <p:txBody>
          <a:bodyPr wrap="square" lIns="45720" tIns="27432" rIns="45720" bIns="27432" anchor="ctr"/>
          <a:lstStyle/>
          <a:p>
            <a:pPr algn="l">
              <a:buNone/>
            </a:pPr>
            <a:r>
              <a:rPr sz="1400" b="1" i="0">
                <a:solidFill>
                  <a:srgbClr val="C55A11"/>
                </a:solidFill>
                <a:latin typeface="Times New Roman"/>
                <a:ea typeface="Times New Roman"/>
                <a:cs typeface="Times New Roman"/>
              </a:rPr>
              <a:t>Cửa hàng / E-commerce</a:t>
            </a:r>
          </a:p>
          <a:p>
            <a:pPr algn="l">
              <a:buNone/>
            </a:pPr>
            <a:r>
              <a:rPr sz="1400" b="0" i="0">
                <a:solidFill>
                  <a:srgbClr val="222222"/>
                </a:solidFill>
                <a:latin typeface="Times New Roman"/>
                <a:ea typeface="Times New Roman"/>
                <a:cs typeface="Times New Roman"/>
              </a:rPr>
              <a:t>Xác nhận trạng thái đơn, ngày giao, hoàn trả khi DA hỏi lại</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3 bộ lọc dùng chung và 4 trang dashboard</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trang có </a:t>
            </a:r>
            <a:r>
              <a:rPr sz="1700" b="1" i="0">
                <a:solidFill>
                  <a:srgbClr val="C00000"/>
                </a:solidFill>
                <a:latin typeface="Times New Roman"/>
                <a:ea typeface="Times New Roman"/>
                <a:cs typeface="Times New Roman"/>
              </a:rPr>
              <a:t>yêu cầu tối thiểu</a:t>
            </a:r>
            <a:r>
              <a:rPr sz="1700" b="0" i="0">
                <a:solidFill>
                  <a:srgbClr val="222222"/>
                </a:solidFill>
                <a:latin typeface="Times New Roman"/>
                <a:ea typeface="Times New Roman"/>
                <a:cs typeface="Times New Roman"/>
              </a:rPr>
              <a:t> và </a:t>
            </a:r>
            <a:r>
              <a:rPr sz="1700" b="1" i="0">
                <a:solidFill>
                  <a:srgbClr val="C55A11"/>
                </a:solidFill>
                <a:latin typeface="Times New Roman"/>
                <a:ea typeface="Times New Roman"/>
                <a:cs typeface="Times New Roman"/>
              </a:rPr>
              <a:t>gợi ý mở rộng</a:t>
            </a:r>
            <a:r>
              <a:rPr sz="1700" b="0" i="0">
                <a:solidFill>
                  <a:srgbClr val="222222"/>
                </a:solidFill>
                <a:latin typeface="Times New Roman"/>
                <a:ea typeface="Times New Roman"/>
                <a:cs typeface="Times New Roman"/>
              </a:rPr>
              <a:t> ở các slide sau</a:t>
            </a:r>
          </a:p>
        </p:txBody>
      </p:sp>
      <p:sp>
        <p:nvSpPr>
          <p:cNvPr id="143" name="Rounded Rectangle 142"/>
          <p:cNvSpPr/>
          <p:nvPr/>
        </p:nvSpPr>
        <p:spPr>
          <a:xfrm>
            <a:off x="365760" y="1371600"/>
            <a:ext cx="5577840" cy="594360"/>
          </a:xfrm>
          <a:prstGeom prst="roundRect">
            <a:avLst>
              <a:gd name="adj" fmla="val 6000"/>
            </a:avLst>
          </a:prstGeom>
          <a:solidFill>
            <a:srgbClr val="E2F0D9"/>
          </a:solidFill>
          <a:ln w="19050">
            <a:solidFill>
              <a:srgbClr val="2E5B3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1  File Power BI</a:t>
            </a:r>
            <a:r>
              <a:rPr sz="1600" b="0" i="0">
                <a:solidFill>
                  <a:srgbClr val="222222"/>
                </a:solidFill>
                <a:latin typeface="Times New Roman"/>
                <a:ea typeface="Times New Roman"/>
                <a:cs typeface="Times New Roman"/>
              </a:rPr>
              <a:t> – dashboard gồm 4 trang</a:t>
            </a:r>
          </a:p>
        </p:txBody>
      </p:sp>
      <p:pic>
        <p:nvPicPr>
          <p:cNvPr id="144" name="Picture 143" descr="image.png"/>
          <p:cNvPicPr>
            <a:picLocks noChangeAspect="1"/>
          </p:cNvPicPr>
          <p:nvPr/>
        </p:nvPicPr>
        <p:blipFill>
          <a:blip r:embed="rId3"/>
          <a:stretch>
            <a:fillRect/>
          </a:stretch>
        </p:blipFill>
        <p:spPr>
          <a:xfrm>
            <a:off x="457200" y="1444752"/>
            <a:ext cx="457200" cy="457200"/>
          </a:xfrm>
          <a:prstGeom prst="rect">
            <a:avLst/>
          </a:prstGeom>
        </p:spPr>
      </p:pic>
      <p:sp>
        <p:nvSpPr>
          <p:cNvPr id="145" name="Rounded Rectangle 144"/>
          <p:cNvSpPr/>
          <p:nvPr/>
        </p:nvSpPr>
        <p:spPr>
          <a:xfrm>
            <a:off x="6263640" y="1371600"/>
            <a:ext cx="5577840" cy="594360"/>
          </a:xfrm>
          <a:prstGeom prst="roundRect">
            <a:avLst>
              <a:gd name="adj" fmla="val 6000"/>
            </a:avLst>
          </a:prstGeom>
          <a:solidFill>
            <a:srgbClr val="FBE5D6"/>
          </a:solidFill>
          <a:ln w="19050">
            <a:solidFill>
              <a:srgbClr val="C55A11"/>
            </a:solidFill>
          </a:ln>
          <a:effectLst/>
        </p:spPr>
        <p:txBody>
          <a:bodyPr rtlCol="0" anchor="ctr" wrap="square" lIns="640080" tIns="18288" bIns="18288"/>
          <a:lstStyle/>
          <a:p>
            <a:pPr algn="l">
              <a:buNone/>
            </a:pPr>
            <a:r>
              <a:rPr sz="1600" b="1" i="0">
                <a:solidFill>
                  <a:srgbClr val="222222"/>
                </a:solidFill>
                <a:latin typeface="Times New Roman"/>
                <a:ea typeface="Times New Roman"/>
                <a:cs typeface="Times New Roman"/>
              </a:rPr>
              <a:t>2  Báo cáo phân tích</a:t>
            </a:r>
            <a:r>
              <a:rPr sz="1600" b="0" i="0">
                <a:solidFill>
                  <a:srgbClr val="222222"/>
                </a:solidFill>
                <a:latin typeface="Times New Roman"/>
                <a:ea typeface="Times New Roman"/>
                <a:cs typeface="Times New Roman"/>
              </a:rPr>
              <a:t> – 8 phần theo guild_report_template</a:t>
            </a:r>
          </a:p>
        </p:txBody>
      </p:sp>
      <p:pic>
        <p:nvPicPr>
          <p:cNvPr id="146" name="Picture 145" descr="image.png"/>
          <p:cNvPicPr>
            <a:picLocks noChangeAspect="1"/>
          </p:cNvPicPr>
          <p:nvPr/>
        </p:nvPicPr>
        <p:blipFill>
          <a:blip r:embed="rId4"/>
          <a:stretch>
            <a:fillRect/>
          </a:stretch>
        </p:blipFill>
        <p:spPr>
          <a:xfrm>
            <a:off x="6355080" y="1444752"/>
            <a:ext cx="457200" cy="457200"/>
          </a:xfrm>
          <a:prstGeom prst="rect">
            <a:avLst/>
          </a:prstGeom>
        </p:spPr>
      </p:pic>
      <p:sp>
        <p:nvSpPr>
          <p:cNvPr id="147" name="TextBox 146"/>
          <p:cNvSpPr txBox="1"/>
          <p:nvPr/>
        </p:nvSpPr>
        <p:spPr>
          <a:xfrm>
            <a:off x="365760" y="210312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Bộ lọc dùng chung cho cả 4 trang</a:t>
            </a:r>
          </a:p>
        </p:txBody>
      </p:sp>
      <p:sp>
        <p:nvSpPr>
          <p:cNvPr id="148" name="Rounded Rectangle 147"/>
          <p:cNvSpPr/>
          <p:nvPr/>
        </p:nvSpPr>
        <p:spPr>
          <a:xfrm>
            <a:off x="365760" y="2468880"/>
            <a:ext cx="3657600" cy="7772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pic>
        <p:nvPicPr>
          <p:cNvPr id="149" name="Picture 148" descr="image.png"/>
          <p:cNvPicPr>
            <a:picLocks noChangeAspect="1"/>
          </p:cNvPicPr>
          <p:nvPr/>
        </p:nvPicPr>
        <p:blipFill>
          <a:blip r:embed="rId5"/>
          <a:stretch>
            <a:fillRect/>
          </a:stretch>
        </p:blipFill>
        <p:spPr>
          <a:xfrm>
            <a:off x="475488" y="2615184"/>
            <a:ext cx="475488" cy="475488"/>
          </a:xfrm>
          <a:prstGeom prst="rect">
            <a:avLst/>
          </a:prstGeom>
        </p:spPr>
      </p:pic>
      <p:sp>
        <p:nvSpPr>
          <p:cNvPr id="150" name="TextBox 149"/>
          <p:cNvSpPr txBox="1"/>
          <p:nvPr/>
        </p:nvSpPr>
        <p:spPr>
          <a:xfrm>
            <a:off x="1051560" y="2487168"/>
            <a:ext cx="2926080" cy="7315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Tháng báo cáo</a:t>
            </a:r>
          </a:p>
          <a:p>
            <a:pPr algn="l">
              <a:buNone/>
            </a:pPr>
            <a:r>
              <a:rPr sz="1300" b="0" i="0">
                <a:solidFill>
                  <a:srgbClr val="222222"/>
                </a:solidFill>
                <a:latin typeface="Times New Roman"/>
                <a:ea typeface="Times New Roman"/>
                <a:cs typeface="Times New Roman"/>
              </a:rPr>
              <a:t>Chọn một · mặc định 12/2020</a:t>
            </a:r>
          </a:p>
        </p:txBody>
      </p:sp>
      <p:sp>
        <p:nvSpPr>
          <p:cNvPr id="151" name="Rounded Rectangle 150"/>
          <p:cNvSpPr/>
          <p:nvPr/>
        </p:nvSpPr>
        <p:spPr>
          <a:xfrm>
            <a:off x="4206240" y="2468880"/>
            <a:ext cx="3657600" cy="7772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6"/>
          <a:stretch>
            <a:fillRect/>
          </a:stretch>
        </p:blipFill>
        <p:spPr>
          <a:xfrm>
            <a:off x="4315968" y="2615184"/>
            <a:ext cx="475488" cy="475488"/>
          </a:xfrm>
          <a:prstGeom prst="rect">
            <a:avLst/>
          </a:prstGeom>
        </p:spPr>
      </p:pic>
      <p:sp>
        <p:nvSpPr>
          <p:cNvPr id="153" name="TextBox 152"/>
          <p:cNvSpPr txBox="1"/>
          <p:nvPr/>
        </p:nvSpPr>
        <p:spPr>
          <a:xfrm>
            <a:off x="4892040" y="2487168"/>
            <a:ext cx="2926080" cy="7315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Kênh bán</a:t>
            </a:r>
          </a:p>
          <a:p>
            <a:pPr algn="l">
              <a:buNone/>
            </a:pPr>
            <a:r>
              <a:rPr sz="1300" b="0" i="0">
                <a:solidFill>
                  <a:srgbClr val="222222"/>
                </a:solidFill>
                <a:latin typeface="Times New Roman"/>
                <a:ea typeface="Times New Roman"/>
                <a:cs typeface="Times New Roman"/>
              </a:rPr>
              <a:t>Tất cả · Cửa hàng (POS) · Website/app</a:t>
            </a:r>
          </a:p>
        </p:txBody>
      </p:sp>
      <p:sp>
        <p:nvSpPr>
          <p:cNvPr id="154" name="Rounded Rectangle 153"/>
          <p:cNvSpPr/>
          <p:nvPr/>
        </p:nvSpPr>
        <p:spPr>
          <a:xfrm>
            <a:off x="8046720" y="2468880"/>
            <a:ext cx="3657600" cy="7772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7"/>
          <a:stretch>
            <a:fillRect/>
          </a:stretch>
        </p:blipFill>
        <p:spPr>
          <a:xfrm>
            <a:off x="8156448" y="2615184"/>
            <a:ext cx="475488" cy="475488"/>
          </a:xfrm>
          <a:prstGeom prst="rect">
            <a:avLst/>
          </a:prstGeom>
        </p:spPr>
      </p:pic>
      <p:sp>
        <p:nvSpPr>
          <p:cNvPr id="156" name="TextBox 155"/>
          <p:cNvSpPr txBox="1"/>
          <p:nvPr/>
        </p:nvSpPr>
        <p:spPr>
          <a:xfrm>
            <a:off x="8732520" y="2487168"/>
            <a:ext cx="2926080" cy="7315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Quốc gia</a:t>
            </a:r>
          </a:p>
          <a:p>
            <a:pPr algn="l">
              <a:buNone/>
            </a:pPr>
            <a:r>
              <a:rPr sz="1300" b="0" i="0">
                <a:solidFill>
                  <a:srgbClr val="222222"/>
                </a:solidFill>
                <a:latin typeface="Times New Roman"/>
                <a:ea typeface="Times New Roman"/>
                <a:cs typeface="Times New Roman"/>
              </a:rPr>
              <a:t>Tất cả hoặc 1 trong 8 quốc gia + Online</a:t>
            </a:r>
          </a:p>
        </p:txBody>
      </p:sp>
      <p:sp>
        <p:nvSpPr>
          <p:cNvPr id="157" name="TextBox 156"/>
          <p:cNvSpPr txBox="1"/>
          <p:nvPr/>
        </p:nvSpPr>
        <p:spPr>
          <a:xfrm>
            <a:off x="365760" y="33832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Bốn trang dashboard</a:t>
            </a:r>
          </a:p>
        </p:txBody>
      </p:sp>
      <p:sp>
        <p:nvSpPr>
          <p:cNvPr id="158" name="Rounded Rectangle 157"/>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9" name="Oval 158"/>
          <p:cNvSpPr/>
          <p:nvPr/>
        </p:nvSpPr>
        <p:spPr>
          <a:xfrm>
            <a:off x="1344168" y="3840480"/>
            <a:ext cx="731520" cy="731520"/>
          </a:xfrm>
          <a:prstGeom prst="ellipse">
            <a:avLst/>
          </a:prstGeom>
          <a:solidFill>
            <a:srgbClr val="2E5B31"/>
          </a:solidFill>
          <a:ln>
            <a:no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8"/>
          <a:stretch>
            <a:fillRect/>
          </a:stretch>
        </p:blipFill>
        <p:spPr>
          <a:xfrm>
            <a:off x="1505102" y="4001414"/>
            <a:ext cx="409651" cy="409651"/>
          </a:xfrm>
          <a:prstGeom prst="rect">
            <a:avLst/>
          </a:prstGeom>
        </p:spPr>
      </p:pic>
      <p:sp>
        <p:nvSpPr>
          <p:cNvPr id="161" name="TextBox 160"/>
          <p:cNvSpPr txBox="1"/>
          <p:nvPr/>
        </p:nvSpPr>
        <p:spPr>
          <a:xfrm>
            <a:off x="457200" y="4617720"/>
            <a:ext cx="2514600" cy="365760"/>
          </a:xfrm>
          <a:prstGeom prst="rect">
            <a:avLst/>
          </a:prstGeom>
          <a:noFill/>
        </p:spPr>
        <p:txBody>
          <a:bodyPr wrap="square" lIns="45720" tIns="27432" rIns="45720" bIns="27432" anchor="t"/>
          <a:lstStyle/>
          <a:p>
            <a:pPr algn="ctr">
              <a:buNone/>
            </a:pPr>
            <a:r>
              <a:rPr sz="1600" b="1" i="0">
                <a:solidFill>
                  <a:srgbClr val="2E5B31"/>
                </a:solidFill>
                <a:latin typeface="Times New Roman"/>
                <a:ea typeface="Times New Roman"/>
                <a:cs typeface="Times New Roman"/>
              </a:rPr>
              <a:t>Tổng quan</a:t>
            </a:r>
          </a:p>
        </p:txBody>
      </p:sp>
      <p:sp>
        <p:nvSpPr>
          <p:cNvPr id="162" name="TextBox 161"/>
          <p:cNvSpPr txBox="1"/>
          <p:nvPr/>
        </p:nvSpPr>
        <p:spPr>
          <a:xfrm>
            <a:off x="47548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6 thẻ KPI · Net Revenue đơn vs Finance · số đơn · Gross → Net</a:t>
            </a:r>
          </a:p>
        </p:txBody>
      </p:sp>
      <p:sp>
        <p:nvSpPr>
          <p:cNvPr id="163" name="Rounded Rectangle 162"/>
          <p:cNvSpPr/>
          <p:nvPr/>
        </p:nvSpPr>
        <p:spPr>
          <a:xfrm>
            <a:off x="3246120" y="3749039"/>
            <a:ext cx="2697480" cy="22402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4" name="Oval 163"/>
          <p:cNvSpPr/>
          <p:nvPr/>
        </p:nvSpPr>
        <p:spPr>
          <a:xfrm>
            <a:off x="4224528" y="3840480"/>
            <a:ext cx="731520" cy="731520"/>
          </a:xfrm>
          <a:prstGeom prst="ellipse">
            <a:avLst/>
          </a:prstGeom>
          <a:solidFill>
            <a:srgbClr val="C55A11"/>
          </a:solidFill>
          <a:ln>
            <a:no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9"/>
          <a:stretch>
            <a:fillRect/>
          </a:stretch>
        </p:blipFill>
        <p:spPr>
          <a:xfrm>
            <a:off x="4385462" y="4001414"/>
            <a:ext cx="409651" cy="409651"/>
          </a:xfrm>
          <a:prstGeom prst="rect">
            <a:avLst/>
          </a:prstGeom>
        </p:spPr>
      </p:pic>
      <p:sp>
        <p:nvSpPr>
          <p:cNvPr id="166" name="TextBox 165"/>
          <p:cNvSpPr txBox="1"/>
          <p:nvPr/>
        </p:nvSpPr>
        <p:spPr>
          <a:xfrm>
            <a:off x="3337560" y="4617720"/>
            <a:ext cx="2514600" cy="365760"/>
          </a:xfrm>
          <a:prstGeom prst="rect">
            <a:avLst/>
          </a:prstGeom>
          <a:noFill/>
        </p:spPr>
        <p:txBody>
          <a:bodyPr wrap="square" lIns="45720" tIns="27432" rIns="45720" bIns="27432" anchor="t"/>
          <a:lstStyle/>
          <a:p>
            <a:pPr algn="ctr">
              <a:buNone/>
            </a:pPr>
            <a:r>
              <a:rPr sz="1600" b="1" i="0">
                <a:solidFill>
                  <a:srgbClr val="C55A11"/>
                </a:solidFill>
                <a:latin typeface="Times New Roman"/>
                <a:ea typeface="Times New Roman"/>
                <a:cs typeface="Times New Roman"/>
              </a:rPr>
              <a:t>Doanh thu</a:t>
            </a:r>
          </a:p>
        </p:txBody>
      </p:sp>
      <p:sp>
        <p:nvSpPr>
          <p:cNvPr id="167" name="TextBox 166"/>
          <p:cNvSpPr txBox="1"/>
          <p:nvPr/>
        </p:nvSpPr>
        <p:spPr>
          <a:xfrm>
            <a:off x="335584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2 thẻ · bảng kênh · danh mục · quốc gia · AOV · Top 10 cửa hàng</a:t>
            </a:r>
          </a:p>
        </p:txBody>
      </p:sp>
      <p:sp>
        <p:nvSpPr>
          <p:cNvPr id="168" name="Rounded Rectangle 167"/>
          <p:cNvSpPr/>
          <p:nvPr/>
        </p:nvSpPr>
        <p:spPr>
          <a:xfrm>
            <a:off x="6126480" y="3749039"/>
            <a:ext cx="2697480" cy="22402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9" name="Oval 168"/>
          <p:cNvSpPr/>
          <p:nvPr/>
        </p:nvSpPr>
        <p:spPr>
          <a:xfrm>
            <a:off x="7104888" y="3840480"/>
            <a:ext cx="731520" cy="731520"/>
          </a:xfrm>
          <a:prstGeom prst="ellipse">
            <a:avLst/>
          </a:prstGeom>
          <a:solidFill>
            <a:srgbClr val="123A7A"/>
          </a:solidFill>
          <a:ln>
            <a:noFill/>
          </a:ln>
          <a:effectLst/>
        </p:spPr>
        <p:txBody>
          <a:bodyPr rtlCol="0" anchor="ctr" wrap="square" lIns="73152" tIns="36576" rIns="73152" bIns="36576"/>
          <a:lstStyle/>
          <a:p>
            <a:pPr algn="ctr"/>
          </a:p>
        </p:txBody>
      </p:sp>
      <p:pic>
        <p:nvPicPr>
          <p:cNvPr id="170" name="Picture 169" descr="image.png"/>
          <p:cNvPicPr>
            <a:picLocks noChangeAspect="1"/>
          </p:cNvPicPr>
          <p:nvPr/>
        </p:nvPicPr>
        <p:blipFill>
          <a:blip r:embed="rId10"/>
          <a:stretch>
            <a:fillRect/>
          </a:stretch>
        </p:blipFill>
        <p:spPr>
          <a:xfrm>
            <a:off x="7265822" y="4001414"/>
            <a:ext cx="409651" cy="409651"/>
          </a:xfrm>
          <a:prstGeom prst="rect">
            <a:avLst/>
          </a:prstGeom>
        </p:spPr>
      </p:pic>
      <p:sp>
        <p:nvSpPr>
          <p:cNvPr id="171" name="TextBox 170"/>
          <p:cNvSpPr txBox="1"/>
          <p:nvPr/>
        </p:nvSpPr>
        <p:spPr>
          <a:xfrm>
            <a:off x="6217920" y="4617720"/>
            <a:ext cx="2514600" cy="365760"/>
          </a:xfrm>
          <a:prstGeom prst="rect">
            <a:avLst/>
          </a:prstGeom>
          <a:noFill/>
        </p:spPr>
        <p:txBody>
          <a:bodyPr wrap="square" lIns="45720" tIns="27432" rIns="45720" bIns="27432" anchor="t"/>
          <a:lstStyle/>
          <a:p>
            <a:pPr algn="ctr">
              <a:buNone/>
            </a:pPr>
            <a:r>
              <a:rPr sz="1600" b="1" i="0">
                <a:solidFill>
                  <a:srgbClr val="123A7A"/>
                </a:solidFill>
                <a:latin typeface="Times New Roman"/>
                <a:ea typeface="Times New Roman"/>
                <a:cs typeface="Times New Roman"/>
              </a:rPr>
              <a:t>Đối soát</a:t>
            </a:r>
          </a:p>
        </p:txBody>
      </p:sp>
      <p:sp>
        <p:nvSpPr>
          <p:cNvPr id="172" name="TextBox 171"/>
          <p:cNvSpPr txBox="1"/>
          <p:nvPr/>
        </p:nvSpPr>
        <p:spPr>
          <a:xfrm>
            <a:off x="6236208"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4 thẻ · Δ theo tháng · bảng cửa hàng có cờ · Δ POS và online</a:t>
            </a:r>
          </a:p>
        </p:txBody>
      </p:sp>
      <p:sp>
        <p:nvSpPr>
          <p:cNvPr id="173" name="Rounded Rectangle 172"/>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4" name="Oval 173"/>
          <p:cNvSpPr/>
          <p:nvPr/>
        </p:nvSpPr>
        <p:spPr>
          <a:xfrm>
            <a:off x="9985248" y="3840480"/>
            <a:ext cx="731520" cy="731520"/>
          </a:xfrm>
          <a:prstGeom prst="ellipse">
            <a:avLst/>
          </a:prstGeom>
          <a:solidFill>
            <a:srgbClr val="C00000"/>
          </a:solidFill>
          <a:ln>
            <a:noFill/>
          </a:ln>
          <a:effectLst/>
        </p:spPr>
        <p:txBody>
          <a:bodyPr rtlCol="0" anchor="ctr" wrap="square" lIns="73152" tIns="36576" rIns="73152" bIns="36576"/>
          <a:lstStyle/>
          <a:p>
            <a:pPr algn="ctr"/>
          </a:p>
        </p:txBody>
      </p:sp>
      <p:pic>
        <p:nvPicPr>
          <p:cNvPr id="175" name="Picture 174" descr="image.png"/>
          <p:cNvPicPr>
            <a:picLocks noChangeAspect="1"/>
          </p:cNvPicPr>
          <p:nvPr/>
        </p:nvPicPr>
        <p:blipFill>
          <a:blip r:embed="rId11"/>
          <a:stretch>
            <a:fillRect/>
          </a:stretch>
        </p:blipFill>
        <p:spPr>
          <a:xfrm>
            <a:off x="10146182" y="4001414"/>
            <a:ext cx="409651" cy="409651"/>
          </a:xfrm>
          <a:prstGeom prst="rect">
            <a:avLst/>
          </a:prstGeom>
        </p:spPr>
      </p:pic>
      <p:sp>
        <p:nvSpPr>
          <p:cNvPr id="176" name="TextBox 175"/>
          <p:cNvSpPr txBox="1"/>
          <p:nvPr/>
        </p:nvSpPr>
        <p:spPr>
          <a:xfrm>
            <a:off x="9098280" y="4617720"/>
            <a:ext cx="2514600" cy="365760"/>
          </a:xfrm>
          <a:prstGeom prst="rect">
            <a:avLst/>
          </a:prstGeom>
          <a:noFill/>
        </p:spPr>
        <p:txBody>
          <a:bodyPr wrap="square" lIns="45720" tIns="27432" rIns="45720" bIns="27432" anchor="t"/>
          <a:lstStyle/>
          <a:p>
            <a:pPr algn="ctr">
              <a:buNone/>
            </a:pPr>
            <a:r>
              <a:rPr sz="1600" b="1" i="0">
                <a:solidFill>
                  <a:srgbClr val="C00000"/>
                </a:solidFill>
                <a:latin typeface="Times New Roman"/>
                <a:ea typeface="Times New Roman"/>
                <a:cs typeface="Times New Roman"/>
              </a:rPr>
              <a:t>Hoàn trả &amp; chất lượng</a:t>
            </a:r>
          </a:p>
        </p:txBody>
      </p:sp>
      <p:sp>
        <p:nvSpPr>
          <p:cNvPr id="177" name="TextBox 176"/>
          <p:cNvSpPr txBox="1"/>
          <p:nvPr/>
        </p:nvSpPr>
        <p:spPr>
          <a:xfrm>
            <a:off x="9116567" y="4983480"/>
            <a:ext cx="2478024" cy="96012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4 thẻ · lý do trả · tỷ lệ theo danh mục · huỷ/đang giao</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6 thẻ KPI và 3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Tổng quan: </a:t>
            </a:r>
            <a:r>
              <a:rPr sz="1700" b="1" i="0">
                <a:solidFill>
                  <a:srgbClr val="C55A11"/>
                </a:solidFill>
                <a:latin typeface="Times New Roman"/>
                <a:ea typeface="Times New Roman"/>
                <a:cs typeface="Times New Roman"/>
              </a:rPr>
              <a:t>6 thẻ KPI</a:t>
            </a:r>
            <a:r>
              <a:rPr sz="1700" b="0" i="0">
                <a:solidFill>
                  <a:srgbClr val="222222"/>
                </a:solidFill>
                <a:latin typeface="Times New Roman"/>
                <a:ea typeface="Times New Roman"/>
                <a:cs typeface="Times New Roman"/>
              </a:rPr>
              <a:t> ở trên, </a:t>
            </a:r>
            <a:r>
              <a:rPr sz="1700" b="1" i="0">
                <a:solidFill>
                  <a:srgbClr val="C55A11"/>
                </a:solidFill>
                <a:latin typeface="Times New Roman"/>
                <a:ea typeface="Times New Roman"/>
                <a:cs typeface="Times New Roman"/>
              </a:rPr>
              <a:t>3 biểu đồ</a:t>
            </a:r>
            <a:r>
              <a:rPr sz="1700" b="0" i="0">
                <a:solidFill>
                  <a:srgbClr val="222222"/>
                </a:solidFill>
                <a:latin typeface="Times New Roman"/>
                <a:ea typeface="Times New Roman"/>
                <a:cs typeface="Times New Roman"/>
              </a:rPr>
              <a:t> ở dưới</a:t>
            </a:r>
          </a:p>
        </p:txBody>
      </p:sp>
      <p:sp>
        <p:nvSpPr>
          <p:cNvPr id="143" name="Rectangle 142"/>
          <p:cNvSpPr/>
          <p:nvPr/>
        </p:nvSpPr>
        <p:spPr>
          <a:xfrm>
            <a:off x="365760" y="1371600"/>
            <a:ext cx="11475720" cy="502920"/>
          </a:xfrm>
          <a:prstGeom prst="rect">
            <a:avLst/>
          </a:prstGeom>
          <a:solidFill>
            <a:srgbClr val="2E5B3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1 · Tổng quan</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Tháng này bán được bao nhiêu và có khớp Finance không?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6" name="TextBox 145"/>
          <p:cNvSpPr txBox="1"/>
          <p:nvPr/>
        </p:nvSpPr>
        <p:spPr>
          <a:xfrm>
            <a:off x="45720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Gross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230124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8" name="TextBox 147"/>
          <p:cNvSpPr txBox="1"/>
          <p:nvPr/>
        </p:nvSpPr>
        <p:spPr>
          <a:xfrm>
            <a:off x="239268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423672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0" name="TextBox 149"/>
          <p:cNvSpPr txBox="1"/>
          <p:nvPr/>
        </p:nvSpPr>
        <p:spPr>
          <a:xfrm>
            <a:off x="432816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đơn hoàn tất</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617220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TextBox 151"/>
          <p:cNvSpPr txBox="1"/>
          <p:nvPr/>
        </p:nvSpPr>
        <p:spPr>
          <a:xfrm>
            <a:off x="626364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AOV</a:t>
            </a:r>
          </a:p>
          <a:p>
            <a:pPr algn="l">
              <a:buNone/>
            </a:pPr>
            <a:r>
              <a:rPr sz="1200" b="0" i="0">
                <a:solidFill>
                  <a:srgbClr val="595959"/>
                </a:solidFill>
                <a:latin typeface="Times New Roman"/>
                <a:ea typeface="Times New Roman"/>
                <a:cs typeface="Times New Roman"/>
              </a:rPr>
              <a:t>USD/đơn</a:t>
            </a:r>
          </a:p>
        </p:txBody>
      </p:sp>
      <p:sp>
        <p:nvSpPr>
          <p:cNvPr id="153" name="Rounded Rectangle 152"/>
          <p:cNvSpPr/>
          <p:nvPr/>
        </p:nvSpPr>
        <p:spPr>
          <a:xfrm>
            <a:off x="810768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4" name="TextBox 153"/>
          <p:cNvSpPr txBox="1"/>
          <p:nvPr/>
        </p:nvSpPr>
        <p:spPr>
          <a:xfrm>
            <a:off x="819912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ASP</a:t>
            </a:r>
          </a:p>
          <a:p>
            <a:pPr algn="l">
              <a:buNone/>
            </a:pPr>
            <a:r>
              <a:rPr sz="1200" b="0" i="0">
                <a:solidFill>
                  <a:srgbClr val="595959"/>
                </a:solidFill>
                <a:latin typeface="Times New Roman"/>
                <a:ea typeface="Times New Roman"/>
                <a:cs typeface="Times New Roman"/>
              </a:rPr>
              <a:t>USD/sản phẩm</a:t>
            </a:r>
          </a:p>
        </p:txBody>
      </p:sp>
      <p:sp>
        <p:nvSpPr>
          <p:cNvPr id="155" name="Rounded Rectangle 154"/>
          <p:cNvSpPr/>
          <p:nvPr/>
        </p:nvSpPr>
        <p:spPr>
          <a:xfrm>
            <a:off x="10043160" y="2331720"/>
            <a:ext cx="179832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10134600" y="2359152"/>
            <a:ext cx="161544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Finance</a:t>
            </a:r>
          </a:p>
          <a:p>
            <a:pPr algn="l">
              <a:buNone/>
            </a:pPr>
            <a:r>
              <a:rPr sz="1200" b="0" i="0">
                <a:solidFill>
                  <a:srgbClr val="595959"/>
                </a:solidFill>
                <a:latin typeface="Times New Roman"/>
                <a:ea typeface="Times New Roman"/>
                <a:cs typeface="Times New Roman"/>
              </a:rPr>
              <a:t>USD · % · số ô vượt</a:t>
            </a:r>
          </a:p>
        </p:txBody>
      </p:sp>
      <p:sp>
        <p:nvSpPr>
          <p:cNvPr id="157" name="TextBox 156"/>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Biểu đồ và bảng</a:t>
            </a:r>
          </a:p>
        </p:txBody>
      </p:sp>
      <p:sp>
        <p:nvSpPr>
          <p:cNvPr id="158" name="Rounded Rectangle 157"/>
          <p:cNvSpPr/>
          <p:nvPr/>
        </p:nvSpPr>
        <p:spPr>
          <a:xfrm>
            <a:off x="365760" y="3749039"/>
            <a:ext cx="3733799"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59" name="Picture 158" descr="image.png"/>
          <p:cNvPicPr>
            <a:picLocks noChangeAspect="1"/>
          </p:cNvPicPr>
          <p:nvPr/>
        </p:nvPicPr>
        <p:blipFill>
          <a:blip r:embed="rId3"/>
          <a:stretch>
            <a:fillRect/>
          </a:stretch>
        </p:blipFill>
        <p:spPr>
          <a:xfrm>
            <a:off x="475488" y="4640579"/>
            <a:ext cx="457200" cy="457200"/>
          </a:xfrm>
          <a:prstGeom prst="rect">
            <a:avLst/>
          </a:prstGeom>
        </p:spPr>
      </p:pic>
      <p:sp>
        <p:nvSpPr>
          <p:cNvPr id="160" name="TextBox 159"/>
          <p:cNvSpPr txBox="1"/>
          <p:nvPr/>
        </p:nvSpPr>
        <p:spPr>
          <a:xfrm>
            <a:off x="1024128" y="3776472"/>
            <a:ext cx="300228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Line chart Net Revenue: đơn vs Finance</a:t>
            </a:r>
          </a:p>
          <a:p>
            <a:pPr algn="l">
              <a:buNone/>
            </a:pPr>
            <a:r>
              <a:rPr sz="1300" b="0" i="0">
                <a:solidFill>
                  <a:srgbClr val="222222"/>
                </a:solidFill>
                <a:latin typeface="Times New Roman"/>
                <a:ea typeface="Times New Roman"/>
                <a:cs typeface="Times New Roman"/>
              </a:rPr>
              <a:t>24 tháng 01/2019–12/2020, hai đường; không bị slicer Tháng lọc</a:t>
            </a:r>
          </a:p>
        </p:txBody>
      </p:sp>
      <p:sp>
        <p:nvSpPr>
          <p:cNvPr id="161" name="Rounded Rectangle 160"/>
          <p:cNvSpPr/>
          <p:nvPr/>
        </p:nvSpPr>
        <p:spPr>
          <a:xfrm>
            <a:off x="4236720" y="3749039"/>
            <a:ext cx="3733799"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2" name="Picture 161" descr="image.png"/>
          <p:cNvPicPr>
            <a:picLocks noChangeAspect="1"/>
          </p:cNvPicPr>
          <p:nvPr/>
        </p:nvPicPr>
        <p:blipFill>
          <a:blip r:embed="rId4"/>
          <a:stretch>
            <a:fillRect/>
          </a:stretch>
        </p:blipFill>
        <p:spPr>
          <a:xfrm>
            <a:off x="4346448" y="4640579"/>
            <a:ext cx="457200" cy="457200"/>
          </a:xfrm>
          <a:prstGeom prst="rect">
            <a:avLst/>
          </a:prstGeom>
        </p:spPr>
      </p:pic>
      <p:sp>
        <p:nvSpPr>
          <p:cNvPr id="163" name="TextBox 162"/>
          <p:cNvSpPr txBox="1"/>
          <p:nvPr/>
        </p:nvSpPr>
        <p:spPr>
          <a:xfrm>
            <a:off x="4895088" y="3776472"/>
            <a:ext cx="300228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Line chart số đơn hoàn tất</a:t>
            </a:r>
          </a:p>
          <a:p>
            <a:pPr algn="l">
              <a:buNone/>
            </a:pPr>
            <a:r>
              <a:rPr sz="1300" b="0" i="0">
                <a:solidFill>
                  <a:srgbClr val="222222"/>
                </a:solidFill>
                <a:latin typeface="Times New Roman"/>
                <a:ea typeface="Times New Roman"/>
                <a:cs typeface="Times New Roman"/>
              </a:rPr>
              <a:t>Theo tháng đặt hàng, cùng 24 tháng</a:t>
            </a:r>
          </a:p>
        </p:txBody>
      </p:sp>
      <p:sp>
        <p:nvSpPr>
          <p:cNvPr id="164" name="Rounded Rectangle 163"/>
          <p:cNvSpPr/>
          <p:nvPr/>
        </p:nvSpPr>
        <p:spPr>
          <a:xfrm>
            <a:off x="8107680" y="3749039"/>
            <a:ext cx="3733799" cy="224028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65" name="Picture 164" descr="image.png"/>
          <p:cNvPicPr>
            <a:picLocks noChangeAspect="1"/>
          </p:cNvPicPr>
          <p:nvPr/>
        </p:nvPicPr>
        <p:blipFill>
          <a:blip r:embed="rId5"/>
          <a:stretch>
            <a:fillRect/>
          </a:stretch>
        </p:blipFill>
        <p:spPr>
          <a:xfrm>
            <a:off x="8217408" y="4640579"/>
            <a:ext cx="457200" cy="457200"/>
          </a:xfrm>
          <a:prstGeom prst="rect">
            <a:avLst/>
          </a:prstGeom>
        </p:spPr>
      </p:pic>
      <p:sp>
        <p:nvSpPr>
          <p:cNvPr id="166" name="TextBox 165"/>
          <p:cNvSpPr txBox="1"/>
          <p:nvPr/>
        </p:nvSpPr>
        <p:spPr>
          <a:xfrm>
            <a:off x="8766048" y="3776472"/>
            <a:ext cx="3002280" cy="2185416"/>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Waterfall Gross → Net Revenue</a:t>
            </a:r>
          </a:p>
          <a:p>
            <a:pPr algn="l">
              <a:buNone/>
            </a:pPr>
            <a:r>
              <a:rPr sz="1300" b="0" i="0">
                <a:solidFill>
                  <a:srgbClr val="222222"/>
                </a:solidFill>
                <a:latin typeface="Times New Roman"/>
                <a:ea typeface="Times New Roman"/>
                <a:cs typeface="Times New Roman"/>
              </a:rPr>
              <a:t>Tháng đang chọn: Gross − Giảm giá − Hoàn trả</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doanh thu đến từ kênh, danh mục, quốc gia nào?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Doanh thu: </a:t>
            </a:r>
            <a:r>
              <a:rPr sz="1700" b="1" i="0">
                <a:solidFill>
                  <a:srgbClr val="C55A11"/>
                </a:solidFill>
                <a:latin typeface="Times New Roman"/>
                <a:ea typeface="Times New Roman"/>
                <a:cs typeface="Times New Roman"/>
              </a:rPr>
              <a:t>bảng kênh</a:t>
            </a:r>
            <a:r>
              <a:rPr sz="1700" b="0" i="0">
                <a:solidFill>
                  <a:srgbClr val="222222"/>
                </a:solidFill>
                <a:latin typeface="Times New Roman"/>
                <a:ea typeface="Times New Roman"/>
                <a:cs typeface="Times New Roman"/>
              </a:rPr>
              <a:t>, 3 biểu đồ cơ cấu và </a:t>
            </a:r>
            <a:r>
              <a:rPr sz="1700" b="1" i="0">
                <a:solidFill>
                  <a:srgbClr val="C55A11"/>
                </a:solidFill>
                <a:latin typeface="Times New Roman"/>
                <a:ea typeface="Times New Roman"/>
                <a:cs typeface="Times New Roman"/>
              </a:rPr>
              <a:t>Top 10 cửa hàng</a:t>
            </a:r>
          </a:p>
        </p:txBody>
      </p:sp>
      <p:sp>
        <p:nvSpPr>
          <p:cNvPr id="143" name="Rectangle 142"/>
          <p:cNvSpPr/>
          <p:nvPr/>
        </p:nvSpPr>
        <p:spPr>
          <a:xfrm>
            <a:off x="365760" y="1371600"/>
            <a:ext cx="11475720" cy="502920"/>
          </a:xfrm>
          <a:prstGeom prst="rect">
            <a:avLst/>
          </a:prstGeom>
          <a:solidFill>
            <a:srgbClr val="C55A11"/>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2 · Doanh thu</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tập trung ở đâu, kênh nào tăng?</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566928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6" name="TextBox 145"/>
          <p:cNvSpPr txBox="1"/>
          <p:nvPr/>
        </p:nvSpPr>
        <p:spPr>
          <a:xfrm>
            <a:off x="457200" y="2359152"/>
            <a:ext cx="548640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Sales</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6172200" y="2331720"/>
            <a:ext cx="566928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TextBox 147"/>
          <p:cNvSpPr txBox="1"/>
          <p:nvPr/>
        </p:nvSpPr>
        <p:spPr>
          <a:xfrm>
            <a:off x="6263640" y="2359152"/>
            <a:ext cx="548640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sản phẩm bán (Units)</a:t>
            </a:r>
          </a:p>
          <a:p>
            <a:pPr algn="l">
              <a:buNone/>
            </a:pPr>
            <a:r>
              <a:rPr sz="1200" b="0" i="0">
                <a:solidFill>
                  <a:srgbClr val="595959"/>
                </a:solidFill>
                <a:latin typeface="Times New Roman"/>
                <a:ea typeface="Times New Roman"/>
                <a:cs typeface="Times New Roman"/>
              </a:rPr>
              <a:t>sản phẩm</a:t>
            </a:r>
          </a:p>
        </p:txBody>
      </p:sp>
      <p:sp>
        <p:nvSpPr>
          <p:cNvPr id="149" name="TextBox 148"/>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Biểu đồ và bảng</a:t>
            </a:r>
          </a:p>
        </p:txBody>
      </p:sp>
      <p:sp>
        <p:nvSpPr>
          <p:cNvPr id="150" name="Rounded Rectangle 149"/>
          <p:cNvSpPr/>
          <p:nvPr/>
        </p:nvSpPr>
        <p:spPr>
          <a:xfrm>
            <a:off x="365760" y="3749039"/>
            <a:ext cx="3733799" cy="10515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1" name="Picture 150" descr="image.png"/>
          <p:cNvPicPr>
            <a:picLocks noChangeAspect="1"/>
          </p:cNvPicPr>
          <p:nvPr/>
        </p:nvPicPr>
        <p:blipFill>
          <a:blip r:embed="rId3"/>
          <a:stretch>
            <a:fillRect/>
          </a:stretch>
        </p:blipFill>
        <p:spPr>
          <a:xfrm>
            <a:off x="475488" y="4046220"/>
            <a:ext cx="457200" cy="457200"/>
          </a:xfrm>
          <a:prstGeom prst="rect">
            <a:avLst/>
          </a:prstGeom>
        </p:spPr>
      </p:pic>
      <p:sp>
        <p:nvSpPr>
          <p:cNvPr id="152" name="TextBox 151"/>
          <p:cNvSpPr txBox="1"/>
          <p:nvPr/>
        </p:nvSpPr>
        <p:spPr>
          <a:xfrm>
            <a:off x="1024128" y="3776472"/>
            <a:ext cx="3002280" cy="99669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doanh thu theo kênh</a:t>
            </a:r>
          </a:p>
          <a:p>
            <a:pPr algn="l">
              <a:buNone/>
            </a:pPr>
            <a:r>
              <a:rPr sz="1300" b="0" i="0">
                <a:solidFill>
                  <a:srgbClr val="222222"/>
                </a:solidFill>
                <a:latin typeface="Times New Roman"/>
                <a:ea typeface="Times New Roman"/>
                <a:cs typeface="Times New Roman"/>
              </a:rPr>
              <a:t>Net Sales, tỷ trọng, số đơn, tháng trước, cùng kỳ, thay đổi</a:t>
            </a:r>
          </a:p>
        </p:txBody>
      </p:sp>
      <p:sp>
        <p:nvSpPr>
          <p:cNvPr id="153" name="Rounded Rectangle 152"/>
          <p:cNvSpPr/>
          <p:nvPr/>
        </p:nvSpPr>
        <p:spPr>
          <a:xfrm>
            <a:off x="4236720" y="3749039"/>
            <a:ext cx="3733799" cy="10515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4" name="Picture 153" descr="image.png"/>
          <p:cNvPicPr>
            <a:picLocks noChangeAspect="1"/>
          </p:cNvPicPr>
          <p:nvPr/>
        </p:nvPicPr>
        <p:blipFill>
          <a:blip r:embed="rId4"/>
          <a:stretch>
            <a:fillRect/>
          </a:stretch>
        </p:blipFill>
        <p:spPr>
          <a:xfrm>
            <a:off x="4346448" y="4046220"/>
            <a:ext cx="457200" cy="457200"/>
          </a:xfrm>
          <a:prstGeom prst="rect">
            <a:avLst/>
          </a:prstGeom>
        </p:spPr>
      </p:pic>
      <p:sp>
        <p:nvSpPr>
          <p:cNvPr id="155" name="TextBox 154"/>
          <p:cNvSpPr txBox="1"/>
          <p:nvPr/>
        </p:nvSpPr>
        <p:spPr>
          <a:xfrm>
            <a:off x="4895088" y="3776472"/>
            <a:ext cx="3002280" cy="99669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Pie cơ cấu danh mục</a:t>
            </a:r>
          </a:p>
          <a:p>
            <a:pPr algn="l">
              <a:buNone/>
            </a:pPr>
            <a:r>
              <a:rPr sz="1300" b="0" i="0">
                <a:solidFill>
                  <a:srgbClr val="222222"/>
                </a:solidFill>
                <a:latin typeface="Times New Roman"/>
                <a:ea typeface="Times New Roman"/>
                <a:cs typeface="Times New Roman"/>
              </a:rPr>
              <a:t>Net Sales theo category, tối đa 7 lát + Khác</a:t>
            </a:r>
          </a:p>
        </p:txBody>
      </p:sp>
      <p:sp>
        <p:nvSpPr>
          <p:cNvPr id="156" name="Rounded Rectangle 155"/>
          <p:cNvSpPr/>
          <p:nvPr/>
        </p:nvSpPr>
        <p:spPr>
          <a:xfrm>
            <a:off x="8107680" y="3749039"/>
            <a:ext cx="3733799" cy="10515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57" name="Picture 156" descr="image.png"/>
          <p:cNvPicPr>
            <a:picLocks noChangeAspect="1"/>
          </p:cNvPicPr>
          <p:nvPr/>
        </p:nvPicPr>
        <p:blipFill>
          <a:blip r:embed="rId5"/>
          <a:stretch>
            <a:fillRect/>
          </a:stretch>
        </p:blipFill>
        <p:spPr>
          <a:xfrm>
            <a:off x="8217408" y="4046220"/>
            <a:ext cx="457200" cy="457200"/>
          </a:xfrm>
          <a:prstGeom prst="rect">
            <a:avLst/>
          </a:prstGeom>
        </p:spPr>
      </p:pic>
      <p:sp>
        <p:nvSpPr>
          <p:cNvPr id="158" name="TextBox 157"/>
          <p:cNvSpPr txBox="1"/>
          <p:nvPr/>
        </p:nvSpPr>
        <p:spPr>
          <a:xfrm>
            <a:off x="8766048" y="3776472"/>
            <a:ext cx="3002280" cy="99669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Treemap quốc gia</a:t>
            </a:r>
          </a:p>
          <a:p>
            <a:pPr algn="l">
              <a:buNone/>
            </a:pPr>
            <a:r>
              <a:rPr sz="1300" b="0" i="0">
                <a:solidFill>
                  <a:srgbClr val="222222"/>
                </a:solidFill>
                <a:latin typeface="Times New Roman"/>
                <a:ea typeface="Times New Roman"/>
                <a:cs typeface="Times New Roman"/>
              </a:rPr>
              <a:t>Net Sales theo country (Online là một ô)</a:t>
            </a:r>
          </a:p>
        </p:txBody>
      </p:sp>
      <p:sp>
        <p:nvSpPr>
          <p:cNvPr id="159" name="Rounded Rectangle 158"/>
          <p:cNvSpPr/>
          <p:nvPr/>
        </p:nvSpPr>
        <p:spPr>
          <a:xfrm>
            <a:off x="365760" y="4937759"/>
            <a:ext cx="3733799" cy="10515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0" name="Picture 159" descr="image.png"/>
          <p:cNvPicPr>
            <a:picLocks noChangeAspect="1"/>
          </p:cNvPicPr>
          <p:nvPr/>
        </p:nvPicPr>
        <p:blipFill>
          <a:blip r:embed="rId6"/>
          <a:stretch>
            <a:fillRect/>
          </a:stretch>
        </p:blipFill>
        <p:spPr>
          <a:xfrm>
            <a:off x="475488" y="5234940"/>
            <a:ext cx="457200" cy="457200"/>
          </a:xfrm>
          <a:prstGeom prst="rect">
            <a:avLst/>
          </a:prstGeom>
        </p:spPr>
      </p:pic>
      <p:sp>
        <p:nvSpPr>
          <p:cNvPr id="161" name="TextBox 160"/>
          <p:cNvSpPr txBox="1"/>
          <p:nvPr/>
        </p:nvSpPr>
        <p:spPr>
          <a:xfrm>
            <a:off x="1024128" y="4965192"/>
            <a:ext cx="3002280" cy="99669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Bar AOV theo kênh</a:t>
            </a:r>
          </a:p>
          <a:p>
            <a:pPr algn="l">
              <a:buNone/>
            </a:pPr>
            <a:r>
              <a:rPr sz="1300" b="0" i="0">
                <a:solidFill>
                  <a:srgbClr val="222222"/>
                </a:solidFill>
                <a:latin typeface="Times New Roman"/>
                <a:ea typeface="Times New Roman"/>
                <a:cs typeface="Times New Roman"/>
              </a:rPr>
              <a:t>POS và Website/app</a:t>
            </a:r>
          </a:p>
        </p:txBody>
      </p:sp>
      <p:sp>
        <p:nvSpPr>
          <p:cNvPr id="162" name="Rounded Rectangle 161"/>
          <p:cNvSpPr/>
          <p:nvPr/>
        </p:nvSpPr>
        <p:spPr>
          <a:xfrm>
            <a:off x="4236720" y="4937759"/>
            <a:ext cx="3733799" cy="10515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63" name="Picture 162" descr="image.png"/>
          <p:cNvPicPr>
            <a:picLocks noChangeAspect="1"/>
          </p:cNvPicPr>
          <p:nvPr/>
        </p:nvPicPr>
        <p:blipFill>
          <a:blip r:embed="rId7"/>
          <a:stretch>
            <a:fillRect/>
          </a:stretch>
        </p:blipFill>
        <p:spPr>
          <a:xfrm>
            <a:off x="4346448" y="5234940"/>
            <a:ext cx="457200" cy="457200"/>
          </a:xfrm>
          <a:prstGeom prst="rect">
            <a:avLst/>
          </a:prstGeom>
        </p:spPr>
      </p:pic>
      <p:sp>
        <p:nvSpPr>
          <p:cNvPr id="164" name="TextBox 163"/>
          <p:cNvSpPr txBox="1"/>
          <p:nvPr/>
        </p:nvSpPr>
        <p:spPr>
          <a:xfrm>
            <a:off x="4895088" y="4965192"/>
            <a:ext cx="3002280" cy="996696"/>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Bảng Top 10 cửa hàng</a:t>
            </a:r>
          </a:p>
          <a:p>
            <a:pPr algn="l">
              <a:buNone/>
            </a:pPr>
            <a:r>
              <a:rPr sz="1300" b="0" i="0">
                <a:solidFill>
                  <a:srgbClr val="222222"/>
                </a:solidFill>
                <a:latin typeface="Times New Roman"/>
                <a:ea typeface="Times New Roman"/>
                <a:cs typeface="Times New Roman"/>
              </a:rPr>
              <a:t>Net Sales, số đơn, tháng trước, cùng kỳ, ▲/▼</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số của mình lệch Finance bao nhiêu,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a:t>
            </a:r>
            <a:r>
              <a:rPr sz="1700" b="1" i="0">
                <a:solidFill>
                  <a:srgbClr val="123A7A"/>
                </a:solidFill>
                <a:latin typeface="Times New Roman"/>
                <a:ea typeface="Times New Roman"/>
                <a:cs typeface="Times New Roman"/>
              </a:rPr>
              <a:t>Δ = Finance − dữ liệu đơn</a:t>
            </a:r>
            <a:r>
              <a:rPr sz="1700" b="0" i="0">
                <a:solidFill>
                  <a:srgbClr val="222222"/>
                </a:solidFill>
                <a:latin typeface="Times New Roman"/>
                <a:ea typeface="Times New Roman"/>
                <a:cs typeface="Times New Roman"/>
              </a:rPr>
              <a:t>; cờ khi |Δ| &gt; </a:t>
            </a:r>
            <a:r>
              <a:rPr sz="1700" b="1" i="0">
                <a:solidFill>
                  <a:srgbClr val="C00000"/>
                </a:solidFill>
                <a:latin typeface="Times New Roman"/>
                <a:ea typeface="Times New Roman"/>
                <a:cs typeface="Times New Roman"/>
              </a:rPr>
              <a:t>200 USD</a:t>
            </a:r>
            <a:r>
              <a:rPr sz="1700" b="0" i="0">
                <a:solidFill>
                  <a:srgbClr val="222222"/>
                </a:solidFill>
                <a:latin typeface="Times New Roman"/>
                <a:ea typeface="Times New Roman"/>
                <a:cs typeface="Times New Roman"/>
              </a:rPr>
              <a:t> và |Δ%| &gt; </a:t>
            </a:r>
            <a:r>
              <a:rPr sz="1700" b="1" i="0">
                <a:solidFill>
                  <a:srgbClr val="C00000"/>
                </a:solidFill>
                <a:latin typeface="Times New Roman"/>
                <a:ea typeface="Times New Roman"/>
                <a:cs typeface="Times New Roman"/>
              </a:rPr>
              <a:t>1%</a:t>
            </a:r>
          </a:p>
        </p:txBody>
      </p:sp>
      <p:sp>
        <p:nvSpPr>
          <p:cNvPr id="143" name="Rectangle 142"/>
          <p:cNvSpPr/>
          <p:nvPr/>
        </p:nvSpPr>
        <p:spPr>
          <a:xfrm>
            <a:off x="365760" y="1371600"/>
            <a:ext cx="11475720" cy="502920"/>
          </a:xfrm>
          <a:prstGeom prst="rect">
            <a:avLst/>
          </a:prstGeom>
          <a:solidFill>
            <a:srgbClr val="123A7A"/>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3 · Đối soát</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Chênh lệch nằm ở cửa hàng nào, tháng nào, kênh nào?</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(đơn)</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Net Revenue (Finance)</a:t>
            </a:r>
          </a:p>
          <a:p>
            <a:pPr algn="l">
              <a:buNone/>
            </a:pPr>
            <a:r>
              <a:rPr sz="1200" b="0" i="0">
                <a:solidFill>
                  <a:srgbClr val="595959"/>
                </a:solidFill>
                <a:latin typeface="Times New Roman"/>
                <a:ea typeface="Times New Roman"/>
                <a:cs typeface="Times New Roman"/>
              </a:rPr>
              <a:t>nghìn USD</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Chênh lệch Δ</a:t>
            </a:r>
          </a:p>
          <a:p>
            <a:pPr algn="l">
              <a:buNone/>
            </a:pPr>
            <a:r>
              <a:rPr sz="1200" b="0" i="0">
                <a:solidFill>
                  <a:srgbClr val="595959"/>
                </a:solidFill>
                <a:latin typeface="Times New Roman"/>
                <a:ea typeface="Times New Roman"/>
                <a:cs typeface="Times New Roman"/>
              </a:rPr>
              <a:t>USD · Δ% · Δ sau quy đổi online</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Số ô vượt ngưỡng</a:t>
            </a:r>
          </a:p>
          <a:p>
            <a:pPr algn="l">
              <a:buNone/>
            </a:pPr>
            <a:r>
              <a:rPr sz="1200" b="0" i="0">
                <a:solidFill>
                  <a:srgbClr val="595959"/>
                </a:solidFill>
                <a:latin typeface="Times New Roman"/>
                <a:ea typeface="Times New Roman"/>
                <a:cs typeface="Times New Roman"/>
              </a:rPr>
              <a:t>tháng × cửa hàng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Line chart Δ theo tháng</a:t>
            </a:r>
          </a:p>
          <a:p>
            <a:pPr algn="l">
              <a:buNone/>
            </a:pPr>
            <a:r>
              <a:rPr sz="1300" b="0" i="0">
                <a:solidFill>
                  <a:srgbClr val="222222"/>
                </a:solidFill>
                <a:latin typeface="Times New Roman"/>
                <a:ea typeface="Times New Roman"/>
                <a:cs typeface="Times New Roman"/>
              </a:rPr>
              <a:t>Δ gốc và Δ sau khi quy online về ngày giao</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Bảng đối soát theo cửa hàng</a:t>
            </a:r>
          </a:p>
          <a:p>
            <a:pPr algn="l">
              <a:buNone/>
            </a:pPr>
            <a:r>
              <a:rPr sz="1300" b="0" i="0">
                <a:solidFill>
                  <a:srgbClr val="222222"/>
                </a:solidFill>
                <a:latin typeface="Times New Roman"/>
                <a:ea typeface="Times New Roman"/>
                <a:cs typeface="Times New Roman"/>
              </a:rPr>
              <a:t>Đơn, Finance, Δ, Δ%, Δ sau quy đổi, cờ Vượt</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Line chart Δ kênh POS</a:t>
            </a:r>
          </a:p>
          <a:p>
            <a:pPr algn="l">
              <a:buNone/>
            </a:pPr>
            <a:r>
              <a:rPr sz="1300" b="0" i="0">
                <a:solidFill>
                  <a:srgbClr val="222222"/>
                </a:solidFill>
                <a:latin typeface="Times New Roman"/>
                <a:ea typeface="Times New Roman"/>
                <a:cs typeface="Times New Roman"/>
              </a:rPr>
              <a:t>Theo tháng, USD</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Line chart Δ kênh online</a:t>
            </a:r>
          </a:p>
          <a:p>
            <a:pPr algn="l">
              <a:buNone/>
            </a:pPr>
            <a:r>
              <a:rPr sz="1300" b="0" i="0">
                <a:solidFill>
                  <a:srgbClr val="222222"/>
                </a:solidFill>
                <a:latin typeface="Times New Roman"/>
                <a:ea typeface="Times New Roman"/>
                <a:cs typeface="Times New Roman"/>
              </a:rPr>
              <a:t>Gốc và sau quy về delivery_date</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bao nhiêu doanh thu bị mất?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tăng là </a:t>
            </a:r>
            <a:r>
              <a:rPr sz="1700" b="1" i="0">
                <a:solidFill>
                  <a:srgbClr val="C00000"/>
                </a:solidFill>
                <a:latin typeface="Times New Roman"/>
                <a:ea typeface="Times New Roman"/>
                <a:cs typeface="Times New Roman"/>
              </a:rPr>
              <a:t>tín hiệu xấu</a:t>
            </a:r>
            <a:r>
              <a:rPr sz="1700" b="0" i="0">
                <a:solidFill>
                  <a:srgbClr val="222222"/>
                </a:solidFill>
                <a:latin typeface="Times New Roman"/>
                <a:ea typeface="Times New Roman"/>
                <a:cs typeface="Times New Roman"/>
              </a:rPr>
              <a:t>: hiển thị màu đảo, thay đổi bằng </a:t>
            </a:r>
            <a:r>
              <a:rPr sz="1700" b="1" i="0">
                <a:solidFill>
                  <a:srgbClr val="123A7A"/>
                </a:solidFill>
                <a:latin typeface="Times New Roman"/>
                <a:ea typeface="Times New Roman"/>
                <a:cs typeface="Times New Roman"/>
              </a:rPr>
              <a:t>điểm %</a:t>
            </a:r>
          </a:p>
        </p:txBody>
      </p:sp>
      <p:sp>
        <p:nvSpPr>
          <p:cNvPr id="143" name="Rectangle 142"/>
          <p:cNvSpPr/>
          <p:nvPr/>
        </p:nvSpPr>
        <p:spPr>
          <a:xfrm>
            <a:off x="365760" y="1371600"/>
            <a:ext cx="11475720" cy="502920"/>
          </a:xfrm>
          <a:prstGeom prst="rect">
            <a:avLst/>
          </a:prstGeom>
          <a:solidFill>
            <a:srgbClr val="C00000"/>
          </a:solidFill>
          <a:ln>
            <a:noFill/>
          </a:ln>
          <a:effectLst/>
        </p:spPr>
        <p:txBody>
          <a:bodyPr rtlCol="0" anchor="ctr" wrap="square" lIns="137160" tIns="18288" bIns="18288"/>
          <a:lstStyle/>
          <a:p>
            <a:pPr algn="l">
              <a:buNone/>
            </a:pPr>
            <a:r>
              <a:rPr sz="1500" b="1" i="0">
                <a:solidFill>
                  <a:srgbClr val="FFFFFF"/>
                </a:solidFill>
                <a:latin typeface="Times New Roman"/>
                <a:ea typeface="Times New Roman"/>
                <a:cs typeface="Times New Roman"/>
              </a:rPr>
              <a:t>Trang 4 · Hoàn trả &amp; chất lượng</a:t>
            </a:r>
            <a:r>
              <a:rPr sz="1500" b="0" i="0">
                <a:solidFill>
                  <a:srgbClr val="FFFFFF"/>
                </a:solidFill>
                <a:latin typeface="Times New Roman"/>
                <a:ea typeface="Times New Roman"/>
                <a:cs typeface="Times New Roman"/>
              </a:rPr>
              <a:t>   ·   Câu hỏi trang trả lời: </a:t>
            </a:r>
            <a:r>
              <a:rPr sz="1500" b="0" i="1">
                <a:solidFill>
                  <a:srgbClr val="FFFFFF"/>
                </a:solidFill>
                <a:latin typeface="Times New Roman"/>
                <a:ea typeface="Times New Roman"/>
                <a:cs typeface="Times New Roman"/>
              </a:rPr>
              <a:t>Doanh thu có "sạch" không: trả hàng, huỷ đơn, dữ liệu lỗi?</a:t>
            </a:r>
          </a:p>
        </p:txBody>
      </p:sp>
      <p:sp>
        <p:nvSpPr>
          <p:cNvPr id="144" name="TextBox 143"/>
          <p:cNvSpPr txBox="1"/>
          <p:nvPr/>
        </p:nvSpPr>
        <p:spPr>
          <a:xfrm>
            <a:off x="365760" y="1965960"/>
            <a:ext cx="109728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Thẻ KPI (mỗi thẻ: giá trị + so với tháng trước + so với cùng kỳ năm trước)</a:t>
            </a:r>
          </a:p>
        </p:txBody>
      </p:sp>
      <p:sp>
        <p:nvSpPr>
          <p:cNvPr id="145" name="Rounded Rectangle 144"/>
          <p:cNvSpPr/>
          <p:nvPr/>
        </p:nvSpPr>
        <p:spPr>
          <a:xfrm>
            <a:off x="36576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6" name="TextBox 145"/>
          <p:cNvSpPr txBox="1"/>
          <p:nvPr/>
        </p:nvSpPr>
        <p:spPr>
          <a:xfrm>
            <a:off x="45720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Giá trị hoàn trả</a:t>
            </a:r>
          </a:p>
          <a:p>
            <a:pPr algn="l">
              <a:buNone/>
            </a:pPr>
            <a:r>
              <a:rPr sz="1200" b="0" i="0">
                <a:solidFill>
                  <a:srgbClr val="595959"/>
                </a:solidFill>
                <a:latin typeface="Times New Roman"/>
                <a:ea typeface="Times New Roman"/>
                <a:cs typeface="Times New Roman"/>
              </a:rPr>
              <a:t>nghìn USD</a:t>
            </a:r>
          </a:p>
        </p:txBody>
      </p:sp>
      <p:sp>
        <p:nvSpPr>
          <p:cNvPr id="147" name="Rounded Rectangle 146"/>
          <p:cNvSpPr/>
          <p:nvPr/>
        </p:nvSpPr>
        <p:spPr>
          <a:xfrm>
            <a:off x="326898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TextBox 147"/>
          <p:cNvSpPr txBox="1"/>
          <p:nvPr/>
        </p:nvSpPr>
        <p:spPr>
          <a:xfrm>
            <a:off x="336042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Tỷ lệ hoàn trả</a:t>
            </a:r>
          </a:p>
          <a:p>
            <a:pPr algn="l">
              <a:buNone/>
            </a:pPr>
            <a:r>
              <a:rPr sz="1200" b="0" i="0">
                <a:solidFill>
                  <a:srgbClr val="595959"/>
                </a:solidFill>
                <a:latin typeface="Times New Roman"/>
                <a:ea typeface="Times New Roman"/>
                <a:cs typeface="Times New Roman"/>
              </a:rPr>
              <a:t>% · thay đổi tính bằng điểm %</a:t>
            </a:r>
          </a:p>
        </p:txBody>
      </p:sp>
      <p:sp>
        <p:nvSpPr>
          <p:cNvPr id="149" name="Rounded Rectangle 148"/>
          <p:cNvSpPr/>
          <p:nvPr/>
        </p:nvSpPr>
        <p:spPr>
          <a:xfrm>
            <a:off x="617220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0" name="TextBox 149"/>
          <p:cNvSpPr txBox="1"/>
          <p:nvPr/>
        </p:nvSpPr>
        <p:spPr>
          <a:xfrm>
            <a:off x="626364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Đơn huỷ</a:t>
            </a:r>
          </a:p>
          <a:p>
            <a:pPr algn="l">
              <a:buNone/>
            </a:pPr>
            <a:r>
              <a:rPr sz="1200" b="0" i="0">
                <a:solidFill>
                  <a:srgbClr val="595959"/>
                </a:solidFill>
                <a:latin typeface="Times New Roman"/>
                <a:ea typeface="Times New Roman"/>
                <a:cs typeface="Times New Roman"/>
              </a:rPr>
              <a:t>đơn</a:t>
            </a:r>
          </a:p>
        </p:txBody>
      </p:sp>
      <p:sp>
        <p:nvSpPr>
          <p:cNvPr id="151" name="Rounded Rectangle 150"/>
          <p:cNvSpPr/>
          <p:nvPr/>
        </p:nvSpPr>
        <p:spPr>
          <a:xfrm>
            <a:off x="9075420" y="2331720"/>
            <a:ext cx="276606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2" name="TextBox 151"/>
          <p:cNvSpPr txBox="1"/>
          <p:nvPr/>
        </p:nvSpPr>
        <p:spPr>
          <a:xfrm>
            <a:off x="9166860" y="2359152"/>
            <a:ext cx="25831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Dòng trùng đã loại</a:t>
            </a:r>
          </a:p>
          <a:p>
            <a:pPr algn="l">
              <a:buNone/>
            </a:pPr>
            <a:r>
              <a:rPr sz="1200" b="0" i="0">
                <a:solidFill>
                  <a:srgbClr val="595959"/>
                </a:solidFill>
                <a:latin typeface="Times New Roman"/>
                <a:ea typeface="Times New Roman"/>
                <a:cs typeface="Times New Roman"/>
              </a:rPr>
              <a:t>dòng · kèm số đơn PENDING</a:t>
            </a:r>
          </a:p>
        </p:txBody>
      </p:sp>
      <p:sp>
        <p:nvSpPr>
          <p:cNvPr id="153" name="TextBox 152"/>
          <p:cNvSpPr txBox="1"/>
          <p:nvPr/>
        </p:nvSpPr>
        <p:spPr>
          <a:xfrm>
            <a:off x="365760" y="3383280"/>
            <a:ext cx="3657600" cy="320040"/>
          </a:xfrm>
          <a:prstGeom prst="rect">
            <a:avLst/>
          </a:prstGeom>
          <a:noFill/>
        </p:spPr>
        <p:txBody>
          <a:bodyPr wrap="square" lIns="45720" tIns="27432" rIns="45720" bIns="27432" anchor="t"/>
          <a:lstStyle/>
          <a:p>
            <a:pPr algn="l">
              <a:buNone/>
            </a:pPr>
            <a:r>
              <a:rPr sz="1300" b="1" i="0">
                <a:solidFill>
                  <a:srgbClr val="C00000"/>
                </a:solidFill>
                <a:latin typeface="Times New Roman"/>
                <a:ea typeface="Times New Roman"/>
                <a:cs typeface="Times New Roman"/>
              </a:rPr>
              <a:t>Biểu đồ và bảng</a:t>
            </a:r>
          </a:p>
        </p:txBody>
      </p:sp>
      <p:sp>
        <p:nvSpPr>
          <p:cNvPr id="154" name="Rounded Rectangle 153"/>
          <p:cNvSpPr/>
          <p:nvPr/>
        </p:nvSpPr>
        <p:spPr>
          <a:xfrm>
            <a:off x="36576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5" name="Picture 154" descr="image.png"/>
          <p:cNvPicPr>
            <a:picLocks noChangeAspect="1"/>
          </p:cNvPicPr>
          <p:nvPr/>
        </p:nvPicPr>
        <p:blipFill>
          <a:blip r:embed="rId3"/>
          <a:stretch>
            <a:fillRect/>
          </a:stretch>
        </p:blipFill>
        <p:spPr>
          <a:xfrm>
            <a:off x="475488" y="4640579"/>
            <a:ext cx="457200" cy="457200"/>
          </a:xfrm>
          <a:prstGeom prst="rect">
            <a:avLst/>
          </a:prstGeom>
        </p:spPr>
      </p:pic>
      <p:sp>
        <p:nvSpPr>
          <p:cNvPr id="156" name="TextBox 155"/>
          <p:cNvSpPr txBox="1"/>
          <p:nvPr/>
        </p:nvSpPr>
        <p:spPr>
          <a:xfrm>
            <a:off x="102412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Pie giá trị hoàn trả theo lý do</a:t>
            </a:r>
          </a:p>
          <a:p>
            <a:pPr algn="l">
              <a:buNone/>
            </a:pPr>
            <a:r>
              <a:rPr sz="1300" b="0" i="0">
                <a:solidFill>
                  <a:srgbClr val="222222"/>
                </a:solidFill>
                <a:latin typeface="Times New Roman"/>
                <a:ea typeface="Times New Roman"/>
                <a:cs typeface="Times New Roman"/>
              </a:rPr>
              <a:t>Lỗi sản phẩm, giao nhầm, giao trễ, đổi ý</a:t>
            </a:r>
          </a:p>
        </p:txBody>
      </p:sp>
      <p:sp>
        <p:nvSpPr>
          <p:cNvPr id="157" name="Rounded Rectangle 156"/>
          <p:cNvSpPr/>
          <p:nvPr/>
        </p:nvSpPr>
        <p:spPr>
          <a:xfrm>
            <a:off x="326898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4"/>
          <a:stretch>
            <a:fillRect/>
          </a:stretch>
        </p:blipFill>
        <p:spPr>
          <a:xfrm>
            <a:off x="3378708" y="4640579"/>
            <a:ext cx="457200" cy="457200"/>
          </a:xfrm>
          <a:prstGeom prst="rect">
            <a:avLst/>
          </a:prstGeom>
        </p:spPr>
      </p:pic>
      <p:sp>
        <p:nvSpPr>
          <p:cNvPr id="159" name="TextBox 158"/>
          <p:cNvSpPr txBox="1"/>
          <p:nvPr/>
        </p:nvSpPr>
        <p:spPr>
          <a:xfrm>
            <a:off x="392734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Bảng tỷ lệ hoàn trả theo danh mục</a:t>
            </a:r>
          </a:p>
          <a:p>
            <a:pPr algn="l">
              <a:buNone/>
            </a:pPr>
            <a:r>
              <a:rPr sz="1300" b="0" i="0">
                <a:solidFill>
                  <a:srgbClr val="222222"/>
                </a:solidFill>
                <a:latin typeface="Times New Roman"/>
                <a:ea typeface="Times New Roman"/>
                <a:cs typeface="Times New Roman"/>
              </a:rPr>
              <a:t>Net Sales, hoàn trả, tỷ lệ, tháng trước, cùng kỳ</a:t>
            </a:r>
          </a:p>
        </p:txBody>
      </p:sp>
      <p:sp>
        <p:nvSpPr>
          <p:cNvPr id="160" name="Rounded Rectangle 159"/>
          <p:cNvSpPr/>
          <p:nvPr/>
        </p:nvSpPr>
        <p:spPr>
          <a:xfrm>
            <a:off x="617220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1" name="Picture 160" descr="image.png"/>
          <p:cNvPicPr>
            <a:picLocks noChangeAspect="1"/>
          </p:cNvPicPr>
          <p:nvPr/>
        </p:nvPicPr>
        <p:blipFill>
          <a:blip r:embed="rId5"/>
          <a:stretch>
            <a:fillRect/>
          </a:stretch>
        </p:blipFill>
        <p:spPr>
          <a:xfrm>
            <a:off x="6281928" y="4640579"/>
            <a:ext cx="457200" cy="457200"/>
          </a:xfrm>
          <a:prstGeom prst="rect">
            <a:avLst/>
          </a:prstGeom>
        </p:spPr>
      </p:pic>
      <p:sp>
        <p:nvSpPr>
          <p:cNvPr id="162" name="TextBox 161"/>
          <p:cNvSpPr txBox="1"/>
          <p:nvPr/>
        </p:nvSpPr>
        <p:spPr>
          <a:xfrm>
            <a:off x="683056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Line chart tỷ lệ hoàn trả</a:t>
            </a:r>
          </a:p>
          <a:p>
            <a:pPr algn="l">
              <a:buNone/>
            </a:pPr>
            <a:r>
              <a:rPr sz="1300" b="0" i="0">
                <a:solidFill>
                  <a:srgbClr val="222222"/>
                </a:solidFill>
                <a:latin typeface="Times New Roman"/>
                <a:ea typeface="Times New Roman"/>
                <a:cs typeface="Times New Roman"/>
              </a:rPr>
              <a:t>Theo tháng, %</a:t>
            </a:r>
          </a:p>
        </p:txBody>
      </p:sp>
      <p:sp>
        <p:nvSpPr>
          <p:cNvPr id="163" name="Rounded Rectangle 162"/>
          <p:cNvSpPr/>
          <p:nvPr/>
        </p:nvSpPr>
        <p:spPr>
          <a:xfrm>
            <a:off x="9075420" y="3749039"/>
            <a:ext cx="2766060" cy="224028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9185148" y="4640579"/>
            <a:ext cx="457200" cy="457200"/>
          </a:xfrm>
          <a:prstGeom prst="rect">
            <a:avLst/>
          </a:prstGeom>
        </p:spPr>
      </p:pic>
      <p:sp>
        <p:nvSpPr>
          <p:cNvPr id="165" name="TextBox 164"/>
          <p:cNvSpPr txBox="1"/>
          <p:nvPr/>
        </p:nvSpPr>
        <p:spPr>
          <a:xfrm>
            <a:off x="9733788" y="3776472"/>
            <a:ext cx="2034540" cy="2185416"/>
          </a:xfrm>
          <a:prstGeom prst="rect">
            <a:avLst/>
          </a:prstGeom>
          <a:noFill/>
        </p:spPr>
        <p:txBody>
          <a:bodyPr wrap="square" lIns="45720" tIns="27432" rIns="45720" bIns="27432" anchor="ctr"/>
          <a:lstStyle/>
          <a:p>
            <a:pPr algn="l">
              <a:buNone/>
            </a:pPr>
            <a:r>
              <a:rPr sz="1300" b="1" i="0">
                <a:solidFill>
                  <a:srgbClr val="C00000"/>
                </a:solidFill>
                <a:latin typeface="Times New Roman"/>
                <a:ea typeface="Times New Roman"/>
                <a:cs typeface="Times New Roman"/>
              </a:rPr>
              <a:t>Line chart đơn huỷ và đang giao</a:t>
            </a:r>
          </a:p>
          <a:p>
            <a:pPr algn="l">
              <a:buNone/>
            </a:pPr>
            <a:r>
              <a:rPr sz="1300" b="0" i="0">
                <a:solidFill>
                  <a:srgbClr val="222222"/>
                </a:solidFill>
                <a:latin typeface="Times New Roman"/>
                <a:ea typeface="Times New Roman"/>
                <a:cs typeface="Times New Roman"/>
              </a:rPr>
              <a:t>Theo tháng đặt hàng</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Đề bài xây dựng dashboard</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tự rà soát mức độ hoàn thiện sản phẩm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Tự rà soát: </a:t>
            </a:r>
            <a:r>
              <a:rPr sz="1700" b="1" i="0">
                <a:solidFill>
                  <a:srgbClr val="C00000"/>
                </a:solidFill>
                <a:latin typeface="Times New Roman"/>
                <a:ea typeface="Times New Roman"/>
                <a:cs typeface="Times New Roman"/>
              </a:rPr>
              <a:t>Bắt buộc</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Nên có</a:t>
            </a:r>
            <a:r>
              <a:rPr sz="1700" b="0" i="0">
                <a:solidFill>
                  <a:srgbClr val="222222"/>
                </a:solidFill>
                <a:latin typeface="Times New Roman"/>
                <a:ea typeface="Times New Roman"/>
                <a:cs typeface="Times New Roman"/>
              </a:rPr>
              <a:t> → </a:t>
            </a:r>
            <a:r>
              <a:rPr sz="1700" b="1" i="0">
                <a:solidFill>
                  <a:srgbClr val="2E5B31"/>
                </a:solidFill>
                <a:latin typeface="Times New Roman"/>
                <a:ea typeface="Times New Roman"/>
                <a:cs typeface="Times New Roman"/>
              </a:rPr>
              <a:t>Sáng tạo</a:t>
            </a:r>
          </a:p>
        </p:txBody>
      </p:sp>
      <p:sp>
        <p:nvSpPr>
          <p:cNvPr id="143" name="Rounded Rectangle 142"/>
          <p:cNvSpPr/>
          <p:nvPr/>
        </p:nvSpPr>
        <p:spPr>
          <a:xfrm>
            <a:off x="365760" y="1371600"/>
            <a:ext cx="365760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4" name="Rounded Rectangle 143"/>
          <p:cNvSpPr/>
          <p:nvPr/>
        </p:nvSpPr>
        <p:spPr>
          <a:xfrm>
            <a:off x="365760" y="1371600"/>
            <a:ext cx="3657600"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Bắt buộc</a:t>
            </a:r>
          </a:p>
        </p:txBody>
      </p:sp>
      <p:sp>
        <p:nvSpPr>
          <p:cNvPr id="145" name="TextBox 144"/>
          <p:cNvSpPr txBox="1"/>
          <p:nvPr/>
        </p:nvSpPr>
        <p:spPr>
          <a:xfrm>
            <a:off x="47548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Bỏ 120 dòng trùng, chỉ tính đơn COMPLETED</a:t>
            </a:r>
          </a:p>
          <a:p>
            <a:pPr algn="l" marL="274320" indent="-274320">
              <a:spcAft>
                <a:spcPts val="700"/>
              </a:spcAft>
              <a:buFont typeface="Arial"/>
              <a:buChar char="☐"/>
            </a:pPr>
            <a:r>
              <a:rPr sz="1400" b="0" i="0">
                <a:solidFill>
                  <a:srgbClr val="222222"/>
                </a:solidFill>
                <a:latin typeface="Times New Roman"/>
                <a:ea typeface="Times New Roman"/>
                <a:cs typeface="Times New Roman"/>
              </a:rPr>
              <a:t>4 trang đủ thẻ KPI, biểu đồ, bảng theo yêu cầu</a:t>
            </a:r>
          </a:p>
          <a:p>
            <a:pPr algn="l" marL="274320" indent="-274320">
              <a:spcAft>
                <a:spcPts val="700"/>
              </a:spcAft>
              <a:buFont typeface="Arial"/>
              <a:buChar char="☐"/>
            </a:pPr>
            <a:r>
              <a:rPr sz="1400" b="0" i="0">
                <a:solidFill>
                  <a:srgbClr val="222222"/>
                </a:solidFill>
                <a:latin typeface="Times New Roman"/>
                <a:ea typeface="Times New Roman"/>
                <a:cs typeface="Times New Roman"/>
              </a:rPr>
              <a:t>3 slicer dùng chung, đồng bộ cả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Thẻ KPI so với tháng trước và cùng tháng năm trước</a:t>
            </a:r>
          </a:p>
          <a:p>
            <a:pPr algn="l" marL="274320" indent="-274320">
              <a:spcAft>
                <a:spcPts val="700"/>
              </a:spcAft>
              <a:buFont typeface="Arial"/>
              <a:buChar char="☐"/>
            </a:pPr>
            <a:r>
              <a:rPr sz="1400" b="0" i="0">
                <a:solidFill>
                  <a:srgbClr val="222222"/>
                </a:solidFill>
                <a:latin typeface="Times New Roman"/>
                <a:ea typeface="Times New Roman"/>
                <a:cs typeface="Times New Roman"/>
              </a:rPr>
              <a:t>Map Finance theo valid_from / valid_to, tách HQ-ADJ</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đối soát có cờ vượt ngưỡng</a:t>
            </a:r>
          </a:p>
        </p:txBody>
      </p:sp>
      <p:sp>
        <p:nvSpPr>
          <p:cNvPr id="146" name="Rounded Rectangle 145"/>
          <p:cNvSpPr/>
          <p:nvPr/>
        </p:nvSpPr>
        <p:spPr>
          <a:xfrm>
            <a:off x="4206240" y="1371600"/>
            <a:ext cx="365760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4206240" y="1371600"/>
            <a:ext cx="3657600"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Nên có</a:t>
            </a:r>
          </a:p>
        </p:txBody>
      </p:sp>
      <p:sp>
        <p:nvSpPr>
          <p:cNvPr id="148" name="TextBox 147"/>
          <p:cNvSpPr txBox="1"/>
          <p:nvPr/>
        </p:nvSpPr>
        <p:spPr>
          <a:xfrm>
            <a:off x="431596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Δ online sau khi quy về delivery_date</a:t>
            </a:r>
          </a:p>
          <a:p>
            <a:pPr algn="l" marL="274320" indent="-274320">
              <a:spcAft>
                <a:spcPts val="700"/>
              </a:spcAft>
              <a:buFont typeface="Arial"/>
              <a:buChar char="☐"/>
            </a:pPr>
            <a:r>
              <a:rPr sz="1400" b="0" i="0">
                <a:solidFill>
                  <a:srgbClr val="222222"/>
                </a:solidFill>
                <a:latin typeface="Times New Roman"/>
                <a:ea typeface="Times New Roman"/>
                <a:cs typeface="Times New Roman"/>
              </a:rPr>
              <a:t>Line chart không bị slicer Tháng lọc (đủ 24 tháng)</a:t>
            </a:r>
          </a:p>
          <a:p>
            <a:pPr algn="l" marL="274320" indent="-274320">
              <a:spcAft>
                <a:spcPts val="700"/>
              </a:spcAft>
              <a:buFont typeface="Arial"/>
              <a:buChar char="☐"/>
            </a:pPr>
            <a:r>
              <a:rPr sz="1400" b="0" i="0">
                <a:solidFill>
                  <a:srgbClr val="222222"/>
                </a:solidFill>
                <a:latin typeface="Times New Roman"/>
                <a:ea typeface="Times New Roman"/>
                <a:cs typeface="Times New Roman"/>
              </a:rPr>
              <a:t>Caption "Hình N" cho mỗi biểu đồ, bảng</a:t>
            </a:r>
          </a:p>
          <a:p>
            <a:pPr algn="l" marL="274320" indent="-274320">
              <a:spcAft>
                <a:spcPts val="700"/>
              </a:spcAft>
              <a:buFont typeface="Arial"/>
              <a:buChar char="☐"/>
            </a:pPr>
            <a:r>
              <a:rPr sz="1400" b="0" i="0">
                <a:solidFill>
                  <a:srgbClr val="222222"/>
                </a:solidFill>
                <a:latin typeface="Times New Roman"/>
                <a:ea typeface="Times New Roman"/>
                <a:cs typeface="Times New Roman"/>
              </a:rPr>
              <a:t>Ghi rõ đơn vị: USD, nghìn USD, %, điểm %</a:t>
            </a:r>
          </a:p>
          <a:p>
            <a:pPr algn="l" marL="274320" indent="-274320">
              <a:spcAft>
                <a:spcPts val="700"/>
              </a:spcAft>
              <a:buFont typeface="Arial"/>
              <a:buChar char="☐"/>
            </a:pPr>
            <a:r>
              <a:rPr sz="1400" b="0" i="0">
                <a:solidFill>
                  <a:srgbClr val="222222"/>
                </a:solidFill>
                <a:latin typeface="Times New Roman"/>
                <a:ea typeface="Times New Roman"/>
                <a:cs typeface="Times New Roman"/>
              </a:rPr>
              <a:t>Nút Đặt lại và điều hướng giữa 4 trang</a:t>
            </a:r>
          </a:p>
          <a:p>
            <a:pPr algn="l" marL="274320" indent="-274320">
              <a:spcAft>
                <a:spcPts val="700"/>
              </a:spcAft>
              <a:buFont typeface="Arial"/>
              <a:buChar char="☐"/>
            </a:pPr>
            <a:r>
              <a:rPr sz="1400" b="0" i="0">
                <a:solidFill>
                  <a:srgbClr val="222222"/>
                </a:solidFill>
                <a:latin typeface="Times New Roman"/>
                <a:ea typeface="Times New Roman"/>
                <a:cs typeface="Times New Roman"/>
              </a:rPr>
              <a:t>Màu đảo cho hoàn trả, ▲/▼ ở cột thay đổi</a:t>
            </a:r>
          </a:p>
        </p:txBody>
      </p:sp>
      <p:sp>
        <p:nvSpPr>
          <p:cNvPr id="149" name="Rounded Rectangle 148"/>
          <p:cNvSpPr/>
          <p:nvPr/>
        </p:nvSpPr>
        <p:spPr>
          <a:xfrm>
            <a:off x="8046720"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0" name="Rounded Rectangle 149"/>
          <p:cNvSpPr/>
          <p:nvPr/>
        </p:nvSpPr>
        <p:spPr>
          <a:xfrm>
            <a:off x="8046720" y="1371600"/>
            <a:ext cx="3657600"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700" b="1" i="0">
                <a:solidFill>
                  <a:srgbClr val="FFFFFF"/>
                </a:solidFill>
                <a:latin typeface="Times New Roman"/>
                <a:ea typeface="Times New Roman"/>
                <a:cs typeface="Times New Roman"/>
              </a:rPr>
              <a:t>Sáng tạo</a:t>
            </a:r>
          </a:p>
        </p:txBody>
      </p:sp>
      <p:sp>
        <p:nvSpPr>
          <p:cNvPr id="151" name="TextBox 150"/>
          <p:cNvSpPr txBox="1"/>
          <p:nvPr/>
        </p:nvSpPr>
        <p:spPr>
          <a:xfrm>
            <a:off x="8156448" y="1965960"/>
            <a:ext cx="3474720" cy="3931920"/>
          </a:xfrm>
          <a:prstGeom prst="rect">
            <a:avLst/>
          </a:prstGeom>
          <a:noFill/>
        </p:spPr>
        <p:txBody>
          <a:bodyPr wrap="square" lIns="45720" tIns="27432" rIns="45720" bIns="27432" anchor="t"/>
          <a:lstStyle/>
          <a:p>
            <a:pPr algn="l" marL="274320" indent="-274320">
              <a:spcAft>
                <a:spcPts val="700"/>
              </a:spcAft>
              <a:buFont typeface="Arial"/>
              <a:buChar char="☐"/>
            </a:pPr>
            <a:r>
              <a:rPr sz="1400" b="0" i="0">
                <a:solidFill>
                  <a:srgbClr val="222222"/>
                </a:solidFill>
                <a:latin typeface="Times New Roman"/>
                <a:ea typeface="Times New Roman"/>
                <a:cs typeface="Times New Roman"/>
              </a:rPr>
              <a:t>Drill-through "Chi tiết cửa hàng – ngày"</a:t>
            </a:r>
          </a:p>
          <a:p>
            <a:pPr algn="l" marL="274320" indent="-274320">
              <a:spcAft>
                <a:spcPts val="700"/>
              </a:spcAft>
              <a:buFont typeface="Arial"/>
              <a:buChar char="☐"/>
            </a:pPr>
            <a:r>
              <a:rPr sz="1400" b="0" i="0">
                <a:solidFill>
                  <a:srgbClr val="222222"/>
                </a:solidFill>
                <a:latin typeface="Times New Roman"/>
                <a:ea typeface="Times New Roman"/>
                <a:cs typeface="Times New Roman"/>
              </a:rPr>
              <a:t>Tooltip Δ theo ngày khi rê chuột vào ô vượt ngưỡng</a:t>
            </a:r>
          </a:p>
          <a:p>
            <a:pPr algn="l" marL="274320" indent="-274320">
              <a:spcAft>
                <a:spcPts val="700"/>
              </a:spcAft>
              <a:buFont typeface="Arial"/>
              <a:buChar char="☐"/>
            </a:pPr>
            <a:r>
              <a:rPr sz="1400" b="0" i="0">
                <a:solidFill>
                  <a:srgbClr val="222222"/>
                </a:solidFill>
                <a:latin typeface="Times New Roman"/>
                <a:ea typeface="Times New Roman"/>
                <a:cs typeface="Times New Roman"/>
              </a:rPr>
              <a:t>Bảng giải thích chênh lệch: tổng nguyên nhân = Δ</a:t>
            </a:r>
          </a:p>
          <a:p>
            <a:pPr algn="l" marL="274320" indent="-274320">
              <a:spcAft>
                <a:spcPts val="700"/>
              </a:spcAft>
              <a:buFont typeface="Arial"/>
              <a:buChar char="☐"/>
            </a:pPr>
            <a:r>
              <a:rPr sz="1400" b="0" i="0">
                <a:solidFill>
                  <a:srgbClr val="222222"/>
                </a:solidFill>
                <a:latin typeface="Times New Roman"/>
                <a:ea typeface="Times New Roman"/>
                <a:cs typeface="Times New Roman"/>
              </a:rPr>
              <a:t>Dùng fx_rate, unit_cost, dim_customer (bảng bổ sung)</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Cây KPI: từ Gross Sales đến chênh lệch với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Hiểu </a:t>
            </a:r>
            <a:r>
              <a:rPr sz="1700" b="1" i="0">
                <a:solidFill>
                  <a:srgbClr val="123A7A"/>
                </a:solidFill>
                <a:latin typeface="Times New Roman"/>
                <a:ea typeface="Times New Roman"/>
                <a:cs typeface="Times New Roman"/>
              </a:rPr>
              <a:t>định nghĩa và thứ tự</a:t>
            </a:r>
            <a:r>
              <a:rPr sz="1700" b="0" i="0">
                <a:solidFill>
                  <a:srgbClr val="222222"/>
                </a:solidFill>
                <a:latin typeface="Times New Roman"/>
                <a:ea typeface="Times New Roman"/>
                <a:cs typeface="Times New Roman"/>
              </a:rPr>
              <a:t> trước, viết DAX sau: Gross → Net Sales → Net Revenue → Δ Finance</a:t>
            </a:r>
          </a:p>
        </p:txBody>
      </p:sp>
      <p:pic>
        <p:nvPicPr>
          <p:cNvPr id="143" name="Picture 142" descr="04_cay_kpi.png"/>
          <p:cNvPicPr>
            <a:picLocks noChangeAspect="1"/>
          </p:cNvPicPr>
          <p:nvPr/>
        </p:nvPicPr>
        <p:blipFill>
          <a:blip r:embed="rId3"/>
          <a:stretch>
            <a:fillRect/>
          </a:stretch>
        </p:blipFill>
        <p:spPr>
          <a:xfrm>
            <a:off x="700498" y="1325880"/>
            <a:ext cx="10806243" cy="4709160"/>
          </a:xfrm>
          <a:prstGeom prst="rect">
            <a:avLst/>
          </a:prstGeom>
        </p:spPr>
      </p:pic>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doanh thu: định nghĩa, công thức và một ví dụ tính tay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C55A11"/>
                </a:solidFill>
                <a:latin typeface="Times New Roman"/>
                <a:ea typeface="Times New Roman"/>
                <a:cs typeface="Times New Roman"/>
              </a:rPr>
              <a:t>Net Revenue</a:t>
            </a:r>
            <a:r>
              <a:rPr sz="1700" b="0" i="0">
                <a:solidFill>
                  <a:srgbClr val="222222"/>
                </a:solidFill>
                <a:latin typeface="Times New Roman"/>
                <a:ea typeface="Times New Roman"/>
                <a:cs typeface="Times New Roman"/>
              </a:rPr>
              <a:t> là con số đem đi đối soát; Net Sales là mẫu số chung của AOV, ASP, tỷ lệ hoàn trả</a:t>
            </a:r>
          </a:p>
        </p:txBody>
      </p:sp>
      <p:sp>
        <p:nvSpPr>
          <p:cNvPr id="143" name="Rounded Rectangle 142"/>
          <p:cNvSpPr/>
          <p:nvPr/>
        </p:nvSpPr>
        <p:spPr>
          <a:xfrm>
            <a:off x="365760" y="1371600"/>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Gross Sales</a:t>
            </a:r>
          </a:p>
        </p:txBody>
      </p:sp>
      <p:sp>
        <p:nvSpPr>
          <p:cNvPr id="145" name="Rounded Rectangle 144"/>
          <p:cNvSpPr/>
          <p:nvPr/>
        </p:nvSpPr>
        <p:spPr>
          <a:xfrm>
            <a:off x="2212848" y="1463040"/>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quantity × unit_price</a:t>
            </a:r>
          </a:p>
        </p:txBody>
      </p:sp>
      <p:sp>
        <p:nvSpPr>
          <p:cNvPr id="146" name="TextBox 145"/>
          <p:cNvSpPr txBox="1"/>
          <p:nvPr/>
        </p:nvSpPr>
        <p:spPr>
          <a:xfrm>
            <a:off x="4937760" y="1417320"/>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Đơn COMPLETED, đã bỏ dòng trùng</a:t>
            </a:r>
          </a:p>
        </p:txBody>
      </p:sp>
      <p:sp>
        <p:nvSpPr>
          <p:cNvPr id="147" name="Rounded Rectangle 146"/>
          <p:cNvSpPr/>
          <p:nvPr/>
        </p:nvSpPr>
        <p:spPr>
          <a:xfrm>
            <a:off x="365760" y="2304288"/>
            <a:ext cx="6675120" cy="82296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8" name="Rounded Rectangle 147"/>
          <p:cNvSpPr/>
          <p:nvPr/>
        </p:nvSpPr>
        <p:spPr>
          <a:xfrm>
            <a:off x="365760" y="2304288"/>
            <a:ext cx="1737360" cy="82296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Discounts</a:t>
            </a:r>
          </a:p>
        </p:txBody>
      </p:sp>
      <p:sp>
        <p:nvSpPr>
          <p:cNvPr id="149" name="Rounded Rectangle 148"/>
          <p:cNvSpPr/>
          <p:nvPr/>
        </p:nvSpPr>
        <p:spPr>
          <a:xfrm>
            <a:off x="2212848" y="2395728"/>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discount_amount</a:t>
            </a:r>
          </a:p>
        </p:txBody>
      </p:sp>
      <p:sp>
        <p:nvSpPr>
          <p:cNvPr id="150" name="TextBox 149"/>
          <p:cNvSpPr txBox="1"/>
          <p:nvPr/>
        </p:nvSpPr>
        <p:spPr>
          <a:xfrm>
            <a:off x="4937760" y="2350008"/>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Khuyến mãi theo promo_code</a:t>
            </a:r>
          </a:p>
        </p:txBody>
      </p:sp>
      <p:sp>
        <p:nvSpPr>
          <p:cNvPr id="151" name="Rounded Rectangle 150"/>
          <p:cNvSpPr/>
          <p:nvPr/>
        </p:nvSpPr>
        <p:spPr>
          <a:xfrm>
            <a:off x="365760" y="3236976"/>
            <a:ext cx="6675120" cy="82296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2" name="Rounded Rectangle 151"/>
          <p:cNvSpPr/>
          <p:nvPr/>
        </p:nvSpPr>
        <p:spPr>
          <a:xfrm>
            <a:off x="365760" y="3236976"/>
            <a:ext cx="1737360" cy="82296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Sales</a:t>
            </a:r>
          </a:p>
        </p:txBody>
      </p:sp>
      <p:sp>
        <p:nvSpPr>
          <p:cNvPr id="153" name="Rounded Rectangle 152"/>
          <p:cNvSpPr/>
          <p:nvPr/>
        </p:nvSpPr>
        <p:spPr>
          <a:xfrm>
            <a:off x="2212848" y="3328416"/>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Gross Sales − Discounts</a:t>
            </a:r>
          </a:p>
        </p:txBody>
      </p:sp>
      <p:sp>
        <p:nvSpPr>
          <p:cNvPr id="154" name="TextBox 153"/>
          <p:cNvSpPr txBox="1"/>
          <p:nvPr/>
        </p:nvSpPr>
        <p:spPr>
          <a:xfrm>
            <a:off x="4937760" y="3282696"/>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Doanh thu sau giảm giá</a:t>
            </a:r>
          </a:p>
        </p:txBody>
      </p:sp>
      <p:sp>
        <p:nvSpPr>
          <p:cNvPr id="155" name="Rounded Rectangle 154"/>
          <p:cNvSpPr/>
          <p:nvPr/>
        </p:nvSpPr>
        <p:spPr>
          <a:xfrm>
            <a:off x="365760" y="4169664"/>
            <a:ext cx="6675120" cy="82296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6" name="Rounded Rectangle 155"/>
          <p:cNvSpPr/>
          <p:nvPr/>
        </p:nvSpPr>
        <p:spPr>
          <a:xfrm>
            <a:off x="365760" y="4169664"/>
            <a:ext cx="1737360" cy="82296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Returns</a:t>
            </a:r>
          </a:p>
        </p:txBody>
      </p:sp>
      <p:sp>
        <p:nvSpPr>
          <p:cNvPr id="157" name="Rounded Rectangle 156"/>
          <p:cNvSpPr/>
          <p:nvPr/>
        </p:nvSpPr>
        <p:spPr>
          <a:xfrm>
            <a:off x="2212848" y="4261104"/>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Σ return_amount theo return_date</a:t>
            </a:r>
          </a:p>
        </p:txBody>
      </p:sp>
      <p:sp>
        <p:nvSpPr>
          <p:cNvPr id="158" name="TextBox 157"/>
          <p:cNvSpPr txBox="1"/>
          <p:nvPr/>
        </p:nvSpPr>
        <p:spPr>
          <a:xfrm>
            <a:off x="4937760" y="4215384"/>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Trừ vào tháng trả hàng, không phải tháng bán</a:t>
            </a:r>
          </a:p>
        </p:txBody>
      </p:sp>
      <p:sp>
        <p:nvSpPr>
          <p:cNvPr id="159" name="Rounded Rectangle 158"/>
          <p:cNvSpPr/>
          <p:nvPr/>
        </p:nvSpPr>
        <p:spPr>
          <a:xfrm>
            <a:off x="365760" y="5102352"/>
            <a:ext cx="6675120" cy="82296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60" name="Rounded Rectangle 159"/>
          <p:cNvSpPr/>
          <p:nvPr/>
        </p:nvSpPr>
        <p:spPr>
          <a:xfrm>
            <a:off x="365760" y="5102352"/>
            <a:ext cx="1737360" cy="82296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Net Revenue</a:t>
            </a:r>
          </a:p>
        </p:txBody>
      </p:sp>
      <p:sp>
        <p:nvSpPr>
          <p:cNvPr id="161" name="Rounded Rectangle 160"/>
          <p:cNvSpPr/>
          <p:nvPr/>
        </p:nvSpPr>
        <p:spPr>
          <a:xfrm>
            <a:off x="2212848" y="5193792"/>
            <a:ext cx="2651760" cy="640080"/>
          </a:xfrm>
          <a:prstGeom prst="roundRect">
            <a:avLst>
              <a:gd name="adj" fmla="val 10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Net Sales − Returns</a:t>
            </a:r>
          </a:p>
        </p:txBody>
      </p:sp>
      <p:sp>
        <p:nvSpPr>
          <p:cNvPr id="162" name="TextBox 161"/>
          <p:cNvSpPr txBox="1"/>
          <p:nvPr/>
        </p:nvSpPr>
        <p:spPr>
          <a:xfrm>
            <a:off x="4937760" y="5148072"/>
            <a:ext cx="2057400" cy="731520"/>
          </a:xfrm>
          <a:prstGeom prst="rect">
            <a:avLst/>
          </a:prstGeom>
          <a:noFill/>
        </p:spPr>
        <p:txBody>
          <a:bodyPr wrap="square" lIns="45720" tIns="27432" rIns="45720" bIns="27432" anchor="ctr"/>
          <a:lstStyle/>
          <a:p>
            <a:pPr algn="l">
              <a:buNone/>
            </a:pPr>
            <a:r>
              <a:rPr sz="1200" b="0" i="0">
                <a:solidFill>
                  <a:srgbClr val="222222"/>
                </a:solidFill>
                <a:latin typeface="Times New Roman"/>
                <a:ea typeface="Times New Roman"/>
                <a:cs typeface="Times New Roman"/>
              </a:rPr>
              <a:t>Con số so với Finance</a:t>
            </a:r>
          </a:p>
        </p:txBody>
      </p:sp>
      <p:sp>
        <p:nvSpPr>
          <p:cNvPr id="163" name="Rounded Rectangle 162"/>
          <p:cNvSpPr/>
          <p:nvPr/>
        </p:nvSpPr>
        <p:spPr>
          <a:xfrm>
            <a:off x="7269480" y="1371600"/>
            <a:ext cx="457200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64" name="Rounded Rectangle 163"/>
          <p:cNvSpPr/>
          <p:nvPr/>
        </p:nvSpPr>
        <p:spPr>
          <a:xfrm>
            <a:off x="7269480" y="1371600"/>
            <a:ext cx="45720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Ví dụ tính tay (sheet sample_transactions)</a:t>
            </a:r>
          </a:p>
        </p:txBody>
      </p:sp>
      <p:sp>
        <p:nvSpPr>
          <p:cNvPr id="165" name="TextBox 164"/>
          <p:cNvSpPr txBox="1"/>
          <p:nvPr/>
        </p:nvSpPr>
        <p:spPr>
          <a:xfrm>
            <a:off x="7406640" y="1901952"/>
            <a:ext cx="4297680" cy="73152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Đơn 690000 · cửa hàng POS · 6 dòng · mã BF15 (giảm 15%)</a:t>
            </a:r>
          </a:p>
        </p:txBody>
      </p:sp>
      <p:sp>
        <p:nvSpPr>
          <p:cNvPr id="166" name="Rounded Rectangle 165"/>
          <p:cNvSpPr/>
          <p:nvPr/>
        </p:nvSpPr>
        <p:spPr>
          <a:xfrm>
            <a:off x="7406640" y="2514600"/>
            <a:ext cx="4297680" cy="749808"/>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67" name="TextBox 166"/>
          <p:cNvSpPr txBox="1"/>
          <p:nvPr/>
        </p:nvSpPr>
        <p:spPr>
          <a:xfrm>
            <a:off x="7498079" y="2542032"/>
            <a:ext cx="2194560" cy="694944"/>
          </a:xfrm>
          <a:prstGeom prst="rect">
            <a:avLst/>
          </a:prstGeom>
          <a:noFill/>
        </p:spPr>
        <p:txBody>
          <a:bodyPr wrap="square" lIns="45720" tIns="27432" rIns="45720" bIns="27432" anchor="ctr"/>
          <a:lstStyle/>
          <a:p>
            <a:pPr algn="l">
              <a:buNone/>
            </a:pPr>
            <a:r>
              <a:rPr sz="1500" b="1" i="0">
                <a:solidFill>
                  <a:srgbClr val="2E5B31"/>
                </a:solidFill>
                <a:latin typeface="Times New Roman"/>
                <a:ea typeface="Times New Roman"/>
                <a:cs typeface="Times New Roman"/>
              </a:rPr>
              <a:t>Gross Sales</a:t>
            </a:r>
          </a:p>
          <a:p>
            <a:pPr algn="l">
              <a:buNone/>
            </a:pPr>
            <a:r>
              <a:rPr sz="1100" b="0" i="0">
                <a:solidFill>
                  <a:srgbClr val="595959"/>
                </a:solidFill>
                <a:latin typeface="Times New Roman"/>
                <a:ea typeface="Times New Roman"/>
                <a:cs typeface="Times New Roman"/>
              </a:rPr>
              <a:t>Σ quantity × unit_price</a:t>
            </a:r>
          </a:p>
        </p:txBody>
      </p:sp>
      <p:sp>
        <p:nvSpPr>
          <p:cNvPr id="168" name="TextBox 167"/>
          <p:cNvSpPr txBox="1"/>
          <p:nvPr/>
        </p:nvSpPr>
        <p:spPr>
          <a:xfrm>
            <a:off x="9601200" y="2542032"/>
            <a:ext cx="2011680" cy="694944"/>
          </a:xfrm>
          <a:prstGeom prst="rect">
            <a:avLst/>
          </a:prstGeom>
          <a:noFill/>
        </p:spPr>
        <p:txBody>
          <a:bodyPr wrap="square" lIns="45720" tIns="27432" rIns="45720" bIns="27432" anchor="ctr"/>
          <a:lstStyle/>
          <a:p>
            <a:pPr algn="r">
              <a:buNone/>
            </a:pPr>
            <a:r>
              <a:rPr sz="1700" b="1" i="0">
                <a:solidFill>
                  <a:srgbClr val="2E5B31"/>
                </a:solidFill>
                <a:latin typeface="Times New Roman"/>
                <a:ea typeface="Times New Roman"/>
                <a:cs typeface="Times New Roman"/>
              </a:rPr>
              <a:t>5.509,99 USD</a:t>
            </a:r>
          </a:p>
        </p:txBody>
      </p:sp>
      <p:sp>
        <p:nvSpPr>
          <p:cNvPr id="169" name="Rounded Rectangle 168"/>
          <p:cNvSpPr/>
          <p:nvPr/>
        </p:nvSpPr>
        <p:spPr>
          <a:xfrm>
            <a:off x="7406640" y="3383280"/>
            <a:ext cx="4297680" cy="749808"/>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70" name="TextBox 169"/>
          <p:cNvSpPr txBox="1"/>
          <p:nvPr/>
        </p:nvSpPr>
        <p:spPr>
          <a:xfrm>
            <a:off x="7498079" y="3410712"/>
            <a:ext cx="2194560" cy="694944"/>
          </a:xfrm>
          <a:prstGeom prst="rect">
            <a:avLst/>
          </a:prstGeom>
          <a:noFill/>
        </p:spPr>
        <p:txBody>
          <a:bodyPr wrap="square" lIns="45720" tIns="27432" rIns="45720" bIns="27432" anchor="ctr"/>
          <a:lstStyle/>
          <a:p>
            <a:pPr algn="l">
              <a:buNone/>
            </a:pPr>
            <a:r>
              <a:rPr sz="1500" b="1" i="0">
                <a:solidFill>
                  <a:srgbClr val="C55A11"/>
                </a:solidFill>
                <a:latin typeface="Times New Roman"/>
                <a:ea typeface="Times New Roman"/>
                <a:cs typeface="Times New Roman"/>
              </a:rPr>
              <a:t>− Discounts</a:t>
            </a:r>
          </a:p>
          <a:p>
            <a:pPr algn="l">
              <a:buNone/>
            </a:pPr>
            <a:r>
              <a:rPr sz="1100" b="0" i="0">
                <a:solidFill>
                  <a:srgbClr val="595959"/>
                </a:solidFill>
                <a:latin typeface="Times New Roman"/>
                <a:ea typeface="Times New Roman"/>
                <a:cs typeface="Times New Roman"/>
              </a:rPr>
              <a:t>Σ discount_amount</a:t>
            </a:r>
          </a:p>
        </p:txBody>
      </p:sp>
      <p:sp>
        <p:nvSpPr>
          <p:cNvPr id="171" name="TextBox 170"/>
          <p:cNvSpPr txBox="1"/>
          <p:nvPr/>
        </p:nvSpPr>
        <p:spPr>
          <a:xfrm>
            <a:off x="9601200" y="3410712"/>
            <a:ext cx="2011680" cy="694944"/>
          </a:xfrm>
          <a:prstGeom prst="rect">
            <a:avLst/>
          </a:prstGeom>
          <a:noFill/>
        </p:spPr>
        <p:txBody>
          <a:bodyPr wrap="square" lIns="45720" tIns="27432" rIns="45720" bIns="27432" anchor="ctr"/>
          <a:lstStyle/>
          <a:p>
            <a:pPr algn="r">
              <a:buNone/>
            </a:pPr>
            <a:r>
              <a:rPr sz="1700" b="1" i="0">
                <a:solidFill>
                  <a:srgbClr val="C55A11"/>
                </a:solidFill>
                <a:latin typeface="Times New Roman"/>
                <a:ea typeface="Times New Roman"/>
                <a:cs typeface="Times New Roman"/>
              </a:rPr>
              <a:t>826,50 USD</a:t>
            </a:r>
          </a:p>
        </p:txBody>
      </p:sp>
      <p:sp>
        <p:nvSpPr>
          <p:cNvPr id="172" name="Rounded Rectangle 171"/>
          <p:cNvSpPr/>
          <p:nvPr/>
        </p:nvSpPr>
        <p:spPr>
          <a:xfrm>
            <a:off x="7406640" y="4251960"/>
            <a:ext cx="4297680" cy="749808"/>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73" name="TextBox 172"/>
          <p:cNvSpPr txBox="1"/>
          <p:nvPr/>
        </p:nvSpPr>
        <p:spPr>
          <a:xfrm>
            <a:off x="7498079" y="4279392"/>
            <a:ext cx="2194560" cy="694944"/>
          </a:xfrm>
          <a:prstGeom prst="rect">
            <a:avLst/>
          </a:prstGeom>
          <a:noFill/>
        </p:spPr>
        <p:txBody>
          <a:bodyPr wrap="square" lIns="45720" tIns="27432" rIns="45720" bIns="27432" anchor="ctr"/>
          <a:lstStyle/>
          <a:p>
            <a:pPr algn="l">
              <a:buNone/>
            </a:pPr>
            <a:r>
              <a:rPr sz="1500" b="1" i="0">
                <a:solidFill>
                  <a:srgbClr val="123A7A"/>
                </a:solidFill>
                <a:latin typeface="Times New Roman"/>
                <a:ea typeface="Times New Roman"/>
                <a:cs typeface="Times New Roman"/>
              </a:rPr>
              <a:t>= Net Sales</a:t>
            </a:r>
          </a:p>
          <a:p>
            <a:pPr algn="l">
              <a:buNone/>
            </a:pPr>
            <a:r>
              <a:rPr sz="1100" b="0" i="0">
                <a:solidFill>
                  <a:srgbClr val="595959"/>
                </a:solidFill>
                <a:latin typeface="Times New Roman"/>
                <a:ea typeface="Times New Roman"/>
                <a:cs typeface="Times New Roman"/>
              </a:rPr>
              <a:t>Gross − Discounts</a:t>
            </a:r>
          </a:p>
        </p:txBody>
      </p:sp>
      <p:sp>
        <p:nvSpPr>
          <p:cNvPr id="174" name="TextBox 173"/>
          <p:cNvSpPr txBox="1"/>
          <p:nvPr/>
        </p:nvSpPr>
        <p:spPr>
          <a:xfrm>
            <a:off x="9601200" y="4279392"/>
            <a:ext cx="2011680" cy="694944"/>
          </a:xfrm>
          <a:prstGeom prst="rect">
            <a:avLst/>
          </a:prstGeom>
          <a:noFill/>
        </p:spPr>
        <p:txBody>
          <a:bodyPr wrap="square" lIns="45720" tIns="27432" rIns="45720" bIns="27432" anchor="ctr"/>
          <a:lstStyle/>
          <a:p>
            <a:pPr algn="r">
              <a:buNone/>
            </a:pPr>
            <a:r>
              <a:rPr sz="1700" b="1" i="0">
                <a:solidFill>
                  <a:srgbClr val="123A7A"/>
                </a:solidFill>
                <a:latin typeface="Times New Roman"/>
                <a:ea typeface="Times New Roman"/>
                <a:cs typeface="Times New Roman"/>
              </a:rPr>
              <a:t>4.683,49 USD</a:t>
            </a:r>
          </a:p>
        </p:txBody>
      </p:sp>
      <p:sp>
        <p:nvSpPr>
          <p:cNvPr id="175" name="TextBox 174"/>
          <p:cNvSpPr txBox="1"/>
          <p:nvPr/>
        </p:nvSpPr>
        <p:spPr>
          <a:xfrm>
            <a:off x="7406640" y="5120640"/>
            <a:ext cx="4297680" cy="822960"/>
          </a:xfrm>
          <a:prstGeom prst="rect">
            <a:avLst/>
          </a:prstGeom>
          <a:noFill/>
        </p:spPr>
        <p:txBody>
          <a:bodyPr wrap="square" lIns="45720" tIns="27432" rIns="45720" bIns="27432" anchor="t"/>
          <a:lstStyle/>
          <a:p>
            <a:pPr algn="l">
              <a:buNone/>
            </a:pPr>
            <a:r>
              <a:rPr sz="1200" b="0" i="0">
                <a:solidFill>
                  <a:srgbClr val="222222"/>
                </a:solidFill>
                <a:latin typeface="Times New Roman"/>
                <a:ea typeface="Times New Roman"/>
                <a:cs typeface="Times New Roman"/>
              </a:rPr>
              <a:t>Kiểm tra: 826,50 / 5.509,99 = 15,0% ≈ 15% khuyến mãi. Đơn này không có hoàn trả nên Net Revenue = Net Sales.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Nhóm đơn hàng và giá: Orders, Units, AOV, ASP, Return Rate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Orders </a:t>
            </a:r>
            <a:r>
              <a:rPr sz="1700" b="1" i="0">
                <a:solidFill>
                  <a:srgbClr val="C00000"/>
                </a:solidFill>
                <a:latin typeface="Times New Roman"/>
                <a:ea typeface="Times New Roman"/>
                <a:cs typeface="Times New Roman"/>
              </a:rPr>
              <a:t>đếm đơn, không đếm dòng</a:t>
            </a:r>
            <a:r>
              <a:rPr sz="1700" b="0" i="0">
                <a:solidFill>
                  <a:srgbClr val="222222"/>
                </a:solidFill>
                <a:latin typeface="Times New Roman"/>
                <a:ea typeface="Times New Roman"/>
                <a:cs typeface="Times New Roman"/>
              </a:rPr>
              <a:t>; AOV, ASP và tỷ lệ hoàn trả đều chia cho Net Sales</a:t>
            </a:r>
          </a:p>
        </p:txBody>
      </p:sp>
      <p:graphicFrame>
        <p:nvGraphicFramePr>
          <p:cNvPr id="143" name="Table 142"/>
          <p:cNvGraphicFramePr>
            <a:graphicFrameLocks noGrp="1"/>
          </p:cNvGraphicFramePr>
          <p:nvPr/>
        </p:nvGraphicFramePr>
        <p:xfrm>
          <a:off x="365760" y="1371600"/>
          <a:ext cx="7223757" cy="3017514"/>
        </p:xfrm>
        <a:graphic>
          <a:graphicData uri="http://schemas.openxmlformats.org/drawingml/2006/table">
            <a:tbl>
              <a:tblPr firstRow="1">
                <a:tableStyleId>{5940675A-B579-460E-94D1-54222C63F5DA}</a:tableStyleId>
              </a:tblPr>
              <a:tblGrid>
                <a:gridCol w="1114777"/>
                <a:gridCol w="2720057"/>
                <a:gridCol w="1962008"/>
                <a:gridCol w="1426915"/>
              </a:tblGrid>
              <a:tr h="502919">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Công thức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Giá trị 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02919">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DISTINCTCOUNT(order_number)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310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Σ quantity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2.359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Net Sales / 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Giá trị trung bình mỗi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1.986,49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02919">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Net Sales / 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Giá bán trung bình mỗi sản phẩm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261,05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02919">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Returns / 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Tăng là xấu, đo bằng điểm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
        <p:nvSpPr>
          <p:cNvPr id="144" name="TextBox 143"/>
          <p:cNvSpPr txBox="1"/>
          <p:nvPr/>
        </p:nvSpPr>
        <p:spPr>
          <a:xfrm>
            <a:off x="365760" y="4480560"/>
            <a:ext cx="7223760" cy="320040"/>
          </a:xfrm>
          <a:prstGeom prst="rect">
            <a:avLst/>
          </a:prstGeom>
          <a:noFill/>
        </p:spPr>
        <p:txBody>
          <a:bodyPr wrap="square" lIns="45720" tIns="27432" rIns="45720" bIns="27432" anchor="t"/>
          <a:lstStyle/>
          <a:p>
            <a:pPr algn="l">
              <a:buNone/>
            </a:pPr>
            <a:r>
              <a:rPr sz="1200" b="0" i="1">
                <a:solidFill>
                  <a:srgbClr val="595959"/>
                </a:solidFill>
                <a:latin typeface="Times New Roman"/>
                <a:ea typeface="Times New Roman"/>
                <a:cs typeface="Times New Roman"/>
              </a:rPr>
              <a:t>Kiểm chứng: AOV = 615.811,74 / 310 = 1.986,49 USD/đơn</a:t>
            </a:r>
          </a:p>
        </p:txBody>
      </p:sp>
      <p:sp>
        <p:nvSpPr>
          <p:cNvPr id="145" name="Rounded Rectangle 144"/>
          <p:cNvSpPr/>
          <p:nvPr/>
        </p:nvSpPr>
        <p:spPr>
          <a:xfrm>
            <a:off x="7818120" y="1371600"/>
            <a:ext cx="402336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6" name="Rounded Rectangle 145"/>
          <p:cNvSpPr/>
          <p:nvPr/>
        </p:nvSpPr>
        <p:spPr>
          <a:xfrm>
            <a:off x="7818120" y="1371600"/>
            <a:ext cx="402336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Bốn mốc thời gian</a:t>
            </a:r>
          </a:p>
        </p:txBody>
      </p:sp>
      <p:sp>
        <p:nvSpPr>
          <p:cNvPr id="147" name="Oval 146"/>
          <p:cNvSpPr/>
          <p:nvPr/>
        </p:nvSpPr>
        <p:spPr>
          <a:xfrm>
            <a:off x="7955279" y="196596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1</a:t>
            </a:r>
          </a:p>
        </p:txBody>
      </p:sp>
      <p:sp>
        <p:nvSpPr>
          <p:cNvPr id="148" name="TextBox 147"/>
          <p:cNvSpPr txBox="1"/>
          <p:nvPr/>
        </p:nvSpPr>
        <p:spPr>
          <a:xfrm>
            <a:off x="8458200" y="189280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báo cáo</a:t>
            </a:r>
            <a:r>
              <a:rPr sz="1400" b="1" i="0">
                <a:solidFill>
                  <a:srgbClr val="222222"/>
                </a:solidFill>
                <a:latin typeface="Times New Roman"/>
                <a:ea typeface="Times New Roman"/>
                <a:cs typeface="Times New Roman"/>
              </a:rPr>
              <a:t>  12/2020</a:t>
            </a:r>
          </a:p>
          <a:p>
            <a:pPr algn="l">
              <a:buNone/>
            </a:pPr>
            <a:r>
              <a:rPr sz="1200" b="0" i="0">
                <a:solidFill>
                  <a:srgbClr val="595959"/>
                </a:solidFill>
                <a:latin typeface="Times New Roman"/>
                <a:ea typeface="Times New Roman"/>
                <a:cs typeface="Times New Roman"/>
              </a:rPr>
              <a:t>chọn trên slicer</a:t>
            </a:r>
          </a:p>
        </p:txBody>
      </p:sp>
      <p:sp>
        <p:nvSpPr>
          <p:cNvPr id="149" name="Oval 148"/>
          <p:cNvSpPr/>
          <p:nvPr/>
        </p:nvSpPr>
        <p:spPr>
          <a:xfrm>
            <a:off x="7955279" y="2834639"/>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2</a:t>
            </a:r>
          </a:p>
        </p:txBody>
      </p:sp>
      <p:sp>
        <p:nvSpPr>
          <p:cNvPr id="150" name="TextBox 149"/>
          <p:cNvSpPr txBox="1"/>
          <p:nvPr/>
        </p:nvSpPr>
        <p:spPr>
          <a:xfrm>
            <a:off x="8458200" y="2761487"/>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Tháng trước (LM)</a:t>
            </a:r>
            <a:r>
              <a:rPr sz="1400" b="1" i="0">
                <a:solidFill>
                  <a:srgbClr val="222222"/>
                </a:solidFill>
                <a:latin typeface="Times New Roman"/>
                <a:ea typeface="Times New Roman"/>
                <a:cs typeface="Times New Roman"/>
              </a:rPr>
              <a:t>  11/2020</a:t>
            </a:r>
          </a:p>
          <a:p>
            <a:pPr algn="l">
              <a:buNone/>
            </a:pPr>
            <a:r>
              <a:rPr sz="1200" b="0" i="0">
                <a:solidFill>
                  <a:srgbClr val="595959"/>
                </a:solidFill>
                <a:latin typeface="Times New Roman"/>
                <a:ea typeface="Times New Roman"/>
                <a:cs typeface="Times New Roman"/>
              </a:rPr>
              <a:t>so sánh gần nhất</a:t>
            </a:r>
          </a:p>
        </p:txBody>
      </p:sp>
      <p:sp>
        <p:nvSpPr>
          <p:cNvPr id="151" name="Oval 150"/>
          <p:cNvSpPr/>
          <p:nvPr/>
        </p:nvSpPr>
        <p:spPr>
          <a:xfrm>
            <a:off x="7955279" y="370332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3</a:t>
            </a:r>
          </a:p>
        </p:txBody>
      </p:sp>
      <p:sp>
        <p:nvSpPr>
          <p:cNvPr id="152" name="TextBox 151"/>
          <p:cNvSpPr txBox="1"/>
          <p:nvPr/>
        </p:nvSpPr>
        <p:spPr>
          <a:xfrm>
            <a:off x="8458200" y="363016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Cùng kỳ năm trước (SPLY)</a:t>
            </a:r>
            <a:r>
              <a:rPr sz="1400" b="1" i="0">
                <a:solidFill>
                  <a:srgbClr val="222222"/>
                </a:solidFill>
                <a:latin typeface="Times New Roman"/>
                <a:ea typeface="Times New Roman"/>
                <a:cs typeface="Times New Roman"/>
              </a:rPr>
              <a:t>  12/2019</a:t>
            </a:r>
          </a:p>
          <a:p>
            <a:pPr algn="l">
              <a:buNone/>
            </a:pPr>
            <a:r>
              <a:rPr sz="1200" b="0" i="0">
                <a:solidFill>
                  <a:srgbClr val="595959"/>
                </a:solidFill>
                <a:latin typeface="Times New Roman"/>
                <a:ea typeface="Times New Roman"/>
                <a:cs typeface="Times New Roman"/>
              </a:rPr>
              <a:t>loại bỏ yếu tố mùa vụ</a:t>
            </a:r>
          </a:p>
        </p:txBody>
      </p:sp>
      <p:sp>
        <p:nvSpPr>
          <p:cNvPr id="153" name="Oval 152"/>
          <p:cNvSpPr/>
          <p:nvPr/>
        </p:nvSpPr>
        <p:spPr>
          <a:xfrm>
            <a:off x="7955279" y="4572000"/>
            <a:ext cx="411480" cy="411480"/>
          </a:xfrm>
          <a:prstGeom prst="ellipse">
            <a:avLst/>
          </a:prstGeom>
          <a:solidFill>
            <a:srgbClr val="123A7A"/>
          </a:solidFill>
          <a:ln>
            <a:noFill/>
          </a:ln>
          <a:effectLst/>
        </p:spPr>
        <p:txBody>
          <a:bodyPr rtlCol="0" anchor="ctr" wrap="square" lIns="0" tIns="0" rIns="0" bIns="0"/>
          <a:lstStyle/>
          <a:p>
            <a:pPr algn="ctr">
              <a:buNone/>
            </a:pPr>
            <a:r>
              <a:rPr sz="1400" b="1" i="0">
                <a:solidFill>
                  <a:srgbClr val="FFFFFF"/>
                </a:solidFill>
                <a:latin typeface="Times New Roman"/>
                <a:ea typeface="Times New Roman"/>
                <a:cs typeface="Times New Roman"/>
              </a:rPr>
              <a:t>4</a:t>
            </a:r>
          </a:p>
        </p:txBody>
      </p:sp>
      <p:sp>
        <p:nvSpPr>
          <p:cNvPr id="154" name="TextBox 153"/>
          <p:cNvSpPr txBox="1"/>
          <p:nvPr/>
        </p:nvSpPr>
        <p:spPr>
          <a:xfrm>
            <a:off x="8458200" y="4498848"/>
            <a:ext cx="3291840" cy="822960"/>
          </a:xfrm>
          <a:prstGeom prst="rect">
            <a:avLst/>
          </a:prstGeom>
          <a:noFill/>
        </p:spPr>
        <p:txBody>
          <a:bodyPr wrap="square" lIns="45720" tIns="27432" rIns="45720" bIns="27432" anchor="t"/>
          <a:lstStyle/>
          <a:p>
            <a:pPr algn="l">
              <a:buNone/>
            </a:pPr>
            <a:r>
              <a:rPr sz="1400" b="1" i="0">
                <a:solidFill>
                  <a:srgbClr val="123A7A"/>
                </a:solidFill>
                <a:latin typeface="Times New Roman"/>
                <a:ea typeface="Times New Roman"/>
                <a:cs typeface="Times New Roman"/>
              </a:rPr>
              <a:t>Lũy kế năm (YTD)</a:t>
            </a:r>
            <a:r>
              <a:rPr sz="1400" b="1" i="0">
                <a:solidFill>
                  <a:srgbClr val="222222"/>
                </a:solidFill>
                <a:latin typeface="Times New Roman"/>
                <a:ea typeface="Times New Roman"/>
                <a:cs typeface="Times New Roman"/>
              </a:rPr>
              <a:t>  01–12/2020</a:t>
            </a:r>
          </a:p>
          <a:p>
            <a:pPr algn="l">
              <a:buNone/>
            </a:pPr>
            <a:r>
              <a:rPr sz="1200" b="0" i="0">
                <a:solidFill>
                  <a:srgbClr val="595959"/>
                </a:solidFill>
                <a:latin typeface="Times New Roman"/>
                <a:ea typeface="Times New Roman"/>
                <a:cs typeface="Times New Roman"/>
              </a:rPr>
              <a:t>cộng dồn từ tháng 1</a:t>
            </a:r>
          </a:p>
        </p:txBody>
      </p:sp>
      <p:sp>
        <p:nvSpPr>
          <p:cNvPr id="155" name="TextBox 154"/>
          <p:cNvSpPr txBox="1"/>
          <p:nvPr/>
        </p:nvSpPr>
        <p:spPr>
          <a:xfrm>
            <a:off x="7955279" y="5440680"/>
            <a:ext cx="3794760" cy="50292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Δ% = (Hiện tại − Kỳ so sánh) / Kỳ so sánh</a:t>
            </a:r>
          </a:p>
        </p:txBody>
      </p:sp>
      <p:sp>
        <p:nvSpPr>
          <p:cNvPr id="156" name="Rounded Rectangle 155"/>
          <p:cNvSpPr/>
          <p:nvPr/>
        </p:nvSpPr>
        <p:spPr>
          <a:xfrm>
            <a:off x="365760" y="4892040"/>
            <a:ext cx="7223760" cy="109728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Bẫy thường gặp: </a:t>
            </a:r>
            <a:r>
              <a:rPr sz="1300" b="0" i="0">
                <a:solidFill>
                  <a:srgbClr val="222222"/>
                </a:solidFill>
                <a:latin typeface="Times New Roman"/>
                <a:ea typeface="Times New Roman"/>
                <a:cs typeface="Times New Roman"/>
              </a:rPr>
              <a:t>đếm COUNT(order_number) trên bảng dòng → số đơn bị nhân theo số sản phẩm trong đơn; tính AOV trên Gross thay vì Net Sales → AOV cao hơn thực tế.</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trạng thái đơn và quy tắc ghi nhận của Finance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a:t>
            </a:r>
            <a:r>
              <a:rPr sz="1700" b="1" i="0">
                <a:solidFill>
                  <a:srgbClr val="2E5B31"/>
                </a:solidFill>
                <a:latin typeface="Times New Roman"/>
                <a:ea typeface="Times New Roman"/>
                <a:cs typeface="Times New Roman"/>
              </a:rPr>
              <a:t>COMPLETED</a:t>
            </a:r>
            <a:r>
              <a:rPr sz="1700" b="0" i="0">
                <a:solidFill>
                  <a:srgbClr val="222222"/>
                </a:solidFill>
                <a:latin typeface="Times New Roman"/>
                <a:ea typeface="Times New Roman"/>
                <a:cs typeface="Times New Roman"/>
              </a:rPr>
              <a:t> vào doanh thu; Finance ghi online theo </a:t>
            </a:r>
            <a:r>
              <a:rPr sz="1700" b="1" i="0">
                <a:solidFill>
                  <a:srgbClr val="123A7A"/>
                </a:solidFill>
                <a:latin typeface="Times New Roman"/>
                <a:ea typeface="Times New Roman"/>
                <a:cs typeface="Times New Roman"/>
              </a:rPr>
              <a:t>ngày giao</a:t>
            </a:r>
            <a:r>
              <a:rPr sz="1700" b="0" i="0">
                <a:solidFill>
                  <a:srgbClr val="222222"/>
                </a:solidFill>
                <a:latin typeface="Times New Roman"/>
                <a:ea typeface="Times New Roman"/>
                <a:cs typeface="Times New Roman"/>
              </a:rPr>
              <a:t>, hoàn tiền theo </a:t>
            </a:r>
            <a:r>
              <a:rPr sz="1700" b="1" i="0">
                <a:solidFill>
                  <a:srgbClr val="123A7A"/>
                </a:solidFill>
                <a:latin typeface="Times New Roman"/>
                <a:ea typeface="Times New Roman"/>
                <a:cs typeface="Times New Roman"/>
              </a:rPr>
              <a:t>ngày hạch toán</a:t>
            </a:r>
          </a:p>
        </p:txBody>
      </p:sp>
      <p:sp>
        <p:nvSpPr>
          <p:cNvPr id="143" name="TextBox 142"/>
          <p:cNvSpPr txBox="1"/>
          <p:nvPr/>
        </p:nvSpPr>
        <p:spPr>
          <a:xfrm>
            <a:off x="365760" y="1325880"/>
            <a:ext cx="5486400" cy="32004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Trạng thái đơn (dim_order_status)</a:t>
            </a:r>
          </a:p>
        </p:txBody>
      </p:sp>
      <p:sp>
        <p:nvSpPr>
          <p:cNvPr id="144" name="Rounded Rectangle 143"/>
          <p:cNvSpPr/>
          <p:nvPr/>
        </p:nvSpPr>
        <p:spPr>
          <a:xfrm>
            <a:off x="365760" y="1737360"/>
            <a:ext cx="5577840" cy="9144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365760" y="1737360"/>
            <a:ext cx="1691640" cy="914400"/>
          </a:xfrm>
          <a:prstGeom prst="roundRect">
            <a:avLst>
              <a:gd name="adj" fmla="val 6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COMPLETED</a:t>
            </a:r>
          </a:p>
          <a:p>
            <a:pPr algn="ctr">
              <a:buNone/>
            </a:pPr>
            <a:r>
              <a:rPr sz="1200" b="0" i="0">
                <a:solidFill>
                  <a:srgbClr val="FFFFFF"/>
                </a:solidFill>
                <a:latin typeface="Times New Roman"/>
                <a:ea typeface="Times New Roman"/>
                <a:cs typeface="Times New Roman"/>
              </a:rPr>
              <a:t>25.639 đơn</a:t>
            </a:r>
          </a:p>
        </p:txBody>
      </p:sp>
      <p:sp>
        <p:nvSpPr>
          <p:cNvPr id="146" name="TextBox 145"/>
          <p:cNvSpPr txBox="1"/>
          <p:nvPr/>
        </p:nvSpPr>
        <p:spPr>
          <a:xfrm>
            <a:off x="2148840" y="1764792"/>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2E5B31"/>
                </a:solidFill>
                <a:latin typeface="Times New Roman"/>
                <a:ea typeface="Times New Roman"/>
                <a:cs typeface="Times New Roman"/>
              </a:rPr>
              <a:t>Có</a:t>
            </a:r>
          </a:p>
          <a:p>
            <a:pPr algn="l">
              <a:buNone/>
            </a:pPr>
            <a:r>
              <a:rPr sz="1200" b="0" i="0">
                <a:solidFill>
                  <a:srgbClr val="222222"/>
                </a:solidFill>
                <a:latin typeface="Times New Roman"/>
                <a:ea typeface="Times New Roman"/>
                <a:cs typeface="Times New Roman"/>
              </a:rPr>
              <a:t>Đơn đã thanh toán (POS) hoặc đã giao thành công (online)</a:t>
            </a:r>
          </a:p>
        </p:txBody>
      </p:sp>
      <p:sp>
        <p:nvSpPr>
          <p:cNvPr id="147" name="Rounded Rectangle 146"/>
          <p:cNvSpPr/>
          <p:nvPr/>
        </p:nvSpPr>
        <p:spPr>
          <a:xfrm>
            <a:off x="365760" y="2761488"/>
            <a:ext cx="5577840" cy="9144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8" name="Rounded Rectangle 147"/>
          <p:cNvSpPr/>
          <p:nvPr/>
        </p:nvSpPr>
        <p:spPr>
          <a:xfrm>
            <a:off x="365760" y="2761488"/>
            <a:ext cx="169164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CANCELLED</a:t>
            </a:r>
          </a:p>
          <a:p>
            <a:pPr algn="ctr">
              <a:buNone/>
            </a:pPr>
            <a:r>
              <a:rPr sz="1200" b="0" i="0">
                <a:solidFill>
                  <a:srgbClr val="FFFFFF"/>
                </a:solidFill>
                <a:latin typeface="Times New Roman"/>
                <a:ea typeface="Times New Roman"/>
                <a:cs typeface="Times New Roman"/>
              </a:rPr>
              <a:t>658 đơn</a:t>
            </a:r>
          </a:p>
        </p:txBody>
      </p:sp>
      <p:sp>
        <p:nvSpPr>
          <p:cNvPr id="149" name="TextBox 148"/>
          <p:cNvSpPr txBox="1"/>
          <p:nvPr/>
        </p:nvSpPr>
        <p:spPr>
          <a:xfrm>
            <a:off x="2148840" y="2788920"/>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00000"/>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Khách huỷ hoặc thanh toán thất bại; loại khỏi mọi KPI doanh thu</a:t>
            </a:r>
          </a:p>
        </p:txBody>
      </p:sp>
      <p:sp>
        <p:nvSpPr>
          <p:cNvPr id="150" name="Rounded Rectangle 149"/>
          <p:cNvSpPr/>
          <p:nvPr/>
        </p:nvSpPr>
        <p:spPr>
          <a:xfrm>
            <a:off x="365760" y="3785616"/>
            <a:ext cx="5577840" cy="914400"/>
          </a:xfrm>
          <a:prstGeom prst="roundRect">
            <a:avLst>
              <a:gd name="adj" fmla="val 6000"/>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51" name="Rounded Rectangle 150"/>
          <p:cNvSpPr/>
          <p:nvPr/>
        </p:nvSpPr>
        <p:spPr>
          <a:xfrm>
            <a:off x="365760" y="3785616"/>
            <a:ext cx="1691640" cy="914400"/>
          </a:xfrm>
          <a:prstGeom prst="roundRect">
            <a:avLst>
              <a:gd name="adj" fmla="val 6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PENDING</a:t>
            </a:r>
          </a:p>
          <a:p>
            <a:pPr algn="ctr">
              <a:buNone/>
            </a:pPr>
            <a:r>
              <a:rPr sz="1200" b="0" i="0">
                <a:solidFill>
                  <a:srgbClr val="FFFFFF"/>
                </a:solidFill>
                <a:latin typeface="Times New Roman"/>
                <a:ea typeface="Times New Roman"/>
                <a:cs typeface="Times New Roman"/>
              </a:rPr>
              <a:t>29 đơn</a:t>
            </a:r>
          </a:p>
        </p:txBody>
      </p:sp>
      <p:sp>
        <p:nvSpPr>
          <p:cNvPr id="152" name="TextBox 151"/>
          <p:cNvSpPr txBox="1"/>
          <p:nvPr/>
        </p:nvSpPr>
        <p:spPr>
          <a:xfrm>
            <a:off x="2148840" y="3813048"/>
            <a:ext cx="3749039" cy="86868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Tính doanh thu: </a:t>
            </a:r>
            <a:r>
              <a:rPr sz="1200" b="1" i="0">
                <a:solidFill>
                  <a:srgbClr val="C55A11"/>
                </a:solidFill>
                <a:latin typeface="Times New Roman"/>
                <a:ea typeface="Times New Roman"/>
                <a:cs typeface="Times New Roman"/>
              </a:rPr>
              <a:t>Không</a:t>
            </a:r>
          </a:p>
          <a:p>
            <a:pPr algn="l">
              <a:buNone/>
            </a:pPr>
            <a:r>
              <a:rPr sz="1200" b="0" i="0">
                <a:solidFill>
                  <a:srgbClr val="222222"/>
                </a:solidFill>
                <a:latin typeface="Times New Roman"/>
                <a:ea typeface="Times New Roman"/>
                <a:cs typeface="Times New Roman"/>
              </a:rPr>
              <a:t>Đơn online chưa giao tại ngày trích dữ liệu 20/02/2021; chưa đủ điều kiện ghi nhận doanh thu</a:t>
            </a:r>
          </a:p>
        </p:txBody>
      </p:sp>
      <p:sp>
        <p:nvSpPr>
          <p:cNvPr id="153" name="TextBox 152"/>
          <p:cNvSpPr txBox="1"/>
          <p:nvPr/>
        </p:nvSpPr>
        <p:spPr>
          <a:xfrm>
            <a:off x="365760" y="4846320"/>
            <a:ext cx="5577840" cy="1097280"/>
          </a:xfrm>
          <a:prstGeom prst="rect">
            <a:avLst/>
          </a:prstGeom>
          <a:noFill/>
        </p:spPr>
        <p:txBody>
          <a:bodyPr wrap="square" lIns="45720" tIns="27432" rIns="45720" bIns="27432" anchor="t"/>
          <a:lstStyle/>
          <a:p>
            <a:pPr algn="l">
              <a:buNone/>
            </a:pPr>
            <a:r>
              <a:rPr sz="1300" b="0" i="0">
                <a:solidFill>
                  <a:srgbClr val="595959"/>
                </a:solidFill>
                <a:latin typeface="Times New Roman"/>
                <a:ea typeface="Times New Roman"/>
                <a:cs typeface="Times New Roman"/>
              </a:rPr>
              <a:t>Tổng 26.326 đơn = 25.639 + 658 + 29. PENDING là đơn online chưa giao tại ngày trích 20/02/2021.</a:t>
            </a:r>
          </a:p>
        </p:txBody>
      </p:sp>
      <p:sp>
        <p:nvSpPr>
          <p:cNvPr id="154" name="TextBox 153"/>
          <p:cNvSpPr txBox="1"/>
          <p:nvPr/>
        </p:nvSpPr>
        <p:spPr>
          <a:xfrm>
            <a:off x="6263640" y="1325880"/>
            <a:ext cx="5486400" cy="320040"/>
          </a:xfrm>
          <a:prstGeom prst="rect">
            <a:avLst/>
          </a:prstGeom>
          <a:noFill/>
        </p:spPr>
        <p:txBody>
          <a:bodyPr wrap="square" lIns="45720" tIns="27432" rIns="45720" bIns="27432" anchor="t"/>
          <a:lstStyle/>
          <a:p>
            <a:pPr algn="l">
              <a:buNone/>
            </a:pPr>
            <a:r>
              <a:rPr sz="1500" b="1" i="0">
                <a:solidFill>
                  <a:srgbClr val="123A7A"/>
                </a:solidFill>
                <a:latin typeface="Times New Roman"/>
                <a:ea typeface="Times New Roman"/>
                <a:cs typeface="Times New Roman"/>
              </a:rPr>
              <a:t>Finance ghi nhận khi nào?</a:t>
            </a:r>
          </a:p>
        </p:txBody>
      </p:sp>
      <p:sp>
        <p:nvSpPr>
          <p:cNvPr id="155" name="Rounded Rectangle 154"/>
          <p:cNvSpPr/>
          <p:nvPr/>
        </p:nvSpPr>
        <p:spPr>
          <a:xfrm>
            <a:off x="6263640" y="1737360"/>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56" name="TextBox 155"/>
          <p:cNvSpPr txBox="1"/>
          <p:nvPr/>
        </p:nvSpPr>
        <p:spPr>
          <a:xfrm>
            <a:off x="6400800" y="176479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POS · Retail</a:t>
            </a:r>
          </a:p>
          <a:p>
            <a:pPr algn="l">
              <a:buNone/>
            </a:pPr>
            <a:r>
              <a:rPr sz="1300" b="0" i="0">
                <a:solidFill>
                  <a:srgbClr val="222222"/>
                </a:solidFill>
                <a:latin typeface="Times New Roman"/>
                <a:ea typeface="Times New Roman"/>
                <a:cs typeface="Times New Roman"/>
              </a:rPr>
              <a:t>Ghi nhận doanh thu tại ngày đặt hàng (khách thanh toán và nhận hàng ngay)</a:t>
            </a:r>
          </a:p>
        </p:txBody>
      </p:sp>
      <p:sp>
        <p:nvSpPr>
          <p:cNvPr id="157" name="Rounded Rectangle 156"/>
          <p:cNvSpPr/>
          <p:nvPr/>
        </p:nvSpPr>
        <p:spPr>
          <a:xfrm>
            <a:off x="6263640" y="278892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58" name="TextBox 157"/>
          <p:cNvSpPr txBox="1"/>
          <p:nvPr/>
        </p:nvSpPr>
        <p:spPr>
          <a:xfrm>
            <a:off x="6400800" y="281635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ONLINE · E-commerce</a:t>
            </a:r>
          </a:p>
          <a:p>
            <a:pPr algn="l">
              <a:buNone/>
            </a:pPr>
            <a:r>
              <a:rPr sz="1300" b="0" i="0">
                <a:solidFill>
                  <a:srgbClr val="222222"/>
                </a:solidFill>
                <a:latin typeface="Times New Roman"/>
                <a:ea typeface="Times New Roman"/>
                <a:cs typeface="Times New Roman"/>
              </a:rPr>
              <a:t>Ghi nhận doanh thu tại ngày giao hàng thành công (delivery_date)</a:t>
            </a:r>
          </a:p>
        </p:txBody>
      </p:sp>
      <p:sp>
        <p:nvSpPr>
          <p:cNvPr id="159" name="Rounded Rectangle 158"/>
          <p:cNvSpPr/>
          <p:nvPr/>
        </p:nvSpPr>
        <p:spPr>
          <a:xfrm>
            <a:off x="6263640" y="3840479"/>
            <a:ext cx="5577840" cy="941832"/>
          </a:xfrm>
          <a:prstGeom prst="roundRect">
            <a:avLst>
              <a:gd name="adj" fmla="val 6000"/>
            </a:avLst>
          </a:prstGeom>
          <a:solidFill>
            <a:srgbClr val="DEEAF6"/>
          </a:solidFill>
          <a:ln w="12700">
            <a:solidFill>
              <a:srgbClr val="123A7A"/>
            </a:solidFill>
          </a:ln>
          <a:effectLst/>
        </p:spPr>
        <p:txBody>
          <a:bodyPr rtlCol="0" anchor="ctr" wrap="square" lIns="73152" tIns="36576" rIns="73152" bIns="36576"/>
          <a:lstStyle/>
          <a:p>
            <a:pPr algn="ctr"/>
          </a:p>
        </p:txBody>
      </p:sp>
      <p:sp>
        <p:nvSpPr>
          <p:cNvPr id="160" name="TextBox 159"/>
          <p:cNvSpPr txBox="1"/>
          <p:nvPr/>
        </p:nvSpPr>
        <p:spPr>
          <a:xfrm>
            <a:off x="6400800" y="3867911"/>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Hoàn tiền</a:t>
            </a:r>
          </a:p>
          <a:p>
            <a:pPr algn="l">
              <a:buNone/>
            </a:pPr>
            <a:r>
              <a:rPr sz="1300" b="0" i="0">
                <a:solidFill>
                  <a:srgbClr val="222222"/>
                </a:solidFill>
                <a:latin typeface="Times New Roman"/>
                <a:ea typeface="Times New Roman"/>
                <a:cs typeface="Times New Roman"/>
              </a:rPr>
              <a:t>Finance hạch toán vào ngày xử lý, có thể trễ vài ngày sau return_date</a:t>
            </a:r>
          </a:p>
        </p:txBody>
      </p:sp>
      <p:sp>
        <p:nvSpPr>
          <p:cNvPr id="161" name="Rounded Rectangle 160"/>
          <p:cNvSpPr/>
          <p:nvPr/>
        </p:nvSpPr>
        <p:spPr>
          <a:xfrm>
            <a:off x="6263640" y="4892040"/>
            <a:ext cx="5577840" cy="941832"/>
          </a:xfrm>
          <a:prstGeom prst="roundRect">
            <a:avLst>
              <a:gd name="adj" fmla="val 6000"/>
            </a:avLst>
          </a:prstGeom>
          <a:solidFill>
            <a:srgbClr val="FFFFFF"/>
          </a:solidFill>
          <a:ln w="12700">
            <a:solidFill>
              <a:srgbClr val="123A7A"/>
            </a:solidFill>
          </a:ln>
          <a:effectLst/>
        </p:spPr>
        <p:txBody>
          <a:bodyPr rtlCol="0" anchor="ctr" wrap="square" lIns="73152" tIns="36576" rIns="73152" bIns="36576"/>
          <a:lstStyle/>
          <a:p>
            <a:pPr algn="ctr"/>
          </a:p>
        </p:txBody>
      </p:sp>
      <p:sp>
        <p:nvSpPr>
          <p:cNvPr id="162" name="TextBox 161"/>
          <p:cNvSpPr txBox="1"/>
          <p:nvPr/>
        </p:nvSpPr>
        <p:spPr>
          <a:xfrm>
            <a:off x="6400800" y="4919472"/>
            <a:ext cx="5349240" cy="896112"/>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VAT</a:t>
            </a:r>
          </a:p>
          <a:p>
            <a:pPr algn="l">
              <a:buNone/>
            </a:pPr>
            <a:r>
              <a:rPr sz="1300" b="0" i="0">
                <a:solidFill>
                  <a:srgbClr val="222222"/>
                </a:solidFill>
                <a:latin typeface="Times New Roman"/>
                <a:ea typeface="Times New Roman"/>
                <a:cs typeface="Times New Roman"/>
              </a:rPr>
              <a:t>net_revenue chưa gồm VAT; vat_amount = 10% × net_revenue</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Hệ thống chỉ số KPI</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Δ và ngưỡng cho phép: khi nào phải giải thích?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Chỉ ô </a:t>
            </a:r>
            <a:r>
              <a:rPr sz="1700" b="1" i="0">
                <a:solidFill>
                  <a:srgbClr val="123A7A"/>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vượt </a:t>
            </a:r>
            <a:r>
              <a:rPr sz="1700" b="1" i="0">
                <a:solidFill>
                  <a:srgbClr val="C00000"/>
                </a:solidFill>
                <a:latin typeface="Times New Roman"/>
                <a:ea typeface="Times New Roman"/>
                <a:cs typeface="Times New Roman"/>
              </a:rPr>
              <a:t>cả hai</a:t>
            </a:r>
            <a:r>
              <a:rPr sz="1700" b="0" i="0">
                <a:solidFill>
                  <a:srgbClr val="222222"/>
                </a:solidFill>
                <a:latin typeface="Times New Roman"/>
                <a:ea typeface="Times New Roman"/>
                <a:cs typeface="Times New Roman"/>
              </a:rPr>
              <a:t> điều kiện mới bắt buộc giải thích</a:t>
            </a:r>
          </a:p>
        </p:txBody>
      </p:sp>
      <p:sp>
        <p:nvSpPr>
          <p:cNvPr id="143" name="Rounded Rectangle 142"/>
          <p:cNvSpPr/>
          <p:nvPr/>
        </p:nvSpPr>
        <p:spPr>
          <a:xfrm>
            <a:off x="365760" y="1371600"/>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Finance</a:t>
            </a:r>
          </a:p>
        </p:txBody>
      </p:sp>
      <p:sp>
        <p:nvSpPr>
          <p:cNvPr id="145" name="TextBox 144"/>
          <p:cNvSpPr txBox="1"/>
          <p:nvPr/>
        </p:nvSpPr>
        <p:spPr>
          <a:xfrm>
            <a:off x="2194560" y="1399032"/>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Finance Net Revenue − Net Revenue (đơn)</a:t>
            </a:r>
          </a:p>
          <a:p>
            <a:pPr algn="l">
              <a:buNone/>
            </a:pPr>
            <a:r>
              <a:rPr sz="1200" b="0" i="0">
                <a:solidFill>
                  <a:srgbClr val="595959"/>
                </a:solidFill>
                <a:latin typeface="Times New Roman"/>
                <a:ea typeface="Times New Roman"/>
                <a:cs typeface="Times New Roman"/>
              </a:rPr>
              <a:t>Dương: Finance ghi cao hơn dữ liệu đơn</a:t>
            </a:r>
          </a:p>
        </p:txBody>
      </p:sp>
      <p:sp>
        <p:nvSpPr>
          <p:cNvPr id="146" name="Rounded Rectangle 145"/>
          <p:cNvSpPr/>
          <p:nvPr/>
        </p:nvSpPr>
        <p:spPr>
          <a:xfrm>
            <a:off x="365760" y="2395728"/>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365760" y="2395728"/>
            <a:ext cx="1737360" cy="914400"/>
          </a:xfrm>
          <a:prstGeom prst="roundRect">
            <a:avLst>
              <a:gd name="adj" fmla="val 6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Δ %</a:t>
            </a:r>
          </a:p>
        </p:txBody>
      </p:sp>
      <p:sp>
        <p:nvSpPr>
          <p:cNvPr id="148" name="TextBox 147"/>
          <p:cNvSpPr txBox="1"/>
          <p:nvPr/>
        </p:nvSpPr>
        <p:spPr>
          <a:xfrm>
            <a:off x="2194560" y="2423160"/>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 |Finance Net Revenue|</a:t>
            </a:r>
          </a:p>
          <a:p>
            <a:pPr algn="l">
              <a:buNone/>
            </a:pPr>
            <a:r>
              <a:rPr sz="1200" b="0" i="0">
                <a:solidFill>
                  <a:srgbClr val="595959"/>
                </a:solidFill>
                <a:latin typeface="Times New Roman"/>
                <a:ea typeface="Times New Roman"/>
                <a:cs typeface="Times New Roman"/>
              </a:rPr>
              <a:t>Chia cho trị tuyệt đối để giữ dấu của Δ</a:t>
            </a:r>
          </a:p>
        </p:txBody>
      </p:sp>
      <p:sp>
        <p:nvSpPr>
          <p:cNvPr id="149" name="Rounded Rectangle 148"/>
          <p:cNvSpPr/>
          <p:nvPr/>
        </p:nvSpPr>
        <p:spPr>
          <a:xfrm>
            <a:off x="365760" y="3419856"/>
            <a:ext cx="6400800" cy="914400"/>
          </a:xfrm>
          <a:prstGeom prst="roundRect">
            <a:avLst>
              <a:gd name="adj" fmla="val 6000"/>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50" name="Rounded Rectangle 149"/>
          <p:cNvSpPr/>
          <p:nvPr/>
        </p:nvSpPr>
        <p:spPr>
          <a:xfrm>
            <a:off x="365760" y="3419856"/>
            <a:ext cx="1737360" cy="914400"/>
          </a:xfrm>
          <a:prstGeom prst="roundRect">
            <a:avLst>
              <a:gd name="adj" fmla="val 6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Cờ vượt ngưỡng</a:t>
            </a:r>
          </a:p>
        </p:txBody>
      </p:sp>
      <p:sp>
        <p:nvSpPr>
          <p:cNvPr id="151" name="TextBox 150"/>
          <p:cNvSpPr txBox="1"/>
          <p:nvPr/>
        </p:nvSpPr>
        <p:spPr>
          <a:xfrm>
            <a:off x="2194560" y="3447288"/>
            <a:ext cx="4526280" cy="86868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|Δ| &gt; 200 USD  VÀ  |Δ%| &gt; 1%</a:t>
            </a:r>
          </a:p>
          <a:p>
            <a:pPr algn="l">
              <a:buNone/>
            </a:pPr>
            <a:r>
              <a:rPr sz="1200" b="0" i="0">
                <a:solidFill>
                  <a:srgbClr val="595959"/>
                </a:solidFill>
                <a:latin typeface="Times New Roman"/>
                <a:ea typeface="Times New Roman"/>
                <a:cs typeface="Times New Roman"/>
              </a:rPr>
              <a:t>Xét ở mức tháng × cửa hàng (store_key 0 = online)</a:t>
            </a:r>
          </a:p>
        </p:txBody>
      </p:sp>
      <p:sp>
        <p:nvSpPr>
          <p:cNvPr id="152" name="Rounded Rectangle 151"/>
          <p:cNvSpPr/>
          <p:nvPr/>
        </p:nvSpPr>
        <p:spPr>
          <a:xfrm>
            <a:off x="365760" y="4526280"/>
            <a:ext cx="6400800" cy="1463040"/>
          </a:xfrm>
          <a:prstGeom prst="roundRect">
            <a:avLst>
              <a:gd name="adj" fmla="val 6000"/>
            </a:avLst>
          </a:prstGeom>
          <a:solidFill>
            <a:srgbClr val="E2F0D9"/>
          </a:solidFill>
          <a:ln w="15875">
            <a:solidFill>
              <a:srgbClr val="2E5B31"/>
            </a:solidFill>
          </a:ln>
          <a:effectLst/>
        </p:spPr>
        <p:txBody>
          <a:bodyPr rtlCol="0" anchor="t" wrap="square" lIns="137160" tIns="54864" rIns="137160" bIns="36576"/>
          <a:lstStyle/>
          <a:p>
            <a:pPr algn="l">
              <a:buNone/>
            </a:pPr>
            <a:r>
              <a:rPr sz="1300" b="1" i="0">
                <a:solidFill>
                  <a:srgbClr val="2E5B31"/>
                </a:solidFill>
                <a:latin typeface="Times New Roman"/>
                <a:ea typeface="Times New Roman"/>
                <a:cs typeface="Times New Roman"/>
              </a:rPr>
              <a:t>Vì sao cần cả hai điều kiện?</a:t>
            </a:r>
          </a:p>
          <a:p>
            <a:pPr algn="l" marL="182880" indent="-182880">
              <a:buFont typeface="Arial"/>
              <a:buChar char="•"/>
            </a:pPr>
            <a:r>
              <a:rPr sz="1300" b="0" i="0">
                <a:solidFill>
                  <a:srgbClr val="222222"/>
                </a:solidFill>
                <a:latin typeface="Times New Roman"/>
                <a:ea typeface="Times New Roman"/>
                <a:cs typeface="Times New Roman"/>
              </a:rPr>
              <a:t>Cửa hàng lớn: lệch 300 USD có thể chỉ 0,1% → làm tròn, không đáng giải thích</a:t>
            </a:r>
          </a:p>
          <a:p>
            <a:pPr algn="l" marL="182880" indent="-182880">
              <a:buFont typeface="Arial"/>
              <a:buChar char="•"/>
            </a:pPr>
            <a:r>
              <a:rPr sz="1300" b="0" i="0">
                <a:solidFill>
                  <a:srgbClr val="222222"/>
                </a:solidFill>
                <a:latin typeface="Times New Roman"/>
                <a:ea typeface="Times New Roman"/>
                <a:cs typeface="Times New Roman"/>
              </a:rPr>
              <a:t>Cửa hàng nhỏ: lệch 5% nhưng chỉ 50 USD → không đáng công truy vết</a:t>
            </a:r>
          </a:p>
        </p:txBody>
      </p:sp>
      <p:sp>
        <p:nvSpPr>
          <p:cNvPr id="153" name="Rounded Rectangle 152"/>
          <p:cNvSpPr/>
          <p:nvPr/>
        </p:nvSpPr>
        <p:spPr>
          <a:xfrm>
            <a:off x="6995160" y="1371600"/>
            <a:ext cx="484632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54" name="Rounded Rectangle 153"/>
          <p:cNvSpPr/>
          <p:nvPr/>
        </p:nvSpPr>
        <p:spPr>
          <a:xfrm>
            <a:off x="6995160" y="1371600"/>
            <a:ext cx="484632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Ví dụ thật, tháng 12/2020</a:t>
            </a:r>
          </a:p>
        </p:txBody>
      </p:sp>
      <p:sp>
        <p:nvSpPr>
          <p:cNvPr id="155" name="Rounded Rectangle 154"/>
          <p:cNvSpPr/>
          <p:nvPr/>
        </p:nvSpPr>
        <p:spPr>
          <a:xfrm>
            <a:off x="7132320" y="1965960"/>
            <a:ext cx="4572000" cy="1828800"/>
          </a:xfrm>
          <a:prstGeom prst="roundRect">
            <a:avLst>
              <a:gd name="adj" fmla="val 6000"/>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56" name="TextBox 155"/>
          <p:cNvSpPr txBox="1"/>
          <p:nvPr/>
        </p:nvSpPr>
        <p:spPr>
          <a:xfrm>
            <a:off x="7269480" y="2011679"/>
            <a:ext cx="4343400" cy="1737360"/>
          </a:xfrm>
          <a:prstGeom prst="rect">
            <a:avLst/>
          </a:prstGeom>
          <a:noFill/>
        </p:spPr>
        <p:txBody>
          <a:bodyPr wrap="square" lIns="45720" tIns="27432" rIns="45720" bIns="27432" anchor="t"/>
          <a:lstStyle/>
          <a:p>
            <a:pPr algn="l">
              <a:spcAft>
                <a:spcPts val="300"/>
              </a:spcAft>
              <a:buNone/>
            </a:pPr>
            <a:r>
              <a:rPr sz="1300" b="1" i="0">
                <a:solidFill>
                  <a:srgbClr val="2E5B31"/>
                </a:solidFill>
                <a:latin typeface="Times New Roman"/>
                <a:ea typeface="Times New Roman"/>
                <a:cs typeface="Times New Roman"/>
              </a:rPr>
              <a:t>Cửa hàng S62 (United States)</a:t>
            </a:r>
          </a:p>
          <a:p>
            <a:pPr algn="l">
              <a:spcAft>
                <a:spcPts val="300"/>
              </a:spcAft>
              <a:buNone/>
            </a:pPr>
            <a:r>
              <a:rPr sz="1300" b="0" i="0">
                <a:solidFill>
                  <a:srgbClr val="222222"/>
                </a:solidFill>
                <a:latin typeface="Times New Roman"/>
                <a:ea typeface="Times New Roman"/>
                <a:cs typeface="Times New Roman"/>
              </a:rPr>
              <a:t>Đơn: 6.191,92 · Finance: 6.278,89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+86,97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+1,4%</a:t>
            </a:r>
          </a:p>
          <a:p>
            <a:pPr algn="l">
              <a:spcAft>
                <a:spcPts val="300"/>
              </a:spcAft>
              <a:buNone/>
            </a:pPr>
            <a:r>
              <a:rPr sz="1300" b="0" i="1">
                <a:solidFill>
                  <a:srgbClr val="2E5B31"/>
                </a:solidFill>
                <a:latin typeface="Times New Roman"/>
                <a:ea typeface="Times New Roman"/>
                <a:cs typeface="Times New Roman"/>
              </a:rPr>
              <a:t>Trong ngưỡng: ghi nhận, không bắt buộc giải thích</a:t>
            </a:r>
          </a:p>
        </p:txBody>
      </p:sp>
      <p:sp>
        <p:nvSpPr>
          <p:cNvPr id="157" name="Rounded Rectangle 156"/>
          <p:cNvSpPr/>
          <p:nvPr/>
        </p:nvSpPr>
        <p:spPr>
          <a:xfrm>
            <a:off x="7132320" y="3931920"/>
            <a:ext cx="4572000" cy="1828800"/>
          </a:xfrm>
          <a:prstGeom prst="roundRect">
            <a:avLst>
              <a:gd name="adj" fmla="val 6000"/>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58" name="TextBox 157"/>
          <p:cNvSpPr txBox="1"/>
          <p:nvPr/>
        </p:nvSpPr>
        <p:spPr>
          <a:xfrm>
            <a:off x="7269480" y="3977639"/>
            <a:ext cx="4343400" cy="1737360"/>
          </a:xfrm>
          <a:prstGeom prst="rect">
            <a:avLst/>
          </a:prstGeom>
          <a:noFill/>
        </p:spPr>
        <p:txBody>
          <a:bodyPr wrap="square" lIns="45720" tIns="27432" rIns="45720" bIns="27432" anchor="t"/>
          <a:lstStyle/>
          <a:p>
            <a:pPr algn="l">
              <a:spcAft>
                <a:spcPts val="300"/>
              </a:spcAft>
              <a:buNone/>
            </a:pPr>
            <a:r>
              <a:rPr sz="1300" b="1" i="0">
                <a:solidFill>
                  <a:srgbClr val="C00000"/>
                </a:solidFill>
                <a:latin typeface="Times New Roman"/>
                <a:ea typeface="Times New Roman"/>
                <a:cs typeface="Times New Roman"/>
              </a:rPr>
              <a:t>Cửa hàng S12 (France)</a:t>
            </a:r>
          </a:p>
          <a:p>
            <a:pPr algn="l">
              <a:spcAft>
                <a:spcPts val="300"/>
              </a:spcAft>
              <a:buNone/>
            </a:pPr>
            <a:r>
              <a:rPr sz="1300" b="0" i="0">
                <a:solidFill>
                  <a:srgbClr val="222222"/>
                </a:solidFill>
                <a:latin typeface="Times New Roman"/>
                <a:ea typeface="Times New Roman"/>
                <a:cs typeface="Times New Roman"/>
              </a:rPr>
              <a:t>Đơn: 20.853,35 · Finance: 30.994,39</a:t>
            </a:r>
          </a:p>
          <a:p>
            <a:pPr algn="l">
              <a:spcAft>
                <a:spcPts val="300"/>
              </a:spcAft>
              <a:buNone/>
            </a:pPr>
            <a:r>
              <a:rPr sz="1300" b="0" i="0">
                <a:solidFill>
                  <a:srgbClr val="222222"/>
                </a:solidFill>
                <a:latin typeface="Times New Roman"/>
                <a:ea typeface="Times New Roman"/>
                <a:cs typeface="Times New Roman"/>
              </a:rPr>
              <a:t>Δ = </a:t>
            </a:r>
            <a:r>
              <a:rPr sz="1300" b="1" i="0">
                <a:solidFill>
                  <a:srgbClr val="222222"/>
                </a:solidFill>
                <a:latin typeface="Times New Roman"/>
                <a:ea typeface="Times New Roman"/>
                <a:cs typeface="Times New Roman"/>
              </a:rPr>
              <a:t>+10.141,04 USD</a:t>
            </a:r>
            <a:r>
              <a:rPr sz="1300" b="0" i="0">
                <a:solidFill>
                  <a:srgbClr val="222222"/>
                </a:solidFill>
                <a:latin typeface="Times New Roman"/>
                <a:ea typeface="Times New Roman"/>
                <a:cs typeface="Times New Roman"/>
              </a:rPr>
              <a:t> · Δ% = </a:t>
            </a:r>
            <a:r>
              <a:rPr sz="1300" b="1" i="0">
                <a:solidFill>
                  <a:srgbClr val="222222"/>
                </a:solidFill>
                <a:latin typeface="Times New Roman"/>
                <a:ea typeface="Times New Roman"/>
                <a:cs typeface="Times New Roman"/>
              </a:rPr>
              <a:t>+32,7%</a:t>
            </a:r>
          </a:p>
          <a:p>
            <a:pPr algn="l">
              <a:spcAft>
                <a:spcPts val="300"/>
              </a:spcAft>
              <a:buNone/>
            </a:pPr>
            <a:r>
              <a:rPr sz="1300" b="0" i="1">
                <a:solidFill>
                  <a:srgbClr val="C00000"/>
                </a:solidFill>
                <a:latin typeface="Times New Roman"/>
                <a:ea typeface="Times New Roman"/>
                <a:cs typeface="Times New Roman"/>
              </a:rPr>
              <a:t>Vượt ngưỡng: phải tìm nguyên nhân và số tiền</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Pipeline dữ liệu: từ file nguồn đến dashboard và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Học viên làm 5 bước: </a:t>
            </a:r>
            <a:r>
              <a:rPr sz="1700" b="1" i="0">
                <a:solidFill>
                  <a:srgbClr val="2E5B31"/>
                </a:solidFill>
                <a:latin typeface="Times New Roman"/>
                <a:ea typeface="Times New Roman"/>
                <a:cs typeface="Times New Roman"/>
              </a:rPr>
              <a:t>Power Query → Mô hình → DAX → Dashboard → Báo cáo</a:t>
            </a:r>
          </a:p>
        </p:txBody>
      </p:sp>
      <p:pic>
        <p:nvPicPr>
          <p:cNvPr id="143" name="Picture 142" descr="01_pipeline_du_lieu.png"/>
          <p:cNvPicPr>
            <a:picLocks noChangeAspect="1"/>
          </p:cNvPicPr>
          <p:nvPr/>
        </p:nvPicPr>
        <p:blipFill>
          <a:blip r:embed="rId3"/>
          <a:stretch>
            <a:fillRect/>
          </a:stretch>
        </p:blipFill>
        <p:spPr>
          <a:xfrm>
            <a:off x="587231" y="1325880"/>
            <a:ext cx="11032776" cy="4709160"/>
          </a:xfrm>
          <a:prstGeom prst="rect">
            <a:avLst/>
          </a:prstGeom>
        </p:spPr>
      </p:pic>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Cấu trúc bộ dữ liệu Nexa Home và hai bảng fact</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bảng có </a:t>
            </a:r>
            <a:r>
              <a:rPr sz="1700" b="1" i="0">
                <a:solidFill>
                  <a:srgbClr val="C00000"/>
                </a:solidFill>
                <a:latin typeface="Times New Roman"/>
                <a:ea typeface="Times New Roman"/>
                <a:cs typeface="Times New Roman"/>
              </a:rPr>
              <a:t>hạt dữ liệu (grain)</a:t>
            </a:r>
            <a:r>
              <a:rPr sz="1700" b="0" i="0">
                <a:solidFill>
                  <a:srgbClr val="222222"/>
                </a:solidFill>
                <a:latin typeface="Times New Roman"/>
                <a:ea typeface="Times New Roman"/>
                <a:cs typeface="Times New Roman"/>
              </a:rPr>
              <a:t> khác nhau: dòng sản phẩm, lần trả hàng, ngày × mã cửa hàng Finance</a:t>
            </a:r>
          </a:p>
        </p:txBody>
      </p:sp>
      <p:sp>
        <p:nvSpPr>
          <p:cNvPr id="143" name="Rounded Rectangle 142"/>
          <p:cNvSpPr/>
          <p:nvPr/>
        </p:nvSpPr>
        <p:spPr>
          <a:xfrm>
            <a:off x="365760" y="1371600"/>
            <a:ext cx="2697480" cy="9601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TextBox 143"/>
          <p:cNvSpPr txBox="1"/>
          <p:nvPr/>
        </p:nvSpPr>
        <p:spPr>
          <a:xfrm>
            <a:off x="365760" y="1371600"/>
            <a:ext cx="1005840" cy="960120"/>
          </a:xfrm>
          <a:prstGeom prst="rect">
            <a:avLst/>
          </a:prstGeom>
          <a:noFill/>
        </p:spPr>
        <p:txBody>
          <a:bodyPr wrap="square" lIns="45720" tIns="27432" rIns="45720" bIns="27432" anchor="ctr"/>
          <a:lstStyle/>
          <a:p>
            <a:pPr algn="ctr">
              <a:buNone/>
            </a:pPr>
            <a:r>
              <a:rPr sz="2600" b="1" i="0">
                <a:solidFill>
                  <a:srgbClr val="2E5B31"/>
                </a:solidFill>
                <a:latin typeface="Times New Roman"/>
                <a:ea typeface="Times New Roman"/>
                <a:cs typeface="Times New Roman"/>
              </a:rPr>
              <a:t>2</a:t>
            </a:r>
          </a:p>
        </p:txBody>
      </p:sp>
      <p:sp>
        <p:nvSpPr>
          <p:cNvPr id="145" name="TextBox 144"/>
          <p:cNvSpPr txBox="1"/>
          <p:nvPr/>
        </p:nvSpPr>
        <p:spPr>
          <a:xfrm>
            <a:off x="132588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file</a:t>
            </a:r>
          </a:p>
          <a:p>
            <a:pPr algn="l">
              <a:buNone/>
            </a:pPr>
            <a:r>
              <a:rPr sz="1200" b="0" i="0">
                <a:solidFill>
                  <a:srgbClr val="595959"/>
                </a:solidFill>
                <a:latin typeface="Times New Roman"/>
                <a:ea typeface="Times New Roman"/>
                <a:cs typeface="Times New Roman"/>
              </a:rPr>
              <a:t>Dataset + Finance</a:t>
            </a:r>
          </a:p>
        </p:txBody>
      </p:sp>
      <p:sp>
        <p:nvSpPr>
          <p:cNvPr id="146" name="Rounded Rectangle 145"/>
          <p:cNvSpPr/>
          <p:nvPr/>
        </p:nvSpPr>
        <p:spPr>
          <a:xfrm>
            <a:off x="3246120" y="1371600"/>
            <a:ext cx="2697480" cy="9601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TextBox 146"/>
          <p:cNvSpPr txBox="1"/>
          <p:nvPr/>
        </p:nvSpPr>
        <p:spPr>
          <a:xfrm>
            <a:off x="3246120" y="1371600"/>
            <a:ext cx="1005840" cy="960120"/>
          </a:xfrm>
          <a:prstGeom prst="rect">
            <a:avLst/>
          </a:prstGeom>
          <a:noFill/>
        </p:spPr>
        <p:txBody>
          <a:bodyPr wrap="square" lIns="45720" tIns="27432" rIns="45720" bIns="27432" anchor="ctr"/>
          <a:lstStyle/>
          <a:p>
            <a:pPr algn="ctr">
              <a:buNone/>
            </a:pPr>
            <a:r>
              <a:rPr sz="2600" b="1" i="0">
                <a:solidFill>
                  <a:srgbClr val="C55A11"/>
                </a:solidFill>
                <a:latin typeface="Times New Roman"/>
                <a:ea typeface="Times New Roman"/>
                <a:cs typeface="Times New Roman"/>
              </a:rPr>
              <a:t>2 + 1</a:t>
            </a:r>
          </a:p>
        </p:txBody>
      </p:sp>
      <p:sp>
        <p:nvSpPr>
          <p:cNvPr id="148" name="TextBox 147"/>
          <p:cNvSpPr txBox="1"/>
          <p:nvPr/>
        </p:nvSpPr>
        <p:spPr>
          <a:xfrm>
            <a:off x="420624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fact</a:t>
            </a:r>
          </a:p>
          <a:p>
            <a:pPr algn="l">
              <a:buNone/>
            </a:pPr>
            <a:r>
              <a:rPr sz="1200" b="0" i="0">
                <a:solidFill>
                  <a:srgbClr val="595959"/>
                </a:solidFill>
                <a:latin typeface="Times New Roman"/>
                <a:ea typeface="Times New Roman"/>
                <a:cs typeface="Times New Roman"/>
              </a:rPr>
              <a:t>đơn · trả hàng · Finance</a:t>
            </a:r>
          </a:p>
        </p:txBody>
      </p:sp>
      <p:sp>
        <p:nvSpPr>
          <p:cNvPr id="149" name="Rounded Rectangle 148"/>
          <p:cNvSpPr/>
          <p:nvPr/>
        </p:nvSpPr>
        <p:spPr>
          <a:xfrm>
            <a:off x="6126480" y="1371600"/>
            <a:ext cx="2697480" cy="9601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50" name="TextBox 149"/>
          <p:cNvSpPr txBox="1"/>
          <p:nvPr/>
        </p:nvSpPr>
        <p:spPr>
          <a:xfrm>
            <a:off x="6126480" y="1371600"/>
            <a:ext cx="1005840" cy="960120"/>
          </a:xfrm>
          <a:prstGeom prst="rect">
            <a:avLst/>
          </a:prstGeom>
          <a:noFill/>
        </p:spPr>
        <p:txBody>
          <a:bodyPr wrap="square" lIns="45720" tIns="27432" rIns="45720" bIns="27432" anchor="ctr"/>
          <a:lstStyle/>
          <a:p>
            <a:pPr algn="ctr">
              <a:buNone/>
            </a:pPr>
            <a:r>
              <a:rPr sz="2600" b="1" i="0">
                <a:solidFill>
                  <a:srgbClr val="123A7A"/>
                </a:solidFill>
                <a:latin typeface="Times New Roman"/>
                <a:ea typeface="Times New Roman"/>
                <a:cs typeface="Times New Roman"/>
              </a:rPr>
              <a:t>7</a:t>
            </a:r>
          </a:p>
        </p:txBody>
      </p:sp>
      <p:sp>
        <p:nvSpPr>
          <p:cNvPr id="151" name="TextBox 150"/>
          <p:cNvSpPr txBox="1"/>
          <p:nvPr/>
        </p:nvSpPr>
        <p:spPr>
          <a:xfrm>
            <a:off x="708660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dim</a:t>
            </a:r>
          </a:p>
          <a:p>
            <a:pPr algn="l">
              <a:buNone/>
            </a:pPr>
            <a:r>
              <a:rPr sz="1200" b="0" i="0">
                <a:solidFill>
                  <a:srgbClr val="595959"/>
                </a:solidFill>
                <a:latin typeface="Times New Roman"/>
                <a:ea typeface="Times New Roman"/>
                <a:cs typeface="Times New Roman"/>
              </a:rPr>
              <a:t>ngày, cửa hàng, sản phẩm…</a:t>
            </a:r>
          </a:p>
        </p:txBody>
      </p:sp>
      <p:sp>
        <p:nvSpPr>
          <p:cNvPr id="152" name="Rounded Rectangle 151"/>
          <p:cNvSpPr/>
          <p:nvPr/>
        </p:nvSpPr>
        <p:spPr>
          <a:xfrm>
            <a:off x="9006840" y="1371600"/>
            <a:ext cx="2697480" cy="9601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53" name="TextBox 152"/>
          <p:cNvSpPr txBox="1"/>
          <p:nvPr/>
        </p:nvSpPr>
        <p:spPr>
          <a:xfrm>
            <a:off x="9006840" y="1371600"/>
            <a:ext cx="1005840" cy="960120"/>
          </a:xfrm>
          <a:prstGeom prst="rect">
            <a:avLst/>
          </a:prstGeom>
          <a:noFill/>
        </p:spPr>
        <p:txBody>
          <a:bodyPr wrap="square" lIns="45720" tIns="27432" rIns="45720" bIns="27432" anchor="ctr"/>
          <a:lstStyle/>
          <a:p>
            <a:pPr algn="ctr">
              <a:buNone/>
            </a:pPr>
            <a:r>
              <a:rPr sz="2600" b="1" i="0">
                <a:solidFill>
                  <a:srgbClr val="C00000"/>
                </a:solidFill>
                <a:latin typeface="Times New Roman"/>
                <a:ea typeface="Times New Roman"/>
                <a:cs typeface="Times New Roman"/>
              </a:rPr>
              <a:t>1</a:t>
            </a:r>
          </a:p>
        </p:txBody>
      </p:sp>
      <p:sp>
        <p:nvSpPr>
          <p:cNvPr id="154" name="TextBox 153"/>
          <p:cNvSpPr txBox="1"/>
          <p:nvPr/>
        </p:nvSpPr>
        <p:spPr>
          <a:xfrm>
            <a:off x="9966960" y="1389888"/>
            <a:ext cx="1691640" cy="914400"/>
          </a:xfrm>
          <a:prstGeom prst="rect">
            <a:avLst/>
          </a:prstGeom>
          <a:noFill/>
        </p:spPr>
        <p:txBody>
          <a:bodyPr wrap="square" lIns="45720" tIns="27432" rIns="45720" bIns="27432" anchor="ctr"/>
          <a:lstStyle/>
          <a:p>
            <a:pPr algn="l">
              <a:buNone/>
            </a:pPr>
            <a:r>
              <a:rPr sz="1400" b="1" i="0">
                <a:solidFill>
                  <a:srgbClr val="222222"/>
                </a:solidFill>
                <a:latin typeface="Times New Roman"/>
                <a:ea typeface="Times New Roman"/>
                <a:cs typeface="Times New Roman"/>
              </a:rPr>
              <a:t>bảng map</a:t>
            </a:r>
          </a:p>
          <a:p>
            <a:pPr algn="l">
              <a:buNone/>
            </a:pPr>
            <a:r>
              <a:rPr sz="1200" b="0" i="0">
                <a:solidFill>
                  <a:srgbClr val="595959"/>
                </a:solidFill>
                <a:latin typeface="Times New Roman"/>
                <a:ea typeface="Times New Roman"/>
                <a:cs typeface="Times New Roman"/>
              </a:rPr>
              <a:t>mã Finance → store_key</a:t>
            </a:r>
          </a:p>
        </p:txBody>
      </p:sp>
      <p:sp>
        <p:nvSpPr>
          <p:cNvPr id="155" name="Rounded Rectangle 154"/>
          <p:cNvSpPr/>
          <p:nvPr/>
        </p:nvSpPr>
        <p:spPr>
          <a:xfrm>
            <a:off x="365760" y="2514600"/>
            <a:ext cx="3657600" cy="3474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365760" y="2514600"/>
            <a:ext cx="3657600" cy="457200"/>
          </a:xfrm>
          <a:prstGeom prst="roundRect">
            <a:avLst>
              <a:gd name="adj" fmla="val 15000"/>
            </a:avLst>
          </a:prstGeom>
          <a:solidFill>
            <a:srgbClr val="2E5B3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fact_sales_line</a:t>
            </a:r>
            <a:r>
              <a:rPr sz="1200" b="0" i="0">
                <a:solidFill>
                  <a:srgbClr val="FFFFFF"/>
                </a:solidFill>
                <a:latin typeface="Times New Roman"/>
                <a:ea typeface="Times New Roman"/>
                <a:cs typeface="Times New Roman"/>
              </a:rPr>
              <a:t>   63.004 dòng</a:t>
            </a:r>
          </a:p>
        </p:txBody>
      </p:sp>
      <p:sp>
        <p:nvSpPr>
          <p:cNvPr id="157" name="TextBox 156"/>
          <p:cNvSpPr txBox="1"/>
          <p:nvPr/>
        </p:nvSpPr>
        <p:spPr>
          <a:xfrm>
            <a:off x="457200" y="3017520"/>
            <a:ext cx="3474720" cy="2926080"/>
          </a:xfrm>
          <a:prstGeom prst="rect">
            <a:avLst/>
          </a:prstGeom>
          <a:noFill/>
        </p:spPr>
        <p:txBody>
          <a:bodyPr wrap="square" lIns="45720" tIns="27432" rIns="45720" bIns="27432" anchor="t"/>
          <a:lstStyle/>
          <a:p>
            <a:pPr algn="l">
              <a:buNone/>
            </a:pPr>
            <a:r>
              <a:rPr sz="1300" b="1" i="0">
                <a:solidFill>
                  <a:srgbClr val="2E5B3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sản phẩm trong một đơn</a:t>
            </a:r>
          </a:p>
          <a:p>
            <a:pPr algn="l">
              <a:spcBef>
                <a:spcPts val="600"/>
              </a:spcBef>
              <a:buNone/>
            </a:pPr>
            <a:r>
              <a:rPr sz="1300" b="1" i="0">
                <a:solidFill>
                  <a:srgbClr val="2E5B3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order_number · line_item · order_date · delivery_date · store_key · channel_code · product_key · quantity · unit_price · promo_code · discount_amount · order_status</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Có 120 dòng trùng hoàn toàn cần loại</a:t>
            </a:r>
          </a:p>
        </p:txBody>
      </p:sp>
      <p:sp>
        <p:nvSpPr>
          <p:cNvPr id="158" name="Rounded Rectangle 157"/>
          <p:cNvSpPr/>
          <p:nvPr/>
        </p:nvSpPr>
        <p:spPr>
          <a:xfrm>
            <a:off x="4206240" y="2514600"/>
            <a:ext cx="3657600" cy="3474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9" name="Rounded Rectangle 158"/>
          <p:cNvSpPr/>
          <p:nvPr/>
        </p:nvSpPr>
        <p:spPr>
          <a:xfrm>
            <a:off x="4206240" y="2514600"/>
            <a:ext cx="3657600" cy="457200"/>
          </a:xfrm>
          <a:prstGeom prst="roundRect">
            <a:avLst>
              <a:gd name="adj" fmla="val 15000"/>
            </a:avLst>
          </a:prstGeom>
          <a:solidFill>
            <a:srgbClr val="C55A11"/>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fact_return</a:t>
            </a:r>
            <a:r>
              <a:rPr sz="1200" b="0" i="0">
                <a:solidFill>
                  <a:srgbClr val="FFFFFF"/>
                </a:solidFill>
                <a:latin typeface="Times New Roman"/>
                <a:ea typeface="Times New Roman"/>
                <a:cs typeface="Times New Roman"/>
              </a:rPr>
              <a:t>   2.430 dòng</a:t>
            </a:r>
          </a:p>
        </p:txBody>
      </p:sp>
      <p:sp>
        <p:nvSpPr>
          <p:cNvPr id="160" name="TextBox 159"/>
          <p:cNvSpPr txBox="1"/>
          <p:nvPr/>
        </p:nvSpPr>
        <p:spPr>
          <a:xfrm>
            <a:off x="4297680" y="3017520"/>
            <a:ext cx="3474720" cy="292608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lần trả hàng của một dòng bán</a:t>
            </a:r>
          </a:p>
          <a:p>
            <a:pPr algn="l">
              <a:spcBef>
                <a:spcPts val="600"/>
              </a:spcBef>
              <a:buNone/>
            </a:pPr>
            <a:r>
              <a:rPr sz="1300" b="1" i="0">
                <a:solidFill>
                  <a:srgbClr val="C55A11"/>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return_id · order_number · line_item · return_date · return_qty · return_amount · return_reason</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Không có store_key: lấy qua order_number + line_item</a:t>
            </a:r>
          </a:p>
        </p:txBody>
      </p:sp>
      <p:sp>
        <p:nvSpPr>
          <p:cNvPr id="161" name="Rounded Rectangle 160"/>
          <p:cNvSpPr/>
          <p:nvPr/>
        </p:nvSpPr>
        <p:spPr>
          <a:xfrm>
            <a:off x="8046720" y="2514600"/>
            <a:ext cx="3657600" cy="3474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2" name="Rounded Rectangle 161"/>
          <p:cNvSpPr/>
          <p:nvPr/>
        </p:nvSpPr>
        <p:spPr>
          <a:xfrm>
            <a:off x="8046720" y="2514600"/>
            <a:ext cx="3657600" cy="457200"/>
          </a:xfrm>
          <a:prstGeom prst="roundRect">
            <a:avLst>
              <a:gd name="adj" fmla="val 15000"/>
            </a:avLst>
          </a:prstGeom>
          <a:solidFill>
            <a:srgbClr val="123A7A"/>
          </a:solidFill>
          <a:ln>
            <a:noFill/>
          </a:ln>
          <a:effectLst/>
        </p:spPr>
        <p:txBody>
          <a:bodyPr rtlCol="0" anchor="ctr" wrap="square" lIns="109728" tIns="18288" bIns="18288"/>
          <a:lstStyle/>
          <a:p>
            <a:pPr algn="l">
              <a:buNone/>
            </a:pPr>
            <a:r>
              <a:rPr sz="1500" b="1" i="0">
                <a:solidFill>
                  <a:srgbClr val="FFFFFF"/>
                </a:solidFill>
                <a:latin typeface="Times New Roman"/>
                <a:ea typeface="Times New Roman"/>
                <a:cs typeface="Times New Roman"/>
              </a:rPr>
              <a:t>finance_revenue</a:t>
            </a:r>
            <a:r>
              <a:rPr sz="1200" b="0" i="0">
                <a:solidFill>
                  <a:srgbClr val="FFFFFF"/>
                </a:solidFill>
                <a:latin typeface="Times New Roman"/>
                <a:ea typeface="Times New Roman"/>
                <a:cs typeface="Times New Roman"/>
              </a:rPr>
              <a:t>   19.400 dòng</a:t>
            </a:r>
          </a:p>
        </p:txBody>
      </p:sp>
      <p:sp>
        <p:nvSpPr>
          <p:cNvPr id="163" name="TextBox 162"/>
          <p:cNvSpPr txBox="1"/>
          <p:nvPr/>
        </p:nvSpPr>
        <p:spPr>
          <a:xfrm>
            <a:off x="8138160" y="3017520"/>
            <a:ext cx="3474720" cy="2926080"/>
          </a:xfrm>
          <a:prstGeom prst="rect">
            <a:avLst/>
          </a:prstGeom>
          <a:noFill/>
        </p:spPr>
        <p:txBody>
          <a:bodyPr wrap="square" lIns="45720" tIns="27432" rIns="45720" bIns="27432" anchor="t"/>
          <a:lstStyle/>
          <a:p>
            <a:pPr algn="l">
              <a:buNone/>
            </a:pPr>
            <a:r>
              <a:rPr sz="1300" b="1" i="0">
                <a:solidFill>
                  <a:srgbClr val="123A7A"/>
                </a:solidFill>
                <a:latin typeface="Times New Roman"/>
                <a:ea typeface="Times New Roman"/>
                <a:cs typeface="Times New Roman"/>
              </a:rPr>
              <a:t>Hạt dữ liệu</a:t>
            </a:r>
          </a:p>
          <a:p>
            <a:pPr algn="l">
              <a:buNone/>
            </a:pPr>
            <a:r>
              <a:rPr sz="1300" b="0" i="0">
                <a:solidFill>
                  <a:srgbClr val="222222"/>
                </a:solidFill>
                <a:latin typeface="Times New Roman"/>
                <a:ea typeface="Times New Roman"/>
                <a:cs typeface="Times New Roman"/>
              </a:rPr>
              <a:t>Một dòng = một ngày hạch toán × một mã cửa hàng Finance</a:t>
            </a:r>
          </a:p>
          <a:p>
            <a:pPr algn="l">
              <a:spcBef>
                <a:spcPts val="600"/>
              </a:spcBef>
              <a:buNone/>
            </a:pPr>
            <a:r>
              <a:rPr sz="1300" b="1" i="0">
                <a:solidFill>
                  <a:srgbClr val="123A7A"/>
                </a:solidFill>
                <a:latin typeface="Times New Roman"/>
                <a:ea typeface="Times New Roman"/>
                <a:cs typeface="Times New Roman"/>
              </a:rPr>
              <a:t>Trường chính</a:t>
            </a:r>
          </a:p>
          <a:p>
            <a:pPr algn="l">
              <a:buNone/>
            </a:pPr>
            <a:r>
              <a:rPr sz="1200" b="0" i="0">
                <a:solidFill>
                  <a:srgbClr val="222222"/>
                </a:solidFill>
                <a:latin typeface="Times New Roman"/>
                <a:ea typeface="Times New Roman"/>
                <a:cs typeface="Times New Roman"/>
              </a:rPr>
              <a:t>posting_date · fin_store_code · fin_channel · entry_type · revenue_recognized · refunds · net_revenue · vat_amount</a:t>
            </a:r>
          </a:p>
          <a:p>
            <a:pPr algn="l">
              <a:spcBef>
                <a:spcPts val="600"/>
              </a:spcBef>
              <a:buNone/>
            </a:pPr>
            <a:r>
              <a:rPr sz="1300" b="1" i="0">
                <a:solidFill>
                  <a:srgbClr val="C00000"/>
                </a:solidFill>
                <a:latin typeface="Times New Roman"/>
                <a:ea typeface="Times New Roman"/>
                <a:cs typeface="Times New Roman"/>
              </a:rPr>
              <a:t>Lưu ý: </a:t>
            </a:r>
            <a:r>
              <a:rPr sz="1300" b="0" i="0">
                <a:solidFill>
                  <a:srgbClr val="222222"/>
                </a:solidFill>
                <a:latin typeface="Times New Roman"/>
                <a:ea typeface="Times New Roman"/>
                <a:cs typeface="Times New Roman"/>
              </a:rPr>
              <a:t>fin_store_code ≠ store_key: phải map</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Các bảng dim và bảng hỗ trợ: dùng để lọc, nhóm và quy đổi</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dim_date phải được </a:t>
            </a:r>
            <a:r>
              <a:rPr sz="1700" b="1" i="0">
                <a:solidFill>
                  <a:srgbClr val="123A7A"/>
                </a:solidFill>
                <a:latin typeface="Times New Roman"/>
                <a:ea typeface="Times New Roman"/>
                <a:cs typeface="Times New Roman"/>
              </a:rPr>
              <a:t>Mark as date table</a:t>
            </a:r>
            <a:r>
              <a:rPr sz="1700" b="0" i="0">
                <a:solidFill>
                  <a:srgbClr val="222222"/>
                </a:solidFill>
                <a:latin typeface="Times New Roman"/>
                <a:ea typeface="Times New Roman"/>
                <a:cs typeface="Times New Roman"/>
              </a:rPr>
              <a:t> để dùng DATEADD, SAMEPERIODLASTYEAR, DATESYTD</a:t>
            </a:r>
          </a:p>
        </p:txBody>
      </p:sp>
      <p:sp>
        <p:nvSpPr>
          <p:cNvPr id="143" name="Rounded Rectangle 142"/>
          <p:cNvSpPr/>
          <p:nvPr/>
        </p:nvSpPr>
        <p:spPr>
          <a:xfrm>
            <a:off x="36576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dim_date</a:t>
            </a:r>
            <a:r>
              <a:rPr sz="1200" b="0" i="0">
                <a:solidFill>
                  <a:srgbClr val="FFFFFF"/>
                </a:solidFill>
                <a:latin typeface="Times New Roman"/>
                <a:ea typeface="Times New Roman"/>
                <a:cs typeface="Times New Roman"/>
              </a:rPr>
              <a:t> · 1.917</a:t>
            </a:r>
          </a:p>
        </p:txBody>
      </p:sp>
      <p:pic>
        <p:nvPicPr>
          <p:cNvPr id="145" name="Picture 144" descr="image.png"/>
          <p:cNvPicPr>
            <a:picLocks noChangeAspect="1"/>
          </p:cNvPicPr>
          <p:nvPr/>
        </p:nvPicPr>
        <p:blipFill>
          <a:blip r:embed="rId3"/>
          <a:stretch>
            <a:fillRect/>
          </a:stretch>
        </p:blipFill>
        <p:spPr>
          <a:xfrm>
            <a:off x="457200" y="1938528"/>
            <a:ext cx="411480" cy="411480"/>
          </a:xfrm>
          <a:prstGeom prst="rect">
            <a:avLst/>
          </a:prstGeom>
        </p:spPr>
      </p:pic>
      <p:sp>
        <p:nvSpPr>
          <p:cNvPr id="146" name="TextBox 145"/>
          <p:cNvSpPr txBox="1"/>
          <p:nvPr/>
        </p:nvSpPr>
        <p:spPr>
          <a:xfrm>
            <a:off x="93268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ngày</a:t>
            </a:r>
          </a:p>
        </p:txBody>
      </p:sp>
      <p:sp>
        <p:nvSpPr>
          <p:cNvPr id="147" name="TextBox 146"/>
          <p:cNvSpPr txBox="1"/>
          <p:nvPr/>
        </p:nvSpPr>
        <p:spPr>
          <a:xfrm>
            <a:off x="45720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date · month_id · month_label · year · has_data</a:t>
            </a:r>
          </a:p>
        </p:txBody>
      </p:sp>
      <p:sp>
        <p:nvSpPr>
          <p:cNvPr id="148" name="Rounded Rectangle 147"/>
          <p:cNvSpPr/>
          <p:nvPr/>
        </p:nvSpPr>
        <p:spPr>
          <a:xfrm>
            <a:off x="324612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9" name="Rounded Rectangle 148"/>
          <p:cNvSpPr/>
          <p:nvPr/>
        </p:nvSpPr>
        <p:spPr>
          <a:xfrm>
            <a:off x="324612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dim_store</a:t>
            </a:r>
            <a:r>
              <a:rPr sz="1200" b="0" i="0">
                <a:solidFill>
                  <a:srgbClr val="FFFFFF"/>
                </a:solidFill>
                <a:latin typeface="Times New Roman"/>
                <a:ea typeface="Times New Roman"/>
                <a:cs typeface="Times New Roman"/>
              </a:rPr>
              <a:t> · 67</a:t>
            </a:r>
          </a:p>
        </p:txBody>
      </p:sp>
      <p:pic>
        <p:nvPicPr>
          <p:cNvPr id="150" name="Picture 149" descr="image.png"/>
          <p:cNvPicPr>
            <a:picLocks noChangeAspect="1"/>
          </p:cNvPicPr>
          <p:nvPr/>
        </p:nvPicPr>
        <p:blipFill>
          <a:blip r:embed="rId4"/>
          <a:stretch>
            <a:fillRect/>
          </a:stretch>
        </p:blipFill>
        <p:spPr>
          <a:xfrm>
            <a:off x="3337560" y="1938528"/>
            <a:ext cx="411480" cy="411480"/>
          </a:xfrm>
          <a:prstGeom prst="rect">
            <a:avLst/>
          </a:prstGeom>
        </p:spPr>
      </p:pic>
      <p:sp>
        <p:nvSpPr>
          <p:cNvPr id="151" name="TextBox 150"/>
          <p:cNvSpPr txBox="1"/>
          <p:nvPr/>
        </p:nvSpPr>
        <p:spPr>
          <a:xfrm>
            <a:off x="381304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cửa hàng (0 = Online)</a:t>
            </a:r>
          </a:p>
        </p:txBody>
      </p:sp>
      <p:sp>
        <p:nvSpPr>
          <p:cNvPr id="152" name="TextBox 151"/>
          <p:cNvSpPr txBox="1"/>
          <p:nvPr/>
        </p:nvSpPr>
        <p:spPr>
          <a:xfrm>
            <a:off x="333756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store_key · store_code · channel_code · country · region</a:t>
            </a:r>
          </a:p>
        </p:txBody>
      </p:sp>
      <p:sp>
        <p:nvSpPr>
          <p:cNvPr id="153" name="Rounded Rectangle 152"/>
          <p:cNvSpPr/>
          <p:nvPr/>
        </p:nvSpPr>
        <p:spPr>
          <a:xfrm>
            <a:off x="6126480" y="1371600"/>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4" name="Rounded Rectangle 153"/>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dim_product</a:t>
            </a:r>
            <a:r>
              <a:rPr sz="1200" b="0" i="0">
                <a:solidFill>
                  <a:srgbClr val="FFFFFF"/>
                </a:solidFill>
                <a:latin typeface="Times New Roman"/>
                <a:ea typeface="Times New Roman"/>
                <a:cs typeface="Times New Roman"/>
              </a:rPr>
              <a:t> · 2.517</a:t>
            </a:r>
          </a:p>
        </p:txBody>
      </p:sp>
      <p:pic>
        <p:nvPicPr>
          <p:cNvPr id="155" name="Picture 154" descr="image.png"/>
          <p:cNvPicPr>
            <a:picLocks noChangeAspect="1"/>
          </p:cNvPicPr>
          <p:nvPr/>
        </p:nvPicPr>
        <p:blipFill>
          <a:blip r:embed="rId5"/>
          <a:stretch>
            <a:fillRect/>
          </a:stretch>
        </p:blipFill>
        <p:spPr>
          <a:xfrm>
            <a:off x="6217920" y="1938528"/>
            <a:ext cx="411480" cy="411480"/>
          </a:xfrm>
          <a:prstGeom prst="rect">
            <a:avLst/>
          </a:prstGeom>
        </p:spPr>
      </p:pic>
      <p:sp>
        <p:nvSpPr>
          <p:cNvPr id="156" name="TextBox 155"/>
          <p:cNvSpPr txBox="1"/>
          <p:nvPr/>
        </p:nvSpPr>
        <p:spPr>
          <a:xfrm>
            <a:off x="6693408"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Một dòng = một sản phẩm</a:t>
            </a:r>
          </a:p>
        </p:txBody>
      </p:sp>
      <p:sp>
        <p:nvSpPr>
          <p:cNvPr id="157" name="TextBox 156"/>
          <p:cNvSpPr txBox="1"/>
          <p:nvPr/>
        </p:nvSpPr>
        <p:spPr>
          <a:xfrm>
            <a:off x="621792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product_key · category · subcategory · brand</a:t>
            </a:r>
          </a:p>
        </p:txBody>
      </p:sp>
      <p:sp>
        <p:nvSpPr>
          <p:cNvPr id="158" name="Rounded Rectangle 157"/>
          <p:cNvSpPr/>
          <p:nvPr/>
        </p:nvSpPr>
        <p:spPr>
          <a:xfrm>
            <a:off x="9006840" y="1371600"/>
            <a:ext cx="2697480" cy="2240280"/>
          </a:xfrm>
          <a:prstGeom prst="roundRect">
            <a:avLst>
              <a:gd name="adj" fmla="val 6000"/>
            </a:avLst>
          </a:prstGeom>
          <a:solidFill>
            <a:srgbClr val="FFFFFF"/>
          </a:solidFill>
          <a:ln w="19050">
            <a:solidFill>
              <a:srgbClr val="7F7F7F"/>
            </a:solidFill>
          </a:ln>
          <a:effectLst/>
        </p:spPr>
        <p:txBody>
          <a:bodyPr rtlCol="0" anchor="ctr" wrap="square" lIns="73152" tIns="36576" rIns="73152" bIns="36576"/>
          <a:lstStyle/>
          <a:p>
            <a:pPr algn="ctr"/>
          </a:p>
        </p:txBody>
      </p:sp>
      <p:sp>
        <p:nvSpPr>
          <p:cNvPr id="159" name="Rounded Rectangle 158"/>
          <p:cNvSpPr/>
          <p:nvPr/>
        </p:nvSpPr>
        <p:spPr>
          <a:xfrm>
            <a:off x="9006840" y="1371600"/>
            <a:ext cx="2697480" cy="457200"/>
          </a:xfrm>
          <a:prstGeom prst="roundRect">
            <a:avLst>
              <a:gd name="adj" fmla="val 15000"/>
            </a:avLst>
          </a:prstGeom>
          <a:solidFill>
            <a:srgbClr val="7F7F7F"/>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dim_customer</a:t>
            </a:r>
            <a:r>
              <a:rPr sz="1200" b="0" i="0">
                <a:solidFill>
                  <a:srgbClr val="FFFFFF"/>
                </a:solidFill>
                <a:latin typeface="Times New Roman"/>
                <a:ea typeface="Times New Roman"/>
                <a:cs typeface="Times New Roman"/>
              </a:rPr>
              <a:t> · 15.266</a:t>
            </a:r>
          </a:p>
        </p:txBody>
      </p:sp>
      <p:pic>
        <p:nvPicPr>
          <p:cNvPr id="160" name="Picture 159" descr="image.png"/>
          <p:cNvPicPr>
            <a:picLocks noChangeAspect="1"/>
          </p:cNvPicPr>
          <p:nvPr/>
        </p:nvPicPr>
        <p:blipFill>
          <a:blip r:embed="rId6"/>
          <a:stretch>
            <a:fillRect/>
          </a:stretch>
        </p:blipFill>
        <p:spPr>
          <a:xfrm>
            <a:off x="9098280" y="1938528"/>
            <a:ext cx="411480" cy="411480"/>
          </a:xfrm>
          <a:prstGeom prst="rect">
            <a:avLst/>
          </a:prstGeom>
        </p:spPr>
      </p:pic>
      <p:sp>
        <p:nvSpPr>
          <p:cNvPr id="161" name="TextBox 160"/>
          <p:cNvSpPr txBox="1"/>
          <p:nvPr/>
        </p:nvSpPr>
        <p:spPr>
          <a:xfrm>
            <a:off x="9573767" y="187451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Bảng bổ sung (sáng tạo)</a:t>
            </a:r>
          </a:p>
        </p:txBody>
      </p:sp>
      <p:sp>
        <p:nvSpPr>
          <p:cNvPr id="162" name="TextBox 161"/>
          <p:cNvSpPr txBox="1"/>
          <p:nvPr/>
        </p:nvSpPr>
        <p:spPr>
          <a:xfrm>
            <a:off x="9098280" y="251460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customer_key · country · continent</a:t>
            </a:r>
          </a:p>
        </p:txBody>
      </p:sp>
      <p:sp>
        <p:nvSpPr>
          <p:cNvPr id="163" name="Rounded Rectangle 162"/>
          <p:cNvSpPr/>
          <p:nvPr/>
        </p:nvSpPr>
        <p:spPr>
          <a:xfrm>
            <a:off x="36576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4" name="Rounded Rectangle 163"/>
          <p:cNvSpPr/>
          <p:nvPr/>
        </p:nvSpPr>
        <p:spPr>
          <a:xfrm>
            <a:off x="36576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dim_channel</a:t>
            </a:r>
            <a:r>
              <a:rPr sz="1200" b="0" i="0">
                <a:solidFill>
                  <a:srgbClr val="FFFFFF"/>
                </a:solidFill>
                <a:latin typeface="Times New Roman"/>
                <a:ea typeface="Times New Roman"/>
                <a:cs typeface="Times New Roman"/>
              </a:rPr>
              <a:t> · 2</a:t>
            </a:r>
          </a:p>
        </p:txBody>
      </p:sp>
      <p:pic>
        <p:nvPicPr>
          <p:cNvPr id="165" name="Picture 164" descr="image.png"/>
          <p:cNvPicPr>
            <a:picLocks noChangeAspect="1"/>
          </p:cNvPicPr>
          <p:nvPr/>
        </p:nvPicPr>
        <p:blipFill>
          <a:blip r:embed="rId7"/>
          <a:stretch>
            <a:fillRect/>
          </a:stretch>
        </p:blipFill>
        <p:spPr>
          <a:xfrm>
            <a:off x="457200" y="4315968"/>
            <a:ext cx="411480" cy="411480"/>
          </a:xfrm>
          <a:prstGeom prst="rect">
            <a:avLst/>
          </a:prstGeom>
        </p:spPr>
      </p:pic>
      <p:sp>
        <p:nvSpPr>
          <p:cNvPr id="166" name="TextBox 165"/>
          <p:cNvSpPr txBox="1"/>
          <p:nvPr/>
        </p:nvSpPr>
        <p:spPr>
          <a:xfrm>
            <a:off x="93268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POS / ONLINE + quy tắc ghi nhận</a:t>
            </a:r>
          </a:p>
        </p:txBody>
      </p:sp>
      <p:sp>
        <p:nvSpPr>
          <p:cNvPr id="167" name="TextBox 166"/>
          <p:cNvSpPr txBox="1"/>
          <p:nvPr/>
        </p:nvSpPr>
        <p:spPr>
          <a:xfrm>
            <a:off x="45720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channel_code · fin_channel · revenue_recognition_rule</a:t>
            </a:r>
          </a:p>
        </p:txBody>
      </p:sp>
      <p:sp>
        <p:nvSpPr>
          <p:cNvPr id="168" name="Rounded Rectangle 167"/>
          <p:cNvSpPr/>
          <p:nvPr/>
        </p:nvSpPr>
        <p:spPr>
          <a:xfrm>
            <a:off x="324612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69" name="Rounded Rectangle 168"/>
          <p:cNvSpPr/>
          <p:nvPr/>
        </p:nvSpPr>
        <p:spPr>
          <a:xfrm>
            <a:off x="324612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dim_promotion</a:t>
            </a:r>
            <a:r>
              <a:rPr sz="1200" b="0" i="0">
                <a:solidFill>
                  <a:srgbClr val="FFFFFF"/>
                </a:solidFill>
                <a:latin typeface="Times New Roman"/>
                <a:ea typeface="Times New Roman"/>
                <a:cs typeface="Times New Roman"/>
              </a:rPr>
              <a:t> · 7</a:t>
            </a:r>
          </a:p>
        </p:txBody>
      </p:sp>
      <p:pic>
        <p:nvPicPr>
          <p:cNvPr id="170" name="Picture 169" descr="image.png"/>
          <p:cNvPicPr>
            <a:picLocks noChangeAspect="1"/>
          </p:cNvPicPr>
          <p:nvPr/>
        </p:nvPicPr>
        <p:blipFill>
          <a:blip r:embed="rId8"/>
          <a:stretch>
            <a:fillRect/>
          </a:stretch>
        </p:blipFill>
        <p:spPr>
          <a:xfrm>
            <a:off x="3337560" y="4315968"/>
            <a:ext cx="411480" cy="411480"/>
          </a:xfrm>
          <a:prstGeom prst="rect">
            <a:avLst/>
          </a:prstGeom>
        </p:spPr>
      </p:pic>
      <p:sp>
        <p:nvSpPr>
          <p:cNvPr id="171" name="TextBox 170"/>
          <p:cNvSpPr txBox="1"/>
          <p:nvPr/>
        </p:nvSpPr>
        <p:spPr>
          <a:xfrm>
            <a:off x="381304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khuyến mãi và % giảm</a:t>
            </a:r>
          </a:p>
        </p:txBody>
      </p:sp>
      <p:sp>
        <p:nvSpPr>
          <p:cNvPr id="172" name="TextBox 171"/>
          <p:cNvSpPr txBox="1"/>
          <p:nvPr/>
        </p:nvSpPr>
        <p:spPr>
          <a:xfrm>
            <a:off x="333756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promo_code · promo_name · discount_pct</a:t>
            </a:r>
          </a:p>
        </p:txBody>
      </p:sp>
      <p:sp>
        <p:nvSpPr>
          <p:cNvPr id="173" name="Rounded Rectangle 172"/>
          <p:cNvSpPr/>
          <p:nvPr/>
        </p:nvSpPr>
        <p:spPr>
          <a:xfrm>
            <a:off x="6126480" y="3749039"/>
            <a:ext cx="2697480" cy="22402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74" name="Rounded Rectangle 173"/>
          <p:cNvSpPr/>
          <p:nvPr/>
        </p:nvSpPr>
        <p:spPr>
          <a:xfrm>
            <a:off x="6126480" y="3749039"/>
            <a:ext cx="2697480" cy="457200"/>
          </a:xfrm>
          <a:prstGeom prst="roundRect">
            <a:avLst>
              <a:gd name="adj" fmla="val 15000"/>
            </a:avLst>
          </a:prstGeom>
          <a:solidFill>
            <a:srgbClr val="2E5B31"/>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dim_order_status</a:t>
            </a:r>
            <a:r>
              <a:rPr sz="1200" b="0" i="0">
                <a:solidFill>
                  <a:srgbClr val="FFFFFF"/>
                </a:solidFill>
                <a:latin typeface="Times New Roman"/>
                <a:ea typeface="Times New Roman"/>
                <a:cs typeface="Times New Roman"/>
              </a:rPr>
              <a:t> · 3</a:t>
            </a:r>
          </a:p>
        </p:txBody>
      </p:sp>
      <p:pic>
        <p:nvPicPr>
          <p:cNvPr id="175" name="Picture 174" descr="image.png"/>
          <p:cNvPicPr>
            <a:picLocks noChangeAspect="1"/>
          </p:cNvPicPr>
          <p:nvPr/>
        </p:nvPicPr>
        <p:blipFill>
          <a:blip r:embed="rId9"/>
          <a:stretch>
            <a:fillRect/>
          </a:stretch>
        </p:blipFill>
        <p:spPr>
          <a:xfrm>
            <a:off x="6217920" y="4315968"/>
            <a:ext cx="411480" cy="411480"/>
          </a:xfrm>
          <a:prstGeom prst="rect">
            <a:avLst/>
          </a:prstGeom>
        </p:spPr>
      </p:pic>
      <p:sp>
        <p:nvSpPr>
          <p:cNvPr id="176" name="TextBox 175"/>
          <p:cNvSpPr txBox="1"/>
          <p:nvPr/>
        </p:nvSpPr>
        <p:spPr>
          <a:xfrm>
            <a:off x="6693408"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Trạng thái và có tính doanh thu không</a:t>
            </a:r>
          </a:p>
        </p:txBody>
      </p:sp>
      <p:sp>
        <p:nvSpPr>
          <p:cNvPr id="177" name="TextBox 176"/>
          <p:cNvSpPr txBox="1"/>
          <p:nvPr/>
        </p:nvSpPr>
        <p:spPr>
          <a:xfrm>
            <a:off x="621792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order_status · count_in_revenue</a:t>
            </a:r>
          </a:p>
        </p:txBody>
      </p:sp>
      <p:sp>
        <p:nvSpPr>
          <p:cNvPr id="178" name="Rounded Rectangle 177"/>
          <p:cNvSpPr/>
          <p:nvPr/>
        </p:nvSpPr>
        <p:spPr>
          <a:xfrm>
            <a:off x="9006840" y="3749039"/>
            <a:ext cx="2697480" cy="22402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9" name="Rounded Rectangle 178"/>
          <p:cNvSpPr/>
          <p:nvPr/>
        </p:nvSpPr>
        <p:spPr>
          <a:xfrm>
            <a:off x="9006840" y="3749039"/>
            <a:ext cx="2697480" cy="457200"/>
          </a:xfrm>
          <a:prstGeom prst="roundRect">
            <a:avLst>
              <a:gd name="adj" fmla="val 15000"/>
            </a:avLst>
          </a:prstGeom>
          <a:solidFill>
            <a:srgbClr val="C00000"/>
          </a:solidFill>
          <a:ln>
            <a:noFill/>
          </a:ln>
          <a:effectLst/>
        </p:spPr>
        <p:txBody>
          <a:bodyPr rtlCol="0" anchor="ctr" wrap="square" lIns="45720" tIns="18288" rIns="45720" bIns="18288"/>
          <a:lstStyle/>
          <a:p>
            <a:pPr algn="ctr">
              <a:buNone/>
            </a:pPr>
            <a:r>
              <a:rPr sz="1400" b="1" i="0">
                <a:solidFill>
                  <a:srgbClr val="FFFFFF"/>
                </a:solidFill>
                <a:latin typeface="Times New Roman"/>
                <a:ea typeface="Times New Roman"/>
                <a:cs typeface="Times New Roman"/>
              </a:rPr>
              <a:t>map_store_finance</a:t>
            </a:r>
            <a:r>
              <a:rPr sz="1200" b="0" i="0">
                <a:solidFill>
                  <a:srgbClr val="FFFFFF"/>
                </a:solidFill>
                <a:latin typeface="Times New Roman"/>
                <a:ea typeface="Times New Roman"/>
                <a:cs typeface="Times New Roman"/>
              </a:rPr>
              <a:t> · 69</a:t>
            </a:r>
          </a:p>
        </p:txBody>
      </p:sp>
      <p:pic>
        <p:nvPicPr>
          <p:cNvPr id="180" name="Picture 179" descr="image.png"/>
          <p:cNvPicPr>
            <a:picLocks noChangeAspect="1"/>
          </p:cNvPicPr>
          <p:nvPr/>
        </p:nvPicPr>
        <p:blipFill>
          <a:blip r:embed="rId10"/>
          <a:stretch>
            <a:fillRect/>
          </a:stretch>
        </p:blipFill>
        <p:spPr>
          <a:xfrm>
            <a:off x="9098280" y="4315968"/>
            <a:ext cx="411480" cy="411480"/>
          </a:xfrm>
          <a:prstGeom prst="rect">
            <a:avLst/>
          </a:prstGeom>
        </p:spPr>
      </p:pic>
      <p:sp>
        <p:nvSpPr>
          <p:cNvPr id="181" name="TextBox 180"/>
          <p:cNvSpPr txBox="1"/>
          <p:nvPr/>
        </p:nvSpPr>
        <p:spPr>
          <a:xfrm>
            <a:off x="9573767" y="4251959"/>
            <a:ext cx="2084831" cy="594360"/>
          </a:xfrm>
          <a:prstGeom prst="rect">
            <a:avLst/>
          </a:prstGeom>
          <a:noFill/>
        </p:spPr>
        <p:txBody>
          <a:bodyPr wrap="square" lIns="45720" tIns="27432" rIns="45720" bIns="27432" anchor="ctr"/>
          <a:lstStyle/>
          <a:p>
            <a:pPr algn="l">
              <a:buNone/>
            </a:pPr>
            <a:r>
              <a:rPr sz="1200" b="1" i="0">
                <a:solidFill>
                  <a:srgbClr val="222222"/>
                </a:solidFill>
                <a:latin typeface="Times New Roman"/>
                <a:ea typeface="Times New Roman"/>
                <a:cs typeface="Times New Roman"/>
              </a:rPr>
              <a:t>Mã Finance → store_key theo hiệu lực</a:t>
            </a:r>
          </a:p>
        </p:txBody>
      </p:sp>
      <p:sp>
        <p:nvSpPr>
          <p:cNvPr id="182" name="TextBox 181"/>
          <p:cNvSpPr txBox="1"/>
          <p:nvPr/>
        </p:nvSpPr>
        <p:spPr>
          <a:xfrm>
            <a:off x="9098280" y="4892040"/>
            <a:ext cx="2514600" cy="1051560"/>
          </a:xfrm>
          <a:prstGeom prst="rect">
            <a:avLst/>
          </a:prstGeom>
          <a:noFill/>
        </p:spPr>
        <p:txBody>
          <a:bodyPr wrap="square" lIns="45720" tIns="27432" rIns="45720" bIns="27432" anchor="t"/>
          <a:lstStyle/>
          <a:p>
            <a:pPr algn="l">
              <a:buNone/>
            </a:pPr>
            <a:r>
              <a:rPr sz="1200" b="0" i="0">
                <a:solidFill>
                  <a:srgbClr val="595959"/>
                </a:solidFill>
                <a:latin typeface="Times New Roman"/>
                <a:ea typeface="Times New Roman"/>
                <a:cs typeface="Times New Roman"/>
              </a:rPr>
              <a:t>fin_store_code · store_key · valid_from · valid_to</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Mô hình dữ liệu dạng star schema</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Quan hệ </a:t>
            </a:r>
            <a:r>
              <a:rPr sz="1700" b="1" i="0">
                <a:solidFill>
                  <a:srgbClr val="2E5B31"/>
                </a:solidFill>
                <a:latin typeface="Times New Roman"/>
                <a:ea typeface="Times New Roman"/>
                <a:cs typeface="Times New Roman"/>
              </a:rPr>
              <a:t>1 → nhiều, lọc một chiều</a:t>
            </a:r>
            <a:r>
              <a:rPr sz="1700" b="0" i="0">
                <a:solidFill>
                  <a:srgbClr val="222222"/>
                </a:solidFill>
                <a:latin typeface="Times New Roman"/>
                <a:ea typeface="Times New Roman"/>
                <a:cs typeface="Times New Roman"/>
              </a:rPr>
              <a:t>; delivery_date là quan hệ </a:t>
            </a:r>
            <a:r>
              <a:rPr sz="1700" b="1" i="0">
                <a:solidFill>
                  <a:srgbClr val="C55A11"/>
                </a:solidFill>
                <a:latin typeface="Times New Roman"/>
                <a:ea typeface="Times New Roman"/>
                <a:cs typeface="Times New Roman"/>
              </a:rPr>
              <a:t>inactive</a:t>
            </a:r>
            <a:r>
              <a:rPr sz="1700" b="0" i="0">
                <a:solidFill>
                  <a:srgbClr val="222222"/>
                </a:solidFill>
                <a:latin typeface="Times New Roman"/>
                <a:ea typeface="Times New Roman"/>
                <a:cs typeface="Times New Roman"/>
              </a:rPr>
              <a:t>, bật bằng USERELATIONSHIP</a:t>
            </a:r>
          </a:p>
        </p:txBody>
      </p:sp>
      <p:pic>
        <p:nvPicPr>
          <p:cNvPr id="143" name="Picture 142" descr="02_mo_hinh_du_lieu.png"/>
          <p:cNvPicPr>
            <a:picLocks noChangeAspect="1"/>
          </p:cNvPicPr>
          <p:nvPr/>
        </p:nvPicPr>
        <p:blipFill>
          <a:blip r:embed="rId3"/>
          <a:stretch>
            <a:fillRect/>
          </a:stretch>
        </p:blipFill>
        <p:spPr>
          <a:xfrm>
            <a:off x="716699" y="1298448"/>
            <a:ext cx="6887641" cy="4754880"/>
          </a:xfrm>
          <a:prstGeom prst="rect">
            <a:avLst/>
          </a:prstGeom>
        </p:spPr>
      </p:pic>
      <p:sp>
        <p:nvSpPr>
          <p:cNvPr id="144" name="Rounded Rectangle 143"/>
          <p:cNvSpPr/>
          <p:nvPr/>
        </p:nvSpPr>
        <p:spPr>
          <a:xfrm>
            <a:off x="8138160" y="1371600"/>
            <a:ext cx="3703320"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8138160" y="1371600"/>
            <a:ext cx="370332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dựng trong Power BI</a:t>
            </a:r>
          </a:p>
        </p:txBody>
      </p:sp>
      <p:sp>
        <p:nvSpPr>
          <p:cNvPr id="146" name="TextBox 145"/>
          <p:cNvSpPr txBox="1"/>
          <p:nvPr/>
        </p:nvSpPr>
        <p:spPr>
          <a:xfrm>
            <a:off x="8229600" y="1920240"/>
            <a:ext cx="352044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fact_sales_line[order_date]</a:t>
            </a:r>
            <a:r>
              <a:rPr sz="1300" b="0" i="0">
                <a:solidFill>
                  <a:srgbClr val="222222"/>
                </a:solidFill>
                <a:latin typeface="Times New Roman"/>
                <a:ea typeface="Times New Roman"/>
                <a:cs typeface="Times New Roman"/>
              </a:rPr>
              <a:t> → dim_date: active</a:t>
            </a:r>
          </a:p>
          <a:p>
            <a:pPr algn="l" marL="182880" indent="-182880">
              <a:spcAft>
                <a:spcPts val="600"/>
              </a:spcAft>
              <a:buFont typeface="Arial"/>
              <a:buChar char="•"/>
            </a:pPr>
            <a:r>
              <a:rPr sz="1300" b="1" i="0">
                <a:solidFill>
                  <a:srgbClr val="222222"/>
                </a:solidFill>
                <a:latin typeface="Times New Roman"/>
                <a:ea typeface="Times New Roman"/>
                <a:cs typeface="Times New Roman"/>
              </a:rPr>
              <a:t>fact_sales_line[delivery_date]</a:t>
            </a:r>
            <a:r>
              <a:rPr sz="1300" b="0" i="0">
                <a:solidFill>
                  <a:srgbClr val="222222"/>
                </a:solidFill>
                <a:latin typeface="Times New Roman"/>
                <a:ea typeface="Times New Roman"/>
                <a:cs typeface="Times New Roman"/>
              </a:rPr>
              <a:t> → dim_date: inactive</a:t>
            </a:r>
          </a:p>
          <a:p>
            <a:pPr algn="l" marL="182880" indent="-182880">
              <a:spcAft>
                <a:spcPts val="600"/>
              </a:spcAft>
              <a:buFont typeface="Arial"/>
              <a:buChar char="•"/>
            </a:pPr>
            <a:r>
              <a:rPr sz="1300" b="1" i="0">
                <a:solidFill>
                  <a:srgbClr val="222222"/>
                </a:solidFill>
                <a:latin typeface="Times New Roman"/>
                <a:ea typeface="Times New Roman"/>
                <a:cs typeface="Times New Roman"/>
              </a:rPr>
              <a:t>fact_return[return_date]</a:t>
            </a:r>
            <a:r>
              <a:rPr sz="1300" b="0" i="0">
                <a:solidFill>
                  <a:srgbClr val="222222"/>
                </a:solidFill>
                <a:latin typeface="Times New Roman"/>
                <a:ea typeface="Times New Roman"/>
                <a:cs typeface="Times New Roman"/>
              </a:rPr>
              <a:t> → dim_date: active</a:t>
            </a:r>
          </a:p>
          <a:p>
            <a:pPr algn="l" marL="182880" indent="-182880">
              <a:spcAft>
                <a:spcPts val="600"/>
              </a:spcAft>
              <a:buFont typeface="Arial"/>
              <a:buChar char="•"/>
            </a:pPr>
            <a:r>
              <a:rPr sz="1300" b="0" i="0">
                <a:solidFill>
                  <a:srgbClr val="222222"/>
                </a:solidFill>
                <a:latin typeface="Times New Roman"/>
                <a:ea typeface="Times New Roman"/>
                <a:cs typeface="Times New Roman"/>
              </a:rPr>
              <a:t>fact_return: merge store_key, channel_code, product_key từ fact_sales_line trong Power Query</a:t>
            </a:r>
          </a:p>
          <a:p>
            <a:pPr algn="l" marL="182880" indent="-182880">
              <a:spcAft>
                <a:spcPts val="600"/>
              </a:spcAft>
              <a:buFont typeface="Arial"/>
              <a:buChar char="•"/>
            </a:pPr>
            <a:r>
              <a:rPr sz="1300" b="0" i="0">
                <a:solidFill>
                  <a:srgbClr val="222222"/>
                </a:solidFill>
                <a:latin typeface="Times New Roman"/>
                <a:ea typeface="Times New Roman"/>
                <a:cs typeface="Times New Roman"/>
              </a:rPr>
              <a:t>fact_finance: map store_key trong Power Query, nối dim_date theo posting_date</a:t>
            </a:r>
          </a:p>
          <a:p>
            <a:pPr algn="l" marL="182880" indent="-182880">
              <a:spcAft>
                <a:spcPts val="600"/>
              </a:spcAft>
              <a:buFont typeface="Arial"/>
              <a:buChar char="•"/>
            </a:pPr>
            <a:r>
              <a:rPr sz="1300" b="0" i="0">
                <a:solidFill>
                  <a:srgbClr val="222222"/>
                </a:solidFill>
                <a:latin typeface="Times New Roman"/>
                <a:ea typeface="Times New Roman"/>
                <a:cs typeface="Times New Roman"/>
              </a:rPr>
              <a:t>Không nối 2 bảng fact trực tiếp với nhau</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map_store_finance: quy đổi mã cửa hàng Finance theo ngày hiệu lực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Join chỉ theo fin_store_code là </a:t>
            </a:r>
            <a:r>
              <a:rPr sz="1700" b="1" i="0">
                <a:solidFill>
                  <a:srgbClr val="C00000"/>
                </a:solidFill>
                <a:latin typeface="Times New Roman"/>
                <a:ea typeface="Times New Roman"/>
                <a:cs typeface="Times New Roman"/>
              </a:rPr>
              <a:t>chưa đủ</a:t>
            </a:r>
            <a:r>
              <a:rPr sz="1700" b="0" i="0">
                <a:solidFill>
                  <a:srgbClr val="222222"/>
                </a:solidFill>
                <a:latin typeface="Times New Roman"/>
                <a:ea typeface="Times New Roman"/>
                <a:cs typeface="Times New Roman"/>
              </a:rPr>
              <a:t>: phải thêm điều kiện posting_date nằm trong [valid_from, valid_to]</a:t>
            </a:r>
          </a:p>
        </p:txBody>
      </p:sp>
      <p:graphicFrame>
        <p:nvGraphicFramePr>
          <p:cNvPr id="143" name="Table 142"/>
          <p:cNvGraphicFramePr>
            <a:graphicFrameLocks noGrp="1"/>
          </p:cNvGraphicFramePr>
          <p:nvPr/>
        </p:nvGraphicFramePr>
        <p:xfrm>
          <a:off x="365760" y="1371600"/>
          <a:ext cx="11475717" cy="2286000"/>
        </p:xfrm>
        <a:graphic>
          <a:graphicData uri="http://schemas.openxmlformats.org/drawingml/2006/table">
            <a:tbl>
              <a:tblPr firstRow="1">
                <a:tableStyleId>{5940675A-B579-460E-94D1-54222C63F5DA}</a:tableStyleId>
              </a:tblPr>
              <a:tblGrid>
                <a:gridCol w="1624880"/>
                <a:gridCol w="1117105"/>
                <a:gridCol w="1320215"/>
                <a:gridCol w="1320215"/>
                <a:gridCol w="6093302"/>
              </a:tblGrid>
              <a:tr h="381000">
                <a:tc>
                  <a:txBody>
                    <a:bodyPr/>
                    <a:lstStyle/>
                    <a:p>
                      <a:pPr algn="l">
                        <a:buNone/>
                      </a:pPr>
                      <a:r>
                        <a:rPr sz="1300" b="1" i="0">
                          <a:solidFill>
                            <a:srgbClr val="FFFFFF"/>
                          </a:solidFill>
                          <a:latin typeface="Times New Roman"/>
                          <a:ea typeface="Times New Roman"/>
                          <a:cs typeface="Times New Roman"/>
                        </a:rPr>
                        <a:t>fin_store_code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valid_from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valid_to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1000">
                <a:tc>
                  <a:txBody>
                    <a:bodyPr/>
                    <a:lstStyle/>
                    <a:p>
                      <a:pPr algn="l">
                        <a:buNone/>
                      </a:pPr>
                      <a:r>
                        <a:rPr sz="1300" b="0" i="0">
                          <a:solidFill>
                            <a:srgbClr val="222222"/>
                          </a:solidFill>
                          <a:latin typeface="Times New Roman"/>
                          <a:ea typeface="Times New Roman"/>
                          <a:cs typeface="Times New Roman"/>
                        </a:rPr>
                        <a:t>ECOM-01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AUS-01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1000">
                <a:tc>
                  <a:txBody>
                    <a:bodyPr/>
                    <a:lstStyle/>
                    <a:p>
                      <a:pPr algn="l">
                        <a:buNone/>
                      </a:pPr>
                      <a:r>
                        <a:rPr sz="1300" b="0" i="0">
                          <a:solidFill>
                            <a:srgbClr val="222222"/>
                          </a:solidFill>
                          <a:latin typeface="Times New Roman"/>
                          <a:ea typeface="Times New Roman"/>
                          <a:cs typeface="Times New Roman"/>
                        </a:rPr>
                        <a:t>GBR-03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30/06/2019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cũ, ngừng dùng sau khi đổi hệ thống kế toán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GBR-03N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Mã mới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r>
              <a:tr h="381000">
                <a:tc>
                  <a:txBody>
                    <a:bodyPr/>
                    <a:lstStyle/>
                    <a:p>
                      <a:pPr algn="l">
                        <a:buNone/>
                      </a:pPr>
                      <a:r>
                        <a:rPr sz="13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01/01/2016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ctr">
                        <a:buNone/>
                      </a:pPr>
                      <a:r>
                        <a:rPr sz="1300" b="0" i="0">
                          <a:solidFill>
                            <a:srgbClr val="222222"/>
                          </a:solidFill>
                          <a:latin typeface="Times New Roman"/>
                          <a:ea typeface="Times New Roman"/>
                          <a:cs typeface="Times New Roman"/>
                        </a:rPr>
                        <a:t>31/12/2099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0" i="0">
                          <a:solidFill>
                            <a:srgbClr val="222222"/>
                          </a:solidFill>
                          <a:latin typeface="Times New Roman"/>
                          <a:ea typeface="Times New Roman"/>
                          <a:cs typeface="Times New Roman"/>
                        </a:rPr>
                        <a:t>Bút toán điều chỉnh tại văn phòng chính, không thuộc cửa hàng nào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365760" y="3840480"/>
            <a:ext cx="3657600" cy="214884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365760" y="3840480"/>
            <a:ext cx="365760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1 · Đổi mã cửa hàng</a:t>
            </a:r>
          </a:p>
        </p:txBody>
      </p:sp>
      <p:sp>
        <p:nvSpPr>
          <p:cNvPr id="146" name="TextBox 145"/>
          <p:cNvSpPr txBox="1"/>
          <p:nvPr/>
        </p:nvSpPr>
        <p:spPr>
          <a:xfrm>
            <a:off x="47548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Cửa hàng 38 dùng mã GBR-03 đến 30/06/2019, sau đó GBR-03N. Map không theo hiệu lực → doanh thu từ 07/2019 thành "không xác định cửa hàng" hoặc bị nhân đôi.</a:t>
            </a:r>
          </a:p>
        </p:txBody>
      </p:sp>
      <p:sp>
        <p:nvSpPr>
          <p:cNvPr id="147" name="Rounded Rectangle 146"/>
          <p:cNvSpPr/>
          <p:nvPr/>
        </p:nvSpPr>
        <p:spPr>
          <a:xfrm>
            <a:off x="4206240" y="3840480"/>
            <a:ext cx="3657600" cy="214884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8" name="Rounded Rectangle 147"/>
          <p:cNvSpPr/>
          <p:nvPr/>
        </p:nvSpPr>
        <p:spPr>
          <a:xfrm>
            <a:off x="4206240" y="3840480"/>
            <a:ext cx="36576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Bẫy 2 · Dòng HQ-ADJ</a:t>
            </a:r>
          </a:p>
        </p:txBody>
      </p:sp>
      <p:sp>
        <p:nvSpPr>
          <p:cNvPr id="149" name="TextBox 148"/>
          <p:cNvSpPr txBox="1"/>
          <p:nvPr/>
        </p:nvSpPr>
        <p:spPr>
          <a:xfrm>
            <a:off x="431596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Bút toán điều chỉnh tại văn phòng chính, store_key trống. Không gán vào cửa hàng nào; giải thích ở cấp tổng chuỗi.</a:t>
            </a:r>
          </a:p>
        </p:txBody>
      </p:sp>
      <p:sp>
        <p:nvSpPr>
          <p:cNvPr id="150" name="Rounded Rectangle 149"/>
          <p:cNvSpPr/>
          <p:nvPr/>
        </p:nvSpPr>
        <p:spPr>
          <a:xfrm>
            <a:off x="8046720" y="3840480"/>
            <a:ext cx="3657600" cy="214884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1" name="Rounded Rectangle 150"/>
          <p:cNvSpPr/>
          <p:nvPr/>
        </p:nvSpPr>
        <p:spPr>
          <a:xfrm>
            <a:off x="8046720" y="384048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làm trong Power Query</a:t>
            </a:r>
          </a:p>
        </p:txBody>
      </p:sp>
      <p:sp>
        <p:nvSpPr>
          <p:cNvPr id="152" name="TextBox 151"/>
          <p:cNvSpPr txBox="1"/>
          <p:nvPr/>
        </p:nvSpPr>
        <p:spPr>
          <a:xfrm>
            <a:off x="8156448" y="4343400"/>
            <a:ext cx="3438144" cy="1600200"/>
          </a:xfrm>
          <a:prstGeom prst="rect">
            <a:avLst/>
          </a:prstGeom>
          <a:noFill/>
        </p:spPr>
        <p:txBody>
          <a:bodyPr wrap="square" lIns="45720" tIns="27432" rIns="45720" bIns="27432" anchor="t"/>
          <a:lstStyle/>
          <a:p>
            <a:pPr algn="l">
              <a:buNone/>
            </a:pPr>
            <a:r>
              <a:rPr sz="1300" b="0" i="0">
                <a:solidFill>
                  <a:srgbClr val="222222"/>
                </a:solidFill>
                <a:latin typeface="Times New Roman"/>
                <a:ea typeface="Times New Roman"/>
                <a:cs typeface="Times New Roman"/>
              </a:rPr>
              <a:t>Merge finance với map theo fin_store_code → lọc posting_date ≥ valid_from và ≤ valid_to → kiểm tra số dòng vẫn = 19.400.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Nguồn dữ liệu và data modeling</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tắc làm sạch và số dòng phải khớp sau khi nạp (QC_Summary)</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Chưa khớp số dòng thì </a:t>
            </a:r>
            <a:r>
              <a:rPr sz="1700" b="1" i="0">
                <a:solidFill>
                  <a:srgbClr val="C00000"/>
                </a:solidFill>
                <a:latin typeface="Times New Roman"/>
                <a:ea typeface="Times New Roman"/>
                <a:cs typeface="Times New Roman"/>
              </a:rPr>
              <a:t>chưa tính KPI</a:t>
            </a:r>
            <a:r>
              <a:rPr sz="1700" b="0" i="0">
                <a:solidFill>
                  <a:srgbClr val="222222"/>
                </a:solidFill>
                <a:latin typeface="Times New Roman"/>
                <a:ea typeface="Times New Roman"/>
                <a:cs typeface="Times New Roman"/>
              </a:rPr>
              <a:t>: mọi sai lệch phía sau đều bắt đầu từ bước này</a:t>
            </a:r>
          </a:p>
        </p:txBody>
      </p:sp>
      <p:graphicFrame>
        <p:nvGraphicFramePr>
          <p:cNvPr id="143" name="Table 142"/>
          <p:cNvGraphicFramePr>
            <a:graphicFrameLocks noGrp="1"/>
          </p:cNvGraphicFramePr>
          <p:nvPr/>
        </p:nvGraphicFramePr>
        <p:xfrm>
          <a:off x="365760" y="1371600"/>
          <a:ext cx="7680960" cy="4617720"/>
        </p:xfrm>
        <a:graphic>
          <a:graphicData uri="http://schemas.openxmlformats.org/drawingml/2006/table">
            <a:tbl>
              <a:tblPr firstRow="1">
                <a:tableStyleId>{5940675A-B579-460E-94D1-54222C63F5DA}</a:tableStyleId>
              </a:tblPr>
              <a:tblGrid>
                <a:gridCol w="2651760"/>
                <a:gridCol w="1828800"/>
                <a:gridCol w="3200400"/>
              </a:tblGrid>
              <a:tr h="513080">
                <a:tc>
                  <a:txBody>
                    <a:bodyPr/>
                    <a:lstStyle/>
                    <a:p>
                      <a:pPr algn="l">
                        <a:buNone/>
                      </a:pPr>
                      <a:r>
                        <a:rPr sz="1300" b="1" i="0">
                          <a:solidFill>
                            <a:srgbClr val="FFFFFF"/>
                          </a:solidFill>
                          <a:latin typeface="Times New Roman"/>
                          <a:ea typeface="Times New Roman"/>
                          <a:cs typeface="Times New Roman"/>
                        </a:rPr>
                        <a:t>Kiểm tra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Kết quả cần khớp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Ghi chú</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13080">
                <a:tc>
                  <a:txBody>
                    <a:bodyPr/>
                    <a:lstStyle/>
                    <a:p>
                      <a:pPr algn="l">
                        <a:buNone/>
                      </a:pPr>
                      <a:r>
                        <a:rPr sz="1300" b="1" i="0">
                          <a:solidFill>
                            <a:srgbClr val="222222"/>
                          </a:solidFill>
                          <a:latin typeface="Times New Roman"/>
                          <a:ea typeface="Times New Roman"/>
                          <a:cs typeface="Times New Roman"/>
                        </a:rPr>
                        <a:t>fact_sales_line nạp vào</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63.004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Gồm dòng trùng cài sẵn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Bỏ dòng trùng hoàn toàn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− 120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Còn 62.884 dòng; khoá order_number + line_item duy nhất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Tổng số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26.326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Đếm phân biệt order_number</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Đơn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25.639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Chỉ nhóm này vào KPI doanh thu</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Đơn CANCELLED / PENDING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658 / 29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Loại khỏi 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fact_return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2.430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Mỗi dòng khớp 1 dòng bán COMPLETED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513080">
                <a:tc>
                  <a:txBody>
                    <a:bodyPr/>
                    <a:lstStyle/>
                    <a:p>
                      <a:pPr algn="l">
                        <a:buNone/>
                      </a:pPr>
                      <a:r>
                        <a:rPr sz="1300" b="1" i="0">
                          <a:solidFill>
                            <a:srgbClr val="222222"/>
                          </a:solidFill>
                          <a:latin typeface="Times New Roman"/>
                          <a:ea typeface="Times New Roman"/>
                          <a:cs typeface="Times New Roman"/>
                        </a:rPr>
                        <a:t>finance_revenue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19.400 dòng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Sau khi map vẫn đủ số dòng, không nhân đôi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13080">
                <a:tc>
                  <a:txBody>
                    <a:bodyPr/>
                    <a:lstStyle/>
                    <a:p>
                      <a:pPr algn="l">
                        <a:buNone/>
                      </a:pPr>
                      <a:r>
                        <a:rPr sz="1300" b="1" i="0">
                          <a:solidFill>
                            <a:srgbClr val="222222"/>
                          </a:solidFill>
                          <a:latin typeface="Times New Roman"/>
                          <a:ea typeface="Times New Roman"/>
                          <a:cs typeface="Times New Roman"/>
                        </a:rPr>
                        <a:t>dim_store / dim_product / dim_date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300" b="0" i="0">
                          <a:solidFill>
                            <a:srgbClr val="222222"/>
                          </a:solidFill>
                          <a:latin typeface="Times New Roman"/>
                          <a:ea typeface="Times New Roman"/>
                          <a:cs typeface="Times New Roman"/>
                        </a:rPr>
                        <a:t>67 / 2.517 / 1.917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300" b="0" i="0">
                          <a:solidFill>
                            <a:srgbClr val="222222"/>
                          </a:solidFill>
                          <a:latin typeface="Times New Roman"/>
                          <a:ea typeface="Times New Roman"/>
                          <a:cs typeface="Times New Roman"/>
                        </a:rPr>
                        <a:t>dim_date phủ 01/01/2016 → 31/03/2021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
        <p:nvSpPr>
          <p:cNvPr id="144" name="Rounded Rectangle 143"/>
          <p:cNvSpPr/>
          <p:nvPr/>
        </p:nvSpPr>
        <p:spPr>
          <a:xfrm>
            <a:off x="8275320" y="1371600"/>
            <a:ext cx="356616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275320" y="1371600"/>
            <a:ext cx="356616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Ba quy tắc làm sạch</a:t>
            </a:r>
          </a:p>
        </p:txBody>
      </p:sp>
      <p:sp>
        <p:nvSpPr>
          <p:cNvPr id="146" name="TextBox 145"/>
          <p:cNvSpPr txBox="1"/>
          <p:nvPr/>
        </p:nvSpPr>
        <p:spPr>
          <a:xfrm>
            <a:off x="8366760" y="1920240"/>
            <a:ext cx="3383280" cy="4023360"/>
          </a:xfrm>
          <a:prstGeom prst="rect">
            <a:avLst/>
          </a:prstGeom>
          <a:noFill/>
        </p:spPr>
        <p:txBody>
          <a:bodyPr wrap="square" lIns="45720" tIns="27432" rIns="45720" bIns="27432" anchor="t"/>
          <a:lstStyle/>
          <a:p>
            <a:pPr algn="l">
              <a:buNone/>
            </a:pPr>
            <a:r>
              <a:rPr sz="1300" b="1" i="0">
                <a:solidFill>
                  <a:srgbClr val="C55A11"/>
                </a:solidFill>
                <a:latin typeface="Times New Roman"/>
                <a:ea typeface="Times New Roman"/>
                <a:cs typeface="Times New Roman"/>
              </a:rPr>
              <a:t>1. Bỏ trùng</a:t>
            </a:r>
          </a:p>
          <a:p>
            <a:pPr algn="l">
              <a:spcAft>
                <a:spcPts val="800"/>
              </a:spcAft>
              <a:buNone/>
            </a:pPr>
            <a:r>
              <a:rPr sz="1300" b="0" i="0">
                <a:solidFill>
                  <a:srgbClr val="222222"/>
                </a:solidFill>
                <a:latin typeface="Times New Roman"/>
                <a:ea typeface="Times New Roman"/>
                <a:cs typeface="Times New Roman"/>
              </a:rPr>
              <a:t>Power Query → Remove Duplicates trên toàn bộ cột</a:t>
            </a:r>
          </a:p>
          <a:p>
            <a:pPr algn="l">
              <a:buNone/>
            </a:pPr>
            <a:r>
              <a:rPr sz="1300" b="1" i="0">
                <a:solidFill>
                  <a:srgbClr val="C55A11"/>
                </a:solidFill>
                <a:latin typeface="Times New Roman"/>
                <a:ea typeface="Times New Roman"/>
                <a:cs typeface="Times New Roman"/>
              </a:rPr>
              <a:t>2. Lọc trạng thái</a:t>
            </a:r>
          </a:p>
          <a:p>
            <a:pPr algn="l">
              <a:spcAft>
                <a:spcPts val="800"/>
              </a:spcAft>
              <a:buNone/>
            </a:pPr>
            <a:r>
              <a:rPr sz="1300" b="0" i="0">
                <a:solidFill>
                  <a:srgbClr val="222222"/>
                </a:solidFill>
                <a:latin typeface="Times New Roman"/>
                <a:ea typeface="Times New Roman"/>
                <a:cs typeface="Times New Roman"/>
              </a:rPr>
              <a:t>Giữ dữ liệu đủ cột, lọc COMPLETED trong measure để vẫn đếm được đơn huỷ</a:t>
            </a:r>
          </a:p>
          <a:p>
            <a:pPr algn="l">
              <a:buNone/>
            </a:pPr>
            <a:r>
              <a:rPr sz="1300" b="1" i="0">
                <a:solidFill>
                  <a:srgbClr val="C55A11"/>
                </a:solidFill>
                <a:latin typeface="Times New Roman"/>
                <a:ea typeface="Times New Roman"/>
                <a:cs typeface="Times New Roman"/>
              </a:rPr>
              <a:t>3. Đúng kiểu dữ liệu</a:t>
            </a:r>
          </a:p>
          <a:p>
            <a:pPr algn="l">
              <a:buNone/>
            </a:pPr>
            <a:r>
              <a:rPr sz="1300" b="0" i="0">
                <a:solidFill>
                  <a:srgbClr val="222222"/>
                </a:solidFill>
                <a:latin typeface="Times New Roman"/>
                <a:ea typeface="Times New Roman"/>
                <a:cs typeface="Times New Roman"/>
              </a:rPr>
              <a:t>Ngày là Date, tiền là Decimal, store_key là Whole Number ở mọi bảng</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Doanh thu theo năm: dữ liệu đơn và Finance, 2016–2021</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nguồn </a:t>
            </a:r>
            <a:r>
              <a:rPr sz="1700" b="1" i="0">
                <a:solidFill>
                  <a:srgbClr val="2E5B31"/>
                </a:solidFill>
                <a:latin typeface="Times New Roman"/>
                <a:ea typeface="Times New Roman"/>
                <a:cs typeface="Times New Roman"/>
              </a:rPr>
              <a:t>gần khớp ở cấp năm</a:t>
            </a:r>
            <a:r>
              <a:rPr sz="1700" b="0" i="0">
                <a:solidFill>
                  <a:srgbClr val="222222"/>
                </a:solidFill>
                <a:latin typeface="Times New Roman"/>
                <a:ea typeface="Times New Roman"/>
                <a:cs typeface="Times New Roman"/>
              </a:rPr>
              <a:t>; chênh lệch chỉ lộ ra khi xuống tháng × cửa hàng</a:t>
            </a:r>
          </a:p>
        </p:txBody>
      </p:sp>
      <p:sp>
        <p:nvSpPr>
          <p:cNvPr id="143" name="Rectangle 142"/>
          <p:cNvSpPr/>
          <p:nvPr/>
        </p:nvSpPr>
        <p:spPr>
          <a:xfrm>
            <a:off x="365760" y="1371600"/>
            <a:ext cx="758952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758952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năm (triệu USD)</a:t>
            </a:r>
          </a:p>
        </p:txBody>
      </p:sp>
      <p:sp>
        <p:nvSpPr>
          <p:cNvPr id="145" name="TextBox 144"/>
          <p:cNvSpPr txBox="1"/>
          <p:nvPr/>
        </p:nvSpPr>
        <p:spPr>
          <a:xfrm>
            <a:off x="411480" y="5678424"/>
            <a:ext cx="749808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 2021: chỉ đến 20/02/2021</a:t>
            </a:r>
          </a:p>
        </p:txBody>
      </p:sp>
      <p:graphicFrame>
        <p:nvGraphicFramePr>
          <p:cNvPr id="146" name="Chart 145"/>
          <p:cNvGraphicFramePr>
            <a:graphicFrameLocks noGrp="1"/>
          </p:cNvGraphicFramePr>
          <p:nvPr/>
        </p:nvGraphicFramePr>
        <p:xfrm>
          <a:off x="457200" y="1737360"/>
          <a:ext cx="7406640" cy="3931920"/>
        </p:xfrm>
        <a:graphic>
          <a:graphicData uri="http://schemas.openxmlformats.org/drawingml/2006/chart">
            <c:chart xmlns:c="http://schemas.openxmlformats.org/drawingml/2006/chart" r:id="rId3"/>
          </a:graphicData>
        </a:graphic>
      </p:graphicFrame>
      <p:sp>
        <p:nvSpPr>
          <p:cNvPr id="147" name="Rounded Rectangle 146"/>
          <p:cNvSpPr/>
          <p:nvPr/>
        </p:nvSpPr>
        <p:spPr>
          <a:xfrm>
            <a:off x="8183879" y="1371600"/>
            <a:ext cx="365760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8" name="Rounded Rectangle 147"/>
          <p:cNvSpPr/>
          <p:nvPr/>
        </p:nvSpPr>
        <p:spPr>
          <a:xfrm>
            <a:off x="8183879" y="1371600"/>
            <a:ext cx="365760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Đọc nhanh</a:t>
            </a:r>
          </a:p>
        </p:txBody>
      </p:sp>
      <p:sp>
        <p:nvSpPr>
          <p:cNvPr id="149" name="TextBox 148"/>
          <p:cNvSpPr txBox="1"/>
          <p:nvPr/>
        </p:nvSpPr>
        <p:spPr>
          <a:xfrm>
            <a:off x="8275320" y="1920240"/>
            <a:ext cx="3474720" cy="4023360"/>
          </a:xfrm>
          <a:prstGeom prst="rect">
            <a:avLst/>
          </a:prstGeom>
          <a:noFill/>
        </p:spPr>
        <p:txBody>
          <a:bodyPr wrap="square" lIns="45720" tIns="27432" rIns="45720" bIns="27432" anchor="t"/>
          <a:lstStyle/>
          <a:p>
            <a:pPr algn="l" marL="182880" indent="-182880">
              <a:spcAft>
                <a:spcPts val="600"/>
              </a:spcAft>
              <a:buFont typeface="Arial"/>
              <a:buChar char="•"/>
            </a:pPr>
            <a:r>
              <a:rPr sz="1400" b="1" i="0">
                <a:solidFill>
                  <a:srgbClr val="222222"/>
                </a:solidFill>
                <a:latin typeface="Times New Roman"/>
                <a:ea typeface="Times New Roman"/>
                <a:cs typeface="Times New Roman"/>
              </a:rPr>
              <a:t>2020: </a:t>
            </a:r>
            <a:r>
              <a:rPr sz="1400" b="0" i="0">
                <a:solidFill>
                  <a:srgbClr val="222222"/>
                </a:solidFill>
                <a:latin typeface="Times New Roman"/>
                <a:ea typeface="Times New Roman"/>
                <a:cs typeface="Times New Roman"/>
              </a:rPr>
              <a:t>8,73 triệu USD</a:t>
            </a:r>
            <a:r>
              <a:rPr sz="1400" b="1" i="0">
                <a:solidFill>
                  <a:srgbClr val="C00000"/>
                </a:solidFill>
                <a:latin typeface="Times New Roman"/>
                <a:ea typeface="Times New Roman"/>
                <a:cs typeface="Times New Roman"/>
              </a:rPr>
              <a:t>, −48,4% so với 2019</a:t>
            </a:r>
          </a:p>
          <a:p>
            <a:pPr algn="l" marL="182880" indent="-182880">
              <a:spcAft>
                <a:spcPts val="600"/>
              </a:spcAft>
              <a:buFont typeface="Arial"/>
              <a:buChar char="•"/>
            </a:pPr>
            <a:r>
              <a:rPr sz="1400" b="1" i="0">
                <a:solidFill>
                  <a:srgbClr val="222222"/>
                </a:solidFill>
                <a:latin typeface="Times New Roman"/>
                <a:ea typeface="Times New Roman"/>
                <a:cs typeface="Times New Roman"/>
              </a:rPr>
              <a:t>Số đơn: </a:t>
            </a:r>
            <a:r>
              <a:rPr sz="1400" b="0" i="0">
                <a:solidFill>
                  <a:srgbClr val="222222"/>
                </a:solidFill>
                <a:latin typeface="Times New Roman"/>
                <a:ea typeface="Times New Roman"/>
                <a:cs typeface="Times New Roman"/>
              </a:rPr>
              <a:t>8.842 → 4.528</a:t>
            </a:r>
          </a:p>
          <a:p>
            <a:pPr algn="l" marL="182880" indent="-182880">
              <a:spcAft>
                <a:spcPts val="600"/>
              </a:spcAft>
              <a:buFont typeface="Arial"/>
              <a:buChar char="•"/>
            </a:pPr>
            <a:r>
              <a:rPr sz="1400" b="1" i="0">
                <a:solidFill>
                  <a:srgbClr val="222222"/>
                </a:solidFill>
                <a:latin typeface="Times New Roman"/>
                <a:ea typeface="Times New Roman"/>
                <a:cs typeface="Times New Roman"/>
              </a:rPr>
              <a:t>AOV gần như đi ngang: </a:t>
            </a:r>
            <a:r>
              <a:rPr sz="1400" b="0" i="0">
                <a:solidFill>
                  <a:srgbClr val="222222"/>
                </a:solidFill>
                <a:latin typeface="Times New Roman"/>
                <a:ea typeface="Times New Roman"/>
                <a:cs typeface="Times New Roman"/>
              </a:rPr>
              <a:t>1.965 → 1.975 USD</a:t>
            </a:r>
          </a:p>
          <a:p>
            <a:pPr algn="l" marL="182880" indent="-182880">
              <a:spcAft>
                <a:spcPts val="600"/>
              </a:spcAft>
              <a:buFont typeface="Arial"/>
              <a:buChar char="•"/>
            </a:pPr>
            <a:r>
              <a:rPr sz="1400" b="1" i="0">
                <a:solidFill>
                  <a:srgbClr val="222222"/>
                </a:solidFill>
                <a:latin typeface="Times New Roman"/>
                <a:ea typeface="Times New Roman"/>
                <a:cs typeface="Times New Roman"/>
              </a:rPr>
              <a:t>Lệch Finance − đơn 2020: </a:t>
            </a:r>
            <a:r>
              <a:rPr sz="1400" b="0" i="0">
                <a:solidFill>
                  <a:srgbClr val="222222"/>
                </a:solidFill>
                <a:latin typeface="Times New Roman"/>
                <a:ea typeface="Times New Roman"/>
                <a:cs typeface="Times New Roman"/>
              </a:rPr>
              <a:t>+63.187 USD</a:t>
            </a:r>
            <a:r>
              <a:rPr sz="1400" b="0" i="0">
                <a:solidFill>
                  <a:srgbClr val="222222"/>
                </a:solidFill>
                <a:latin typeface="Times New Roman"/>
                <a:ea typeface="Times New Roman"/>
                <a:cs typeface="Times New Roman"/>
              </a:rPr>
              <a:t> (+0,72%)</a:t>
            </a:r>
          </a:p>
          <a:p>
            <a:pPr algn="l">
              <a:spcBef>
                <a:spcPts val="400"/>
              </a:spcBef>
              <a:buNone/>
            </a:pPr>
            <a:r>
              <a:rPr sz="1400" b="1" i="0">
                <a:solidFill>
                  <a:srgbClr val="C55A11"/>
                </a:solidFill>
                <a:latin typeface="Times New Roman"/>
                <a:ea typeface="Times New Roman"/>
                <a:cs typeface="Times New Roman"/>
              </a:rPr>
              <a:t>Câu hỏi: </a:t>
            </a:r>
            <a:r>
              <a:rPr sz="1400" b="0" i="1">
                <a:solidFill>
                  <a:srgbClr val="222222"/>
                </a:solidFill>
                <a:latin typeface="Times New Roman"/>
                <a:ea typeface="Times New Roman"/>
                <a:cs typeface="Times New Roman"/>
              </a:rPr>
              <a:t>doanh thu giảm do ít đơn hơn hay đơn nhỏ hơn?</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Xu hướng theo tháng 2019–2020: hai đường gần như chồng nhau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Đỉnh cuối năm, đáy tháng 4;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sụt mạnh từ tháng 3 – cần nêu bối cảnh khi viết báo cáo</a:t>
            </a:r>
          </a:p>
        </p:txBody>
      </p:sp>
      <p:sp>
        <p:nvSpPr>
          <p:cNvPr id="143" name="Rectangle 142"/>
          <p:cNvSpPr/>
          <p:nvPr/>
        </p:nvSpPr>
        <p:spPr>
          <a:xfrm>
            <a:off x="365760" y="1371600"/>
            <a:ext cx="822960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822960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Revenue theo tháng (nghìn USD)</a:t>
            </a:r>
          </a:p>
        </p:txBody>
      </p:sp>
      <p:sp>
        <p:nvSpPr>
          <p:cNvPr id="145" name="TextBox 144"/>
          <p:cNvSpPr txBox="1"/>
          <p:nvPr/>
        </p:nvSpPr>
        <p:spPr>
          <a:xfrm>
            <a:off x="411480" y="5678424"/>
            <a:ext cx="8138160" cy="274320"/>
          </a:xfrm>
          <a:prstGeom prst="rect">
            <a:avLst/>
          </a:prstGeom>
          <a:noFill/>
        </p:spPr>
        <p:txBody>
          <a:bodyPr wrap="square" lIns="45720" tIns="27432" rIns="45720" bIns="27432" anchor="t"/>
          <a:lstStyle/>
          <a:p>
            <a:pPr algn="ctr">
              <a:buNone/>
            </a:pPr>
            <a:r>
              <a:rPr sz="1100" b="0" i="1">
                <a:solidFill>
                  <a:srgbClr val="595959"/>
                </a:solidFill>
                <a:latin typeface="Times New Roman"/>
                <a:ea typeface="Times New Roman"/>
                <a:cs typeface="Times New Roman"/>
              </a:rPr>
              <a:t>Dữ liệu đơn: Net Sales theo order_date − Returns theo return_date. Finance: theo posting_date.</a:t>
            </a:r>
          </a:p>
        </p:txBody>
      </p:sp>
      <p:graphicFrame>
        <p:nvGraphicFramePr>
          <p:cNvPr id="146" name="Chart 145"/>
          <p:cNvGraphicFramePr>
            <a:graphicFrameLocks noGrp="1"/>
          </p:cNvGraphicFramePr>
          <p:nvPr/>
        </p:nvGraphicFramePr>
        <p:xfrm>
          <a:off x="457200" y="1737360"/>
          <a:ext cx="8046720" cy="3931920"/>
        </p:xfrm>
        <a:graphic>
          <a:graphicData uri="http://schemas.openxmlformats.org/drawingml/2006/chart">
            <c:chart xmlns:c="http://schemas.openxmlformats.org/drawingml/2006/chart" r:id="rId3"/>
          </a:graphicData>
        </a:graphic>
      </p:graphicFrame>
      <p:sp>
        <p:nvSpPr>
          <p:cNvPr id="147" name="TextBox 146"/>
          <p:cNvSpPr txBox="1"/>
          <p:nvPr/>
        </p:nvSpPr>
        <p:spPr>
          <a:xfrm>
            <a:off x="8778240" y="1371600"/>
            <a:ext cx="3063240" cy="365760"/>
          </a:xfrm>
          <a:prstGeom prst="rect">
            <a:avLst/>
          </a:prstGeom>
          <a:noFill/>
        </p:spPr>
        <p:txBody>
          <a:bodyPr wrap="square" lIns="45720" tIns="27432" rIns="45720" bIns="27432" anchor="t"/>
          <a:lstStyle/>
          <a:p>
            <a:pPr algn="l">
              <a:buNone/>
            </a:pPr>
            <a:r>
              <a:rPr sz="1500" b="1" i="0">
                <a:solidFill>
                  <a:srgbClr val="2E5B31"/>
                </a:solidFill>
                <a:latin typeface="Times New Roman"/>
                <a:ea typeface="Times New Roman"/>
                <a:cs typeface="Times New Roman"/>
              </a:rPr>
              <a:t>Ba điều cần thấy</a:t>
            </a:r>
          </a:p>
        </p:txBody>
      </p:sp>
      <p:sp>
        <p:nvSpPr>
          <p:cNvPr id="148" name="Rounded Rectangle 147"/>
          <p:cNvSpPr/>
          <p:nvPr/>
        </p:nvSpPr>
        <p:spPr>
          <a:xfrm>
            <a:off x="8778240" y="1783080"/>
            <a:ext cx="3063240" cy="1280160"/>
          </a:xfrm>
          <a:prstGeom prst="roundRect">
            <a:avLst>
              <a:gd name="adj" fmla="val 6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9" name="TextBox 148"/>
          <p:cNvSpPr txBox="1"/>
          <p:nvPr/>
        </p:nvSpPr>
        <p:spPr>
          <a:xfrm>
            <a:off x="8869680" y="1828800"/>
            <a:ext cx="2880360" cy="1188720"/>
          </a:xfrm>
          <a:prstGeom prst="rect">
            <a:avLst/>
          </a:prstGeom>
          <a:noFill/>
        </p:spPr>
        <p:txBody>
          <a:bodyPr wrap="square" lIns="45720" tIns="27432" rIns="45720" bIns="27432" anchor="ctr"/>
          <a:lstStyle/>
          <a:p>
            <a:pPr algn="l">
              <a:buNone/>
            </a:pPr>
            <a:r>
              <a:rPr sz="1300" b="1" i="0">
                <a:solidFill>
                  <a:srgbClr val="2E5B31"/>
                </a:solidFill>
                <a:latin typeface="Times New Roman"/>
                <a:ea typeface="Times New Roman"/>
                <a:cs typeface="Times New Roman"/>
              </a:rPr>
              <a:t>Đỉnh 12/19</a:t>
            </a:r>
          </a:p>
          <a:p>
            <a:pPr algn="l">
              <a:buNone/>
            </a:pPr>
            <a:r>
              <a:rPr sz="1300" b="0" i="0">
                <a:solidFill>
                  <a:srgbClr val="222222"/>
                </a:solidFill>
                <a:latin typeface="Times New Roman"/>
                <a:ea typeface="Times New Roman"/>
                <a:cs typeface="Times New Roman"/>
              </a:rPr>
              <a:t>2.263 nghìn USD</a:t>
            </a:r>
          </a:p>
        </p:txBody>
      </p:sp>
      <p:sp>
        <p:nvSpPr>
          <p:cNvPr id="150" name="Rounded Rectangle 149"/>
          <p:cNvSpPr/>
          <p:nvPr/>
        </p:nvSpPr>
        <p:spPr>
          <a:xfrm>
            <a:off x="8778240" y="3200400"/>
            <a:ext cx="3063240" cy="1280160"/>
          </a:xfrm>
          <a:prstGeom prst="roundRect">
            <a:avLst>
              <a:gd name="adj" fmla="val 6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51" name="TextBox 150"/>
          <p:cNvSpPr txBox="1"/>
          <p:nvPr/>
        </p:nvSpPr>
        <p:spPr>
          <a:xfrm>
            <a:off x="8869680" y="3246120"/>
            <a:ext cx="2880360" cy="1188720"/>
          </a:xfrm>
          <a:prstGeom prst="rect">
            <a:avLst/>
          </a:prstGeom>
          <a:noFill/>
        </p:spPr>
        <p:txBody>
          <a:bodyPr wrap="square" lIns="45720" tIns="27432" rIns="45720" bIns="27432" anchor="ctr"/>
          <a:lstStyle/>
          <a:p>
            <a:pPr algn="l">
              <a:buNone/>
            </a:pPr>
            <a:r>
              <a:rPr sz="1300" b="1" i="0">
                <a:solidFill>
                  <a:srgbClr val="123A7A"/>
                </a:solidFill>
                <a:latin typeface="Times New Roman"/>
                <a:ea typeface="Times New Roman"/>
                <a:cs typeface="Times New Roman"/>
              </a:rPr>
              <a:t>Tháng báo cáo 12/2020</a:t>
            </a:r>
          </a:p>
          <a:p>
            <a:pPr algn="l">
              <a:buNone/>
            </a:pPr>
            <a:r>
              <a:rPr sz="1300" b="0" i="0">
                <a:solidFill>
                  <a:srgbClr val="222222"/>
                </a:solidFill>
                <a:latin typeface="Times New Roman"/>
                <a:ea typeface="Times New Roman"/>
                <a:cs typeface="Times New Roman"/>
              </a:rPr>
              <a:t>606 nghìn USD, Finance 592</a:t>
            </a:r>
          </a:p>
        </p:txBody>
      </p:sp>
      <p:sp>
        <p:nvSpPr>
          <p:cNvPr id="152" name="Rounded Rectangle 151"/>
          <p:cNvSpPr/>
          <p:nvPr/>
        </p:nvSpPr>
        <p:spPr>
          <a:xfrm>
            <a:off x="8778240" y="4617720"/>
            <a:ext cx="3063240" cy="1280160"/>
          </a:xfrm>
          <a:prstGeom prst="roundRect">
            <a:avLst>
              <a:gd name="adj" fmla="val 6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3" name="TextBox 152"/>
          <p:cNvSpPr txBox="1"/>
          <p:nvPr/>
        </p:nvSpPr>
        <p:spPr>
          <a:xfrm>
            <a:off x="8869680" y="4663440"/>
            <a:ext cx="2880360" cy="1188720"/>
          </a:xfrm>
          <a:prstGeom prst="rect">
            <a:avLst/>
          </a:prstGeom>
          <a:noFill/>
        </p:spPr>
        <p:txBody>
          <a:bodyPr wrap="square" lIns="45720" tIns="27432" rIns="45720" bIns="27432" anchor="ctr"/>
          <a:lstStyle/>
          <a:p>
            <a:pPr algn="l">
              <a:buNone/>
            </a:pPr>
            <a:r>
              <a:rPr sz="1300" b="1" i="0">
                <a:solidFill>
                  <a:srgbClr val="C55A11"/>
                </a:solidFill>
                <a:latin typeface="Times New Roman"/>
                <a:ea typeface="Times New Roman"/>
                <a:cs typeface="Times New Roman"/>
              </a:rPr>
              <a:t>Online lệch thời điểm</a:t>
            </a:r>
          </a:p>
          <a:p>
            <a:pPr algn="l">
              <a:buNone/>
            </a:pPr>
            <a:r>
              <a:rPr sz="1300" b="0" i="0">
                <a:solidFill>
                  <a:srgbClr val="222222"/>
                </a:solidFill>
                <a:latin typeface="Times New Roman"/>
                <a:ea typeface="Times New Roman"/>
                <a:cs typeface="Times New Roman"/>
              </a:rPr>
              <a:t>Đường Finance trễ hơn ở các tháng có nhiều đơn online giao sang tháng sau</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Kênh bán: cửa hàng chiếm phần lớn, online có quy tắc ghi nhận riêng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Online chỉ chiếm khoảng </a:t>
            </a:r>
            <a:r>
              <a:rPr sz="1700" b="1" i="0">
                <a:solidFill>
                  <a:srgbClr val="C55A11"/>
                </a:solidFill>
                <a:latin typeface="Times New Roman"/>
                <a:ea typeface="Times New Roman"/>
                <a:cs typeface="Times New Roman"/>
              </a:rPr>
              <a:t>22%</a:t>
            </a:r>
            <a:r>
              <a:rPr sz="1700" b="0" i="0">
                <a:solidFill>
                  <a:srgbClr val="222222"/>
                </a:solidFill>
                <a:latin typeface="Times New Roman"/>
                <a:ea typeface="Times New Roman"/>
                <a:cs typeface="Times New Roman"/>
              </a:rPr>
              <a:t> Net Sales nhưng là </a:t>
            </a:r>
            <a:r>
              <a:rPr sz="1700" b="1" i="0">
                <a:solidFill>
                  <a:srgbClr val="C00000"/>
                </a:solidFill>
                <a:latin typeface="Times New Roman"/>
                <a:ea typeface="Times New Roman"/>
                <a:cs typeface="Times New Roman"/>
              </a:rPr>
              <a:t>nguồn chênh lệch lớn nhất</a:t>
            </a:r>
            <a:r>
              <a:rPr sz="1700" b="0" i="0">
                <a:solidFill>
                  <a:srgbClr val="222222"/>
                </a:solidFill>
                <a:latin typeface="Times New Roman"/>
                <a:ea typeface="Times New Roman"/>
                <a:cs typeface="Times New Roman"/>
              </a:rPr>
              <a:t> khi đối soát theo tháng</a:t>
            </a:r>
          </a:p>
        </p:txBody>
      </p:sp>
      <p:sp>
        <p:nvSpPr>
          <p:cNvPr id="143" name="Rectangle 142"/>
          <p:cNvSpPr/>
          <p:nvPr/>
        </p:nvSpPr>
        <p:spPr>
          <a:xfrm>
            <a:off x="365760" y="1371600"/>
            <a:ext cx="65836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65836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trọng Net Sales theo kênh</a:t>
            </a:r>
          </a:p>
        </p:txBody>
      </p:sp>
      <p:graphicFrame>
        <p:nvGraphicFramePr>
          <p:cNvPr id="145" name="Chart 144"/>
          <p:cNvGraphicFramePr>
            <a:graphicFrameLocks noGrp="1"/>
          </p:cNvGraphicFramePr>
          <p:nvPr/>
        </p:nvGraphicFramePr>
        <p:xfrm>
          <a:off x="457200" y="1737360"/>
          <a:ext cx="6400800" cy="4160520"/>
        </p:xfrm>
        <a:graphic>
          <a:graphicData uri="http://schemas.openxmlformats.org/drawingml/2006/chart">
            <c:chart xmlns:c="http://schemas.openxmlformats.org/drawingml/2006/chart" r:id="rId3"/>
          </a:graphicData>
        </a:graphic>
      </p:graphicFrame>
      <p:sp>
        <p:nvSpPr>
          <p:cNvPr id="146" name="Rectangle 145"/>
          <p:cNvSpPr/>
          <p:nvPr/>
        </p:nvSpPr>
        <p:spPr>
          <a:xfrm>
            <a:off x="7178040" y="1371600"/>
            <a:ext cx="4663440" cy="283464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7" name="Rectangle 146"/>
          <p:cNvSpPr/>
          <p:nvPr/>
        </p:nvSpPr>
        <p:spPr>
          <a:xfrm>
            <a:off x="7178040" y="1371600"/>
            <a:ext cx="466344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AOV theo kênh năm 2020 (USD/đơn)</a:t>
            </a:r>
          </a:p>
        </p:txBody>
      </p:sp>
      <p:graphicFrame>
        <p:nvGraphicFramePr>
          <p:cNvPr id="148" name="Chart 147"/>
          <p:cNvGraphicFramePr>
            <a:graphicFrameLocks noGrp="1"/>
          </p:cNvGraphicFramePr>
          <p:nvPr/>
        </p:nvGraphicFramePr>
        <p:xfrm>
          <a:off x="7269480" y="1737360"/>
          <a:ext cx="448056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7178040" y="4343400"/>
            <a:ext cx="4663440" cy="1645920"/>
          </a:xfrm>
          <a:prstGeom prst="roundRect">
            <a:avLst>
              <a:gd name="adj" fmla="val 6000"/>
            </a:avLst>
          </a:prstGeom>
          <a:solidFill>
            <a:srgbClr val="FBE5D6"/>
          </a:solidFill>
          <a:ln w="15875">
            <a:solidFill>
              <a:srgbClr val="C55A11"/>
            </a:solidFill>
          </a:ln>
          <a:effectLst/>
        </p:spPr>
        <p:txBody>
          <a:bodyPr rtlCol="0" anchor="ctr" wrap="square" lIns="137160" tIns="36576" rIns="137160" bIns="36576"/>
          <a:lstStyle/>
          <a:p>
            <a:pPr algn="l">
              <a:buNone/>
            </a:pPr>
            <a:r>
              <a:rPr sz="1300" b="1" i="0">
                <a:solidFill>
                  <a:srgbClr val="C55A11"/>
                </a:solidFill>
                <a:latin typeface="Times New Roman"/>
                <a:ea typeface="Times New Roman"/>
                <a:cs typeface="Times New Roman"/>
              </a:rPr>
              <a:t>Vì sao online quan trọng khi đối soát? </a:t>
            </a:r>
          </a:p>
          <a:p>
            <a:pPr algn="l">
              <a:buNone/>
            </a:pPr>
            <a:r>
              <a:rPr sz="1300" b="0" i="0">
                <a:solidFill>
                  <a:srgbClr val="222222"/>
                </a:solidFill>
                <a:latin typeface="Times New Roman"/>
                <a:ea typeface="Times New Roman"/>
                <a:cs typeface="Times New Roman"/>
              </a:rPr>
              <a:t>Dữ liệu đơn tính theo ngày đặt, Finance tính theo ngày giao: đơn đặt cuối tháng, giao đầu tháng sau sẽ "nhảy" sang tháng khác.</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Danh mục năm 2020: ai tạo doanh thu, ai bị trả hàng nhiều?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Danh mục </a:t>
            </a:r>
            <a:r>
              <a:rPr sz="1700" b="1" i="0">
                <a:solidFill>
                  <a:srgbClr val="2E5B31"/>
                </a:solidFill>
                <a:latin typeface="Times New Roman"/>
                <a:ea typeface="Times New Roman"/>
                <a:cs typeface="Times New Roman"/>
              </a:rPr>
              <a:t>lớn nhất</a:t>
            </a:r>
            <a:r>
              <a:rPr sz="1700" b="0" i="0">
                <a:solidFill>
                  <a:srgbClr val="222222"/>
                </a:solidFill>
                <a:latin typeface="Times New Roman"/>
                <a:ea typeface="Times New Roman"/>
                <a:cs typeface="Times New Roman"/>
              </a:rPr>
              <a:t> chưa chắc có </a:t>
            </a:r>
            <a:r>
              <a:rPr sz="1700" b="1" i="0">
                <a:solidFill>
                  <a:srgbClr val="C00000"/>
                </a:solidFill>
                <a:latin typeface="Times New Roman"/>
                <a:ea typeface="Times New Roman"/>
                <a:cs typeface="Times New Roman"/>
              </a:rPr>
              <a:t>tỷ lệ hoàn trả</a:t>
            </a:r>
            <a:r>
              <a:rPr sz="1700" b="0" i="0">
                <a:solidFill>
                  <a:srgbClr val="222222"/>
                </a:solidFill>
                <a:latin typeface="Times New Roman"/>
                <a:ea typeface="Times New Roman"/>
                <a:cs typeface="Times New Roman"/>
              </a:rPr>
              <a:t> cao nhất: đọc hai biểu đồ cùng nhau</a:t>
            </a:r>
          </a:p>
        </p:txBody>
      </p:sp>
      <p:sp>
        <p:nvSpPr>
          <p:cNvPr id="143" name="Rectangle 142"/>
          <p:cNvSpPr/>
          <p:nvPr/>
        </p:nvSpPr>
        <p:spPr>
          <a:xfrm>
            <a:off x="365760" y="1371600"/>
            <a:ext cx="566928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sp>
        <p:nvSpPr>
          <p:cNvPr id="144" name="Rectangle 143"/>
          <p:cNvSpPr/>
          <p:nvPr/>
        </p:nvSpPr>
        <p:spPr>
          <a:xfrm>
            <a:off x="365760" y="1371600"/>
            <a:ext cx="5669280" cy="329184"/>
          </a:xfrm>
          <a:prstGeom prst="rect">
            <a:avLst/>
          </a:prstGeom>
          <a:solidFill>
            <a:srgbClr val="2E5B3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Net Sales theo danh mục 2020 (nghìn USD)</a:t>
            </a:r>
          </a:p>
        </p:txBody>
      </p:sp>
      <p:graphicFrame>
        <p:nvGraphicFramePr>
          <p:cNvPr id="145" name="Chart 144"/>
          <p:cNvGraphicFramePr>
            <a:graphicFrameLocks noGrp="1"/>
          </p:cNvGraphicFramePr>
          <p:nvPr/>
        </p:nvGraphicFramePr>
        <p:xfrm>
          <a:off x="457200" y="1737360"/>
          <a:ext cx="5486400" cy="4160520"/>
        </p:xfrm>
        <a:graphic>
          <a:graphicData uri="http://schemas.openxmlformats.org/drawingml/2006/chart">
            <c:chart xmlns:c="http://schemas.openxmlformats.org/drawingml/2006/chart" r:id="rId3"/>
          </a:graphicData>
        </a:graphic>
      </p:graphicFrame>
      <p:sp>
        <p:nvSpPr>
          <p:cNvPr id="146" name="Rectangle 145"/>
          <p:cNvSpPr/>
          <p:nvPr/>
        </p:nvSpPr>
        <p:spPr>
          <a:xfrm>
            <a:off x="6263640" y="1371600"/>
            <a:ext cx="557784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7" name="Rectangle 146"/>
          <p:cNvSpPr/>
          <p:nvPr/>
        </p:nvSpPr>
        <p:spPr>
          <a:xfrm>
            <a:off x="6263640" y="1371600"/>
            <a:ext cx="5577840"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Tỷ lệ hoàn trả = Returns / Net Sales, 2020</a:t>
            </a:r>
          </a:p>
        </p:txBody>
      </p:sp>
      <p:graphicFrame>
        <p:nvGraphicFramePr>
          <p:cNvPr id="148" name="Chart 147"/>
          <p:cNvGraphicFramePr>
            <a:graphicFrameLocks noGrp="1"/>
          </p:cNvGraphicFramePr>
          <p:nvPr/>
        </p:nvGraphicFramePr>
        <p:xfrm>
          <a:off x="6355080" y="1737360"/>
          <a:ext cx="5394960" cy="4160520"/>
        </p:xfrm>
        <a:graphic>
          <a:graphicData uri="http://schemas.openxmlformats.org/drawingml/2006/chart">
            <c:chart xmlns:c="http://schemas.openxmlformats.org/drawingml/2006/chart" r:id="rId4"/>
          </a:graphicData>
        </a:graphic>
      </p:graphicFrame>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Khám phá dữ liệu</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Khuyến mãi và trạng thái đơn: doanh thu bị "bào mòn" ở đâu?</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Giảm giá năm </a:t>
            </a:r>
            <a:r>
              <a:rPr sz="1700" b="1" i="0">
                <a:solidFill>
                  <a:srgbClr val="222222"/>
                </a:solidFill>
                <a:latin typeface="Times New Roman"/>
                <a:ea typeface="Times New Roman"/>
                <a:cs typeface="Times New Roman"/>
              </a:rPr>
              <a:t>2020</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138.975 USD</a:t>
            </a:r>
            <a:r>
              <a:rPr sz="1700" b="0" i="0">
                <a:solidFill>
                  <a:srgbClr val="222222"/>
                </a:solidFill>
                <a:latin typeface="Times New Roman"/>
                <a:ea typeface="Times New Roman"/>
                <a:cs typeface="Times New Roman"/>
              </a:rPr>
              <a:t> (</a:t>
            </a:r>
            <a:r>
              <a:rPr sz="1700" b="1" i="0">
                <a:solidFill>
                  <a:srgbClr val="222222"/>
                </a:solidFill>
                <a:latin typeface="Times New Roman"/>
                <a:ea typeface="Times New Roman"/>
                <a:cs typeface="Times New Roman"/>
              </a:rPr>
              <a:t>1,5%</a:t>
            </a:r>
            <a:r>
              <a:rPr sz="1700" b="0" i="0">
                <a:solidFill>
                  <a:srgbClr val="222222"/>
                </a:solidFill>
                <a:latin typeface="Times New Roman"/>
                <a:ea typeface="Times New Roman"/>
                <a:cs typeface="Times New Roman"/>
              </a:rPr>
              <a:t> Gross Sales); đơn huỷ và đang giao phải loại</a:t>
            </a:r>
          </a:p>
        </p:txBody>
      </p:sp>
      <p:sp>
        <p:nvSpPr>
          <p:cNvPr id="143" name="Rectangle 142"/>
          <p:cNvSpPr/>
          <p:nvPr/>
        </p:nvSpPr>
        <p:spPr>
          <a:xfrm>
            <a:off x="365760" y="1371600"/>
            <a:ext cx="6035040"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sp>
        <p:nvSpPr>
          <p:cNvPr id="144" name="Rectangle 143"/>
          <p:cNvSpPr/>
          <p:nvPr/>
        </p:nvSpPr>
        <p:spPr>
          <a:xfrm>
            <a:off x="365760" y="1371600"/>
            <a:ext cx="6035040" cy="329184"/>
          </a:xfrm>
          <a:prstGeom prst="rect">
            <a:avLst/>
          </a:prstGeom>
          <a:solidFill>
            <a:srgbClr val="C55A11"/>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Giá trị giảm giá theo chương trình 2020 (nghìn USD)</a:t>
            </a:r>
          </a:p>
        </p:txBody>
      </p:sp>
      <p:graphicFrame>
        <p:nvGraphicFramePr>
          <p:cNvPr id="145" name="Chart 144"/>
          <p:cNvGraphicFramePr>
            <a:graphicFrameLocks noGrp="1"/>
          </p:cNvGraphicFramePr>
          <p:nvPr/>
        </p:nvGraphicFramePr>
        <p:xfrm>
          <a:off x="457200" y="1737360"/>
          <a:ext cx="5852160" cy="4160520"/>
        </p:xfrm>
        <a:graphic>
          <a:graphicData uri="http://schemas.openxmlformats.org/drawingml/2006/chart">
            <c:chart xmlns:c="http://schemas.openxmlformats.org/drawingml/2006/chart" r:id="rId3"/>
          </a:graphicData>
        </a:graphic>
      </p:graphicFrame>
      <p:sp>
        <p:nvSpPr>
          <p:cNvPr id="146" name="Rectangle 145"/>
          <p:cNvSpPr/>
          <p:nvPr/>
        </p:nvSpPr>
        <p:spPr>
          <a:xfrm>
            <a:off x="6629400" y="1371600"/>
            <a:ext cx="5212080" cy="283464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sp>
        <p:nvSpPr>
          <p:cNvPr id="147" name="Rectangle 146"/>
          <p:cNvSpPr/>
          <p:nvPr/>
        </p:nvSpPr>
        <p:spPr>
          <a:xfrm>
            <a:off x="6629400" y="1371600"/>
            <a:ext cx="5212080" cy="329184"/>
          </a:xfrm>
          <a:prstGeom prst="rect">
            <a:avLst/>
          </a:prstGeom>
          <a:solidFill>
            <a:srgbClr val="123A7A"/>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Số đơn theo trạng thái, toàn bộ dữ liệu</a:t>
            </a:r>
          </a:p>
        </p:txBody>
      </p:sp>
      <p:graphicFrame>
        <p:nvGraphicFramePr>
          <p:cNvPr id="148" name="Chart 147"/>
          <p:cNvGraphicFramePr>
            <a:graphicFrameLocks noGrp="1"/>
          </p:cNvGraphicFramePr>
          <p:nvPr/>
        </p:nvGraphicFramePr>
        <p:xfrm>
          <a:off x="6720840" y="1737360"/>
          <a:ext cx="5029200" cy="2377440"/>
        </p:xfrm>
        <a:graphic>
          <a:graphicData uri="http://schemas.openxmlformats.org/drawingml/2006/chart">
            <c:chart xmlns:c="http://schemas.openxmlformats.org/drawingml/2006/chart" r:id="rId4"/>
          </a:graphicData>
        </a:graphic>
      </p:graphicFrame>
      <p:sp>
        <p:nvSpPr>
          <p:cNvPr id="149" name="Rounded Rectangle 148"/>
          <p:cNvSpPr/>
          <p:nvPr/>
        </p:nvSpPr>
        <p:spPr>
          <a:xfrm>
            <a:off x="6629400" y="4343400"/>
            <a:ext cx="5212080" cy="164592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marL="182880" indent="-182880">
              <a:buFont typeface="Arial"/>
              <a:buChar char="•"/>
            </a:pPr>
            <a:r>
              <a:rPr sz="1300" b="1" i="0">
                <a:solidFill>
                  <a:srgbClr val="C55A11"/>
                </a:solidFill>
                <a:latin typeface="Times New Roman"/>
                <a:ea typeface="Times New Roman"/>
                <a:cs typeface="Times New Roman"/>
              </a:rPr>
              <a:t>18,8%</a:t>
            </a:r>
            <a:r>
              <a:rPr sz="1300" b="0" i="0">
                <a:solidFill>
                  <a:srgbClr val="222222"/>
                </a:solidFill>
                <a:latin typeface="Times New Roman"/>
                <a:ea typeface="Times New Roman"/>
                <a:cs typeface="Times New Roman"/>
              </a:rPr>
              <a:t> Gross Sales 2020 đến từ dòng có khuyến mãi</a:t>
            </a:r>
          </a:p>
          <a:p>
            <a:pPr algn="l" marL="182880" indent="-182880">
              <a:buFont typeface="Arial"/>
              <a:buChar char="•"/>
            </a:pPr>
            <a:r>
              <a:rPr sz="1300" b="0" i="0">
                <a:solidFill>
                  <a:srgbClr val="222222"/>
                </a:solidFill>
                <a:latin typeface="Times New Roman"/>
                <a:ea typeface="Times New Roman"/>
                <a:cs typeface="Times New Roman"/>
              </a:rPr>
              <a:t>Đơn PENDING đều là đơn online đặt sát ngày trích dữ liệu: tính nhầm → doanh thu cao hơn Finance</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 đồ measure: viết theo thứ tự, measure sau dùng lại measure trước</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Không viết lại công thức: </a:t>
            </a:r>
            <a:r>
              <a:rPr sz="1700" b="1" i="0">
                <a:solidFill>
                  <a:srgbClr val="123A7A"/>
                </a:solidFill>
                <a:latin typeface="Times New Roman"/>
                <a:ea typeface="Times New Roman"/>
                <a:cs typeface="Times New Roman"/>
              </a:rPr>
              <a:t>[Net Revenue] = [Net Sales] − [Returns]</a:t>
            </a:r>
            <a:r>
              <a:rPr sz="1700" b="0" i="0">
                <a:solidFill>
                  <a:srgbClr val="222222"/>
                </a:solidFill>
                <a:latin typeface="Times New Roman"/>
                <a:ea typeface="Times New Roman"/>
                <a:cs typeface="Times New Roman"/>
              </a:rPr>
              <a:t> – sửa một chỗ, đúng mọi nơi</a:t>
            </a:r>
          </a:p>
        </p:txBody>
      </p:sp>
      <p:sp>
        <p:nvSpPr>
          <p:cNvPr id="143" name="Rounded Rectangle 142"/>
          <p:cNvSpPr/>
          <p:nvPr/>
        </p:nvSpPr>
        <p:spPr>
          <a:xfrm>
            <a:off x="365760" y="1371600"/>
            <a:ext cx="2176272"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4" name="Rounded Rectangle 143"/>
          <p:cNvSpPr/>
          <p:nvPr/>
        </p:nvSpPr>
        <p:spPr>
          <a:xfrm>
            <a:off x="365760" y="1371600"/>
            <a:ext cx="2176272" cy="50292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1 · Doanh thu</a:t>
            </a:r>
          </a:p>
        </p:txBody>
      </p:sp>
      <p:sp>
        <p:nvSpPr>
          <p:cNvPr id="145" name="Rounded Rectangle 144"/>
          <p:cNvSpPr/>
          <p:nvPr/>
        </p:nvSpPr>
        <p:spPr>
          <a:xfrm>
            <a:off x="502920"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Gross Sales</a:t>
            </a:r>
          </a:p>
        </p:txBody>
      </p:sp>
      <p:sp>
        <p:nvSpPr>
          <p:cNvPr id="146" name="Rounded Rectangle 145"/>
          <p:cNvSpPr/>
          <p:nvPr/>
        </p:nvSpPr>
        <p:spPr>
          <a:xfrm>
            <a:off x="502920"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Discounts</a:t>
            </a:r>
          </a:p>
        </p:txBody>
      </p:sp>
      <p:sp>
        <p:nvSpPr>
          <p:cNvPr id="147" name="Rounded Rectangle 146"/>
          <p:cNvSpPr/>
          <p:nvPr/>
        </p:nvSpPr>
        <p:spPr>
          <a:xfrm>
            <a:off x="502920"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Sales</a:t>
            </a:r>
          </a:p>
        </p:txBody>
      </p:sp>
      <p:sp>
        <p:nvSpPr>
          <p:cNvPr id="148" name="Rounded Rectangle 147"/>
          <p:cNvSpPr/>
          <p:nvPr/>
        </p:nvSpPr>
        <p:spPr>
          <a:xfrm>
            <a:off x="502920"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Returns</a:t>
            </a:r>
          </a:p>
        </p:txBody>
      </p:sp>
      <p:sp>
        <p:nvSpPr>
          <p:cNvPr id="149" name="Rounded Rectangle 148"/>
          <p:cNvSpPr/>
          <p:nvPr/>
        </p:nvSpPr>
        <p:spPr>
          <a:xfrm>
            <a:off x="502920"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2E5B31"/>
                </a:solidFill>
                <a:latin typeface="Times New Roman"/>
                <a:ea typeface="Times New Roman"/>
                <a:cs typeface="Times New Roman"/>
              </a:rPr>
              <a:t>Net Revenue</a:t>
            </a:r>
          </a:p>
        </p:txBody>
      </p:sp>
      <p:sp>
        <p:nvSpPr>
          <p:cNvPr id="150" name="Right Arrow 149"/>
          <p:cNvSpPr/>
          <p:nvPr/>
        </p:nvSpPr>
        <p:spPr>
          <a:xfrm>
            <a:off x="2551176"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1" name="Rounded Rectangle 150"/>
          <p:cNvSpPr/>
          <p:nvPr/>
        </p:nvSpPr>
        <p:spPr>
          <a:xfrm>
            <a:off x="2679191" y="1371600"/>
            <a:ext cx="2176272" cy="4617720"/>
          </a:xfrm>
          <a:prstGeom prst="roundRect">
            <a:avLst>
              <a:gd name="adj" fmla="val 6000"/>
            </a:avLst>
          </a:prstGeom>
          <a:solidFill>
            <a:srgbClr val="FFFFFF"/>
          </a:solidFill>
          <a:ln w="19050">
            <a:solidFill>
              <a:srgbClr val="0F6E56"/>
            </a:solidFill>
          </a:ln>
          <a:effectLst/>
        </p:spPr>
        <p:txBody>
          <a:bodyPr rtlCol="0" anchor="ctr" wrap="square" lIns="73152" tIns="36576" rIns="73152" bIns="36576"/>
          <a:lstStyle/>
          <a:p>
            <a:pPr algn="ctr"/>
          </a:p>
        </p:txBody>
      </p:sp>
      <p:sp>
        <p:nvSpPr>
          <p:cNvPr id="152" name="Rounded Rectangle 151"/>
          <p:cNvSpPr/>
          <p:nvPr/>
        </p:nvSpPr>
        <p:spPr>
          <a:xfrm>
            <a:off x="2679191" y="1371600"/>
            <a:ext cx="2176272" cy="502920"/>
          </a:xfrm>
          <a:prstGeom prst="roundRect">
            <a:avLst>
              <a:gd name="adj" fmla="val 15000"/>
            </a:avLst>
          </a:prstGeom>
          <a:solidFill>
            <a:srgbClr val="0F6E56"/>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2 · Đơn &amp; giá</a:t>
            </a:r>
          </a:p>
        </p:txBody>
      </p:sp>
      <p:sp>
        <p:nvSpPr>
          <p:cNvPr id="153" name="Rounded Rectangle 152"/>
          <p:cNvSpPr/>
          <p:nvPr/>
        </p:nvSpPr>
        <p:spPr>
          <a:xfrm>
            <a:off x="2816351"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Orders</a:t>
            </a:r>
          </a:p>
        </p:txBody>
      </p:sp>
      <p:sp>
        <p:nvSpPr>
          <p:cNvPr id="154" name="Rounded Rectangle 153"/>
          <p:cNvSpPr/>
          <p:nvPr/>
        </p:nvSpPr>
        <p:spPr>
          <a:xfrm>
            <a:off x="2816351"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Units</a:t>
            </a:r>
          </a:p>
        </p:txBody>
      </p:sp>
      <p:sp>
        <p:nvSpPr>
          <p:cNvPr id="155" name="Rounded Rectangle 154"/>
          <p:cNvSpPr/>
          <p:nvPr/>
        </p:nvSpPr>
        <p:spPr>
          <a:xfrm>
            <a:off x="2816351"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AOV</a:t>
            </a:r>
          </a:p>
        </p:txBody>
      </p:sp>
      <p:sp>
        <p:nvSpPr>
          <p:cNvPr id="156" name="Rounded Rectangle 155"/>
          <p:cNvSpPr/>
          <p:nvPr/>
        </p:nvSpPr>
        <p:spPr>
          <a:xfrm>
            <a:off x="2816351"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ASP</a:t>
            </a:r>
          </a:p>
        </p:txBody>
      </p:sp>
      <p:sp>
        <p:nvSpPr>
          <p:cNvPr id="157" name="Rounded Rectangle 156"/>
          <p:cNvSpPr/>
          <p:nvPr/>
        </p:nvSpPr>
        <p:spPr>
          <a:xfrm>
            <a:off x="2816351"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0F6E56"/>
                </a:solidFill>
                <a:latin typeface="Times New Roman"/>
                <a:ea typeface="Times New Roman"/>
                <a:cs typeface="Times New Roman"/>
              </a:rPr>
              <a:t>Return Rate</a:t>
            </a:r>
          </a:p>
        </p:txBody>
      </p:sp>
      <p:sp>
        <p:nvSpPr>
          <p:cNvPr id="158" name="Right Arrow 157"/>
          <p:cNvSpPr/>
          <p:nvPr/>
        </p:nvSpPr>
        <p:spPr>
          <a:xfrm>
            <a:off x="4864608"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59" name="Rounded Rectangle 158"/>
          <p:cNvSpPr/>
          <p:nvPr/>
        </p:nvSpPr>
        <p:spPr>
          <a:xfrm>
            <a:off x="4992624" y="1371600"/>
            <a:ext cx="2176272"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60" name="Rounded Rectangle 159"/>
          <p:cNvSpPr/>
          <p:nvPr/>
        </p:nvSpPr>
        <p:spPr>
          <a:xfrm>
            <a:off x="4992624" y="1371600"/>
            <a:ext cx="2176272" cy="50292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3 · Thời gian</a:t>
            </a:r>
          </a:p>
        </p:txBody>
      </p:sp>
      <p:sp>
        <p:nvSpPr>
          <p:cNvPr id="161" name="Rounded Rectangle 160"/>
          <p:cNvSpPr/>
          <p:nvPr/>
        </p:nvSpPr>
        <p:spPr>
          <a:xfrm>
            <a:off x="5129784"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LM</a:t>
            </a:r>
          </a:p>
        </p:txBody>
      </p:sp>
      <p:sp>
        <p:nvSpPr>
          <p:cNvPr id="162" name="Rounded Rectangle 161"/>
          <p:cNvSpPr/>
          <p:nvPr/>
        </p:nvSpPr>
        <p:spPr>
          <a:xfrm>
            <a:off x="5129784"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SPLY</a:t>
            </a:r>
          </a:p>
        </p:txBody>
      </p:sp>
      <p:sp>
        <p:nvSpPr>
          <p:cNvPr id="163" name="Rounded Rectangle 162"/>
          <p:cNvSpPr/>
          <p:nvPr/>
        </p:nvSpPr>
        <p:spPr>
          <a:xfrm>
            <a:off x="5129784"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YTD</a:t>
            </a:r>
          </a:p>
        </p:txBody>
      </p:sp>
      <p:sp>
        <p:nvSpPr>
          <p:cNvPr id="164" name="Rounded Rectangle 163"/>
          <p:cNvSpPr/>
          <p:nvPr/>
        </p:nvSpPr>
        <p:spPr>
          <a:xfrm>
            <a:off x="5129784"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vs LM</a:t>
            </a:r>
          </a:p>
        </p:txBody>
      </p:sp>
      <p:sp>
        <p:nvSpPr>
          <p:cNvPr id="165" name="Rounded Rectangle 164"/>
          <p:cNvSpPr/>
          <p:nvPr/>
        </p:nvSpPr>
        <p:spPr>
          <a:xfrm>
            <a:off x="5129784"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55A11"/>
                </a:solidFill>
                <a:latin typeface="Times New Roman"/>
                <a:ea typeface="Times New Roman"/>
                <a:cs typeface="Times New Roman"/>
              </a:rPr>
              <a:t>% vs SPLY</a:t>
            </a:r>
          </a:p>
        </p:txBody>
      </p:sp>
      <p:sp>
        <p:nvSpPr>
          <p:cNvPr id="166" name="Right Arrow 165"/>
          <p:cNvSpPr/>
          <p:nvPr/>
        </p:nvSpPr>
        <p:spPr>
          <a:xfrm>
            <a:off x="7178040"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67" name="Rounded Rectangle 166"/>
          <p:cNvSpPr/>
          <p:nvPr/>
        </p:nvSpPr>
        <p:spPr>
          <a:xfrm>
            <a:off x="7306056" y="1371600"/>
            <a:ext cx="2176272"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68" name="Rounded Rectangle 167"/>
          <p:cNvSpPr/>
          <p:nvPr/>
        </p:nvSpPr>
        <p:spPr>
          <a:xfrm>
            <a:off x="7306056" y="1371600"/>
            <a:ext cx="2176272" cy="50292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4 · Finance</a:t>
            </a:r>
          </a:p>
        </p:txBody>
      </p:sp>
      <p:sp>
        <p:nvSpPr>
          <p:cNvPr id="169" name="Rounded Rectangle 168"/>
          <p:cNvSpPr/>
          <p:nvPr/>
        </p:nvSpPr>
        <p:spPr>
          <a:xfrm>
            <a:off x="7443216"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Finance Net Revenue</a:t>
            </a:r>
          </a:p>
        </p:txBody>
      </p:sp>
      <p:sp>
        <p:nvSpPr>
          <p:cNvPr id="170" name="Rounded Rectangle 169"/>
          <p:cNvSpPr/>
          <p:nvPr/>
        </p:nvSpPr>
        <p:spPr>
          <a:xfrm>
            <a:off x="7443216"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a:t>
            </a:r>
          </a:p>
        </p:txBody>
      </p:sp>
      <p:sp>
        <p:nvSpPr>
          <p:cNvPr id="171" name="Rounded Rectangle 170"/>
          <p:cNvSpPr/>
          <p:nvPr/>
        </p:nvSpPr>
        <p:spPr>
          <a:xfrm>
            <a:off x="7443216"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Δ Finance %</a:t>
            </a:r>
          </a:p>
        </p:txBody>
      </p:sp>
      <p:sp>
        <p:nvSpPr>
          <p:cNvPr id="172" name="Rounded Rectangle 171"/>
          <p:cNvSpPr/>
          <p:nvPr/>
        </p:nvSpPr>
        <p:spPr>
          <a:xfrm>
            <a:off x="7443216" y="434340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Cờ vượt ngưỡng</a:t>
            </a:r>
          </a:p>
        </p:txBody>
      </p:sp>
      <p:sp>
        <p:nvSpPr>
          <p:cNvPr id="173" name="Rounded Rectangle 172"/>
          <p:cNvSpPr/>
          <p:nvPr/>
        </p:nvSpPr>
        <p:spPr>
          <a:xfrm>
            <a:off x="7443216" y="512064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123A7A"/>
                </a:solidFill>
                <a:latin typeface="Times New Roman"/>
                <a:ea typeface="Times New Roman"/>
                <a:cs typeface="Times New Roman"/>
              </a:rPr>
              <a:t>Số ô vượt ngưỡng</a:t>
            </a:r>
          </a:p>
        </p:txBody>
      </p:sp>
      <p:sp>
        <p:nvSpPr>
          <p:cNvPr id="174" name="Right Arrow 173"/>
          <p:cNvSpPr/>
          <p:nvPr/>
        </p:nvSpPr>
        <p:spPr>
          <a:xfrm>
            <a:off x="9491472" y="3520440"/>
            <a:ext cx="128016" cy="320040"/>
          </a:xfrm>
          <a:prstGeom prst="rightArrow">
            <a:avLst/>
          </a:prstGeom>
          <a:solidFill>
            <a:srgbClr val="595959"/>
          </a:solidFill>
          <a:ln>
            <a:noFill/>
          </a:ln>
          <a:effectLst/>
        </p:spPr>
        <p:txBody>
          <a:bodyPr rtlCol="0" anchor="ctr" wrap="square" lIns="73152" tIns="36576" rIns="73152" bIns="36576"/>
          <a:lstStyle/>
          <a:p>
            <a:pPr algn="ctr"/>
          </a:p>
        </p:txBody>
      </p:sp>
      <p:sp>
        <p:nvSpPr>
          <p:cNvPr id="175" name="Rounded Rectangle 174"/>
          <p:cNvSpPr/>
          <p:nvPr/>
        </p:nvSpPr>
        <p:spPr>
          <a:xfrm>
            <a:off x="9619488" y="1371600"/>
            <a:ext cx="2176272"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76" name="Rounded Rectangle 175"/>
          <p:cNvSpPr/>
          <p:nvPr/>
        </p:nvSpPr>
        <p:spPr>
          <a:xfrm>
            <a:off x="9619488" y="1371600"/>
            <a:ext cx="2176272" cy="50292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5 · Quy đổi online</a:t>
            </a:r>
          </a:p>
        </p:txBody>
      </p:sp>
      <p:sp>
        <p:nvSpPr>
          <p:cNvPr id="177" name="Rounded Rectangle 176"/>
          <p:cNvSpPr/>
          <p:nvPr/>
        </p:nvSpPr>
        <p:spPr>
          <a:xfrm>
            <a:off x="9756648" y="201168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(ngày giao)</a:t>
            </a:r>
          </a:p>
        </p:txBody>
      </p:sp>
      <p:sp>
        <p:nvSpPr>
          <p:cNvPr id="178" name="Rounded Rectangle 177"/>
          <p:cNvSpPr/>
          <p:nvPr/>
        </p:nvSpPr>
        <p:spPr>
          <a:xfrm>
            <a:off x="9756648" y="278892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Net Sales (cơ sở Finance)</a:t>
            </a:r>
          </a:p>
        </p:txBody>
      </p:sp>
      <p:sp>
        <p:nvSpPr>
          <p:cNvPr id="179" name="Rounded Rectangle 178"/>
          <p:cNvSpPr/>
          <p:nvPr/>
        </p:nvSpPr>
        <p:spPr>
          <a:xfrm>
            <a:off x="9756648" y="3566160"/>
            <a:ext cx="1901952" cy="594360"/>
          </a:xfrm>
          <a:prstGeom prst="roundRect">
            <a:avLst>
              <a:gd name="adj" fmla="val 15000"/>
            </a:avLst>
          </a:prstGeom>
          <a:solidFill>
            <a:srgbClr val="F2F2F2"/>
          </a:solidFill>
          <a:ln>
            <a:noFill/>
          </a:ln>
          <a:effectLst/>
        </p:spPr>
        <p:txBody>
          <a:bodyPr rtlCol="0" anchor="ctr" wrap="square" lIns="73152" tIns="36576" rIns="73152" bIns="36576"/>
          <a:lstStyle/>
          <a:p>
            <a:pPr algn="ctr">
              <a:buNone/>
            </a:pPr>
            <a:r>
              <a:rPr sz="1300" b="1" i="0">
                <a:solidFill>
                  <a:srgbClr val="C00000"/>
                </a:solidFill>
                <a:latin typeface="Times New Roman"/>
                <a:ea typeface="Times New Roman"/>
                <a:cs typeface="Times New Roman"/>
              </a:rPr>
              <a:t>Δ sau quy đổi</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doanh thu: từ Gross Sales đến Net Revenue</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Lọc </a:t>
            </a:r>
            <a:r>
              <a:rPr sz="1700" b="1" i="0">
                <a:solidFill>
                  <a:srgbClr val="2E5B31"/>
                </a:solidFill>
                <a:latin typeface="Times New Roman"/>
                <a:ea typeface="Times New Roman"/>
                <a:cs typeface="Times New Roman"/>
              </a:rPr>
              <a:t>order_status = "COMPLETED"</a:t>
            </a:r>
            <a:r>
              <a:rPr sz="1700" b="0" i="0">
                <a:solidFill>
                  <a:srgbClr val="222222"/>
                </a:solidFill>
                <a:latin typeface="Times New Roman"/>
                <a:ea typeface="Times New Roman"/>
                <a:cs typeface="Times New Roman"/>
              </a:rPr>
              <a:t> ngay trong measure; Returns dùng quan hệ ngày trả hàng của fact_return</a:t>
            </a:r>
          </a:p>
        </p:txBody>
      </p:sp>
      <p:sp>
        <p:nvSpPr>
          <p:cNvPr id="143" name="Rounded Rectangle 142"/>
          <p:cNvSpPr/>
          <p:nvPr/>
        </p:nvSpPr>
        <p:spPr>
          <a:xfrm>
            <a:off x="365760" y="1371600"/>
            <a:ext cx="694944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Gross Sales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SUMX</a:t>
            </a:r>
            <a:r>
              <a:rPr sz="1300" b="0" i="0">
                <a:solidFill>
                  <a:srgbClr val="24292F"/>
                </a:solidFill>
                <a:latin typeface="Courier New"/>
                <a:ea typeface="Courier New"/>
                <a:cs typeface="Courier New"/>
              </a:rPr>
              <a:t> ( fact_sales_line,</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fact_sales_line[unit_price]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Discounts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fact_sales_line[discount_amount]</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 </a:t>
            </a:r>
            <a:r>
              <a:rPr sz="1300" b="0" i="0">
                <a:solidFill>
                  <a:srgbClr val="0F6E56"/>
                </a:solidFill>
                <a:latin typeface="Courier New"/>
                <a:ea typeface="Courier New"/>
                <a:cs typeface="Courier New"/>
              </a:rPr>
              <a:t>[Gross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[Discounts]</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Returns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fact_return[return_amount]</a:t>
            </a:r>
            <a:r>
              <a:rPr sz="1300" b="0" i="0">
                <a:solidFill>
                  <a:srgbClr val="24292F"/>
                </a:solidFill>
                <a:latin typeface="Courier New"/>
                <a:ea typeface="Courier New"/>
                <a:cs typeface="Courier New"/>
              </a:rPr>
              <a:t> )   </a:t>
            </a:r>
            <a:r>
              <a:rPr sz="1300" b="0" i="1">
                <a:solidFill>
                  <a:srgbClr val="6A737D"/>
                </a:solidFill>
                <a:latin typeface="Courier New"/>
                <a:ea typeface="Courier New"/>
                <a:cs typeface="Courier New"/>
              </a:rPr>
              <a:t>// theo return_date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Revenue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p>
        </p:txBody>
      </p:sp>
      <p:sp>
        <p:nvSpPr>
          <p:cNvPr id="144" name="Rounded Rectangle 143"/>
          <p:cNvSpPr/>
          <p:nvPr/>
        </p:nvSpPr>
        <p:spPr>
          <a:xfrm>
            <a:off x="7543800" y="1371600"/>
            <a:ext cx="42976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543800" y="1371600"/>
            <a:ext cx="42976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635240" y="1920240"/>
            <a:ext cx="4114800" cy="4023360"/>
          </a:xfrm>
          <a:prstGeom prst="rect">
            <a:avLst/>
          </a:prstGeom>
          <a:noFill/>
        </p:spPr>
        <p:txBody>
          <a:bodyPr wrap="square" lIns="45720" tIns="27432" rIns="45720" bIns="27432" anchor="t"/>
          <a:lstStyle/>
          <a:p>
            <a:pPr algn="l" marL="182880" indent="-182880">
              <a:spcAft>
                <a:spcPts val="600"/>
              </a:spcAft>
              <a:buFont typeface="Arial"/>
              <a:buChar char="•"/>
            </a:pPr>
            <a:r>
              <a:rPr sz="1300" b="1" i="0">
                <a:solidFill>
                  <a:srgbClr val="222222"/>
                </a:solidFill>
                <a:latin typeface="Times New Roman"/>
                <a:ea typeface="Times New Roman"/>
                <a:cs typeface="Times New Roman"/>
              </a:rPr>
              <a:t>SUMX</a:t>
            </a:r>
            <a:r>
              <a:rPr sz="1300" b="0" i="0">
                <a:solidFill>
                  <a:srgbClr val="222222"/>
                </a:solidFill>
                <a:latin typeface="Times New Roman"/>
                <a:ea typeface="Times New Roman"/>
                <a:cs typeface="Times New Roman"/>
              </a:rPr>
              <a:t> nhân quantity × unit_price từng dòng rồi mới cộng</a:t>
            </a:r>
          </a:p>
          <a:p>
            <a:pPr algn="l" marL="182880" indent="-182880">
              <a:spcAft>
                <a:spcPts val="600"/>
              </a:spcAft>
              <a:buFont typeface="Arial"/>
              <a:buChar char="•"/>
            </a:pPr>
            <a:r>
              <a:rPr sz="1300" b="1" i="0">
                <a:solidFill>
                  <a:srgbClr val="222222"/>
                </a:solidFill>
                <a:latin typeface="Times New Roman"/>
                <a:ea typeface="Times New Roman"/>
                <a:cs typeface="Times New Roman"/>
              </a:rPr>
              <a:t>CALCULATE</a:t>
            </a:r>
            <a:r>
              <a:rPr sz="1300" b="0" i="0">
                <a:solidFill>
                  <a:srgbClr val="222222"/>
                </a:solidFill>
                <a:latin typeface="Times New Roman"/>
                <a:ea typeface="Times New Roman"/>
                <a:cs typeface="Times New Roman"/>
              </a:rPr>
              <a:t> thêm điều kiện COMPLETED cho mọi visual</a:t>
            </a:r>
          </a:p>
          <a:p>
            <a:pPr algn="l" marL="182880" indent="-182880">
              <a:spcAft>
                <a:spcPts val="600"/>
              </a:spcAft>
              <a:buFont typeface="Arial"/>
              <a:buChar char="•"/>
            </a:pPr>
            <a:r>
              <a:rPr sz="1300" b="0" i="0">
                <a:solidFill>
                  <a:srgbClr val="222222"/>
                </a:solidFill>
                <a:latin typeface="Times New Roman"/>
                <a:ea typeface="Times New Roman"/>
                <a:cs typeface="Times New Roman"/>
              </a:rPr>
              <a:t>Returns không lọc trạng thái: mọi dòng trả hàng đều thuộc đơn COMPLETED (QC đã kiểm)</a:t>
            </a:r>
          </a:p>
          <a:p>
            <a:pPr algn="l" marL="182880" indent="-182880">
              <a:buFont typeface="Arial"/>
              <a:buChar char="•"/>
            </a:pPr>
            <a:r>
              <a:rPr sz="1300" b="1" i="0">
                <a:solidFill>
                  <a:srgbClr val="222222"/>
                </a:solidFill>
                <a:latin typeface="Times New Roman"/>
                <a:ea typeface="Times New Roman"/>
                <a:cs typeface="Times New Roman"/>
              </a:rPr>
              <a:t>Kiểm chứng </a:t>
            </a:r>
            <a:r>
              <a:rPr sz="1300" b="0" i="0">
                <a:solidFill>
                  <a:srgbClr val="222222"/>
                </a:solidFill>
                <a:latin typeface="Times New Roman"/>
                <a:ea typeface="Times New Roman"/>
                <a:cs typeface="Times New Roman"/>
              </a:rPr>
              <a:t>12/2020: </a:t>
            </a:r>
            <a:r>
              <a:rPr sz="1300" b="0" i="0">
                <a:solidFill>
                  <a:srgbClr val="222222"/>
                </a:solidFill>
                <a:latin typeface="Times New Roman"/>
                <a:ea typeface="Times New Roman"/>
                <a:cs typeface="Times New Roman"/>
              </a:rPr>
              <a:t>Gross 640.551,11 − Discounts 24.739,37 = Net Sales 615.811,74; − Returns 9.686,67 = Net Revenue 606.125,07 USD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nhóm đơn hàng, giá và so sánh thời gian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1" i="0">
                <a:solidFill>
                  <a:srgbClr val="123A7A"/>
                </a:solidFill>
                <a:latin typeface="Times New Roman"/>
                <a:ea typeface="Times New Roman"/>
                <a:cs typeface="Times New Roman"/>
              </a:rPr>
              <a:t>DIVIDE</a:t>
            </a:r>
            <a:r>
              <a:rPr sz="1700" b="0" i="0">
                <a:solidFill>
                  <a:srgbClr val="222222"/>
                </a:solidFill>
                <a:latin typeface="Times New Roman"/>
                <a:ea typeface="Times New Roman"/>
                <a:cs typeface="Times New Roman"/>
              </a:rPr>
              <a:t> thay cho dấu /; time intelligence cần </a:t>
            </a:r>
            <a:r>
              <a:rPr sz="1700" b="1" i="0">
                <a:solidFill>
                  <a:srgbClr val="123A7A"/>
                </a:solidFill>
                <a:latin typeface="Times New Roman"/>
                <a:ea typeface="Times New Roman"/>
                <a:cs typeface="Times New Roman"/>
              </a:rPr>
              <a:t>dim_date đã Mark as date table</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Orders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DISTINCTCOUNT</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fact_sales_line[order_number]</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Units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fact_sales_line[quantity]</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fact_sales_line[order_status]</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"COMPLETED"</a:t>
            </a:r>
          </a:p>
          <a:p>
            <a:pPr algn="l">
              <a:buNone/>
            </a:pP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AOV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[Orders]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ASP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[Units]</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Return Rate = </a:t>
            </a: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2461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Net Revenue LM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DATEADD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-1, MONTH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SPLY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SAMEPERIODLASTYEAR</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Net Revenue YTD =</a:t>
            </a:r>
          </a:p>
          <a:p>
            <a:pPr algn="l">
              <a:buNone/>
            </a:pPr>
            <a:r>
              <a:rPr sz="1200" b="1" i="0">
                <a:solidFill>
                  <a:srgbClr val="0550AE"/>
                </a:solidFill>
                <a:latin typeface="Courier New"/>
                <a:ea typeface="Courier New"/>
                <a:cs typeface="Courier New"/>
              </a:rPr>
              <a:t>CALCULATE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DATESYTD</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dim_date[date]</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vs LM = </a:t>
            </a:r>
            <a:r>
              <a:rPr sz="1200" b="1" i="0">
                <a:solidFill>
                  <a:srgbClr val="0550AE"/>
                </a:solidFill>
                <a:latin typeface="Courier New"/>
                <a:ea typeface="Courier New"/>
                <a:cs typeface="Courier New"/>
              </a:rPr>
              <a:t>DIVIDE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a:t>
            </a:r>
          </a:p>
          <a:p>
            <a:pPr algn="l">
              <a:buNone/>
            </a:pPr>
            <a:r>
              <a:rPr sz="1200" b="0" i="0">
                <a:solidFill>
                  <a:srgbClr val="24292F"/>
                </a:solidFill>
                <a:latin typeface="Courier New"/>
                <a:ea typeface="Courier New"/>
                <a:cs typeface="Courier New"/>
              </a:rPr>
              <a:t>                   </a:t>
            </a:r>
            <a:r>
              <a:rPr sz="1200" b="0" i="0">
                <a:solidFill>
                  <a:srgbClr val="0F6E56"/>
                </a:solidFill>
                <a:latin typeface="Courier New"/>
                <a:ea typeface="Courier New"/>
                <a:cs typeface="Courier New"/>
              </a:rPr>
              <a:t>[Net Revenue LM]</a:t>
            </a:r>
            <a:r>
              <a:rPr sz="1200" b="0" i="0">
                <a:solidFill>
                  <a:srgbClr val="24292F"/>
                </a:solidFill>
                <a:latin typeface="Courier New"/>
                <a:ea typeface="Courier New"/>
                <a:cs typeface="Courier New"/>
              </a:rPr>
              <a:t> )</a:t>
            </a:r>
          </a:p>
        </p:txBody>
      </p:sp>
      <p:sp>
        <p:nvSpPr>
          <p:cNvPr id="145" name="Rounded Rectangle 144"/>
          <p:cNvSpPr/>
          <p:nvPr/>
        </p:nvSpPr>
        <p:spPr>
          <a:xfrm>
            <a:off x="6217920" y="4754880"/>
            <a:ext cx="5623560" cy="1234440"/>
          </a:xfrm>
          <a:prstGeom prst="roundRect">
            <a:avLst>
              <a:gd name="adj" fmla="val 6000"/>
            </a:avLst>
          </a:prstGeom>
          <a:solidFill>
            <a:srgbClr val="DEEAF6"/>
          </a:solidFill>
          <a:ln w="15875">
            <a:solidFill>
              <a:srgbClr val="123A7A"/>
            </a:solidFill>
          </a:ln>
          <a:effectLst/>
        </p:spPr>
        <p:txBody>
          <a:bodyPr rtlCol="0" anchor="ctr" wrap="square" lIns="137160" tIns="36576" rIns="137160" bIns="36576"/>
          <a:lstStyle/>
          <a:p>
            <a:pPr algn="l">
              <a:buNone/>
            </a:pPr>
            <a:r>
              <a:rPr sz="1300" b="1" i="0">
                <a:solidFill>
                  <a:srgbClr val="123A7A"/>
                </a:solidFill>
                <a:latin typeface="Times New Roman"/>
                <a:ea typeface="Times New Roman"/>
                <a:cs typeface="Times New Roman"/>
              </a:rPr>
              <a:t>Kiểm chứng 12/2020: </a:t>
            </a:r>
            <a:r>
              <a:rPr sz="1300" b="0" i="0">
                <a:solidFill>
                  <a:srgbClr val="222222"/>
                </a:solidFill>
                <a:latin typeface="Times New Roman"/>
                <a:ea typeface="Times New Roman"/>
                <a:cs typeface="Times New Roman"/>
              </a:rPr>
              <a:t>Net Revenue 606.125, LM 238.037 → +154,6%; SPLY 2.263.415 → −73,2%; YTD 8.732.748 USD</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đối soát: Finance Net Revenue, Δ, Δ% và cờ vượt ngưỡng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Cờ xét ở </a:t>
            </a:r>
            <a:r>
              <a:rPr sz="1700" b="1" i="0">
                <a:solidFill>
                  <a:srgbClr val="C00000"/>
                </a:solidFill>
                <a:latin typeface="Times New Roman"/>
                <a:ea typeface="Times New Roman"/>
                <a:cs typeface="Times New Roman"/>
              </a:rPr>
              <a:t>tháng × cửa hàng</a:t>
            </a:r>
            <a:r>
              <a:rPr sz="1700" b="0" i="0">
                <a:solidFill>
                  <a:srgbClr val="222222"/>
                </a:solidFill>
                <a:latin typeface="Times New Roman"/>
                <a:ea typeface="Times New Roman"/>
                <a:cs typeface="Times New Roman"/>
              </a:rPr>
              <a:t>: dùng SUMX qua từng ô thay vì so tổng của cả bảng</a:t>
            </a:r>
          </a:p>
        </p:txBody>
      </p:sp>
      <p:sp>
        <p:nvSpPr>
          <p:cNvPr id="143" name="Rounded Rectangle 142"/>
          <p:cNvSpPr/>
          <p:nvPr/>
        </p:nvSpPr>
        <p:spPr>
          <a:xfrm>
            <a:off x="365760" y="1371600"/>
            <a:ext cx="566928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Finance Net Revenue =               </a:t>
            </a:r>
            <a:r>
              <a:rPr sz="1300" b="0" i="1">
                <a:solidFill>
                  <a:srgbClr val="6A737D"/>
                </a:solidFill>
                <a:latin typeface="Courier New"/>
                <a:ea typeface="Courier New"/>
                <a:cs typeface="Courier New"/>
              </a:rPr>
              <a:t>// bỏ HQ-ADJ</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SUM</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fact_finance[net_revenue]</a:t>
            </a: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    NOT </a:t>
            </a:r>
            <a:r>
              <a:rPr sz="1300" b="1" i="0">
                <a:solidFill>
                  <a:srgbClr val="0550AE"/>
                </a:solidFill>
                <a:latin typeface="Courier New"/>
                <a:ea typeface="Courier New"/>
                <a:cs typeface="Courier New"/>
              </a:rPr>
              <a:t>ISBLANK</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fact_finance[store_key]</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Revenue]</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Finance % =</a:t>
            </a:r>
          </a:p>
          <a:p>
            <a:pPr algn="l">
              <a:buNone/>
            </a:pPr>
            <a:r>
              <a:rPr sz="1300" b="1" i="0">
                <a:solidFill>
                  <a:srgbClr val="0550AE"/>
                </a:solidFill>
                <a:latin typeface="Courier New"/>
                <a:ea typeface="Courier New"/>
                <a:cs typeface="Courier New"/>
              </a:rPr>
              <a:t>DIVIDE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Cờ vượt ngưỡng =</a:t>
            </a:r>
          </a:p>
          <a:p>
            <a:pPr algn="l">
              <a:buNone/>
            </a:pPr>
            <a:r>
              <a:rPr sz="1300" b="1" i="0">
                <a:solidFill>
                  <a:srgbClr val="0550AE"/>
                </a:solidFill>
                <a:latin typeface="Courier New"/>
                <a:ea typeface="Courier New"/>
                <a:cs typeface="Courier New"/>
              </a:rPr>
              <a:t>IF</a:t>
            </a:r>
            <a:r>
              <a:rPr sz="1300" b="0" i="0">
                <a:solidFill>
                  <a:srgbClr val="24292F"/>
                </a:solidFill>
                <a:latin typeface="Courier New"/>
                <a:ea typeface="Courier New"/>
                <a:cs typeface="Courier New"/>
              </a:rPr>
              <a:t> (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a:t>
            </a:r>
            <a:r>
              <a:rPr sz="1300" b="0" i="0">
                <a:solidFill>
                  <a:srgbClr val="24292F"/>
                </a:solidFill>
                <a:latin typeface="Courier New"/>
                <a:ea typeface="Courier New"/>
                <a:cs typeface="Courier New"/>
              </a:rPr>
              <a:t> ) &gt; 200</a:t>
            </a:r>
          </a:p>
          <a:p>
            <a:pPr algn="l">
              <a:buNone/>
            </a:pPr>
            <a:r>
              <a:rPr sz="1300" b="0" i="0">
                <a:solidFill>
                  <a:srgbClr val="24292F"/>
                </a:solidFill>
                <a:latin typeface="Courier New"/>
                <a:ea typeface="Courier New"/>
                <a:cs typeface="Courier New"/>
              </a:rPr>
              <a:t>        &amp;&amp; </a:t>
            </a:r>
            <a:r>
              <a:rPr sz="1300" b="1" i="0">
                <a:solidFill>
                  <a:srgbClr val="0550AE"/>
                </a:solidFill>
                <a:latin typeface="Courier New"/>
                <a:ea typeface="Courier New"/>
                <a:cs typeface="Courier New"/>
              </a:rPr>
              <a:t>ABS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[Δ Finance %]</a:t>
            </a:r>
            <a:r>
              <a:rPr sz="1300" b="0" i="0">
                <a:solidFill>
                  <a:srgbClr val="24292F"/>
                </a:solidFill>
                <a:latin typeface="Courier New"/>
                <a:ea typeface="Courier New"/>
                <a:cs typeface="Courier New"/>
              </a:rPr>
              <a:t> ) &gt; 0.01,</a:t>
            </a:r>
          </a:p>
          <a:p>
            <a:pPr algn="l">
              <a:buNone/>
            </a:pPr>
            <a:r>
              <a:rPr sz="1300" b="0" i="0">
                <a:solidFill>
                  <a:srgbClr val="24292F"/>
                </a:solidFill>
                <a:latin typeface="Courier New"/>
                <a:ea typeface="Courier New"/>
                <a:cs typeface="Courier New"/>
              </a:rPr>
              <a:t>    </a:t>
            </a:r>
            <a:r>
              <a:rPr sz="1300" b="0" i="0">
                <a:solidFill>
                  <a:srgbClr val="A31515"/>
                </a:solidFill>
                <a:latin typeface="Courier New"/>
                <a:ea typeface="Courier New"/>
                <a:cs typeface="Courier New"/>
              </a:rPr>
              <a:t>"Vượt"</a:t>
            </a:r>
            <a:r>
              <a:rPr sz="1300" b="0" i="0">
                <a:solidFill>
                  <a:srgbClr val="24292F"/>
                </a:solidFill>
                <a:latin typeface="Courier New"/>
                <a:ea typeface="Courier New"/>
                <a:cs typeface="Courier New"/>
              </a:rPr>
              <a:t> )</a:t>
            </a:r>
          </a:p>
        </p:txBody>
      </p:sp>
      <p:sp>
        <p:nvSpPr>
          <p:cNvPr id="144" name="Rounded Rectangle 143"/>
          <p:cNvSpPr/>
          <p:nvPr/>
        </p:nvSpPr>
        <p:spPr>
          <a:xfrm>
            <a:off x="6217920" y="1371600"/>
            <a:ext cx="5623560" cy="30175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200" b="0" i="0">
                <a:solidFill>
                  <a:srgbClr val="24292F"/>
                </a:solidFill>
                <a:latin typeface="Courier New"/>
                <a:ea typeface="Courier New"/>
                <a:cs typeface="Courier New"/>
              </a:rPr>
              <a:t>Số ô vượt ngưỡng =</a:t>
            </a:r>
          </a:p>
          <a:p>
            <a:pPr algn="l">
              <a:buNone/>
            </a:pPr>
            <a:r>
              <a:rPr sz="1200" b="1" i="0">
                <a:solidFill>
                  <a:srgbClr val="0550AE"/>
                </a:solidFill>
                <a:latin typeface="Courier New"/>
                <a:ea typeface="Courier New"/>
                <a:cs typeface="Courier New"/>
              </a:rPr>
              <a:t>SUMX</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CROSSJOIN</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dim_date[month_id]</a:t>
            </a:r>
            <a:r>
              <a:rPr sz="1200" b="0" i="0">
                <a:solidFill>
                  <a:srgbClr val="24292F"/>
                </a:solidFill>
                <a:latin typeface="Courier New"/>
                <a:ea typeface="Courier New"/>
                <a:cs typeface="Courier New"/>
              </a:rPr>
              <a:t>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VALUES</a:t>
            </a:r>
            <a:r>
              <a:rPr sz="1200" b="0" i="0">
                <a:solidFill>
                  <a:srgbClr val="24292F"/>
                </a:solidFill>
                <a:latin typeface="Courier New"/>
                <a:ea typeface="Courier New"/>
                <a:cs typeface="Courier New"/>
              </a:rPr>
              <a:t> ( </a:t>
            </a:r>
            <a:r>
              <a:rPr sz="1200" b="0" i="0">
                <a:solidFill>
                  <a:srgbClr val="0F6E56"/>
                </a:solidFill>
                <a:latin typeface="Courier New"/>
                <a:ea typeface="Courier New"/>
                <a:cs typeface="Courier New"/>
              </a:rPr>
              <a:t>dim_store[store_key]</a:t>
            </a:r>
            <a:r>
              <a:rPr sz="1200" b="0" i="0">
                <a:solidFill>
                  <a:srgbClr val="24292F"/>
                </a:solidFill>
                <a:latin typeface="Courier New"/>
                <a:ea typeface="Courier New"/>
                <a:cs typeface="Courier New"/>
              </a:rPr>
              <a:t> )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VAR</a:t>
            </a:r>
            <a:r>
              <a:rPr sz="1200" b="0" i="0">
                <a:solidFill>
                  <a:srgbClr val="24292F"/>
                </a:solidFill>
                <a:latin typeface="Courier New"/>
                <a:ea typeface="Courier New"/>
                <a:cs typeface="Courier New"/>
              </a:rPr>
              <a:t> d = </a:t>
            </a:r>
            <a:r>
              <a:rPr sz="1200" b="0" i="0">
                <a:solidFill>
                  <a:srgbClr val="0F6E56"/>
                </a:solidFill>
                <a:latin typeface="Courier New"/>
                <a:ea typeface="Courier New"/>
                <a:cs typeface="Courier New"/>
              </a:rPr>
              <a:t>[Δ Finance]</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VAR</a:t>
            </a:r>
            <a:r>
              <a:rPr sz="1200" b="0" i="0">
                <a:solidFill>
                  <a:srgbClr val="24292F"/>
                </a:solidFill>
                <a:latin typeface="Courier New"/>
                <a:ea typeface="Courier New"/>
                <a:cs typeface="Courier New"/>
              </a:rPr>
              <a:t> p = </a:t>
            </a:r>
            <a:r>
              <a:rPr sz="1200" b="0" i="0">
                <a:solidFill>
                  <a:srgbClr val="0F6E56"/>
                </a:solidFill>
                <a:latin typeface="Courier New"/>
                <a:ea typeface="Courier New"/>
                <a:cs typeface="Courier New"/>
              </a:rPr>
              <a:t>[Δ Finance %]</a:t>
            </a:r>
          </a:p>
          <a:p>
            <a:pPr algn="l">
              <a:buNone/>
            </a:pP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RETURN</a:t>
            </a:r>
            <a:r>
              <a:rPr sz="1200" b="0" i="0">
                <a:solidFill>
                  <a:srgbClr val="24292F"/>
                </a:solidFill>
                <a:latin typeface="Courier New"/>
                <a:ea typeface="Courier New"/>
                <a:cs typeface="Courier New"/>
              </a:rPr>
              <a:t> </a:t>
            </a:r>
            <a:r>
              <a:rPr sz="1200" b="1" i="0">
                <a:solidFill>
                  <a:srgbClr val="0550AE"/>
                </a:solidFill>
                <a:latin typeface="Courier New"/>
                <a:ea typeface="Courier New"/>
                <a:cs typeface="Courier New"/>
              </a:rPr>
              <a:t>IF</a:t>
            </a:r>
            <a:r>
              <a:rPr sz="1200" b="0" i="0">
                <a:solidFill>
                  <a:srgbClr val="24292F"/>
                </a:solidFill>
                <a:latin typeface="Courier New"/>
                <a:ea typeface="Courier New"/>
                <a:cs typeface="Courier New"/>
              </a:rPr>
              <a:t> ( </a:t>
            </a:r>
            <a:r>
              <a:rPr sz="1200" b="1" i="0">
                <a:solidFill>
                  <a:srgbClr val="0550AE"/>
                </a:solidFill>
                <a:latin typeface="Courier New"/>
                <a:ea typeface="Courier New"/>
                <a:cs typeface="Courier New"/>
              </a:rPr>
              <a:t>ABS</a:t>
            </a:r>
            <a:r>
              <a:rPr sz="1200" b="0" i="0">
                <a:solidFill>
                  <a:srgbClr val="24292F"/>
                </a:solidFill>
                <a:latin typeface="Courier New"/>
                <a:ea typeface="Courier New"/>
                <a:cs typeface="Courier New"/>
              </a:rPr>
              <a:t> ( d ) &gt; 200 &amp;&amp; </a:t>
            </a:r>
            <a:r>
              <a:rPr sz="1200" b="1" i="0">
                <a:solidFill>
                  <a:srgbClr val="0550AE"/>
                </a:solidFill>
                <a:latin typeface="Courier New"/>
                <a:ea typeface="Courier New"/>
                <a:cs typeface="Courier New"/>
              </a:rPr>
              <a:t>ABS</a:t>
            </a:r>
            <a:r>
              <a:rPr sz="1200" b="0" i="0">
                <a:solidFill>
                  <a:srgbClr val="24292F"/>
                </a:solidFill>
                <a:latin typeface="Courier New"/>
                <a:ea typeface="Courier New"/>
                <a:cs typeface="Courier New"/>
              </a:rPr>
              <a:t> ( p ) &gt; 0.01, 1 )</a:t>
            </a:r>
          </a:p>
          <a:p>
            <a:pPr algn="l">
              <a:buNone/>
            </a:pPr>
            <a:r>
              <a:rPr sz="1200" b="0" i="0">
                <a:solidFill>
                  <a:srgbClr val="24292F"/>
                </a:solidFill>
                <a:latin typeface="Courier New"/>
                <a:ea typeface="Courier New"/>
                <a:cs typeface="Courier New"/>
              </a:rPr>
              <a:t>)</a:t>
            </a:r>
          </a:p>
        </p:txBody>
      </p:sp>
      <p:sp>
        <p:nvSpPr>
          <p:cNvPr id="145" name="Rounded Rectangle 144"/>
          <p:cNvSpPr/>
          <p:nvPr/>
        </p:nvSpPr>
        <p:spPr>
          <a:xfrm>
            <a:off x="6217920" y="4526280"/>
            <a:ext cx="5623560" cy="1463040"/>
          </a:xfrm>
          <a:prstGeom prst="roundRect">
            <a:avLst>
              <a:gd name="adj" fmla="val 6000"/>
            </a:avLst>
          </a:prstGeom>
          <a:solidFill>
            <a:srgbClr val="FFFFFF"/>
          </a:solidFill>
          <a:ln w="15875">
            <a:solidFill>
              <a:srgbClr val="123A7A"/>
            </a:solidFill>
          </a:ln>
          <a:effectLst/>
        </p:spPr>
        <p:txBody>
          <a:bodyPr rtlCol="0" anchor="ctr" wrap="square" lIns="109728" tIns="36576" rIns="109728" bIns="36576"/>
          <a:lstStyle/>
          <a:p>
            <a:pPr algn="l" marL="182880" indent="-182880">
              <a:buFont typeface="Arial"/>
              <a:buChar char="•"/>
            </a:pPr>
            <a:r>
              <a:rPr sz="1300" b="1" i="0">
                <a:solidFill>
                  <a:srgbClr val="123A7A"/>
                </a:solidFill>
                <a:latin typeface="Times New Roman"/>
                <a:ea typeface="Times New Roman"/>
                <a:cs typeface="Times New Roman"/>
              </a:rPr>
              <a:t>Context transition: </a:t>
            </a:r>
            <a:r>
              <a:rPr sz="1300" b="0" i="0">
                <a:solidFill>
                  <a:srgbClr val="222222"/>
                </a:solidFill>
                <a:latin typeface="Times New Roman"/>
                <a:ea typeface="Times New Roman"/>
                <a:cs typeface="Times New Roman"/>
              </a:rPr>
              <a:t>measure trong SUMX được tính lại cho từng cặp tháng × cửa hàng</a:t>
            </a:r>
          </a:p>
          <a:p>
            <a:pPr algn="l" marL="182880" indent="-182880">
              <a:buFont typeface="Arial"/>
              <a:buChar char="•"/>
            </a:pPr>
            <a:r>
              <a:rPr sz="1300" b="1" i="0">
                <a:solidFill>
                  <a:srgbClr val="123A7A"/>
                </a:solidFill>
                <a:latin typeface="Times New Roman"/>
                <a:ea typeface="Times New Roman"/>
                <a:cs typeface="Times New Roman"/>
              </a:rPr>
              <a:t>HQ-ADJ: </a:t>
            </a:r>
            <a:r>
              <a:rPr sz="1300" b="0" i="0">
                <a:solidFill>
                  <a:srgbClr val="222222"/>
                </a:solidFill>
                <a:latin typeface="Times New Roman"/>
                <a:ea typeface="Times New Roman"/>
                <a:cs typeface="Times New Roman"/>
              </a:rPr>
              <a:t>store_key trống nên không thuộc ô nào; báo riêng ở tổng chuỗi</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Các mẫu công thức DAX</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DAX quy đổi online về ngày giao bằng USERELATIONSHIP</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Nếu Δ online </a:t>
            </a:r>
            <a:r>
              <a:rPr sz="1700" b="1" i="0">
                <a:solidFill>
                  <a:srgbClr val="2E5B31"/>
                </a:solidFill>
                <a:latin typeface="Times New Roman"/>
                <a:ea typeface="Times New Roman"/>
                <a:cs typeface="Times New Roman"/>
              </a:rPr>
              <a:t>biến mất sau quy đổi</a:t>
            </a:r>
            <a:r>
              <a:rPr sz="1700" b="0" i="0">
                <a:solidFill>
                  <a:srgbClr val="222222"/>
                </a:solidFill>
                <a:latin typeface="Times New Roman"/>
                <a:ea typeface="Times New Roman"/>
                <a:cs typeface="Times New Roman"/>
              </a:rPr>
              <a:t> thì đó là lệch thời điểm, không phải lỗi dữ liệu</a:t>
            </a:r>
          </a:p>
        </p:txBody>
      </p:sp>
      <p:sp>
        <p:nvSpPr>
          <p:cNvPr id="143" name="Rounded Rectangle 142"/>
          <p:cNvSpPr/>
          <p:nvPr/>
        </p:nvSpPr>
        <p:spPr>
          <a:xfrm>
            <a:off x="365760" y="1371600"/>
            <a:ext cx="6766560" cy="4617720"/>
          </a:xfrm>
          <a:prstGeom prst="roundRect">
            <a:avLst>
              <a:gd name="adj" fmla="val 3000"/>
            </a:avLst>
          </a:prstGeom>
          <a:solidFill>
            <a:srgbClr val="F6F8FA"/>
          </a:solidFill>
          <a:ln w="12700">
            <a:solidFill>
              <a:srgbClr val="C9D1D9"/>
            </a:solidFill>
          </a:ln>
          <a:effectLst/>
        </p:spPr>
        <p:txBody>
          <a:bodyPr rtlCol="0" anchor="t" wrap="square" lIns="109728" tIns="73152" bIns="54864"/>
          <a:lstStyle/>
          <a:p>
            <a:pPr algn="l">
              <a:buNone/>
            </a:pPr>
            <a:r>
              <a:rPr sz="1300" b="0" i="0">
                <a:solidFill>
                  <a:srgbClr val="24292F"/>
                </a:solidFill>
                <a:latin typeface="Courier New"/>
                <a:ea typeface="Courier New"/>
                <a:cs typeface="Courier New"/>
              </a:rPr>
              <a:t>Net Sales (ngày giao) =</a:t>
            </a:r>
          </a:p>
          <a:p>
            <a:pPr algn="l">
              <a:buNone/>
            </a:pP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USERELATIONSHIP</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fact_sales_line[delivery_date]</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0" i="0">
                <a:solidFill>
                  <a:srgbClr val="0F6E56"/>
                </a:solidFill>
                <a:latin typeface="Courier New"/>
                <a:ea typeface="Courier New"/>
                <a:cs typeface="Courier New"/>
              </a:rPr>
              <a:t>dim_date[date]</a:t>
            </a:r>
            <a:r>
              <a:rPr sz="1300" b="0" i="0">
                <a:solidFill>
                  <a:srgbClr val="24292F"/>
                </a:solidFill>
                <a:latin typeface="Courier New"/>
                <a:ea typeface="Courier New"/>
                <a:cs typeface="Courier New"/>
              </a:rPr>
              <a:t> ) )</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Net Sales (cơ sở Finance) =</a:t>
            </a:r>
          </a:p>
          <a:p>
            <a:pPr algn="l">
              <a:buNone/>
            </a:pP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pos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"POS"</a:t>
            </a:r>
            <a:r>
              <a:rPr sz="1300" b="0" i="0">
                <a:solidFill>
                  <a:srgbClr val="24292F"/>
                </a:solidFill>
                <a:latin typeface="Courier New"/>
                <a:ea typeface="Courier New"/>
                <a:cs typeface="Courier New"/>
              </a:rPr>
              <a:t> ) )</a:t>
            </a:r>
          </a:p>
          <a:p>
            <a:pPr algn="l">
              <a:buNone/>
            </a:pPr>
            <a:r>
              <a:rPr sz="1300" b="1" i="0">
                <a:solidFill>
                  <a:srgbClr val="0550AE"/>
                </a:solidFill>
                <a:latin typeface="Courier New"/>
                <a:ea typeface="Courier New"/>
                <a:cs typeface="Courier New"/>
              </a:rPr>
              <a:t>VAR</a:t>
            </a:r>
            <a:r>
              <a:rPr sz="1300" b="0" i="0">
                <a:solidFill>
                  <a:srgbClr val="24292F"/>
                </a:solidFill>
                <a:latin typeface="Courier New"/>
                <a:ea typeface="Courier New"/>
                <a:cs typeface="Courier New"/>
              </a:rPr>
              <a:t> onl = </a:t>
            </a:r>
            <a:r>
              <a:rPr sz="1300" b="1" i="0">
                <a:solidFill>
                  <a:srgbClr val="0550AE"/>
                </a:solidFill>
                <a:latin typeface="Courier New"/>
                <a:ea typeface="Courier New"/>
                <a:cs typeface="Courier New"/>
              </a:rPr>
              <a:t>CALCULATE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[Net Sales (ngày giao)]</a:t>
            </a:r>
            <a:r>
              <a:rPr sz="1300" b="0" i="0">
                <a:solidFill>
                  <a:srgbClr val="24292F"/>
                </a:solidFill>
                <a:latin typeface="Courier New"/>
                <a:ea typeface="Courier New"/>
                <a:cs typeface="Courier New"/>
              </a:rPr>
              <a:t>,</a:t>
            </a:r>
          </a:p>
          <a:p>
            <a:pPr algn="l">
              <a:buNone/>
            </a:pPr>
            <a:r>
              <a:rPr sz="1300" b="0" i="0">
                <a:solidFill>
                  <a:srgbClr val="24292F"/>
                </a:solidFill>
                <a:latin typeface="Courier New"/>
                <a:ea typeface="Courier New"/>
                <a:cs typeface="Courier New"/>
              </a:rPr>
              <a:t>    </a:t>
            </a:r>
            <a:r>
              <a:rPr sz="1300" b="1" i="0">
                <a:solidFill>
                  <a:srgbClr val="0550AE"/>
                </a:solidFill>
                <a:latin typeface="Courier New"/>
                <a:ea typeface="Courier New"/>
                <a:cs typeface="Courier New"/>
              </a:rPr>
              <a:t>KEEPFILTERS</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fact_sales_line[channel_code]</a:t>
            </a:r>
            <a:r>
              <a:rPr sz="1300" b="0" i="0">
                <a:solidFill>
                  <a:srgbClr val="24292F"/>
                </a:solidFill>
                <a:latin typeface="Courier New"/>
                <a:ea typeface="Courier New"/>
                <a:cs typeface="Courier New"/>
              </a:rPr>
              <a:t> = </a:t>
            </a:r>
            <a:r>
              <a:rPr sz="1300" b="0" i="0">
                <a:solidFill>
                  <a:srgbClr val="A31515"/>
                </a:solidFill>
                <a:latin typeface="Courier New"/>
                <a:ea typeface="Courier New"/>
                <a:cs typeface="Courier New"/>
              </a:rPr>
              <a:t>"ONLINE"</a:t>
            </a:r>
            <a:r>
              <a:rPr sz="1300" b="0" i="0">
                <a:solidFill>
                  <a:srgbClr val="24292F"/>
                </a:solidFill>
                <a:latin typeface="Courier New"/>
                <a:ea typeface="Courier New"/>
                <a:cs typeface="Courier New"/>
              </a:rPr>
              <a:t> ) )</a:t>
            </a:r>
          </a:p>
          <a:p>
            <a:pPr algn="l">
              <a:buNone/>
            </a:pPr>
            <a:r>
              <a:rPr sz="1300" b="1" i="0">
                <a:solidFill>
                  <a:srgbClr val="0550AE"/>
                </a:solidFill>
                <a:latin typeface="Courier New"/>
                <a:ea typeface="Courier New"/>
                <a:cs typeface="Courier New"/>
              </a:rPr>
              <a:t>RETURN</a:t>
            </a:r>
            <a:r>
              <a:rPr sz="1300" b="0" i="0">
                <a:solidFill>
                  <a:srgbClr val="24292F"/>
                </a:solidFill>
                <a:latin typeface="Courier New"/>
                <a:ea typeface="Courier New"/>
                <a:cs typeface="Courier New"/>
              </a:rPr>
              <a:t> pos + onl</a:t>
            </a:r>
          </a:p>
          <a:p>
            <a:pPr algn="l">
              <a:buNone/>
            </a:pPr>
            <a:r>
              <a:rPr sz="1300" b="0" i="0">
                <a:solidFill>
                  <a:srgbClr val="24292F"/>
                </a:solidFill>
                <a:latin typeface="Courier New"/>
                <a:ea typeface="Courier New"/>
                <a:cs typeface="Courier New"/>
              </a:rPr>
              <a:t> </a:t>
            </a:r>
          </a:p>
          <a:p>
            <a:pPr algn="l">
              <a:buNone/>
            </a:pPr>
            <a:r>
              <a:rPr sz="1300" b="0" i="0">
                <a:solidFill>
                  <a:srgbClr val="24292F"/>
                </a:solidFill>
                <a:latin typeface="Courier New"/>
                <a:ea typeface="Courier New"/>
                <a:cs typeface="Courier New"/>
              </a:rPr>
              <a:t>Δ sau quy đổi =</a:t>
            </a:r>
          </a:p>
          <a:p>
            <a:pPr algn="l">
              <a:buNone/>
            </a:pPr>
            <a:r>
              <a:rPr sz="1300" b="0" i="0">
                <a:solidFill>
                  <a:srgbClr val="0F6E56"/>
                </a:solidFill>
                <a:latin typeface="Courier New"/>
                <a:ea typeface="Courier New"/>
                <a:cs typeface="Courier New"/>
              </a:rPr>
              <a:t>[Finance Net Revenue]</a:t>
            </a:r>
            <a:r>
              <a:rPr sz="1300" b="0" i="0">
                <a:solidFill>
                  <a:srgbClr val="24292F"/>
                </a:solidFill>
                <a:latin typeface="Courier New"/>
                <a:ea typeface="Courier New"/>
                <a:cs typeface="Courier New"/>
              </a:rPr>
              <a:t> - ( </a:t>
            </a:r>
            <a:r>
              <a:rPr sz="1300" b="0" i="0">
                <a:solidFill>
                  <a:srgbClr val="0F6E56"/>
                </a:solidFill>
                <a:latin typeface="Courier New"/>
                <a:ea typeface="Courier New"/>
                <a:cs typeface="Courier New"/>
              </a:rPr>
              <a:t>[Net Sales (cơ sở Finance)]</a:t>
            </a:r>
            <a:r>
              <a:rPr sz="1300" b="0" i="0">
                <a:solidFill>
                  <a:srgbClr val="24292F"/>
                </a:solidFill>
                <a:latin typeface="Courier New"/>
                <a:ea typeface="Courier New"/>
                <a:cs typeface="Courier New"/>
              </a:rPr>
              <a:t> - </a:t>
            </a:r>
            <a:r>
              <a:rPr sz="1300" b="0" i="0">
                <a:solidFill>
                  <a:srgbClr val="0F6E56"/>
                </a:solidFill>
                <a:latin typeface="Courier New"/>
                <a:ea typeface="Courier New"/>
                <a:cs typeface="Courier New"/>
              </a:rPr>
              <a:t>[Returns]</a:t>
            </a:r>
            <a:r>
              <a:rPr sz="1300" b="0" i="0">
                <a:solidFill>
                  <a:srgbClr val="24292F"/>
                </a:solidFill>
                <a:latin typeface="Courier New"/>
                <a:ea typeface="Courier New"/>
                <a:cs typeface="Courier New"/>
              </a:rPr>
              <a:t> )</a:t>
            </a:r>
          </a:p>
        </p:txBody>
      </p:sp>
      <p:sp>
        <p:nvSpPr>
          <p:cNvPr id="144" name="Rounded Rectangle 143"/>
          <p:cNvSpPr/>
          <p:nvPr/>
        </p:nvSpPr>
        <p:spPr>
          <a:xfrm>
            <a:off x="7360920" y="1371600"/>
            <a:ext cx="448056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5" name="Rounded Rectangle 144"/>
          <p:cNvSpPr/>
          <p:nvPr/>
        </p:nvSpPr>
        <p:spPr>
          <a:xfrm>
            <a:off x="7360920" y="1371600"/>
            <a:ext cx="448056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Cách đọc</a:t>
            </a:r>
          </a:p>
        </p:txBody>
      </p:sp>
      <p:sp>
        <p:nvSpPr>
          <p:cNvPr id="146" name="TextBox 145"/>
          <p:cNvSpPr txBox="1"/>
          <p:nvPr/>
        </p:nvSpPr>
        <p:spPr>
          <a:xfrm>
            <a:off x="7452360" y="1920240"/>
            <a:ext cx="4297680" cy="4023360"/>
          </a:xfrm>
          <a:prstGeom prst="rect">
            <a:avLst/>
          </a:prstGeom>
          <a:noFill/>
        </p:spPr>
        <p:txBody>
          <a:bodyPr wrap="square" lIns="45720" tIns="27432" rIns="45720" bIns="27432" anchor="t"/>
          <a:lstStyle/>
          <a:p>
            <a:pPr algn="l" marL="182880" indent="-182880">
              <a:spcAft>
                <a:spcPts val="600"/>
              </a:spcAft>
              <a:buFont typeface="Arial"/>
              <a:buChar char="•"/>
            </a:pPr>
            <a:r>
              <a:rPr sz="1300" b="0" i="0">
                <a:solidFill>
                  <a:srgbClr val="222222"/>
                </a:solidFill>
                <a:latin typeface="Times New Roman"/>
                <a:ea typeface="Times New Roman"/>
                <a:cs typeface="Times New Roman"/>
              </a:rPr>
              <a:t>USERELATIONSHIP bật quan hệ inactive delivery_date chỉ trong measure này</a:t>
            </a:r>
          </a:p>
          <a:p>
            <a:pPr algn="l" marL="182880" indent="-182880">
              <a:spcAft>
                <a:spcPts val="600"/>
              </a:spcAft>
              <a:buFont typeface="Arial"/>
              <a:buChar char="•"/>
            </a:pPr>
            <a:r>
              <a:rPr sz="1300" b="0" i="0">
                <a:solidFill>
                  <a:srgbClr val="222222"/>
                </a:solidFill>
                <a:latin typeface="Times New Roman"/>
                <a:ea typeface="Times New Roman"/>
                <a:cs typeface="Times New Roman"/>
              </a:rPr>
              <a:t>KEEPFILTERS giữ lựa chọn của slicer Kênh, không ghi đè</a:t>
            </a:r>
          </a:p>
          <a:p>
            <a:pPr algn="l" marL="182880" indent="-182880">
              <a:spcAft>
                <a:spcPts val="600"/>
              </a:spcAft>
              <a:buFont typeface="Arial"/>
              <a:buChar char="•"/>
            </a:pPr>
            <a:r>
              <a:rPr sz="1300" b="0" i="0">
                <a:solidFill>
                  <a:srgbClr val="222222"/>
                </a:solidFill>
                <a:latin typeface="Times New Roman"/>
                <a:ea typeface="Times New Roman"/>
                <a:cs typeface="Times New Roman"/>
              </a:rPr>
              <a:t>POS giữ ngày đặt hàng vì Finance ghi POS theo ngày bán</a:t>
            </a:r>
          </a:p>
          <a:p>
            <a:pPr algn="l" marL="182880" indent="-182880">
              <a:buFont typeface="Arial"/>
              <a:buChar char="•"/>
            </a:pPr>
            <a:r>
              <a:rPr sz="1300" b="1" i="0">
                <a:solidFill>
                  <a:srgbClr val="222222"/>
                </a:solidFill>
                <a:latin typeface="Times New Roman"/>
                <a:ea typeface="Times New Roman"/>
                <a:cs typeface="Times New Roman"/>
              </a:rPr>
              <a:t>Ví dụ 12/2020: </a:t>
            </a:r>
            <a:r>
              <a:rPr sz="1300" b="0" i="0">
                <a:solidFill>
                  <a:srgbClr val="222222"/>
                </a:solidFill>
                <a:latin typeface="Times New Roman"/>
                <a:ea typeface="Times New Roman"/>
                <a:cs typeface="Times New Roman"/>
              </a:rPr>
              <a:t>Δ toàn chuỗi −12.536 USD; sau quy đổi online còn 10.276 USD → phần còn lại nằm ở kênh cửa hàng</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Bố cục đề xuất 4 trang dashboard (bản tham chiếu của mentor)</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Bố cục lưới: </a:t>
            </a:r>
            <a:r>
              <a:rPr sz="1700" b="1" i="0">
                <a:solidFill>
                  <a:srgbClr val="2E5B31"/>
                </a:solidFill>
                <a:latin typeface="Times New Roman"/>
                <a:ea typeface="Times New Roman"/>
                <a:cs typeface="Times New Roman"/>
              </a:rPr>
              <a:t>thẻ KPI ở trên</a:t>
            </a:r>
            <a:r>
              <a:rPr sz="1700" b="0" i="0">
                <a:solidFill>
                  <a:srgbClr val="222222"/>
                </a:solidFill>
                <a:latin typeface="Times New Roman"/>
                <a:ea typeface="Times New Roman"/>
                <a:cs typeface="Times New Roman"/>
              </a:rPr>
              <a:t>, biểu đồ ở giữa, </a:t>
            </a:r>
            <a:r>
              <a:rPr sz="1700" b="1" i="0">
                <a:solidFill>
                  <a:srgbClr val="2E5B31"/>
                </a:solidFill>
                <a:latin typeface="Times New Roman"/>
                <a:ea typeface="Times New Roman"/>
                <a:cs typeface="Times New Roman"/>
              </a:rPr>
              <a:t>bảng chi tiết ở dưới</a:t>
            </a:r>
          </a:p>
        </p:txBody>
      </p:sp>
      <p:sp>
        <p:nvSpPr>
          <p:cNvPr id="143" name="Rounded Rectangle 142"/>
          <p:cNvSpPr/>
          <p:nvPr/>
        </p:nvSpPr>
        <p:spPr>
          <a:xfrm>
            <a:off x="365760" y="1371600"/>
            <a:ext cx="2697480"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Tổng quan</a:t>
            </a:r>
          </a:p>
        </p:txBody>
      </p:sp>
      <p:sp>
        <p:nvSpPr>
          <p:cNvPr id="144" name="Rectangle 143"/>
          <p:cNvSpPr/>
          <p:nvPr/>
        </p:nvSpPr>
        <p:spPr>
          <a:xfrm>
            <a:off x="365760" y="1828800"/>
            <a:ext cx="2697480" cy="30175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5" name="Picture 144" descr="dash_s1.png"/>
          <p:cNvPicPr>
            <a:picLocks noChangeAspect="1"/>
          </p:cNvPicPr>
          <p:nvPr/>
        </p:nvPicPr>
        <p:blipFill>
          <a:blip r:embed="rId3"/>
          <a:stretch>
            <a:fillRect/>
          </a:stretch>
        </p:blipFill>
        <p:spPr>
          <a:xfrm>
            <a:off x="411479" y="2649331"/>
            <a:ext cx="2606040" cy="1376456"/>
          </a:xfrm>
          <a:prstGeom prst="rect">
            <a:avLst/>
          </a:prstGeom>
        </p:spPr>
      </p:pic>
      <p:sp>
        <p:nvSpPr>
          <p:cNvPr id="146" name="Rounded Rectangle 145"/>
          <p:cNvSpPr/>
          <p:nvPr/>
        </p:nvSpPr>
        <p:spPr>
          <a:xfrm>
            <a:off x="365760" y="4983480"/>
            <a:ext cx="2697480" cy="1005840"/>
          </a:xfrm>
          <a:prstGeom prst="roundRect">
            <a:avLst>
              <a:gd name="adj" fmla="val 6000"/>
            </a:avLst>
          </a:prstGeom>
          <a:solidFill>
            <a:srgbClr val="E2F0D9"/>
          </a:solidFill>
          <a:ln w="12700">
            <a:solidFill>
              <a:srgbClr val="2E5B31"/>
            </a:solidFill>
          </a:ln>
          <a:effectLst/>
        </p:spPr>
        <p:txBody>
          <a:bodyPr rtlCol="0" anchor="ctr" wrap="square" tIns="27432" rIns="73152" bIns="27432"/>
          <a:lstStyle/>
          <a:p>
            <a:pPr algn="l">
              <a:buNone/>
            </a:pPr>
            <a:r>
              <a:rPr sz="1200" b="1" i="0">
                <a:solidFill>
                  <a:srgbClr val="2E5B3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Tháng này bán được bao nhiêu, khớp Finance chưa?</a:t>
            </a:r>
          </a:p>
        </p:txBody>
      </p:sp>
      <p:sp>
        <p:nvSpPr>
          <p:cNvPr id="147" name="Rounded Rectangle 146"/>
          <p:cNvSpPr/>
          <p:nvPr/>
        </p:nvSpPr>
        <p:spPr>
          <a:xfrm>
            <a:off x="3246120" y="1371600"/>
            <a:ext cx="2697480"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Doanh thu</a:t>
            </a:r>
          </a:p>
        </p:txBody>
      </p:sp>
      <p:sp>
        <p:nvSpPr>
          <p:cNvPr id="148" name="Rectangle 147"/>
          <p:cNvSpPr/>
          <p:nvPr/>
        </p:nvSpPr>
        <p:spPr>
          <a:xfrm>
            <a:off x="3246120" y="1828800"/>
            <a:ext cx="2697480" cy="30175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9" name="Picture 148" descr="dash_s2.png"/>
          <p:cNvPicPr>
            <a:picLocks noChangeAspect="1"/>
          </p:cNvPicPr>
          <p:nvPr/>
        </p:nvPicPr>
        <p:blipFill>
          <a:blip r:embed="rId4"/>
          <a:stretch>
            <a:fillRect/>
          </a:stretch>
        </p:blipFill>
        <p:spPr>
          <a:xfrm>
            <a:off x="3291839" y="2277444"/>
            <a:ext cx="2606040" cy="2120231"/>
          </a:xfrm>
          <a:prstGeom prst="rect">
            <a:avLst/>
          </a:prstGeom>
        </p:spPr>
      </p:pic>
      <p:sp>
        <p:nvSpPr>
          <p:cNvPr id="150" name="Rounded Rectangle 149"/>
          <p:cNvSpPr/>
          <p:nvPr/>
        </p:nvSpPr>
        <p:spPr>
          <a:xfrm>
            <a:off x="3246120" y="4983480"/>
            <a:ext cx="2697480" cy="1005840"/>
          </a:xfrm>
          <a:prstGeom prst="roundRect">
            <a:avLst>
              <a:gd name="adj" fmla="val 6000"/>
            </a:avLst>
          </a:prstGeom>
          <a:solidFill>
            <a:srgbClr val="FBE5D6"/>
          </a:solidFill>
          <a:ln w="12700">
            <a:solidFill>
              <a:srgbClr val="C55A11"/>
            </a:solidFill>
          </a:ln>
          <a:effectLst/>
        </p:spPr>
        <p:txBody>
          <a:bodyPr rtlCol="0" anchor="ctr" wrap="square" tIns="27432" rIns="73152" bIns="27432"/>
          <a:lstStyle/>
          <a:p>
            <a:pPr algn="l">
              <a:buNone/>
            </a:pPr>
            <a:r>
              <a:rPr sz="1200" b="1" i="0">
                <a:solidFill>
                  <a:srgbClr val="C55A11"/>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Doanh thu đến từ kênh, danh mục, quốc gia nào?</a:t>
            </a:r>
          </a:p>
        </p:txBody>
      </p:sp>
      <p:sp>
        <p:nvSpPr>
          <p:cNvPr id="151" name="Rounded Rectangle 150"/>
          <p:cNvSpPr/>
          <p:nvPr/>
        </p:nvSpPr>
        <p:spPr>
          <a:xfrm>
            <a:off x="6126480" y="1371600"/>
            <a:ext cx="2697480"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Đối soát</a:t>
            </a:r>
          </a:p>
        </p:txBody>
      </p:sp>
      <p:sp>
        <p:nvSpPr>
          <p:cNvPr id="152" name="Rectangle 151"/>
          <p:cNvSpPr/>
          <p:nvPr/>
        </p:nvSpPr>
        <p:spPr>
          <a:xfrm>
            <a:off x="6126480" y="1828800"/>
            <a:ext cx="2697480" cy="30175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53" name="Picture 152" descr="dash_s3.png"/>
          <p:cNvPicPr>
            <a:picLocks noChangeAspect="1"/>
          </p:cNvPicPr>
          <p:nvPr/>
        </p:nvPicPr>
        <p:blipFill>
          <a:blip r:embed="rId5"/>
          <a:stretch>
            <a:fillRect/>
          </a:stretch>
        </p:blipFill>
        <p:spPr>
          <a:xfrm>
            <a:off x="6172200" y="2316045"/>
            <a:ext cx="2606040" cy="2043029"/>
          </a:xfrm>
          <a:prstGeom prst="rect">
            <a:avLst/>
          </a:prstGeom>
        </p:spPr>
      </p:pic>
      <p:sp>
        <p:nvSpPr>
          <p:cNvPr id="154" name="Rounded Rectangle 153"/>
          <p:cNvSpPr/>
          <p:nvPr/>
        </p:nvSpPr>
        <p:spPr>
          <a:xfrm>
            <a:off x="6126480" y="4983480"/>
            <a:ext cx="2697480" cy="1005840"/>
          </a:xfrm>
          <a:prstGeom prst="roundRect">
            <a:avLst>
              <a:gd name="adj" fmla="val 6000"/>
            </a:avLst>
          </a:prstGeom>
          <a:solidFill>
            <a:srgbClr val="DEEAF6"/>
          </a:solidFill>
          <a:ln w="12700">
            <a:solidFill>
              <a:srgbClr val="123A7A"/>
            </a:solidFill>
          </a:ln>
          <a:effectLst/>
        </p:spPr>
        <p:txBody>
          <a:bodyPr rtlCol="0" anchor="ctr" wrap="square" tIns="27432" rIns="73152" bIns="27432"/>
          <a:lstStyle/>
          <a:p>
            <a:pPr algn="l">
              <a:buNone/>
            </a:pPr>
            <a:r>
              <a:rPr sz="1200" b="1" i="0">
                <a:solidFill>
                  <a:srgbClr val="123A7A"/>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Lệch ở cửa hàng nào, tháng nào, kênh nào?</a:t>
            </a:r>
          </a:p>
        </p:txBody>
      </p:sp>
      <p:sp>
        <p:nvSpPr>
          <p:cNvPr id="155" name="Rounded Rectangle 154"/>
          <p:cNvSpPr/>
          <p:nvPr/>
        </p:nvSpPr>
        <p:spPr>
          <a:xfrm>
            <a:off x="9006840" y="1371600"/>
            <a:ext cx="2697480"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Hoàn trả &amp; chất lượng</a:t>
            </a:r>
          </a:p>
        </p:txBody>
      </p:sp>
      <p:sp>
        <p:nvSpPr>
          <p:cNvPr id="156" name="Rectangle 155"/>
          <p:cNvSpPr/>
          <p:nvPr/>
        </p:nvSpPr>
        <p:spPr>
          <a:xfrm>
            <a:off x="9006840" y="1828800"/>
            <a:ext cx="2697480" cy="30175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57" name="Picture 156" descr="dash_s4.png"/>
          <p:cNvPicPr>
            <a:picLocks noChangeAspect="1"/>
          </p:cNvPicPr>
          <p:nvPr/>
        </p:nvPicPr>
        <p:blipFill>
          <a:blip r:embed="rId6"/>
          <a:stretch>
            <a:fillRect/>
          </a:stretch>
        </p:blipFill>
        <p:spPr>
          <a:xfrm>
            <a:off x="9052560" y="2316045"/>
            <a:ext cx="2606040" cy="2043029"/>
          </a:xfrm>
          <a:prstGeom prst="rect">
            <a:avLst/>
          </a:prstGeom>
        </p:spPr>
      </p:pic>
      <p:sp>
        <p:nvSpPr>
          <p:cNvPr id="158" name="Rounded Rectangle 157"/>
          <p:cNvSpPr/>
          <p:nvPr/>
        </p:nvSpPr>
        <p:spPr>
          <a:xfrm>
            <a:off x="9006840" y="4983480"/>
            <a:ext cx="2697480" cy="1005840"/>
          </a:xfrm>
          <a:prstGeom prst="roundRect">
            <a:avLst>
              <a:gd name="adj" fmla="val 6000"/>
            </a:avLst>
          </a:prstGeom>
          <a:solidFill>
            <a:srgbClr val="F8D7D7"/>
          </a:solidFill>
          <a:ln w="12700">
            <a:solidFill>
              <a:srgbClr val="C00000"/>
            </a:solidFill>
          </a:ln>
          <a:effectLst/>
        </p:spPr>
        <p:txBody>
          <a:bodyPr rtlCol="0" anchor="ctr" wrap="square" tIns="27432" rIns="73152" bIns="27432"/>
          <a:lstStyle/>
          <a:p>
            <a:pPr algn="l">
              <a:buNone/>
            </a:pPr>
            <a:r>
              <a:rPr sz="1200" b="1" i="0">
                <a:solidFill>
                  <a:srgbClr val="C00000"/>
                </a:solidFill>
                <a:latin typeface="Times New Roman"/>
                <a:ea typeface="Times New Roman"/>
                <a:cs typeface="Times New Roman"/>
              </a:rPr>
              <a:t>Câu hỏi để khai phá</a:t>
            </a:r>
          </a:p>
          <a:p>
            <a:pPr algn="l">
              <a:buNone/>
            </a:pPr>
            <a:r>
              <a:rPr sz="1200" b="0" i="1">
                <a:solidFill>
                  <a:srgbClr val="222222"/>
                </a:solidFill>
                <a:latin typeface="Times New Roman"/>
                <a:ea typeface="Times New Roman"/>
                <a:cs typeface="Times New Roman"/>
              </a:rPr>
              <a:t>Bao nhiêu doanh thu bị mất, vì sao?</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Tổng quan, tháng 12/2020: 6 thẻ KPI và 3 biểu đồ</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Thẻ KPI = </a:t>
            </a:r>
            <a:r>
              <a:rPr sz="1700" b="1" i="0">
                <a:solidFill>
                  <a:srgbClr val="2E5B31"/>
                </a:solidFill>
                <a:latin typeface="Times New Roman"/>
                <a:ea typeface="Times New Roman"/>
                <a:cs typeface="Times New Roman"/>
              </a:rPr>
              <a:t>giá trị</a:t>
            </a:r>
            <a:r>
              <a:rPr sz="1700" b="0" i="0">
                <a:solidFill>
                  <a:srgbClr val="222222"/>
                </a:solidFill>
                <a:latin typeface="Times New Roman"/>
                <a:ea typeface="Times New Roman"/>
                <a:cs typeface="Times New Roman"/>
              </a:rPr>
              <a:t> + </a:t>
            </a:r>
            <a:r>
              <a:rPr sz="1700" b="1" i="0">
                <a:solidFill>
                  <a:srgbClr val="C55A11"/>
                </a:solidFill>
                <a:latin typeface="Times New Roman"/>
                <a:ea typeface="Times New Roman"/>
                <a:cs typeface="Times New Roman"/>
              </a:rPr>
              <a:t>so với tháng trước</a:t>
            </a:r>
            <a:r>
              <a:rPr sz="1700" b="0" i="0">
                <a:solidFill>
                  <a:srgbClr val="222222"/>
                </a:solidFill>
                <a:latin typeface="Times New Roman"/>
                <a:ea typeface="Times New Roman"/>
                <a:cs typeface="Times New Roman"/>
              </a:rPr>
              <a:t> + </a:t>
            </a:r>
            <a:r>
              <a:rPr sz="1700" b="1" i="0">
                <a:solidFill>
                  <a:srgbClr val="123A7A"/>
                </a:solidFill>
                <a:latin typeface="Times New Roman"/>
                <a:ea typeface="Times New Roman"/>
                <a:cs typeface="Times New Roman"/>
              </a:rPr>
              <a:t>so với cùng kỳ</a:t>
            </a:r>
            <a:r>
              <a:rPr sz="1700" b="0" i="0">
                <a:solidFill>
                  <a:srgbClr val="222222"/>
                </a:solidFill>
                <a:latin typeface="Times New Roman"/>
                <a:ea typeface="Times New Roman"/>
                <a:cs typeface="Times New Roman"/>
              </a:rPr>
              <a:t>; một mốc so sánh không đủ kết luận</a:t>
            </a:r>
          </a:p>
        </p:txBody>
      </p:sp>
      <p:sp>
        <p:nvSpPr>
          <p:cNvPr id="143" name="Rectangle 142"/>
          <p:cNvSpPr/>
          <p:nvPr/>
        </p:nvSpPr>
        <p:spPr>
          <a:xfrm>
            <a:off x="365760" y="1371600"/>
            <a:ext cx="7680960" cy="4617720"/>
          </a:xfrm>
          <a:prstGeom prst="rect">
            <a:avLst/>
          </a:prstGeom>
          <a:solidFill>
            <a:srgbClr val="FFFFFF"/>
          </a:solidFill>
          <a:ln w="15875">
            <a:solidFill>
              <a:srgbClr val="2E5B31"/>
            </a:solidFill>
          </a:ln>
          <a:effectLst/>
        </p:spPr>
        <p:txBody>
          <a:bodyPr rtlCol="0" anchor="ctr" wrap="square" lIns="73152" tIns="36576" rIns="73152" bIns="36576"/>
          <a:lstStyle/>
          <a:p>
            <a:pPr algn="ctr"/>
          </a:p>
        </p:txBody>
      </p:sp>
      <p:pic>
        <p:nvPicPr>
          <p:cNvPr id="144" name="Picture 143" descr="dash_s1.png"/>
          <p:cNvPicPr>
            <a:picLocks noChangeAspect="1"/>
          </p:cNvPicPr>
          <p:nvPr/>
        </p:nvPicPr>
        <p:blipFill>
          <a:blip r:embed="rId3"/>
          <a:stretch>
            <a:fillRect/>
          </a:stretch>
        </p:blipFill>
        <p:spPr>
          <a:xfrm>
            <a:off x="411480" y="1676146"/>
            <a:ext cx="7589520" cy="4008626"/>
          </a:xfrm>
          <a:prstGeom prst="rect">
            <a:avLst/>
          </a:prstGeom>
        </p:spPr>
      </p:pic>
      <p:sp>
        <p:nvSpPr>
          <p:cNvPr id="145" name="Rounded Rectangle 144"/>
          <p:cNvSpPr/>
          <p:nvPr/>
        </p:nvSpPr>
        <p:spPr>
          <a:xfrm>
            <a:off x="8275320" y="1371600"/>
            <a:ext cx="3566159"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Tháng này bán được bao nhiêu và có khớp Finance không?</a:t>
            </a:r>
          </a:p>
        </p:txBody>
      </p:sp>
      <p:sp>
        <p:nvSpPr>
          <p:cNvPr id="146" name="Rounded Rectangle 145"/>
          <p:cNvSpPr/>
          <p:nvPr/>
        </p:nvSpPr>
        <p:spPr>
          <a:xfrm>
            <a:off x="8275320" y="2377440"/>
            <a:ext cx="3566159" cy="361188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47" name="Rounded Rectangle 146"/>
          <p:cNvSpPr/>
          <p:nvPr/>
        </p:nvSpPr>
        <p:spPr>
          <a:xfrm>
            <a:off x="8275320" y="2377440"/>
            <a:ext cx="3566159" cy="41148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8348472" y="2834640"/>
            <a:ext cx="3419855"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Net Revenue </a:t>
            </a:r>
            <a:r>
              <a:rPr sz="1200" b="0" i="0">
                <a:solidFill>
                  <a:srgbClr val="222222"/>
                </a:solidFill>
                <a:latin typeface="Times New Roman"/>
                <a:ea typeface="Times New Roman"/>
                <a:cs typeface="Times New Roman"/>
              </a:rPr>
              <a:t>606,1 nghìn USD</a:t>
            </a:r>
            <a:r>
              <a:rPr sz="1200" b="0" i="0">
                <a:solidFill>
                  <a:srgbClr val="222222"/>
                </a:solidFill>
                <a:latin typeface="Times New Roman"/>
                <a:ea typeface="Times New Roman"/>
                <a:cs typeface="Times New Roman"/>
              </a:rPr>
              <a:t>: +154,6% so với 11/2020, −73,2%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Số đơn </a:t>
            </a:r>
            <a:r>
              <a:rPr sz="1200" b="0" i="0">
                <a:solidFill>
                  <a:srgbClr val="222222"/>
                </a:solidFill>
                <a:latin typeface="Times New Roman"/>
                <a:ea typeface="Times New Roman"/>
                <a:cs typeface="Times New Roman"/>
              </a:rPr>
              <a:t>310 (cùng kỳ 1.223)</a:t>
            </a:r>
            <a:r>
              <a:rPr sz="1200" b="0" i="0">
                <a:solidFill>
                  <a:srgbClr val="222222"/>
                </a:solidFill>
                <a:latin typeface="Times New Roman"/>
                <a:ea typeface="Times New Roman"/>
                <a:cs typeface="Times New Roman"/>
              </a:rPr>
              <a:t> nhưng </a:t>
            </a:r>
            <a:r>
              <a:rPr sz="1200" b="1" i="0">
                <a:solidFill>
                  <a:srgbClr val="222222"/>
                </a:solidFill>
                <a:latin typeface="Times New Roman"/>
                <a:ea typeface="Times New Roman"/>
                <a:cs typeface="Times New Roman"/>
              </a:rPr>
              <a:t>AOV </a:t>
            </a:r>
            <a:r>
              <a:rPr sz="1200" b="0" i="0">
                <a:solidFill>
                  <a:srgbClr val="222222"/>
                </a:solidFill>
                <a:latin typeface="Times New Roman"/>
                <a:ea typeface="Times New Roman"/>
                <a:cs typeface="Times New Roman"/>
              </a:rPr>
              <a:t>1.986 USD tăng +4,9% → giảm do ít đơn, không do đơn nhỏ</a:t>
            </a:r>
          </a:p>
          <a:p>
            <a:pPr algn="l" marL="182880" indent="-182880">
              <a:spcAft>
                <a:spcPts val="500"/>
              </a:spcAft>
              <a:buFont typeface="Arial"/>
              <a:buChar char="•"/>
            </a:pPr>
            <a:r>
              <a:rPr sz="1200" b="1" i="0">
                <a:solidFill>
                  <a:srgbClr val="222222"/>
                </a:solidFill>
                <a:latin typeface="Times New Roman"/>
                <a:ea typeface="Times New Roman"/>
                <a:cs typeface="Times New Roman"/>
              </a:rPr>
              <a:t>Gross → Net: </a:t>
            </a:r>
            <a:r>
              <a:rPr sz="1200" b="0" i="0">
                <a:solidFill>
                  <a:srgbClr val="222222"/>
                </a:solidFill>
                <a:latin typeface="Times New Roman"/>
                <a:ea typeface="Times New Roman"/>
                <a:cs typeface="Times New Roman"/>
              </a:rPr>
              <a:t>giảm giá 24,7, hoàn trả 9,7 nghìn USD</a:t>
            </a:r>
          </a:p>
          <a:p>
            <a:pPr algn="l" marL="182880" indent="-182880">
              <a:spcAft>
                <a:spcPts val="500"/>
              </a:spcAft>
              <a:buFont typeface="Arial"/>
              <a:buChar char="•"/>
            </a:pPr>
            <a:r>
              <a:rPr sz="1200" b="1" i="0">
                <a:solidFill>
                  <a:srgbClr val="222222"/>
                </a:solidFill>
                <a:latin typeface="Times New Roman"/>
                <a:ea typeface="Times New Roman"/>
                <a:cs typeface="Times New Roman"/>
              </a:rPr>
              <a:t>Δ Finance </a:t>
            </a:r>
            <a:r>
              <a:rPr sz="1200" b="0" i="0">
                <a:solidFill>
                  <a:srgbClr val="222222"/>
                </a:solidFill>
                <a:latin typeface="Times New Roman"/>
                <a:ea typeface="Times New Roman"/>
                <a:cs typeface="Times New Roman"/>
              </a:rPr>
              <a:t>−12.536 USD (−2,11%), </a:t>
            </a:r>
            <a:r>
              <a:rPr sz="1200" b="1" i="0">
                <a:solidFill>
                  <a:srgbClr val="C00000"/>
                </a:solidFill>
                <a:latin typeface="Times New Roman"/>
                <a:ea typeface="Times New Roman"/>
                <a:cs typeface="Times New Roman"/>
              </a:rPr>
              <a:t>2 ô vượt ngưỡng</a:t>
            </a:r>
            <a:r>
              <a:rPr sz="1200" b="0" i="0">
                <a:solidFill>
                  <a:srgbClr val="222222"/>
                </a:solidFill>
                <a:latin typeface="Times New Roman"/>
                <a:ea typeface="Times New Roman"/>
                <a:cs typeface="Times New Roman"/>
              </a:rPr>
              <a:t>; chưa gồm HQ-ADJ −1.436 USD</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Doanh thu, tháng 12/2020: kênh, danh mục, quốc gia, cửa hàng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Bảng so sánh luôn kèm cột </a:t>
            </a:r>
            <a:r>
              <a:rPr sz="1700" b="1" i="0">
                <a:solidFill>
                  <a:srgbClr val="123A7A"/>
                </a:solidFill>
                <a:latin typeface="Times New Roman"/>
                <a:ea typeface="Times New Roman"/>
                <a:cs typeface="Times New Roman"/>
              </a:rPr>
              <a:t>Thay đổi</a:t>
            </a:r>
            <a:r>
              <a:rPr sz="1700" b="0" i="0">
                <a:solidFill>
                  <a:srgbClr val="222222"/>
                </a:solidFill>
                <a:latin typeface="Times New Roman"/>
                <a:ea typeface="Times New Roman"/>
                <a:cs typeface="Times New Roman"/>
              </a:rPr>
              <a:t>: </a:t>
            </a:r>
            <a:r>
              <a:rPr sz="1700" b="1" i="0">
                <a:solidFill>
                  <a:srgbClr val="2E5B31"/>
                </a:solidFill>
                <a:latin typeface="Times New Roman"/>
                <a:ea typeface="Times New Roman"/>
                <a:cs typeface="Times New Roman"/>
              </a:rPr>
              <a:t>▲ xanh</a:t>
            </a:r>
            <a:r>
              <a:rPr sz="1700" b="0" i="0">
                <a:solidFill>
                  <a:srgbClr val="222222"/>
                </a:solidFill>
                <a:latin typeface="Times New Roman"/>
                <a:ea typeface="Times New Roman"/>
                <a:cs typeface="Times New Roman"/>
              </a:rPr>
              <a:t> là tăng, </a:t>
            </a:r>
            <a:r>
              <a:rPr sz="1700" b="1" i="0">
                <a:solidFill>
                  <a:srgbClr val="C00000"/>
                </a:solidFill>
                <a:latin typeface="Times New Roman"/>
                <a:ea typeface="Times New Roman"/>
                <a:cs typeface="Times New Roman"/>
              </a:rPr>
              <a:t>▼ đỏ</a:t>
            </a:r>
            <a:r>
              <a:rPr sz="1700" b="0" i="0">
                <a:solidFill>
                  <a:srgbClr val="222222"/>
                </a:solidFill>
                <a:latin typeface="Times New Roman"/>
                <a:ea typeface="Times New Roman"/>
                <a:cs typeface="Times New Roman"/>
              </a:rPr>
              <a:t> là giảm</a:t>
            </a:r>
          </a:p>
        </p:txBody>
      </p:sp>
      <p:sp>
        <p:nvSpPr>
          <p:cNvPr id="143" name="Rectangle 142"/>
          <p:cNvSpPr/>
          <p:nvPr/>
        </p:nvSpPr>
        <p:spPr>
          <a:xfrm>
            <a:off x="365760" y="1371600"/>
            <a:ext cx="5654825" cy="4617720"/>
          </a:xfrm>
          <a:prstGeom prst="rect">
            <a:avLst/>
          </a:prstGeom>
          <a:solidFill>
            <a:srgbClr val="FFFFFF"/>
          </a:solidFill>
          <a:ln w="15875">
            <a:solidFill>
              <a:srgbClr val="C55A11"/>
            </a:solidFill>
          </a:ln>
          <a:effectLst/>
        </p:spPr>
        <p:txBody>
          <a:bodyPr rtlCol="0" anchor="ctr" wrap="square" lIns="73152" tIns="36576" rIns="73152" bIns="36576"/>
          <a:lstStyle/>
          <a:p>
            <a:pPr algn="ctr"/>
          </a:p>
        </p:txBody>
      </p:sp>
      <p:pic>
        <p:nvPicPr>
          <p:cNvPr id="144" name="Picture 143" descr="dash_s2.png"/>
          <p:cNvPicPr>
            <a:picLocks noChangeAspect="1"/>
          </p:cNvPicPr>
          <p:nvPr/>
        </p:nvPicPr>
        <p:blipFill>
          <a:blip r:embed="rId3"/>
          <a:stretch>
            <a:fillRect/>
          </a:stretch>
        </p:blipFill>
        <p:spPr>
          <a:xfrm>
            <a:off x="411480" y="1417320"/>
            <a:ext cx="5563385" cy="4526280"/>
          </a:xfrm>
          <a:prstGeom prst="rect">
            <a:avLst/>
          </a:prstGeom>
        </p:spPr>
      </p:pic>
      <p:sp>
        <p:nvSpPr>
          <p:cNvPr id="145" name="Rounded Rectangle 144"/>
          <p:cNvSpPr/>
          <p:nvPr/>
        </p:nvSpPr>
        <p:spPr>
          <a:xfrm>
            <a:off x="6249185" y="1371600"/>
            <a:ext cx="5592294"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tập trung ở đâu, kênh nào tăng?</a:t>
            </a:r>
          </a:p>
        </p:txBody>
      </p:sp>
      <p:sp>
        <p:nvSpPr>
          <p:cNvPr id="146" name="Rounded Rectangle 145"/>
          <p:cNvSpPr/>
          <p:nvPr/>
        </p:nvSpPr>
        <p:spPr>
          <a:xfrm>
            <a:off x="6249185" y="2377440"/>
            <a:ext cx="5592294" cy="361188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47" name="Rounded Rectangle 146"/>
          <p:cNvSpPr/>
          <p:nvPr/>
        </p:nvSpPr>
        <p:spPr>
          <a:xfrm>
            <a:off x="6249185" y="2377440"/>
            <a:ext cx="5592294" cy="41148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6322337" y="2834640"/>
            <a:ext cx="5445990"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Cửa hàng (POS) </a:t>
            </a:r>
            <a:r>
              <a:rPr sz="1200" b="0" i="0">
                <a:solidFill>
                  <a:srgbClr val="222222"/>
                </a:solidFill>
                <a:latin typeface="Times New Roman"/>
                <a:ea typeface="Times New Roman"/>
                <a:cs typeface="Times New Roman"/>
              </a:rPr>
              <a:t>460,9 nghìn USD = 74,8% Net Sales; online 154,9</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+272,3% so với tháng trước, POS +130,6%</a:t>
            </a:r>
          </a:p>
          <a:p>
            <a:pPr algn="l" marL="182880" indent="-182880">
              <a:spcAft>
                <a:spcPts val="500"/>
              </a:spcAft>
              <a:buFont typeface="Arial"/>
              <a:buChar char="•"/>
            </a:pPr>
            <a:r>
              <a:rPr sz="1200" b="1" i="0">
                <a:solidFill>
                  <a:srgbClr val="222222"/>
                </a:solidFill>
                <a:latin typeface="Times New Roman"/>
                <a:ea typeface="Times New Roman"/>
                <a:cs typeface="Times New Roman"/>
              </a:rPr>
              <a:t>Máy tính</a:t>
            </a:r>
            <a:r>
              <a:rPr sz="1200" b="0" i="0">
                <a:solidFill>
                  <a:srgbClr val="222222"/>
                </a:solidFill>
                <a:latin typeface="Times New Roman"/>
                <a:ea typeface="Times New Roman"/>
                <a:cs typeface="Times New Roman"/>
              </a:rPr>
              <a:t> chiếm 43,4% Net Sales – danh mục lớn nhất</a:t>
            </a:r>
          </a:p>
          <a:p>
            <a:pPr algn="l" marL="182880" indent="-182880">
              <a:spcAft>
                <a:spcPts val="500"/>
              </a:spcAft>
              <a:buFont typeface="Arial"/>
              <a:buChar char="•"/>
            </a:pPr>
            <a:r>
              <a:rPr sz="1200" b="1" i="0">
                <a:solidFill>
                  <a:srgbClr val="222222"/>
                </a:solidFill>
                <a:latin typeface="Times New Roman"/>
                <a:ea typeface="Times New Roman"/>
                <a:cs typeface="Times New Roman"/>
              </a:rPr>
              <a:t>AOV theo kênh: </a:t>
            </a:r>
            <a:r>
              <a:rPr sz="1200" b="0" i="0">
                <a:solidFill>
                  <a:srgbClr val="222222"/>
                </a:solidFill>
                <a:latin typeface="Times New Roman"/>
                <a:ea typeface="Times New Roman"/>
                <a:cs typeface="Times New Roman"/>
              </a:rPr>
              <a:t>POS 2.058, online 1.801 USD/đơn</a:t>
            </a:r>
          </a:p>
          <a:p>
            <a:pPr algn="l" marL="182880" indent="-182880">
              <a:spcAft>
                <a:spcPts val="500"/>
              </a:spcAft>
              <a:buFont typeface="Arial"/>
              <a:buChar char="•"/>
            </a:pPr>
            <a:r>
              <a:rPr sz="1200" b="1" i="0">
                <a:solidFill>
                  <a:srgbClr val="222222"/>
                </a:solidFill>
                <a:latin typeface="Times New Roman"/>
                <a:ea typeface="Times New Roman"/>
                <a:cs typeface="Times New Roman"/>
              </a:rPr>
              <a:t>Top 10: </a:t>
            </a:r>
            <a:r>
              <a:rPr sz="1200" b="0" i="0">
                <a:solidFill>
                  <a:srgbClr val="222222"/>
                </a:solidFill>
                <a:latin typeface="Times New Roman"/>
                <a:ea typeface="Times New Roman"/>
                <a:cs typeface="Times New Roman"/>
              </a:rPr>
              <a:t>đọc cột Thay đổi; ô "–" là cửa hàng không bán ở kỳ so sánh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Đối soát, tháng 12/2020: Δ ở đâu và có biến mất sau quy đổi không?</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Đối soát theo thứ tự: </a:t>
            </a:r>
            <a:r>
              <a:rPr sz="1700" b="1" i="0">
                <a:solidFill>
                  <a:srgbClr val="123A7A"/>
                </a:solidFill>
                <a:latin typeface="Times New Roman"/>
                <a:ea typeface="Times New Roman"/>
                <a:cs typeface="Times New Roman"/>
              </a:rPr>
              <a:t>tổng chuỗi → kênh → cửa hàng → ngày</a:t>
            </a:r>
          </a:p>
        </p:txBody>
      </p:sp>
      <p:sp>
        <p:nvSpPr>
          <p:cNvPr id="143" name="Rectangle 142"/>
          <p:cNvSpPr/>
          <p:nvPr/>
        </p:nvSpPr>
        <p:spPr>
          <a:xfrm>
            <a:off x="365760" y="1371600"/>
            <a:ext cx="5865054" cy="4617720"/>
          </a:xfrm>
          <a:prstGeom prst="rect">
            <a:avLst/>
          </a:prstGeom>
          <a:solidFill>
            <a:srgbClr val="FFFFFF"/>
          </a:solidFill>
          <a:ln w="15875">
            <a:solidFill>
              <a:srgbClr val="123A7A"/>
            </a:solidFill>
          </a:ln>
          <a:effectLst/>
        </p:spPr>
        <p:txBody>
          <a:bodyPr rtlCol="0" anchor="ctr" wrap="square" lIns="73152" tIns="36576" rIns="73152" bIns="36576"/>
          <a:lstStyle/>
          <a:p>
            <a:pPr algn="ctr"/>
          </a:p>
        </p:txBody>
      </p:sp>
      <p:pic>
        <p:nvPicPr>
          <p:cNvPr id="144" name="Picture 143" descr="dash_s3.png"/>
          <p:cNvPicPr>
            <a:picLocks noChangeAspect="1"/>
          </p:cNvPicPr>
          <p:nvPr/>
        </p:nvPicPr>
        <p:blipFill>
          <a:blip r:embed="rId3"/>
          <a:stretch>
            <a:fillRect/>
          </a:stretch>
        </p:blipFill>
        <p:spPr>
          <a:xfrm>
            <a:off x="411480" y="1417320"/>
            <a:ext cx="5773614" cy="4526280"/>
          </a:xfrm>
          <a:prstGeom prst="rect">
            <a:avLst/>
          </a:prstGeom>
        </p:spPr>
      </p:pic>
      <p:sp>
        <p:nvSpPr>
          <p:cNvPr id="145" name="Rounded Rectangle 144"/>
          <p:cNvSpPr/>
          <p:nvPr/>
        </p:nvSpPr>
        <p:spPr>
          <a:xfrm>
            <a:off x="6459414" y="1371600"/>
            <a:ext cx="5382065"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Chênh lệch nằm ở cửa hàng nào, tháng nào, kênh nào?</a:t>
            </a:r>
          </a:p>
        </p:txBody>
      </p:sp>
      <p:sp>
        <p:nvSpPr>
          <p:cNvPr id="146" name="Rounded Rectangle 145"/>
          <p:cNvSpPr/>
          <p:nvPr/>
        </p:nvSpPr>
        <p:spPr>
          <a:xfrm>
            <a:off x="6459414" y="2377440"/>
            <a:ext cx="5382065" cy="361188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7" name="Rounded Rectangle 146"/>
          <p:cNvSpPr/>
          <p:nvPr/>
        </p:nvSpPr>
        <p:spPr>
          <a:xfrm>
            <a:off x="6459414" y="2377440"/>
            <a:ext cx="5382065" cy="41148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6532566" y="2834640"/>
            <a:ext cx="5235761"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Δ toàn chuỗi </a:t>
            </a:r>
            <a:r>
              <a:rPr sz="1200" b="0" i="0">
                <a:solidFill>
                  <a:srgbClr val="222222"/>
                </a:solidFill>
                <a:latin typeface="Times New Roman"/>
                <a:ea typeface="Times New Roman"/>
                <a:cs typeface="Times New Roman"/>
              </a:rPr>
              <a:t>−12.536 USD = −2,11% trên Finance</a:t>
            </a:r>
          </a:p>
          <a:p>
            <a:pPr algn="l" marL="182880" indent="-182880">
              <a:spcAft>
                <a:spcPts val="500"/>
              </a:spcAft>
              <a:buFont typeface="Arial"/>
              <a:buChar char="•"/>
            </a:pPr>
            <a:r>
              <a:rPr sz="1200" b="1" i="0">
                <a:solidFill>
                  <a:srgbClr val="222222"/>
                </a:solidFill>
                <a:latin typeface="Times New Roman"/>
                <a:ea typeface="Times New Roman"/>
                <a:cs typeface="Times New Roman"/>
              </a:rPr>
              <a:t>Online: </a:t>
            </a:r>
            <a:r>
              <a:rPr sz="1200" b="0" i="0">
                <a:solidFill>
                  <a:srgbClr val="222222"/>
                </a:solidFill>
                <a:latin typeface="Times New Roman"/>
                <a:ea typeface="Times New Roman"/>
                <a:cs typeface="Times New Roman"/>
              </a:rPr>
              <a:t>Δ −22.812 USD (−17,5%), về 0 sau khi quy về ngày giao → lệch thời điểm</a:t>
            </a:r>
          </a:p>
          <a:p>
            <a:pPr algn="l" marL="182880" indent="-182880">
              <a:spcAft>
                <a:spcPts val="500"/>
              </a:spcAft>
              <a:buFont typeface="Arial"/>
              <a:buChar char="•"/>
            </a:pPr>
            <a:r>
              <a:rPr sz="1200" b="1" i="0">
                <a:solidFill>
                  <a:srgbClr val="222222"/>
                </a:solidFill>
                <a:latin typeface="Times New Roman"/>
                <a:ea typeface="Times New Roman"/>
                <a:cs typeface="Times New Roman"/>
              </a:rPr>
              <a:t>S12: </a:t>
            </a:r>
            <a:r>
              <a:rPr sz="1200" b="0" i="0">
                <a:solidFill>
                  <a:srgbClr val="222222"/>
                </a:solidFill>
                <a:latin typeface="Times New Roman"/>
                <a:ea typeface="Times New Roman"/>
                <a:cs typeface="Times New Roman"/>
              </a:rPr>
              <a:t>Finance cao hơn 10.141 USD (32,7%), không đổi sau quy đổi → phải xem từng posting_date</a:t>
            </a:r>
          </a:p>
          <a:p>
            <a:pPr algn="l" marL="182880" indent="-182880">
              <a:spcAft>
                <a:spcPts val="500"/>
              </a:spcAft>
              <a:buFont typeface="Arial"/>
              <a:buChar char="•"/>
            </a:pPr>
            <a:r>
              <a:rPr sz="1200" b="1" i="0">
                <a:solidFill>
                  <a:srgbClr val="222222"/>
                </a:solidFill>
                <a:latin typeface="Times New Roman"/>
                <a:ea typeface="Times New Roman"/>
                <a:cs typeface="Times New Roman"/>
              </a:rPr>
              <a:t>Còn lại: </a:t>
            </a:r>
            <a:r>
              <a:rPr sz="1200" b="0" i="0">
                <a:solidFill>
                  <a:srgbClr val="222222"/>
                </a:solidFill>
                <a:latin typeface="Times New Roman"/>
                <a:ea typeface="Times New Roman"/>
                <a:cs typeface="Times New Roman"/>
              </a:rPr>
              <a:t>48 cửa hàng có số liệu khác đều trong ngưỡng</a:t>
            </a:r>
          </a:p>
          <a:p>
            <a:pPr algn="l" marL="182880" indent="-182880">
              <a:spcAft>
                <a:spcPts val="500"/>
              </a:spcAft>
              <a:buFont typeface="Arial"/>
              <a:buChar char="•"/>
            </a:pPr>
            <a:r>
              <a:rPr sz="1200" b="1" i="0">
                <a:solidFill>
                  <a:srgbClr val="C55A11"/>
                </a:solidFill>
                <a:latin typeface="Times New Roman"/>
                <a:ea typeface="Times New Roman"/>
                <a:cs typeface="Times New Roman"/>
              </a:rPr>
              <a:t>Mẹo: </a:t>
            </a:r>
            <a:r>
              <a:rPr sz="1200" b="0" i="0">
                <a:solidFill>
                  <a:srgbClr val="222222"/>
                </a:solidFill>
                <a:latin typeface="Times New Roman"/>
                <a:ea typeface="Times New Roman"/>
                <a:cs typeface="Times New Roman"/>
              </a:rPr>
              <a:t>xếp bảng theo |Δ| giảm dần, chỉ đào sâu các dòng có cờ Vượt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Trang Hoàn trả &amp; chất lượng, tháng 12/2020</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Tỷ lệ hoàn trả đo bằng </a:t>
            </a:r>
            <a:r>
              <a:rPr sz="1700" b="1" i="0">
                <a:solidFill>
                  <a:srgbClr val="123A7A"/>
                </a:solidFill>
                <a:latin typeface="Times New Roman"/>
                <a:ea typeface="Times New Roman"/>
                <a:cs typeface="Times New Roman"/>
              </a:rPr>
              <a:t>điểm %</a:t>
            </a:r>
            <a:r>
              <a:rPr sz="1700" b="0" i="0">
                <a:solidFill>
                  <a:srgbClr val="222222"/>
                </a:solidFill>
                <a:latin typeface="Times New Roman"/>
                <a:ea typeface="Times New Roman"/>
                <a:cs typeface="Times New Roman"/>
              </a:rPr>
              <a:t>; tăng là </a:t>
            </a:r>
            <a:r>
              <a:rPr sz="1700" b="1" i="0">
                <a:solidFill>
                  <a:srgbClr val="C00000"/>
                </a:solidFill>
                <a:latin typeface="Times New Roman"/>
                <a:ea typeface="Times New Roman"/>
                <a:cs typeface="Times New Roman"/>
              </a:rPr>
              <a:t>xấu</a:t>
            </a:r>
            <a:r>
              <a:rPr sz="1700" b="0" i="0">
                <a:solidFill>
                  <a:srgbClr val="222222"/>
                </a:solidFill>
                <a:latin typeface="Times New Roman"/>
                <a:ea typeface="Times New Roman"/>
                <a:cs typeface="Times New Roman"/>
              </a:rPr>
              <a:t> nên dùng màu đảo</a:t>
            </a:r>
          </a:p>
        </p:txBody>
      </p:sp>
      <p:sp>
        <p:nvSpPr>
          <p:cNvPr id="143" name="Rectangle 142"/>
          <p:cNvSpPr/>
          <p:nvPr/>
        </p:nvSpPr>
        <p:spPr>
          <a:xfrm>
            <a:off x="365760" y="1371600"/>
            <a:ext cx="7680960"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pic>
        <p:nvPicPr>
          <p:cNvPr id="144" name="Picture 143" descr="dash_s4_main.png"/>
          <p:cNvPicPr>
            <a:picLocks noChangeAspect="1"/>
          </p:cNvPicPr>
          <p:nvPr/>
        </p:nvPicPr>
        <p:blipFill>
          <a:blip r:embed="rId3"/>
          <a:stretch>
            <a:fillRect/>
          </a:stretch>
        </p:blipFill>
        <p:spPr>
          <a:xfrm>
            <a:off x="411480" y="1517117"/>
            <a:ext cx="7589520" cy="4326684"/>
          </a:xfrm>
          <a:prstGeom prst="rect">
            <a:avLst/>
          </a:prstGeom>
        </p:spPr>
      </p:pic>
      <p:sp>
        <p:nvSpPr>
          <p:cNvPr id="145" name="Rounded Rectangle 144"/>
          <p:cNvSpPr/>
          <p:nvPr/>
        </p:nvSpPr>
        <p:spPr>
          <a:xfrm>
            <a:off x="8275320" y="1371600"/>
            <a:ext cx="3566159" cy="868680"/>
          </a:xfrm>
          <a:prstGeom prst="roundRect">
            <a:avLst>
              <a:gd name="adj" fmla="val 6000"/>
            </a:avLst>
          </a:prstGeom>
          <a:solidFill>
            <a:srgbClr val="DEEAF6"/>
          </a:solidFill>
          <a:ln w="15875">
            <a:solidFill>
              <a:srgbClr val="123A7A"/>
            </a:solidFill>
          </a:ln>
          <a:effectLst/>
        </p:spPr>
        <p:txBody>
          <a:bodyPr rtlCol="0" anchor="ctr" wrap="square" lIns="109728" tIns="27432" bIns="27432"/>
          <a:lstStyle/>
          <a:p>
            <a:pPr algn="l">
              <a:buNone/>
            </a:pPr>
            <a:r>
              <a:rPr sz="1200" b="1" i="0">
                <a:solidFill>
                  <a:srgbClr val="123A7A"/>
                </a:solidFill>
                <a:latin typeface="Times New Roman"/>
                <a:ea typeface="Times New Roman"/>
                <a:cs typeface="Times New Roman"/>
              </a:rPr>
              <a:t>Câu hỏi của đề bài</a:t>
            </a:r>
          </a:p>
          <a:p>
            <a:pPr algn="l">
              <a:buNone/>
            </a:pPr>
            <a:r>
              <a:rPr sz="1300" b="1" i="1">
                <a:solidFill>
                  <a:srgbClr val="222222"/>
                </a:solidFill>
                <a:latin typeface="Times New Roman"/>
                <a:ea typeface="Times New Roman"/>
                <a:cs typeface="Times New Roman"/>
              </a:rPr>
              <a:t>Doanh thu có "sạch" không: trả hàng, huỷ đơn, dữ liệu lỗi?</a:t>
            </a:r>
          </a:p>
        </p:txBody>
      </p:sp>
      <p:sp>
        <p:nvSpPr>
          <p:cNvPr id="146" name="Rounded Rectangle 145"/>
          <p:cNvSpPr/>
          <p:nvPr/>
        </p:nvSpPr>
        <p:spPr>
          <a:xfrm>
            <a:off x="8275320" y="2377440"/>
            <a:ext cx="3566159" cy="361188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47" name="Rounded Rectangle 146"/>
          <p:cNvSpPr/>
          <p:nvPr/>
        </p:nvSpPr>
        <p:spPr>
          <a:xfrm>
            <a:off x="8275320" y="2377440"/>
            <a:ext cx="3566159" cy="41148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400" b="1" i="0">
                <a:solidFill>
                  <a:srgbClr val="FFFFFF"/>
                </a:solidFill>
                <a:latin typeface="Times New Roman"/>
                <a:ea typeface="Times New Roman"/>
                <a:cs typeface="Times New Roman"/>
              </a:rPr>
              <a:t>Cách đọc</a:t>
            </a:r>
          </a:p>
        </p:txBody>
      </p:sp>
      <p:sp>
        <p:nvSpPr>
          <p:cNvPr id="148" name="TextBox 147"/>
          <p:cNvSpPr txBox="1"/>
          <p:nvPr/>
        </p:nvSpPr>
        <p:spPr>
          <a:xfrm>
            <a:off x="8348472" y="2834640"/>
            <a:ext cx="3419855" cy="3108960"/>
          </a:xfrm>
          <a:prstGeom prst="rect">
            <a:avLst/>
          </a:prstGeom>
          <a:noFill/>
        </p:spPr>
        <p:txBody>
          <a:bodyPr wrap="square" lIns="45720" tIns="27432" rIns="45720" bIns="27432" anchor="t"/>
          <a:lstStyle/>
          <a:p>
            <a:pPr algn="l" marL="182880" indent="-182880">
              <a:spcAft>
                <a:spcPts val="500"/>
              </a:spcAft>
              <a:buFont typeface="Arial"/>
              <a:buChar char="•"/>
            </a:pPr>
            <a:r>
              <a:rPr sz="1200" b="1" i="0">
                <a:solidFill>
                  <a:srgbClr val="222222"/>
                </a:solidFill>
                <a:latin typeface="Times New Roman"/>
                <a:ea typeface="Times New Roman"/>
                <a:cs typeface="Times New Roman"/>
              </a:rPr>
              <a:t>Hoàn trả </a:t>
            </a:r>
            <a:r>
              <a:rPr sz="1200" b="0" i="0">
                <a:solidFill>
                  <a:srgbClr val="222222"/>
                </a:solidFill>
                <a:latin typeface="Times New Roman"/>
                <a:ea typeface="Times New Roman"/>
                <a:cs typeface="Times New Roman"/>
              </a:rPr>
              <a:t>9.687 USD, tỷ lệ 1,57%</a:t>
            </a:r>
            <a:r>
              <a:rPr sz="1200" b="0" i="0">
                <a:solidFill>
                  <a:srgbClr val="222222"/>
                </a:solidFill>
                <a:latin typeface="Times New Roman"/>
                <a:ea typeface="Times New Roman"/>
                <a:cs typeface="Times New Roman"/>
              </a:rPr>
              <a:t> (+0,16 điểm % so với 11/2020, −0,72 điểm % so với 12/2019)</a:t>
            </a:r>
          </a:p>
          <a:p>
            <a:pPr algn="l" marL="182880" indent="-182880">
              <a:spcAft>
                <a:spcPts val="500"/>
              </a:spcAft>
              <a:buFont typeface="Arial"/>
              <a:buChar char="•"/>
            </a:pPr>
            <a:r>
              <a:rPr sz="1200" b="1" i="0">
                <a:solidFill>
                  <a:srgbClr val="222222"/>
                </a:solidFill>
                <a:latin typeface="Times New Roman"/>
                <a:ea typeface="Times New Roman"/>
                <a:cs typeface="Times New Roman"/>
              </a:rPr>
              <a:t>Lý do lớn nhất: </a:t>
            </a:r>
            <a:r>
              <a:rPr sz="1200" b="0" i="0">
                <a:solidFill>
                  <a:srgbClr val="222222"/>
                </a:solidFill>
                <a:latin typeface="Times New Roman"/>
                <a:ea typeface="Times New Roman"/>
                <a:cs typeface="Times New Roman"/>
              </a:rPr>
              <a:t>Giao nhầm hàng (38,3% giá trị trả trong tháng)</a:t>
            </a:r>
          </a:p>
          <a:p>
            <a:pPr algn="l" marL="182880" indent="-182880">
              <a:spcAft>
                <a:spcPts val="500"/>
              </a:spcAft>
              <a:buFont typeface="Arial"/>
              <a:buChar char="•"/>
            </a:pPr>
            <a:r>
              <a:rPr sz="1200" b="1" i="0">
                <a:solidFill>
                  <a:srgbClr val="222222"/>
                </a:solidFill>
                <a:latin typeface="Times New Roman"/>
                <a:ea typeface="Times New Roman"/>
                <a:cs typeface="Times New Roman"/>
              </a:rPr>
              <a:t>Danh mục: </a:t>
            </a:r>
            <a:r>
              <a:rPr sz="1200" b="0" i="0">
                <a:solidFill>
                  <a:srgbClr val="222222"/>
                </a:solidFill>
                <a:latin typeface="Times New Roman"/>
                <a:ea typeface="Times New Roman"/>
                <a:cs typeface="Times New Roman"/>
              </a:rPr>
              <a:t>đọc tỷ lệ cùng quy mô; danh mục nhỏ dễ có tỷ lệ cao do ít đơn</a:t>
            </a:r>
          </a:p>
          <a:p>
            <a:pPr algn="l" marL="182880" indent="-182880">
              <a:spcAft>
                <a:spcPts val="500"/>
              </a:spcAft>
              <a:buFont typeface="Arial"/>
              <a:buChar char="•"/>
            </a:pPr>
            <a:r>
              <a:rPr sz="1200" b="1" i="0">
                <a:solidFill>
                  <a:srgbClr val="222222"/>
                </a:solidFill>
                <a:latin typeface="Times New Roman"/>
                <a:ea typeface="Times New Roman"/>
                <a:cs typeface="Times New Roman"/>
              </a:rPr>
              <a:t>Chất lượng dữ liệu: </a:t>
            </a:r>
            <a:r>
              <a:rPr sz="1200" b="0" i="0">
                <a:solidFill>
                  <a:srgbClr val="222222"/>
                </a:solidFill>
                <a:latin typeface="Times New Roman"/>
                <a:ea typeface="Times New Roman"/>
                <a:cs typeface="Times New Roman"/>
              </a:rPr>
              <a:t>120 dòng trùng đã loại, 29 đơn PENDING tại ngày trích (20/02/2021)</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Quy trình đối soát 8 bước: từ hai nguồn đến bảng giải thích chênh lệch</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nguyên nhân phải có </a:t>
            </a:r>
            <a:r>
              <a:rPr sz="1700" b="1" i="0">
                <a:solidFill>
                  <a:srgbClr val="C00000"/>
                </a:solidFill>
                <a:latin typeface="Times New Roman"/>
                <a:ea typeface="Times New Roman"/>
                <a:cs typeface="Times New Roman"/>
              </a:rPr>
              <a:t>số tiền</a:t>
            </a:r>
            <a:r>
              <a:rPr sz="1700" b="0" i="0">
                <a:solidFill>
                  <a:srgbClr val="222222"/>
                </a:solidFill>
                <a:latin typeface="Times New Roman"/>
                <a:ea typeface="Times New Roman"/>
                <a:cs typeface="Times New Roman"/>
              </a:rPr>
              <a:t>; tổng các nguyên nhân = Δ, phần chưa giải thích = 0</a:t>
            </a:r>
          </a:p>
        </p:txBody>
      </p:sp>
      <p:pic>
        <p:nvPicPr>
          <p:cNvPr id="143" name="Picture 142" descr="03_quy_trinh_doi_soat.png"/>
          <p:cNvPicPr>
            <a:picLocks noChangeAspect="1"/>
          </p:cNvPicPr>
          <p:nvPr/>
        </p:nvPicPr>
        <p:blipFill>
          <a:blip r:embed="rId3"/>
          <a:stretch>
            <a:fillRect/>
          </a:stretch>
        </p:blipFill>
        <p:spPr>
          <a:xfrm>
            <a:off x="365760" y="1298448"/>
            <a:ext cx="7022482" cy="4754880"/>
          </a:xfrm>
          <a:prstGeom prst="rect">
            <a:avLst/>
          </a:prstGeom>
        </p:spPr>
      </p:pic>
      <p:sp>
        <p:nvSpPr>
          <p:cNvPr id="144" name="Rounded Rectangle 143"/>
          <p:cNvSpPr/>
          <p:nvPr/>
        </p:nvSpPr>
        <p:spPr>
          <a:xfrm>
            <a:off x="7616842" y="1371600"/>
            <a:ext cx="4224637" cy="4617720"/>
          </a:xfrm>
          <a:prstGeom prst="roundRect">
            <a:avLst>
              <a:gd name="adj" fmla="val 6000"/>
            </a:avLst>
          </a:prstGeom>
          <a:solidFill>
            <a:srgbClr val="DEEAF6"/>
          </a:solidFill>
          <a:ln w="19050">
            <a:solidFill>
              <a:srgbClr val="123A7A"/>
            </a:solidFill>
          </a:ln>
          <a:effectLst/>
        </p:spPr>
        <p:txBody>
          <a:bodyPr rtlCol="0" anchor="ctr" wrap="square" lIns="73152" tIns="36576" rIns="73152" bIns="36576"/>
          <a:lstStyle/>
          <a:p>
            <a:pPr algn="ctr"/>
          </a:p>
        </p:txBody>
      </p:sp>
      <p:sp>
        <p:nvSpPr>
          <p:cNvPr id="145" name="Rounded Rectangle 144"/>
          <p:cNvSpPr/>
          <p:nvPr/>
        </p:nvSpPr>
        <p:spPr>
          <a:xfrm>
            <a:off x="7616842" y="1371600"/>
            <a:ext cx="4224637"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Tóm tắt 8 bước</a:t>
            </a:r>
          </a:p>
        </p:txBody>
      </p:sp>
      <p:sp>
        <p:nvSpPr>
          <p:cNvPr id="146" name="TextBox 145"/>
          <p:cNvSpPr txBox="1"/>
          <p:nvPr/>
        </p:nvSpPr>
        <p:spPr>
          <a:xfrm>
            <a:off x="7708282" y="1901952"/>
            <a:ext cx="4041757" cy="4023360"/>
          </a:xfrm>
          <a:prstGeom prst="rect">
            <a:avLst/>
          </a:prstGeom>
          <a:noFill/>
        </p:spPr>
        <p:txBody>
          <a:bodyPr wrap="square" lIns="45720" tIns="27432" rIns="45720" bIns="27432" anchor="t"/>
          <a:lstStyle/>
          <a:p>
            <a:pPr algn="l">
              <a:spcAft>
                <a:spcPts val="500"/>
              </a:spcAft>
              <a:buNone/>
            </a:pPr>
            <a:r>
              <a:rPr sz="1300" b="1" i="0">
                <a:solidFill>
                  <a:srgbClr val="123A7A"/>
                </a:solidFill>
                <a:latin typeface="Times New Roman"/>
                <a:ea typeface="Times New Roman"/>
                <a:cs typeface="Times New Roman"/>
              </a:rPr>
              <a:t>1. </a:t>
            </a:r>
            <a:r>
              <a:rPr sz="1300" b="0" i="0">
                <a:solidFill>
                  <a:srgbClr val="222222"/>
                </a:solidFill>
                <a:latin typeface="Times New Roman"/>
                <a:ea typeface="Times New Roman"/>
                <a:cs typeface="Times New Roman"/>
              </a:rPr>
              <a:t>Bỏ dòng trùng</a:t>
            </a:r>
          </a:p>
          <a:p>
            <a:pPr algn="l">
              <a:spcAft>
                <a:spcPts val="500"/>
              </a:spcAft>
              <a:buNone/>
            </a:pPr>
            <a:r>
              <a:rPr sz="1300" b="1" i="0">
                <a:solidFill>
                  <a:srgbClr val="123A7A"/>
                </a:solidFill>
                <a:latin typeface="Times New Roman"/>
                <a:ea typeface="Times New Roman"/>
                <a:cs typeface="Times New Roman"/>
              </a:rPr>
              <a:t>2. </a:t>
            </a:r>
            <a:r>
              <a:rPr sz="1300" b="0" i="0">
                <a:solidFill>
                  <a:srgbClr val="222222"/>
                </a:solidFill>
                <a:latin typeface="Times New Roman"/>
                <a:ea typeface="Times New Roman"/>
                <a:cs typeface="Times New Roman"/>
              </a:rPr>
              <a:t>Giữ đơn COMPLETED</a:t>
            </a:r>
          </a:p>
          <a:p>
            <a:pPr algn="l">
              <a:spcAft>
                <a:spcPts val="500"/>
              </a:spcAft>
              <a:buNone/>
            </a:pPr>
            <a:r>
              <a:rPr sz="1300" b="1" i="0">
                <a:solidFill>
                  <a:srgbClr val="123A7A"/>
                </a:solidFill>
                <a:latin typeface="Times New Roman"/>
                <a:ea typeface="Times New Roman"/>
                <a:cs typeface="Times New Roman"/>
              </a:rPr>
              <a:t>3. </a:t>
            </a:r>
            <a:r>
              <a:rPr sz="1300" b="0" i="0">
                <a:solidFill>
                  <a:srgbClr val="222222"/>
                </a:solidFill>
                <a:latin typeface="Times New Roman"/>
                <a:ea typeface="Times New Roman"/>
                <a:cs typeface="Times New Roman"/>
              </a:rPr>
              <a:t>Gross − Discounts = Net Sales</a:t>
            </a:r>
          </a:p>
          <a:p>
            <a:pPr algn="l">
              <a:spcAft>
                <a:spcPts val="500"/>
              </a:spcAft>
              <a:buNone/>
            </a:pPr>
            <a:r>
              <a:rPr sz="1300" b="1" i="0">
                <a:solidFill>
                  <a:srgbClr val="123A7A"/>
                </a:solidFill>
                <a:latin typeface="Times New Roman"/>
                <a:ea typeface="Times New Roman"/>
                <a:cs typeface="Times New Roman"/>
              </a:rPr>
              <a:t>4. </a:t>
            </a:r>
            <a:r>
              <a:rPr sz="1300" b="0" i="0">
                <a:solidFill>
                  <a:srgbClr val="222222"/>
                </a:solidFill>
                <a:latin typeface="Times New Roman"/>
                <a:ea typeface="Times New Roman"/>
                <a:cs typeface="Times New Roman"/>
              </a:rPr>
              <a:t>Net Sales − Returns = Net Revenue</a:t>
            </a:r>
          </a:p>
          <a:p>
            <a:pPr algn="l">
              <a:spcAft>
                <a:spcPts val="500"/>
              </a:spcAft>
              <a:buNone/>
            </a:pPr>
            <a:r>
              <a:rPr sz="1300" b="1" i="0">
                <a:solidFill>
                  <a:srgbClr val="123A7A"/>
                </a:solidFill>
                <a:latin typeface="Times New Roman"/>
                <a:ea typeface="Times New Roman"/>
                <a:cs typeface="Times New Roman"/>
              </a:rPr>
              <a:t>5. </a:t>
            </a:r>
            <a:r>
              <a:rPr sz="1300" b="0" i="0">
                <a:solidFill>
                  <a:srgbClr val="222222"/>
                </a:solidFill>
                <a:latin typeface="Times New Roman"/>
                <a:ea typeface="Times New Roman"/>
                <a:cs typeface="Times New Roman"/>
              </a:rPr>
              <a:t>Map Finance → store_key theo hiệu lực, tách HQ-ADJ</a:t>
            </a:r>
          </a:p>
          <a:p>
            <a:pPr algn="l">
              <a:spcAft>
                <a:spcPts val="500"/>
              </a:spcAft>
              <a:buNone/>
            </a:pPr>
            <a:r>
              <a:rPr sz="1300" b="1" i="0">
                <a:solidFill>
                  <a:srgbClr val="123A7A"/>
                </a:solidFill>
                <a:latin typeface="Times New Roman"/>
                <a:ea typeface="Times New Roman"/>
                <a:cs typeface="Times New Roman"/>
              </a:rPr>
              <a:t>6. </a:t>
            </a:r>
            <a:r>
              <a:rPr sz="1300" b="0" i="0">
                <a:solidFill>
                  <a:srgbClr val="222222"/>
                </a:solidFill>
                <a:latin typeface="Times New Roman"/>
                <a:ea typeface="Times New Roman"/>
                <a:cs typeface="Times New Roman"/>
              </a:rPr>
              <a:t>Ghép tháng × store_key, tính Δ và Δ%</a:t>
            </a:r>
          </a:p>
          <a:p>
            <a:pPr algn="l">
              <a:spcAft>
                <a:spcPts val="500"/>
              </a:spcAft>
              <a:buNone/>
            </a:pPr>
            <a:r>
              <a:rPr sz="1300" b="1" i="0">
                <a:solidFill>
                  <a:srgbClr val="123A7A"/>
                </a:solidFill>
                <a:latin typeface="Times New Roman"/>
                <a:ea typeface="Times New Roman"/>
                <a:cs typeface="Times New Roman"/>
              </a:rPr>
              <a:t>7. </a:t>
            </a:r>
            <a:r>
              <a:rPr sz="1300" b="0" i="0">
                <a:solidFill>
                  <a:srgbClr val="222222"/>
                </a:solidFill>
                <a:latin typeface="Times New Roman"/>
                <a:ea typeface="Times New Roman"/>
                <a:cs typeface="Times New Roman"/>
              </a:rPr>
              <a:t>Ô vượt ngưỡng: xem theo ngày và theo kênh</a:t>
            </a:r>
          </a:p>
          <a:p>
            <a:pPr algn="l">
              <a:spcAft>
                <a:spcPts val="500"/>
              </a:spcAft>
              <a:buNone/>
            </a:pPr>
            <a:r>
              <a:rPr sz="1300" b="1" i="0">
                <a:solidFill>
                  <a:srgbClr val="123A7A"/>
                </a:solidFill>
                <a:latin typeface="Times New Roman"/>
                <a:ea typeface="Times New Roman"/>
                <a:cs typeface="Times New Roman"/>
              </a:rPr>
              <a:t>8. </a:t>
            </a:r>
            <a:r>
              <a:rPr sz="1300" b="0" i="0">
                <a:solidFill>
                  <a:srgbClr val="222222"/>
                </a:solidFill>
                <a:latin typeface="Times New Roman"/>
                <a:ea typeface="Times New Roman"/>
                <a:cs typeface="Times New Roman"/>
              </a:rPr>
              <a:t>Bảng giải thích: tổng nguyên nhân = Δ</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Bảng cầu nối năm 2020: khung học viên cần điền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Hai đầu cầu </a:t>
            </a:r>
            <a:r>
              <a:rPr sz="1700" b="1" i="0">
                <a:solidFill>
                  <a:srgbClr val="2E5B31"/>
                </a:solidFill>
                <a:latin typeface="Times New Roman"/>
                <a:ea typeface="Times New Roman"/>
                <a:cs typeface="Times New Roman"/>
              </a:rPr>
              <a:t>tính được từ dữ liệu</a:t>
            </a:r>
            <a:r>
              <a:rPr sz="1700" b="0" i="0">
                <a:solidFill>
                  <a:srgbClr val="222222"/>
                </a:solidFill>
                <a:latin typeface="Times New Roman"/>
                <a:ea typeface="Times New Roman"/>
                <a:cs typeface="Times New Roman"/>
              </a:rPr>
              <a:t>; phần giữa là bài làm: mỗi dòng = một nguyên nhân + số tiền + bằng chứng</a:t>
            </a:r>
          </a:p>
        </p:txBody>
      </p:sp>
      <p:graphicFrame>
        <p:nvGraphicFramePr>
          <p:cNvPr id="143" name="Table 142"/>
          <p:cNvGraphicFramePr>
            <a:graphicFrameLocks noGrp="1"/>
          </p:cNvGraphicFramePr>
          <p:nvPr/>
        </p:nvGraphicFramePr>
        <p:xfrm>
          <a:off x="365760" y="1371600"/>
          <a:ext cx="7863838" cy="4617720"/>
        </p:xfrm>
        <a:graphic>
          <a:graphicData uri="http://schemas.openxmlformats.org/drawingml/2006/table">
            <a:tbl>
              <a:tblPr firstRow="1">
                <a:tableStyleId>{5940675A-B579-460E-94D1-54222C63F5DA}</a:tableStyleId>
              </a:tblPr>
              <a:tblGrid>
                <a:gridCol w="3615558"/>
                <a:gridCol w="1536612"/>
                <a:gridCol w="2711668"/>
              </a:tblGrid>
              <a:tr h="577215">
                <a:tc>
                  <a:txBody>
                    <a:bodyPr/>
                    <a:lstStyle/>
                    <a:p>
                      <a:pPr algn="l">
                        <a:buNone/>
                      </a:pPr>
                      <a:r>
                        <a:rPr sz="13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Số tiền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300" b="1" i="0">
                          <a:solidFill>
                            <a:srgbClr val="FFFFFF"/>
                          </a:solidFill>
                          <a:latin typeface="Times New Roman"/>
                          <a:ea typeface="Times New Roman"/>
                          <a:cs typeface="Times New Roman"/>
                        </a:rPr>
                        <a:t>Bằng chứng cần đưa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577215">
                <a:tc>
                  <a:txBody>
                    <a:bodyPr/>
                    <a:lstStyle/>
                    <a:p>
                      <a:pPr algn="l">
                        <a:buNone/>
                      </a:pPr>
                      <a:r>
                        <a:rPr sz="1300" b="1" i="0">
                          <a:solidFill>
                            <a:srgbClr val="222222"/>
                          </a:solidFill>
                          <a:latin typeface="Times New Roman"/>
                          <a:ea typeface="Times New Roman"/>
                          <a:cs typeface="Times New Roman"/>
                        </a:rPr>
                        <a:t>Net Revenue dữ liệu đơn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r">
                        <a:buNone/>
                      </a:pPr>
                      <a:r>
                        <a:rPr sz="13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c>
                  <a:txBody>
                    <a:bodyPr/>
                    <a:lstStyle/>
                    <a:p>
                      <a:pPr algn="l">
                        <a:buNone/>
                      </a:pPr>
                      <a:r>
                        <a:rPr sz="1300" b="1" i="0">
                          <a:solidFill>
                            <a:srgbClr val="222222"/>
                          </a:solidFill>
                          <a:latin typeface="Times New Roman"/>
                          <a:ea typeface="Times New Roman"/>
                          <a:cs typeface="Times New Roman"/>
                        </a:rPr>
                        <a:t>Measure [Net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E2F0D9"/>
                    </a:solidFill>
                  </a:tcPr>
                </a:tc>
              </a:tr>
              <a:tr h="577215">
                <a:tc>
                  <a:txBody>
                    <a:bodyPr/>
                    <a:lstStyle/>
                    <a:p>
                      <a:pPr algn="l">
                        <a:buNone/>
                      </a:pPr>
                      <a:r>
                        <a:rPr sz="1300" b="0" i="0">
                          <a:solidFill>
                            <a:srgbClr val="222222"/>
                          </a:solidFill>
                          <a:latin typeface="Times New Roman"/>
                          <a:ea typeface="Times New Roman"/>
                          <a:cs typeface="Times New Roman"/>
                        </a:rPr>
                        <a:t>± Lệch thời điểm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Δ online trước / sau quy về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Hoàn tiền hạch toán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Cặp Δ trái dấu ở 2 tháng liền kề</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0" i="0">
                          <a:solidFill>
                            <a:srgbClr val="222222"/>
                          </a:solidFill>
                          <a:latin typeface="Times New Roman"/>
                          <a:ea typeface="Times New Roman"/>
                          <a:cs typeface="Times New Roman"/>
                        </a:rPr>
                        <a:t>± Nguyên nhân phía Finance (đơn huỷ, thiếu ngày, VAT,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BE5D6"/>
                    </a:solidFill>
                  </a:tcPr>
                </a:tc>
                <a:tc>
                  <a:txBody>
                    <a:bodyPr/>
                    <a:lstStyle/>
                    <a:p>
                      <a:pPr algn="l">
                        <a:buNone/>
                      </a:pPr>
                      <a:r>
                        <a:rPr sz="1300" b="0" i="0">
                          <a:solidFill>
                            <a:srgbClr val="222222"/>
                          </a:solidFill>
                          <a:latin typeface="Times New Roman"/>
                          <a:ea typeface="Times New Roman"/>
                          <a:cs typeface="Times New Roman"/>
                        </a:rPr>
                        <a:t>Đơn hàng, ngày, posting_date cụ thể</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đã map store_key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r h="577215">
                <a:tc>
                  <a:txBody>
                    <a:bodyPr/>
                    <a:lstStyle/>
                    <a:p>
                      <a:pPr algn="l">
                        <a:buNone/>
                      </a:pPr>
                      <a:r>
                        <a:rPr sz="1300" b="0" i="0">
                          <a:solidFill>
                            <a:srgbClr val="222222"/>
                          </a:solidFill>
                          <a:latin typeface="Times New Roman"/>
                          <a:ea typeface="Times New Roman"/>
                          <a:cs typeface="Times New Roman"/>
                        </a:rPr>
                        <a:t>± Điều chỉnh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3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300" b="0" i="0">
                          <a:solidFill>
                            <a:srgbClr val="222222"/>
                          </a:solidFill>
                          <a:latin typeface="Times New Roman"/>
                          <a:ea typeface="Times New Roman"/>
                          <a:cs typeface="Times New Roman"/>
                        </a:rPr>
                        <a:t>Dòng fin_store_code = 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577215">
                <a:tc>
                  <a:txBody>
                    <a:bodyPr/>
                    <a:lstStyle/>
                    <a:p>
                      <a:pPr algn="l">
                        <a:buNone/>
                      </a:pPr>
                      <a:r>
                        <a:rPr sz="1300" b="1" i="0">
                          <a:solidFill>
                            <a:srgbClr val="222222"/>
                          </a:solidFill>
                          <a:latin typeface="Times New Roman"/>
                          <a:ea typeface="Times New Roman"/>
                          <a:cs typeface="Times New Roman"/>
                        </a:rPr>
                        <a:t>= Finance Net Revenue toàn chuỗi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r">
                        <a:buNone/>
                      </a:pPr>
                      <a:r>
                        <a:rPr sz="13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c>
                  <a:txBody>
                    <a:bodyPr/>
                    <a:lstStyle/>
                    <a:p>
                      <a:pPr algn="l">
                        <a:buNone/>
                      </a:pPr>
                      <a:r>
                        <a:rPr sz="1300" b="1" i="0">
                          <a:solidFill>
                            <a:srgbClr val="222222"/>
                          </a:solidFill>
                          <a:latin typeface="Times New Roman"/>
                          <a:ea typeface="Times New Roman"/>
                          <a:cs typeface="Times New Roman"/>
                        </a:rPr>
                        <a:t>Σ net_revenue cả file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DEEAF6"/>
                    </a:solidFill>
                  </a:tcPr>
                </a:tc>
              </a:tr>
            </a:tbl>
          </a:graphicData>
        </a:graphic>
      </p:graphicFrame>
      <p:sp>
        <p:nvSpPr>
          <p:cNvPr id="144" name="Rounded Rectangle 143"/>
          <p:cNvSpPr/>
          <p:nvPr/>
        </p:nvSpPr>
        <p:spPr>
          <a:xfrm>
            <a:off x="8458200" y="1371600"/>
            <a:ext cx="3383280" cy="461772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sp>
        <p:nvSpPr>
          <p:cNvPr id="145" name="Rounded Rectangle 144"/>
          <p:cNvSpPr/>
          <p:nvPr/>
        </p:nvSpPr>
        <p:spPr>
          <a:xfrm>
            <a:off x="8458200" y="1371600"/>
            <a:ext cx="33832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Tự kiểm tra</a:t>
            </a:r>
          </a:p>
        </p:txBody>
      </p:sp>
      <p:sp>
        <p:nvSpPr>
          <p:cNvPr id="146" name="TextBox 145"/>
          <p:cNvSpPr txBox="1"/>
          <p:nvPr/>
        </p:nvSpPr>
        <p:spPr>
          <a:xfrm>
            <a:off x="8549640" y="1920240"/>
            <a:ext cx="3200400" cy="4023360"/>
          </a:xfrm>
          <a:prstGeom prst="rect">
            <a:avLst/>
          </a:prstGeom>
          <a:noFill/>
        </p:spPr>
        <p:txBody>
          <a:bodyPr wrap="square" lIns="45720" tIns="27432" rIns="45720" bIns="27432" anchor="t"/>
          <a:lstStyle/>
          <a:p>
            <a:pPr algn="l">
              <a:spcAft>
                <a:spcPts val="800"/>
              </a:spcAft>
              <a:buNone/>
            </a:pPr>
            <a:r>
              <a:rPr sz="1300" b="1" i="0">
                <a:solidFill>
                  <a:srgbClr val="222222"/>
                </a:solidFill>
                <a:latin typeface="Times New Roman"/>
                <a:ea typeface="Times New Roman"/>
                <a:cs typeface="Times New Roman"/>
              </a:rPr>
              <a:t>Tổng cần giải thích: </a:t>
            </a:r>
            <a:r>
              <a:rPr sz="1300" b="1" i="0">
                <a:solidFill>
                  <a:srgbClr val="C00000"/>
                </a:solidFill>
                <a:latin typeface="Times New Roman"/>
                <a:ea typeface="Times New Roman"/>
                <a:cs typeface="Times New Roman"/>
              </a:rPr>
              <a:t>+64.622,18 USD</a:t>
            </a:r>
          </a:p>
          <a:p>
            <a:pPr algn="l" marL="182880" indent="-182880">
              <a:spcAft>
                <a:spcPts val="600"/>
              </a:spcAft>
              <a:buFont typeface="Arial"/>
              <a:buChar char="•"/>
            </a:pPr>
            <a:r>
              <a:rPr sz="1300" b="0" i="0">
                <a:solidFill>
                  <a:srgbClr val="222222"/>
                </a:solidFill>
                <a:latin typeface="Times New Roman"/>
                <a:ea typeface="Times New Roman"/>
                <a:cs typeface="Times New Roman"/>
              </a:rPr>
              <a:t>Cộng các dòng ± phải ra đúng số này</a:t>
            </a:r>
          </a:p>
          <a:p>
            <a:pPr algn="l" marL="182880" indent="-182880">
              <a:spcAft>
                <a:spcPts val="600"/>
              </a:spcAft>
              <a:buFont typeface="Arial"/>
              <a:buChar char="•"/>
            </a:pPr>
            <a:r>
              <a:rPr sz="1300" b="0" i="0">
                <a:solidFill>
                  <a:srgbClr val="222222"/>
                </a:solidFill>
                <a:latin typeface="Times New Roman"/>
                <a:ea typeface="Times New Roman"/>
                <a:cs typeface="Times New Roman"/>
              </a:rPr>
              <a:t>Lệch thời điểm cộng cả năm gần 0 nhưng từng tháng rất lớn</a:t>
            </a:r>
          </a:p>
          <a:p>
            <a:pPr algn="l" marL="182880" indent="-182880">
              <a:spcAft>
                <a:spcPts val="600"/>
              </a:spcAft>
              <a:buFont typeface="Arial"/>
              <a:buChar char="•"/>
            </a:pPr>
            <a:r>
              <a:rPr sz="1300" b="0" i="0">
                <a:solidFill>
                  <a:srgbClr val="222222"/>
                </a:solidFill>
                <a:latin typeface="Times New Roman"/>
                <a:ea typeface="Times New Roman"/>
                <a:cs typeface="Times New Roman"/>
              </a:rPr>
              <a:t>Mỗi nguyên nhân phía Finance: ghi cửa hàng, ngày, số tiền</a:t>
            </a:r>
          </a:p>
          <a:p>
            <a:pPr algn="l" marL="182880" indent="-182880">
              <a:buFont typeface="Arial"/>
              <a:buChar char="•"/>
            </a:pPr>
            <a:r>
              <a:rPr sz="1300" b="0" i="0">
                <a:solidFill>
                  <a:srgbClr val="222222"/>
                </a:solidFill>
                <a:latin typeface="Times New Roman"/>
                <a:ea typeface="Times New Roman"/>
                <a:cs typeface="Times New Roman"/>
              </a:rPr>
              <a:t>Không "ép" phần dư vào một dòng "khác"</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Phân tích kết quả</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Viết kết luận: Finding – Insight – Recommendation – Limitation</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Mỗi kết luận có một </a:t>
            </a:r>
            <a:r>
              <a:rPr sz="1700" b="1" i="0">
                <a:solidFill>
                  <a:srgbClr val="C00000"/>
                </a:solidFill>
                <a:latin typeface="Times New Roman"/>
                <a:ea typeface="Times New Roman"/>
                <a:cs typeface="Times New Roman"/>
              </a:rPr>
              <a:t>con số trên dashboard</a:t>
            </a:r>
            <a:r>
              <a:rPr sz="1700" b="0" i="0">
                <a:solidFill>
                  <a:srgbClr val="222222"/>
                </a:solidFill>
                <a:latin typeface="Times New Roman"/>
                <a:ea typeface="Times New Roman"/>
                <a:cs typeface="Times New Roman"/>
              </a:rPr>
              <a:t> làm chỗ dựa; khuyến nghị </a:t>
            </a:r>
            <a:r>
              <a:rPr sz="1700" b="1" i="0">
                <a:solidFill>
                  <a:srgbClr val="123A7A"/>
                </a:solidFill>
                <a:latin typeface="Times New Roman"/>
                <a:ea typeface="Times New Roman"/>
                <a:cs typeface="Times New Roman"/>
              </a:rPr>
              <a:t>tương xứng</a:t>
            </a:r>
            <a:r>
              <a:rPr sz="1700" b="0" i="0">
                <a:solidFill>
                  <a:srgbClr val="222222"/>
                </a:solidFill>
                <a:latin typeface="Times New Roman"/>
                <a:ea typeface="Times New Roman"/>
                <a:cs typeface="Times New Roman"/>
              </a:rPr>
              <a:t> bằng chứng</a:t>
            </a:r>
          </a:p>
        </p:txBody>
      </p:sp>
      <p:sp>
        <p:nvSpPr>
          <p:cNvPr id="143" name="Rounded Rectangle 142"/>
          <p:cNvSpPr/>
          <p:nvPr/>
        </p:nvSpPr>
        <p:spPr>
          <a:xfrm>
            <a:off x="365760" y="1371600"/>
            <a:ext cx="2697480" cy="4617720"/>
          </a:xfrm>
          <a:prstGeom prst="roundRect">
            <a:avLst>
              <a:gd name="adj" fmla="val 6000"/>
            </a:avLst>
          </a:prstGeom>
          <a:solidFill>
            <a:srgbClr val="FFFFFF"/>
          </a:solidFill>
          <a:ln w="19050">
            <a:solidFill>
              <a:srgbClr val="123A7A"/>
            </a:solidFill>
          </a:ln>
          <a:effectLst/>
        </p:spPr>
        <p:txBody>
          <a:bodyPr rtlCol="0" anchor="ctr" wrap="square" lIns="73152" tIns="36576" rIns="73152" bIns="36576"/>
          <a:lstStyle/>
          <a:p>
            <a:pPr algn="ctr"/>
          </a:p>
        </p:txBody>
      </p:sp>
      <p:sp>
        <p:nvSpPr>
          <p:cNvPr id="144" name="Rounded Rectangle 143"/>
          <p:cNvSpPr/>
          <p:nvPr/>
        </p:nvSpPr>
        <p:spPr>
          <a:xfrm>
            <a:off x="365760" y="1371600"/>
            <a:ext cx="269748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Finding</a:t>
            </a:r>
          </a:p>
        </p:txBody>
      </p:sp>
      <p:sp>
        <p:nvSpPr>
          <p:cNvPr id="145" name="Oval 144"/>
          <p:cNvSpPr/>
          <p:nvPr/>
        </p:nvSpPr>
        <p:spPr>
          <a:xfrm>
            <a:off x="1325880" y="1965960"/>
            <a:ext cx="777240" cy="777240"/>
          </a:xfrm>
          <a:prstGeom prst="ellipse">
            <a:avLst/>
          </a:prstGeom>
          <a:solidFill>
            <a:srgbClr val="123A7A"/>
          </a:solidFill>
          <a:ln>
            <a:noFill/>
          </a:ln>
          <a:effectLst/>
        </p:spPr>
        <p:txBody>
          <a:bodyPr rtlCol="0" anchor="ctr" wrap="square" lIns="73152" tIns="36576" rIns="73152" bIns="36576"/>
          <a:lstStyle/>
          <a:p>
            <a:pPr algn="ctr"/>
          </a:p>
        </p:txBody>
      </p:sp>
      <p:pic>
        <p:nvPicPr>
          <p:cNvPr id="146" name="Picture 145" descr="image.png"/>
          <p:cNvPicPr>
            <a:picLocks noChangeAspect="1"/>
          </p:cNvPicPr>
          <p:nvPr/>
        </p:nvPicPr>
        <p:blipFill>
          <a:blip r:embed="rId3"/>
          <a:stretch>
            <a:fillRect/>
          </a:stretch>
        </p:blipFill>
        <p:spPr>
          <a:xfrm>
            <a:off x="1496872" y="2136952"/>
            <a:ext cx="435254" cy="435254"/>
          </a:xfrm>
          <a:prstGeom prst="rect">
            <a:avLst/>
          </a:prstGeom>
        </p:spPr>
      </p:pic>
      <p:sp>
        <p:nvSpPr>
          <p:cNvPr id="147" name="TextBox 146"/>
          <p:cNvSpPr txBox="1"/>
          <p:nvPr/>
        </p:nvSpPr>
        <p:spPr>
          <a:xfrm>
            <a:off x="45720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Dữ liệu cho thấy gì, ở nhóm nào, chênh bao nhiêu, tại ngày nào</a:t>
            </a:r>
          </a:p>
        </p:txBody>
      </p:sp>
      <p:sp>
        <p:nvSpPr>
          <p:cNvPr id="148" name="Rounded Rectangle 147"/>
          <p:cNvSpPr/>
          <p:nvPr/>
        </p:nvSpPr>
        <p:spPr>
          <a:xfrm>
            <a:off x="45720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123A7A"/>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Δ online 12/2020 = −22.812 USD; về 0 khi tính theo ngày giao</a:t>
            </a:r>
          </a:p>
        </p:txBody>
      </p:sp>
      <p:sp>
        <p:nvSpPr>
          <p:cNvPr id="149" name="Rounded Rectangle 148"/>
          <p:cNvSpPr/>
          <p:nvPr/>
        </p:nvSpPr>
        <p:spPr>
          <a:xfrm>
            <a:off x="3246120" y="1371600"/>
            <a:ext cx="2697480" cy="4617720"/>
          </a:xfrm>
          <a:prstGeom prst="roundRect">
            <a:avLst>
              <a:gd name="adj" fmla="val 6000"/>
            </a:avLst>
          </a:prstGeom>
          <a:solidFill>
            <a:srgbClr val="FFFFFF"/>
          </a:solidFill>
          <a:ln w="19050">
            <a:solidFill>
              <a:srgbClr val="C55A11"/>
            </a:solidFill>
          </a:ln>
          <a:effectLst/>
        </p:spPr>
        <p:txBody>
          <a:bodyPr rtlCol="0" anchor="ctr" wrap="square" lIns="73152" tIns="36576" rIns="73152" bIns="36576"/>
          <a:lstStyle/>
          <a:p>
            <a:pPr algn="ctr"/>
          </a:p>
        </p:txBody>
      </p:sp>
      <p:sp>
        <p:nvSpPr>
          <p:cNvPr id="150" name="Rounded Rectangle 149"/>
          <p:cNvSpPr/>
          <p:nvPr/>
        </p:nvSpPr>
        <p:spPr>
          <a:xfrm>
            <a:off x="3246120" y="1371600"/>
            <a:ext cx="2697480" cy="457200"/>
          </a:xfrm>
          <a:prstGeom prst="roundRect">
            <a:avLst>
              <a:gd name="adj" fmla="val 15000"/>
            </a:avLst>
          </a:prstGeom>
          <a:solidFill>
            <a:srgbClr val="C55A1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Insight</a:t>
            </a:r>
          </a:p>
        </p:txBody>
      </p:sp>
      <p:sp>
        <p:nvSpPr>
          <p:cNvPr id="151" name="Oval 150"/>
          <p:cNvSpPr/>
          <p:nvPr/>
        </p:nvSpPr>
        <p:spPr>
          <a:xfrm>
            <a:off x="4206240" y="1965960"/>
            <a:ext cx="777240" cy="777240"/>
          </a:xfrm>
          <a:prstGeom prst="ellipse">
            <a:avLst/>
          </a:prstGeom>
          <a:solidFill>
            <a:srgbClr val="C55A11"/>
          </a:solidFill>
          <a:ln>
            <a:noFill/>
          </a:ln>
          <a:effectLst/>
        </p:spPr>
        <p:txBody>
          <a:bodyPr rtlCol="0" anchor="ctr" wrap="square" lIns="73152" tIns="36576" rIns="73152" bIns="36576"/>
          <a:lstStyle/>
          <a:p>
            <a:pPr algn="ctr"/>
          </a:p>
        </p:txBody>
      </p:sp>
      <p:pic>
        <p:nvPicPr>
          <p:cNvPr id="152" name="Picture 151" descr="image.png"/>
          <p:cNvPicPr>
            <a:picLocks noChangeAspect="1"/>
          </p:cNvPicPr>
          <p:nvPr/>
        </p:nvPicPr>
        <p:blipFill>
          <a:blip r:embed="rId4"/>
          <a:stretch>
            <a:fillRect/>
          </a:stretch>
        </p:blipFill>
        <p:spPr>
          <a:xfrm>
            <a:off x="4377232" y="2136952"/>
            <a:ext cx="435254" cy="435254"/>
          </a:xfrm>
          <a:prstGeom prst="rect">
            <a:avLst/>
          </a:prstGeom>
        </p:spPr>
      </p:pic>
      <p:sp>
        <p:nvSpPr>
          <p:cNvPr id="153" name="TextBox 152"/>
          <p:cNvSpPr txBox="1"/>
          <p:nvPr/>
        </p:nvSpPr>
        <p:spPr>
          <a:xfrm>
            <a:off x="333756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Ý nghĩa với kinh doanh, không nhắc lại số</a:t>
            </a:r>
          </a:p>
        </p:txBody>
      </p:sp>
      <p:sp>
        <p:nvSpPr>
          <p:cNvPr id="154" name="Rounded Rectangle 153"/>
          <p:cNvSpPr/>
          <p:nvPr/>
        </p:nvSpPr>
        <p:spPr>
          <a:xfrm>
            <a:off x="333756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55A1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Chênh online là lệch thời điểm ghi nhận, không phải doanh thu bị mất</a:t>
            </a:r>
          </a:p>
        </p:txBody>
      </p:sp>
      <p:sp>
        <p:nvSpPr>
          <p:cNvPr id="155" name="Rounded Rectangle 154"/>
          <p:cNvSpPr/>
          <p:nvPr/>
        </p:nvSpPr>
        <p:spPr>
          <a:xfrm>
            <a:off x="6126480" y="1371600"/>
            <a:ext cx="2697480" cy="4617720"/>
          </a:xfrm>
          <a:prstGeom prst="roundRect">
            <a:avLst>
              <a:gd name="adj" fmla="val 6000"/>
            </a:avLst>
          </a:prstGeom>
          <a:solidFill>
            <a:srgbClr val="FFFFFF"/>
          </a:solidFill>
          <a:ln w="19050">
            <a:solidFill>
              <a:srgbClr val="2E5B31"/>
            </a:solidFill>
          </a:ln>
          <a:effectLst/>
        </p:spPr>
        <p:txBody>
          <a:bodyPr rtlCol="0" anchor="ctr" wrap="square" lIns="73152" tIns="36576" rIns="73152" bIns="36576"/>
          <a:lstStyle/>
          <a:p>
            <a:pPr algn="ctr"/>
          </a:p>
        </p:txBody>
      </p:sp>
      <p:sp>
        <p:nvSpPr>
          <p:cNvPr id="156" name="Rounded Rectangle 155"/>
          <p:cNvSpPr/>
          <p:nvPr/>
        </p:nvSpPr>
        <p:spPr>
          <a:xfrm>
            <a:off x="6126480" y="1371600"/>
            <a:ext cx="2697480" cy="457200"/>
          </a:xfrm>
          <a:prstGeom prst="roundRect">
            <a:avLst>
              <a:gd name="adj" fmla="val 15000"/>
            </a:avLst>
          </a:prstGeom>
          <a:solidFill>
            <a:srgbClr val="2E5B31"/>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Recommendation</a:t>
            </a:r>
          </a:p>
        </p:txBody>
      </p:sp>
      <p:sp>
        <p:nvSpPr>
          <p:cNvPr id="157" name="Oval 156"/>
          <p:cNvSpPr/>
          <p:nvPr/>
        </p:nvSpPr>
        <p:spPr>
          <a:xfrm>
            <a:off x="7086600" y="1965960"/>
            <a:ext cx="777240" cy="777240"/>
          </a:xfrm>
          <a:prstGeom prst="ellipse">
            <a:avLst/>
          </a:prstGeom>
          <a:solidFill>
            <a:srgbClr val="2E5B31"/>
          </a:solidFill>
          <a:ln>
            <a:noFill/>
          </a:ln>
          <a:effectLst/>
        </p:spPr>
        <p:txBody>
          <a:bodyPr rtlCol="0" anchor="ctr" wrap="square" lIns="73152" tIns="36576" rIns="73152" bIns="36576"/>
          <a:lstStyle/>
          <a:p>
            <a:pPr algn="ctr"/>
          </a:p>
        </p:txBody>
      </p:sp>
      <p:pic>
        <p:nvPicPr>
          <p:cNvPr id="158" name="Picture 157" descr="image.png"/>
          <p:cNvPicPr>
            <a:picLocks noChangeAspect="1"/>
          </p:cNvPicPr>
          <p:nvPr/>
        </p:nvPicPr>
        <p:blipFill>
          <a:blip r:embed="rId5"/>
          <a:stretch>
            <a:fillRect/>
          </a:stretch>
        </p:blipFill>
        <p:spPr>
          <a:xfrm>
            <a:off x="7257592" y="2136952"/>
            <a:ext cx="435254" cy="435254"/>
          </a:xfrm>
          <a:prstGeom prst="rect">
            <a:avLst/>
          </a:prstGeom>
        </p:spPr>
      </p:pic>
      <p:sp>
        <p:nvSpPr>
          <p:cNvPr id="159" name="TextBox 158"/>
          <p:cNvSpPr txBox="1"/>
          <p:nvPr/>
        </p:nvSpPr>
        <p:spPr>
          <a:xfrm>
            <a:off x="621792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Ai làm gì, theo dõi chỉ số nào</a:t>
            </a:r>
          </a:p>
        </p:txBody>
      </p:sp>
      <p:sp>
        <p:nvSpPr>
          <p:cNvPr id="160" name="Rounded Rectangle 159"/>
          <p:cNvSpPr/>
          <p:nvPr/>
        </p:nvSpPr>
        <p:spPr>
          <a:xfrm>
            <a:off x="621792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2E5B31"/>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Báo cáo tháng dùng Net Revenue theo cơ sở Finance; Finance kiểm tra bút toán ở ô vượt ngưỡng</a:t>
            </a:r>
          </a:p>
        </p:txBody>
      </p:sp>
      <p:sp>
        <p:nvSpPr>
          <p:cNvPr id="161" name="Rounded Rectangle 160"/>
          <p:cNvSpPr/>
          <p:nvPr/>
        </p:nvSpPr>
        <p:spPr>
          <a:xfrm>
            <a:off x="9006840" y="1371600"/>
            <a:ext cx="2697480" cy="4617720"/>
          </a:xfrm>
          <a:prstGeom prst="roundRect">
            <a:avLst>
              <a:gd name="adj" fmla="val 6000"/>
            </a:avLst>
          </a:prstGeom>
          <a:solidFill>
            <a:srgbClr val="FFFFFF"/>
          </a:solidFill>
          <a:ln w="19050">
            <a:solidFill>
              <a:srgbClr val="C00000"/>
            </a:solidFill>
          </a:ln>
          <a:effectLst/>
        </p:spPr>
        <p:txBody>
          <a:bodyPr rtlCol="0" anchor="ctr" wrap="square" lIns="73152" tIns="36576" rIns="73152" bIns="36576"/>
          <a:lstStyle/>
          <a:p>
            <a:pPr algn="ctr"/>
          </a:p>
        </p:txBody>
      </p:sp>
      <p:sp>
        <p:nvSpPr>
          <p:cNvPr id="162" name="Rounded Rectangle 161"/>
          <p:cNvSpPr/>
          <p:nvPr/>
        </p:nvSpPr>
        <p:spPr>
          <a:xfrm>
            <a:off x="9006840" y="1371600"/>
            <a:ext cx="2697480" cy="457200"/>
          </a:xfrm>
          <a:prstGeom prst="roundRect">
            <a:avLst>
              <a:gd name="adj" fmla="val 15000"/>
            </a:avLst>
          </a:prstGeom>
          <a:solidFill>
            <a:srgbClr val="C00000"/>
          </a:solidFill>
          <a:ln>
            <a:noFill/>
          </a:ln>
          <a:effectLst/>
        </p:spPr>
        <p:txBody>
          <a:bodyPr rtlCol="0" anchor="ctr" wrap="square" lIns="73152" tIns="36576" rIns="73152" bIns="36576"/>
          <a:lstStyle/>
          <a:p>
            <a:pPr algn="ctr">
              <a:buNone/>
            </a:pPr>
            <a:r>
              <a:rPr sz="1600" b="1" i="0">
                <a:solidFill>
                  <a:srgbClr val="FFFFFF"/>
                </a:solidFill>
                <a:latin typeface="Times New Roman"/>
                <a:ea typeface="Times New Roman"/>
                <a:cs typeface="Times New Roman"/>
              </a:rPr>
              <a:t>Limitation</a:t>
            </a:r>
          </a:p>
        </p:txBody>
      </p:sp>
      <p:sp>
        <p:nvSpPr>
          <p:cNvPr id="163" name="Oval 162"/>
          <p:cNvSpPr/>
          <p:nvPr/>
        </p:nvSpPr>
        <p:spPr>
          <a:xfrm>
            <a:off x="9966960" y="1965960"/>
            <a:ext cx="777240" cy="777240"/>
          </a:xfrm>
          <a:prstGeom prst="ellipse">
            <a:avLst/>
          </a:prstGeom>
          <a:solidFill>
            <a:srgbClr val="C00000"/>
          </a:solidFill>
          <a:ln>
            <a:noFill/>
          </a:ln>
          <a:effectLst/>
        </p:spPr>
        <p:txBody>
          <a:bodyPr rtlCol="0" anchor="ctr" wrap="square" lIns="73152" tIns="36576" rIns="73152" bIns="36576"/>
          <a:lstStyle/>
          <a:p>
            <a:pPr algn="ctr"/>
          </a:p>
        </p:txBody>
      </p:sp>
      <p:pic>
        <p:nvPicPr>
          <p:cNvPr id="164" name="Picture 163" descr="image.png"/>
          <p:cNvPicPr>
            <a:picLocks noChangeAspect="1"/>
          </p:cNvPicPr>
          <p:nvPr/>
        </p:nvPicPr>
        <p:blipFill>
          <a:blip r:embed="rId6"/>
          <a:stretch>
            <a:fillRect/>
          </a:stretch>
        </p:blipFill>
        <p:spPr>
          <a:xfrm>
            <a:off x="10137952" y="2136952"/>
            <a:ext cx="435254" cy="435254"/>
          </a:xfrm>
          <a:prstGeom prst="rect">
            <a:avLst/>
          </a:prstGeom>
        </p:spPr>
      </p:pic>
      <p:sp>
        <p:nvSpPr>
          <p:cNvPr id="165" name="TextBox 164"/>
          <p:cNvSpPr txBox="1"/>
          <p:nvPr/>
        </p:nvSpPr>
        <p:spPr>
          <a:xfrm>
            <a:off x="9098280" y="2834640"/>
            <a:ext cx="2514600" cy="1097280"/>
          </a:xfrm>
          <a:prstGeom prst="rect">
            <a:avLst/>
          </a:prstGeom>
          <a:noFill/>
        </p:spPr>
        <p:txBody>
          <a:bodyPr wrap="square" lIns="45720" tIns="27432" rIns="45720" bIns="27432" anchor="t"/>
          <a:lstStyle/>
          <a:p>
            <a:pPr algn="ctr">
              <a:buNone/>
            </a:pPr>
            <a:r>
              <a:rPr sz="1300" b="0" i="0">
                <a:solidFill>
                  <a:srgbClr val="222222"/>
                </a:solidFill>
                <a:latin typeface="Times New Roman"/>
                <a:ea typeface="Times New Roman"/>
                <a:cs typeface="Times New Roman"/>
              </a:rPr>
              <a:t>Giới hạn có thể ảnh hưởng kết luận và bước kiểm tra tiếp</a:t>
            </a:r>
          </a:p>
        </p:txBody>
      </p:sp>
      <p:sp>
        <p:nvSpPr>
          <p:cNvPr id="166" name="Rounded Rectangle 165"/>
          <p:cNvSpPr/>
          <p:nvPr/>
        </p:nvSpPr>
        <p:spPr>
          <a:xfrm>
            <a:off x="9098280" y="3977639"/>
            <a:ext cx="2514600" cy="1874519"/>
          </a:xfrm>
          <a:prstGeom prst="roundRect">
            <a:avLst>
              <a:gd name="adj" fmla="val 8000"/>
            </a:avLst>
          </a:prstGeom>
          <a:solidFill>
            <a:srgbClr val="F2F2F2"/>
          </a:solidFill>
          <a:ln>
            <a:noFill/>
          </a:ln>
          <a:effectLst/>
        </p:spPr>
        <p:txBody>
          <a:bodyPr rtlCol="0" anchor="t" wrap="square" tIns="54864" bIns="36576"/>
          <a:lstStyle/>
          <a:p>
            <a:pPr algn="l">
              <a:buNone/>
            </a:pPr>
            <a:r>
              <a:rPr sz="1200" b="1" i="0">
                <a:solidFill>
                  <a:srgbClr val="C00000"/>
                </a:solidFill>
                <a:latin typeface="Times New Roman"/>
                <a:ea typeface="Times New Roman"/>
                <a:cs typeface="Times New Roman"/>
              </a:rPr>
              <a:t>Ví dụ</a:t>
            </a:r>
          </a:p>
          <a:p>
            <a:pPr algn="l">
              <a:buNone/>
            </a:pPr>
            <a:r>
              <a:rPr sz="1200" b="0" i="1">
                <a:solidFill>
                  <a:srgbClr val="222222"/>
                </a:solidFill>
                <a:latin typeface="Times New Roman"/>
                <a:ea typeface="Times New Roman"/>
                <a:cs typeface="Times New Roman"/>
              </a:rPr>
              <a:t>Dữ liệu đến 20/02/2021: đơn PENDING và hoàn tiền cuối tháng có thể làm số thay đổi</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Hai sản phẩm cần nộp và cấu trúc báo cáo</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Báo cáo bám theo </a:t>
            </a:r>
            <a:r>
              <a:rPr sz="1700" b="1" i="0">
                <a:solidFill>
                  <a:srgbClr val="123A7A"/>
                </a:solidFill>
                <a:latin typeface="Times New Roman"/>
                <a:ea typeface="Times New Roman"/>
                <a:cs typeface="Times New Roman"/>
              </a:rPr>
              <a:t>guild_report_template</a:t>
            </a:r>
            <a:r>
              <a:rPr sz="1700" b="0" i="0">
                <a:solidFill>
                  <a:srgbClr val="222222"/>
                </a:solidFill>
                <a:latin typeface="Times New Roman"/>
                <a:ea typeface="Times New Roman"/>
                <a:cs typeface="Times New Roman"/>
              </a:rPr>
              <a:t>: 8 phần + Phụ lục</a:t>
            </a:r>
          </a:p>
        </p:txBody>
      </p:sp>
      <p:sp>
        <p:nvSpPr>
          <p:cNvPr id="143" name="Rounded Rectangle 142"/>
          <p:cNvSpPr/>
          <p:nvPr/>
        </p:nvSpPr>
        <p:spPr>
          <a:xfrm>
            <a:off x="365760" y="1371600"/>
            <a:ext cx="3931920" cy="2103120"/>
          </a:xfrm>
          <a:prstGeom prst="roundRect">
            <a:avLst>
              <a:gd name="adj" fmla="val 6000"/>
            </a:avLst>
          </a:prstGeom>
          <a:solidFill>
            <a:srgbClr val="E2F0D9"/>
          </a:solidFill>
          <a:ln w="19050">
            <a:solidFill>
              <a:srgbClr val="2E5B31"/>
            </a:solidFill>
          </a:ln>
          <a:effectLst/>
        </p:spPr>
        <p:txBody>
          <a:bodyPr rtlCol="0" anchor="ctr" wrap="square" lIns="73152" tIns="36576" rIns="73152" bIns="36576"/>
          <a:lstStyle/>
          <a:p>
            <a:pPr algn="ctr"/>
          </a:p>
        </p:txBody>
      </p:sp>
      <p:pic>
        <p:nvPicPr>
          <p:cNvPr id="144" name="Picture 143" descr="image.png"/>
          <p:cNvPicPr>
            <a:picLocks noChangeAspect="1"/>
          </p:cNvPicPr>
          <p:nvPr/>
        </p:nvPicPr>
        <p:blipFill>
          <a:blip r:embed="rId3"/>
          <a:stretch>
            <a:fillRect/>
          </a:stretch>
        </p:blipFill>
        <p:spPr>
          <a:xfrm>
            <a:off x="502920" y="1508760"/>
            <a:ext cx="640080" cy="640080"/>
          </a:xfrm>
          <a:prstGeom prst="rect">
            <a:avLst/>
          </a:prstGeom>
        </p:spPr>
      </p:pic>
      <p:sp>
        <p:nvSpPr>
          <p:cNvPr id="145" name="TextBox 144"/>
          <p:cNvSpPr txBox="1"/>
          <p:nvPr/>
        </p:nvSpPr>
        <p:spPr>
          <a:xfrm>
            <a:off x="1234440" y="1508760"/>
            <a:ext cx="2971800" cy="640080"/>
          </a:xfrm>
          <a:prstGeom prst="rect">
            <a:avLst/>
          </a:prstGeom>
          <a:noFill/>
        </p:spPr>
        <p:txBody>
          <a:bodyPr wrap="square" lIns="45720" tIns="27432" rIns="45720" bIns="27432" anchor="ctr"/>
          <a:lstStyle/>
          <a:p>
            <a:pPr algn="l">
              <a:buNone/>
            </a:pPr>
            <a:r>
              <a:rPr sz="1700" b="1" i="0">
                <a:solidFill>
                  <a:srgbClr val="2E5B31"/>
                </a:solidFill>
                <a:latin typeface="Times New Roman"/>
                <a:ea typeface="Times New Roman"/>
                <a:cs typeface="Times New Roman"/>
              </a:rPr>
              <a:t>1  File Power BI (.pbix)</a:t>
            </a:r>
          </a:p>
        </p:txBody>
      </p:sp>
      <p:sp>
        <p:nvSpPr>
          <p:cNvPr id="146" name="TextBox 145"/>
          <p:cNvSpPr txBox="1"/>
          <p:nvPr/>
        </p:nvSpPr>
        <p:spPr>
          <a:xfrm>
            <a:off x="502920" y="2240280"/>
            <a:ext cx="3703320" cy="11887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Dashboard 4 trang: Tổng quan, Doanh thu, Đối soát, Hoàn trả &amp; chất lượng</a:t>
            </a:r>
          </a:p>
        </p:txBody>
      </p:sp>
      <p:sp>
        <p:nvSpPr>
          <p:cNvPr id="147" name="Rounded Rectangle 146"/>
          <p:cNvSpPr/>
          <p:nvPr/>
        </p:nvSpPr>
        <p:spPr>
          <a:xfrm>
            <a:off x="365760" y="3611880"/>
            <a:ext cx="3931920" cy="1371600"/>
          </a:xfrm>
          <a:prstGeom prst="roundRect">
            <a:avLst>
              <a:gd name="adj" fmla="val 6000"/>
            </a:avLst>
          </a:prstGeom>
          <a:solidFill>
            <a:srgbClr val="FBE5D6"/>
          </a:solidFill>
          <a:ln w="19050">
            <a:solidFill>
              <a:srgbClr val="C55A11"/>
            </a:solidFill>
          </a:ln>
          <a:effectLst/>
        </p:spPr>
        <p:txBody>
          <a:bodyPr rtlCol="0" anchor="ctr" wrap="square" lIns="73152" tIns="36576" rIns="73152" bIns="36576"/>
          <a:lstStyle/>
          <a:p>
            <a:pPr algn="ctr"/>
          </a:p>
        </p:txBody>
      </p:sp>
      <p:pic>
        <p:nvPicPr>
          <p:cNvPr id="148" name="Picture 147" descr="image.png"/>
          <p:cNvPicPr>
            <a:picLocks noChangeAspect="1"/>
          </p:cNvPicPr>
          <p:nvPr/>
        </p:nvPicPr>
        <p:blipFill>
          <a:blip r:embed="rId4"/>
          <a:stretch>
            <a:fillRect/>
          </a:stretch>
        </p:blipFill>
        <p:spPr>
          <a:xfrm>
            <a:off x="502920" y="3749039"/>
            <a:ext cx="640080" cy="640080"/>
          </a:xfrm>
          <a:prstGeom prst="rect">
            <a:avLst/>
          </a:prstGeom>
        </p:spPr>
      </p:pic>
      <p:sp>
        <p:nvSpPr>
          <p:cNvPr id="149" name="TextBox 148"/>
          <p:cNvSpPr txBox="1"/>
          <p:nvPr/>
        </p:nvSpPr>
        <p:spPr>
          <a:xfrm>
            <a:off x="1234440" y="3749039"/>
            <a:ext cx="2971800" cy="640080"/>
          </a:xfrm>
          <a:prstGeom prst="rect">
            <a:avLst/>
          </a:prstGeom>
          <a:noFill/>
        </p:spPr>
        <p:txBody>
          <a:bodyPr wrap="square" lIns="45720" tIns="27432" rIns="45720" bIns="27432" anchor="ctr"/>
          <a:lstStyle/>
          <a:p>
            <a:pPr algn="l">
              <a:buNone/>
            </a:pPr>
            <a:r>
              <a:rPr sz="1700" b="1" i="0">
                <a:solidFill>
                  <a:srgbClr val="C55A11"/>
                </a:solidFill>
                <a:latin typeface="Times New Roman"/>
                <a:ea typeface="Times New Roman"/>
                <a:cs typeface="Times New Roman"/>
              </a:rPr>
              <a:t>2  Báo cáo phân tích (PDF)</a:t>
            </a:r>
          </a:p>
        </p:txBody>
      </p:sp>
      <p:sp>
        <p:nvSpPr>
          <p:cNvPr id="150" name="TextBox 149"/>
          <p:cNvSpPr txBox="1"/>
          <p:nvPr/>
        </p:nvSpPr>
        <p:spPr>
          <a:xfrm>
            <a:off x="502920" y="4434840"/>
            <a:ext cx="3703320" cy="502920"/>
          </a:xfrm>
          <a:prstGeom prst="rect">
            <a:avLst/>
          </a:prstGeom>
          <a:noFill/>
        </p:spPr>
        <p:txBody>
          <a:bodyPr wrap="square" lIns="45720" tIns="27432" rIns="45720" bIns="27432" anchor="t"/>
          <a:lstStyle/>
          <a:p>
            <a:pPr algn="l">
              <a:buNone/>
            </a:pPr>
            <a:r>
              <a:rPr sz="1400" b="0" i="0">
                <a:solidFill>
                  <a:srgbClr val="222222"/>
                </a:solidFill>
                <a:latin typeface="Times New Roman"/>
                <a:ea typeface="Times New Roman"/>
                <a:cs typeface="Times New Roman"/>
              </a:rPr>
              <a:t>8 phần kèm Phụ lục bảng cầu nối</a:t>
            </a:r>
          </a:p>
        </p:txBody>
      </p:sp>
      <p:sp>
        <p:nvSpPr>
          <p:cNvPr id="151" name="TextBox 150"/>
          <p:cNvSpPr txBox="1"/>
          <p:nvPr/>
        </p:nvSpPr>
        <p:spPr>
          <a:xfrm>
            <a:off x="365760" y="5120640"/>
            <a:ext cx="3931920" cy="914400"/>
          </a:xfrm>
          <a:prstGeom prst="rect">
            <a:avLst/>
          </a:prstGeom>
          <a:noFill/>
        </p:spPr>
        <p:txBody>
          <a:bodyPr wrap="square" lIns="45720" tIns="27432" rIns="45720" bIns="27432" anchor="t"/>
          <a:lstStyle/>
          <a:p>
            <a:pPr algn="l" marL="274320" indent="-274320">
              <a:buFont typeface="Arial"/>
              <a:buChar char="☐"/>
            </a:pPr>
            <a:r>
              <a:rPr sz="1200" b="0" i="0">
                <a:solidFill>
                  <a:srgbClr val="222222"/>
                </a:solidFill>
                <a:latin typeface="Times New Roman"/>
                <a:ea typeface="Times New Roman"/>
                <a:cs typeface="Times New Roman"/>
              </a:rPr>
              <a:t>File mở được và làm mới được</a:t>
            </a:r>
          </a:p>
          <a:p>
            <a:pPr algn="l" marL="274320" indent="-274320">
              <a:buFont typeface="Arial"/>
              <a:buChar char="☐"/>
            </a:pPr>
            <a:r>
              <a:rPr sz="1200" b="0" i="0">
                <a:solidFill>
                  <a:srgbClr val="222222"/>
                </a:solidFill>
                <a:latin typeface="Times New Roman"/>
                <a:ea typeface="Times New Roman"/>
                <a:cs typeface="Times New Roman"/>
              </a:rPr>
              <a:t>Số trong báo cáo khớp dashboard</a:t>
            </a:r>
          </a:p>
          <a:p>
            <a:pPr algn="l" marL="274320" indent="-274320">
              <a:buFont typeface="Arial"/>
              <a:buChar char="☐"/>
            </a:pPr>
            <a:r>
              <a:rPr sz="1200" b="0" i="0">
                <a:solidFill>
                  <a:srgbClr val="222222"/>
                </a:solidFill>
                <a:latin typeface="Times New Roman"/>
                <a:ea typeface="Times New Roman"/>
                <a:cs typeface="Times New Roman"/>
              </a:rPr>
              <a:t>Bảng cầu nối có phần chưa giải thích = 0</a:t>
            </a:r>
          </a:p>
        </p:txBody>
      </p:sp>
      <p:sp>
        <p:nvSpPr>
          <p:cNvPr id="152" name="Rounded Rectangle 151"/>
          <p:cNvSpPr/>
          <p:nvPr/>
        </p:nvSpPr>
        <p:spPr>
          <a:xfrm>
            <a:off x="4526280" y="1371600"/>
            <a:ext cx="7315200" cy="457200"/>
          </a:xfrm>
          <a:prstGeom prst="roundRect">
            <a:avLst>
              <a:gd name="adj" fmla="val 15000"/>
            </a:avLst>
          </a:prstGeom>
          <a:solidFill>
            <a:srgbClr val="123A7A"/>
          </a:solidFill>
          <a:ln>
            <a:noFill/>
          </a:ln>
          <a:effectLst/>
        </p:spPr>
        <p:txBody>
          <a:bodyPr rtlCol="0" anchor="ctr" wrap="square" lIns="73152" tIns="36576" rIns="73152" bIns="36576"/>
          <a:lstStyle/>
          <a:p>
            <a:pPr algn="ctr">
              <a:buNone/>
            </a:pPr>
            <a:r>
              <a:rPr sz="1500" b="1" i="0">
                <a:solidFill>
                  <a:srgbClr val="FFFFFF"/>
                </a:solidFill>
                <a:latin typeface="Times New Roman"/>
                <a:ea typeface="Times New Roman"/>
                <a:cs typeface="Times New Roman"/>
              </a:rPr>
              <a:t>Cấu trúc báo cáo</a:t>
            </a:r>
          </a:p>
        </p:txBody>
      </p:sp>
      <p:sp>
        <p:nvSpPr>
          <p:cNvPr id="153" name="Rounded Rectangle 152"/>
          <p:cNvSpPr/>
          <p:nvPr/>
        </p:nvSpPr>
        <p:spPr>
          <a:xfrm>
            <a:off x="452628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4" name="Oval 153"/>
          <p:cNvSpPr/>
          <p:nvPr/>
        </p:nvSpPr>
        <p:spPr>
          <a:xfrm>
            <a:off x="459943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a:t>
            </a:r>
          </a:p>
        </p:txBody>
      </p:sp>
      <p:sp>
        <p:nvSpPr>
          <p:cNvPr id="155" name="TextBox 154"/>
          <p:cNvSpPr txBox="1"/>
          <p:nvPr/>
        </p:nvSpPr>
        <p:spPr>
          <a:xfrm>
            <a:off x="505663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Problem &amp; Analytical Questions</a:t>
            </a:r>
          </a:p>
        </p:txBody>
      </p:sp>
      <p:sp>
        <p:nvSpPr>
          <p:cNvPr id="156" name="TextBox 155"/>
          <p:cNvSpPr txBox="1"/>
          <p:nvPr/>
        </p:nvSpPr>
        <p:spPr>
          <a:xfrm>
            <a:off x="459943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Vì sao số Sales ≠ Finance; 2–4 câu hỏi</a:t>
            </a:r>
          </a:p>
        </p:txBody>
      </p:sp>
      <p:sp>
        <p:nvSpPr>
          <p:cNvPr id="157" name="Rounded Rectangle 156"/>
          <p:cNvSpPr/>
          <p:nvPr/>
        </p:nvSpPr>
        <p:spPr>
          <a:xfrm>
            <a:off x="699516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58" name="Oval 157"/>
          <p:cNvSpPr/>
          <p:nvPr/>
        </p:nvSpPr>
        <p:spPr>
          <a:xfrm>
            <a:off x="706831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a:t>
            </a:r>
          </a:p>
        </p:txBody>
      </p:sp>
      <p:sp>
        <p:nvSpPr>
          <p:cNvPr id="159" name="TextBox 158"/>
          <p:cNvSpPr txBox="1"/>
          <p:nvPr/>
        </p:nvSpPr>
        <p:spPr>
          <a:xfrm>
            <a:off x="752551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Data &amp; Preparation</a:t>
            </a:r>
          </a:p>
        </p:txBody>
      </p:sp>
      <p:sp>
        <p:nvSpPr>
          <p:cNvPr id="160" name="TextBox 159"/>
          <p:cNvSpPr txBox="1"/>
          <p:nvPr/>
        </p:nvSpPr>
        <p:spPr>
          <a:xfrm>
            <a:off x="706831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phạm vi, làm sạch, số dòng QC</a:t>
            </a:r>
          </a:p>
        </p:txBody>
      </p:sp>
      <p:sp>
        <p:nvSpPr>
          <p:cNvPr id="161" name="Rounded Rectangle 160"/>
          <p:cNvSpPr/>
          <p:nvPr/>
        </p:nvSpPr>
        <p:spPr>
          <a:xfrm>
            <a:off x="9464040" y="1965960"/>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2" name="Oval 161"/>
          <p:cNvSpPr/>
          <p:nvPr/>
        </p:nvSpPr>
        <p:spPr>
          <a:xfrm>
            <a:off x="9537192" y="2057400"/>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III</a:t>
            </a:r>
          </a:p>
        </p:txBody>
      </p:sp>
      <p:sp>
        <p:nvSpPr>
          <p:cNvPr id="163" name="TextBox 162"/>
          <p:cNvSpPr txBox="1"/>
          <p:nvPr/>
        </p:nvSpPr>
        <p:spPr>
          <a:xfrm>
            <a:off x="9994392" y="2002536"/>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Exploratory Analysis</a:t>
            </a:r>
          </a:p>
        </p:txBody>
      </p:sp>
      <p:sp>
        <p:nvSpPr>
          <p:cNvPr id="164" name="TextBox 163"/>
          <p:cNvSpPr txBox="1"/>
          <p:nvPr/>
        </p:nvSpPr>
        <p:spPr>
          <a:xfrm>
            <a:off x="9537192" y="2560320"/>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Xu hướng, kênh, danh mục, hoàn trả</a:t>
            </a:r>
          </a:p>
        </p:txBody>
      </p:sp>
      <p:sp>
        <p:nvSpPr>
          <p:cNvPr id="165" name="Rounded Rectangle 164"/>
          <p:cNvSpPr/>
          <p:nvPr/>
        </p:nvSpPr>
        <p:spPr>
          <a:xfrm>
            <a:off x="452628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66" name="Oval 165"/>
          <p:cNvSpPr/>
          <p:nvPr/>
        </p:nvSpPr>
        <p:spPr>
          <a:xfrm>
            <a:off x="459943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IV</a:t>
            </a:r>
          </a:p>
        </p:txBody>
      </p:sp>
      <p:sp>
        <p:nvSpPr>
          <p:cNvPr id="167" name="TextBox 166"/>
          <p:cNvSpPr txBox="1"/>
          <p:nvPr/>
        </p:nvSpPr>
        <p:spPr>
          <a:xfrm>
            <a:off x="505663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Main Analysis</a:t>
            </a:r>
          </a:p>
        </p:txBody>
      </p:sp>
      <p:sp>
        <p:nvSpPr>
          <p:cNvPr id="168" name="TextBox 167"/>
          <p:cNvSpPr txBox="1"/>
          <p:nvPr/>
        </p:nvSpPr>
        <p:spPr>
          <a:xfrm>
            <a:off x="459943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Đối soát tháng × cửa hàng × kênh</a:t>
            </a:r>
          </a:p>
        </p:txBody>
      </p:sp>
      <p:sp>
        <p:nvSpPr>
          <p:cNvPr id="169" name="Rounded Rectangle 168"/>
          <p:cNvSpPr/>
          <p:nvPr/>
        </p:nvSpPr>
        <p:spPr>
          <a:xfrm>
            <a:off x="699516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0" name="Oval 169"/>
          <p:cNvSpPr/>
          <p:nvPr/>
        </p:nvSpPr>
        <p:spPr>
          <a:xfrm>
            <a:off x="706831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a:t>
            </a:r>
          </a:p>
        </p:txBody>
      </p:sp>
      <p:sp>
        <p:nvSpPr>
          <p:cNvPr id="171" name="TextBox 170"/>
          <p:cNvSpPr txBox="1"/>
          <p:nvPr/>
        </p:nvSpPr>
        <p:spPr>
          <a:xfrm>
            <a:off x="752551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Key Findings &amp; Insights</a:t>
            </a:r>
          </a:p>
        </p:txBody>
      </p:sp>
      <p:sp>
        <p:nvSpPr>
          <p:cNvPr id="172" name="TextBox 171"/>
          <p:cNvSpPr txBox="1"/>
          <p:nvPr/>
        </p:nvSpPr>
        <p:spPr>
          <a:xfrm>
            <a:off x="706831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Nguyên nhân + số tiền</a:t>
            </a:r>
          </a:p>
        </p:txBody>
      </p:sp>
      <p:sp>
        <p:nvSpPr>
          <p:cNvPr id="173" name="Rounded Rectangle 172"/>
          <p:cNvSpPr/>
          <p:nvPr/>
        </p:nvSpPr>
        <p:spPr>
          <a:xfrm>
            <a:off x="9464040" y="3310128"/>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4" name="Oval 173"/>
          <p:cNvSpPr/>
          <p:nvPr/>
        </p:nvSpPr>
        <p:spPr>
          <a:xfrm>
            <a:off x="9537192" y="3401568"/>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a:t>
            </a:r>
          </a:p>
        </p:txBody>
      </p:sp>
      <p:sp>
        <p:nvSpPr>
          <p:cNvPr id="175" name="TextBox 174"/>
          <p:cNvSpPr txBox="1"/>
          <p:nvPr/>
        </p:nvSpPr>
        <p:spPr>
          <a:xfrm>
            <a:off x="9994392" y="3346704"/>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Recommendations</a:t>
            </a:r>
          </a:p>
        </p:txBody>
      </p:sp>
      <p:sp>
        <p:nvSpPr>
          <p:cNvPr id="176" name="TextBox 175"/>
          <p:cNvSpPr txBox="1"/>
          <p:nvPr/>
        </p:nvSpPr>
        <p:spPr>
          <a:xfrm>
            <a:off x="9537192" y="3904488"/>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Ai làm gì với Finance, cửa hàng</a:t>
            </a:r>
          </a:p>
        </p:txBody>
      </p:sp>
      <p:sp>
        <p:nvSpPr>
          <p:cNvPr id="177" name="Rounded Rectangle 176"/>
          <p:cNvSpPr/>
          <p:nvPr/>
        </p:nvSpPr>
        <p:spPr>
          <a:xfrm>
            <a:off x="452628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78" name="Oval 177"/>
          <p:cNvSpPr/>
          <p:nvPr/>
        </p:nvSpPr>
        <p:spPr>
          <a:xfrm>
            <a:off x="459943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a:t>
            </a:r>
          </a:p>
        </p:txBody>
      </p:sp>
      <p:sp>
        <p:nvSpPr>
          <p:cNvPr id="179" name="TextBox 178"/>
          <p:cNvSpPr txBox="1"/>
          <p:nvPr/>
        </p:nvSpPr>
        <p:spPr>
          <a:xfrm>
            <a:off x="505663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Limitations &amp; Next Steps</a:t>
            </a:r>
          </a:p>
        </p:txBody>
      </p:sp>
      <p:sp>
        <p:nvSpPr>
          <p:cNvPr id="180" name="TextBox 179"/>
          <p:cNvSpPr txBox="1"/>
          <p:nvPr/>
        </p:nvSpPr>
        <p:spPr>
          <a:xfrm>
            <a:off x="459943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As-of, PENDING, giả định</a:t>
            </a:r>
          </a:p>
        </p:txBody>
      </p:sp>
      <p:sp>
        <p:nvSpPr>
          <p:cNvPr id="181" name="Rounded Rectangle 180"/>
          <p:cNvSpPr/>
          <p:nvPr/>
        </p:nvSpPr>
        <p:spPr>
          <a:xfrm>
            <a:off x="6995160" y="4654296"/>
            <a:ext cx="2331720" cy="1207008"/>
          </a:xfrm>
          <a:prstGeom prst="roundRect">
            <a:avLst>
              <a:gd name="adj" fmla="val 6000"/>
            </a:avLst>
          </a:prstGeom>
          <a:solidFill>
            <a:srgbClr val="FFFFFF"/>
          </a:solidFill>
          <a:ln w="15875">
            <a:solidFill>
              <a:srgbClr val="123A7A"/>
            </a:solidFill>
            <a:prstDash val="dash"/>
          </a:ln>
          <a:effectLst/>
        </p:spPr>
        <p:txBody>
          <a:bodyPr rtlCol="0" anchor="ctr" wrap="square" lIns="73152" tIns="36576" rIns="73152" bIns="36576"/>
          <a:lstStyle/>
          <a:p>
            <a:pPr algn="ctr"/>
          </a:p>
        </p:txBody>
      </p:sp>
      <p:sp>
        <p:nvSpPr>
          <p:cNvPr id="182" name="Oval 181"/>
          <p:cNvSpPr/>
          <p:nvPr/>
        </p:nvSpPr>
        <p:spPr>
          <a:xfrm>
            <a:off x="7068312" y="4745736"/>
            <a:ext cx="411480" cy="411480"/>
          </a:xfrm>
          <a:prstGeom prst="ellipse">
            <a:avLst/>
          </a:prstGeom>
          <a:solidFill>
            <a:srgbClr val="123A7A"/>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VIII</a:t>
            </a:r>
          </a:p>
        </p:txBody>
      </p:sp>
      <p:sp>
        <p:nvSpPr>
          <p:cNvPr id="183" name="TextBox 182"/>
          <p:cNvSpPr txBox="1"/>
          <p:nvPr/>
        </p:nvSpPr>
        <p:spPr>
          <a:xfrm>
            <a:off x="7525512" y="4690872"/>
            <a:ext cx="1783080" cy="548640"/>
          </a:xfrm>
          <a:prstGeom prst="rect">
            <a:avLst/>
          </a:prstGeom>
          <a:noFill/>
        </p:spPr>
        <p:txBody>
          <a:bodyPr wrap="square" lIns="45720" tIns="27432" rIns="45720" bIns="27432" anchor="ctr"/>
          <a:lstStyle/>
          <a:p>
            <a:pPr algn="l">
              <a:buNone/>
            </a:pPr>
            <a:r>
              <a:rPr sz="1200" b="1" i="0">
                <a:solidFill>
                  <a:srgbClr val="123A7A"/>
                </a:solidFill>
                <a:latin typeface="Times New Roman"/>
                <a:ea typeface="Times New Roman"/>
                <a:cs typeface="Times New Roman"/>
              </a:rPr>
              <a:t>References</a:t>
            </a:r>
          </a:p>
        </p:txBody>
      </p:sp>
      <p:sp>
        <p:nvSpPr>
          <p:cNvPr id="184" name="TextBox 183"/>
          <p:cNvSpPr txBox="1"/>
          <p:nvPr/>
        </p:nvSpPr>
        <p:spPr>
          <a:xfrm>
            <a:off x="706831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Nguồn dữ liệu, tài liệu</a:t>
            </a:r>
          </a:p>
        </p:txBody>
      </p:sp>
      <p:sp>
        <p:nvSpPr>
          <p:cNvPr id="185" name="Rounded Rectangle 184"/>
          <p:cNvSpPr/>
          <p:nvPr/>
        </p:nvSpPr>
        <p:spPr>
          <a:xfrm>
            <a:off x="9464040" y="4654296"/>
            <a:ext cx="2331720" cy="1207008"/>
          </a:xfrm>
          <a:prstGeom prst="roundRect">
            <a:avLst>
              <a:gd name="adj" fmla="val 6000"/>
            </a:avLst>
          </a:prstGeom>
          <a:solidFill>
            <a:srgbClr val="FFFFFF"/>
          </a:solidFill>
          <a:ln w="15875">
            <a:solidFill>
              <a:srgbClr val="2E5B31"/>
            </a:solidFill>
            <a:prstDash val="dash"/>
          </a:ln>
          <a:effectLst/>
        </p:spPr>
        <p:txBody>
          <a:bodyPr rtlCol="0" anchor="ctr" wrap="square" lIns="73152" tIns="36576" rIns="73152" bIns="36576"/>
          <a:lstStyle/>
          <a:p>
            <a:pPr algn="ctr"/>
          </a:p>
        </p:txBody>
      </p:sp>
      <p:sp>
        <p:nvSpPr>
          <p:cNvPr id="186" name="Oval 185"/>
          <p:cNvSpPr/>
          <p:nvPr/>
        </p:nvSpPr>
        <p:spPr>
          <a:xfrm>
            <a:off x="9537192" y="4745736"/>
            <a:ext cx="411480" cy="411480"/>
          </a:xfrm>
          <a:prstGeom prst="ellipse">
            <a:avLst/>
          </a:prstGeom>
          <a:solidFill>
            <a:srgbClr val="2E5B31"/>
          </a:solidFill>
          <a:ln>
            <a:noFill/>
          </a:ln>
          <a:effectLst/>
        </p:spPr>
        <p:txBody>
          <a:bodyPr rtlCol="0" anchor="ctr" wrap="square" lIns="0" tIns="0" rIns="0" bIns="0"/>
          <a:lstStyle/>
          <a:p>
            <a:pPr algn="ctr">
              <a:buNone/>
            </a:pPr>
            <a:r>
              <a:rPr sz="1100" b="1" i="0">
                <a:solidFill>
                  <a:srgbClr val="FFFFFF"/>
                </a:solidFill>
                <a:latin typeface="Times New Roman"/>
                <a:ea typeface="Times New Roman"/>
                <a:cs typeface="Times New Roman"/>
              </a:rPr>
              <a:t>+</a:t>
            </a:r>
          </a:p>
        </p:txBody>
      </p:sp>
      <p:sp>
        <p:nvSpPr>
          <p:cNvPr id="187" name="TextBox 186"/>
          <p:cNvSpPr txBox="1"/>
          <p:nvPr/>
        </p:nvSpPr>
        <p:spPr>
          <a:xfrm>
            <a:off x="9994392" y="4690872"/>
            <a:ext cx="1783080" cy="548640"/>
          </a:xfrm>
          <a:prstGeom prst="rect">
            <a:avLst/>
          </a:prstGeom>
          <a:noFill/>
        </p:spPr>
        <p:txBody>
          <a:bodyPr wrap="square" lIns="45720" tIns="27432" rIns="45720" bIns="27432" anchor="ctr"/>
          <a:lstStyle/>
          <a:p>
            <a:pPr algn="l">
              <a:buNone/>
            </a:pPr>
            <a:r>
              <a:rPr sz="1200" b="1" i="0">
                <a:solidFill>
                  <a:srgbClr val="2E5B31"/>
                </a:solidFill>
                <a:latin typeface="Times New Roman"/>
                <a:ea typeface="Times New Roman"/>
                <a:cs typeface="Times New Roman"/>
              </a:rPr>
              <a:t>Phụ lục</a:t>
            </a:r>
          </a:p>
        </p:txBody>
      </p:sp>
      <p:sp>
        <p:nvSpPr>
          <p:cNvPr id="188" name="TextBox 187"/>
          <p:cNvSpPr txBox="1"/>
          <p:nvPr/>
        </p:nvSpPr>
        <p:spPr>
          <a:xfrm>
            <a:off x="9537192" y="5248656"/>
            <a:ext cx="2194560" cy="594360"/>
          </a:xfrm>
          <a:prstGeom prst="rect">
            <a:avLst/>
          </a:prstGeom>
          <a:noFill/>
        </p:spPr>
        <p:txBody>
          <a:bodyPr wrap="square" lIns="45720" tIns="27432" rIns="45720" bIns="27432" anchor="t"/>
          <a:lstStyle/>
          <a:p>
            <a:pPr algn="l">
              <a:buNone/>
            </a:pPr>
            <a:r>
              <a:rPr sz="1100" b="0" i="0">
                <a:solidFill>
                  <a:srgbClr val="595959"/>
                </a:solidFill>
                <a:latin typeface="Times New Roman"/>
                <a:ea typeface="Times New Roman"/>
                <a:cs typeface="Times New Roman"/>
              </a:rPr>
              <a:t>Bảng cầu nối, danh sách ô vượt ngưỡng</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Báo cáo đầu ra và thang chấm điểm</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Thang chấm điểm 100 điểm</a:t>
            </a:r>
          </a:p>
        </p:txBody>
      </p:sp>
      <p:sp>
        <p:nvSpPr>
          <p:cNvPr id="141" name="TextBox 140"/>
          <p:cNvSpPr txBox="1"/>
          <p:nvPr/>
        </p:nvSpPr>
        <p:spPr>
          <a:xfrm>
            <a:off x="9509760" y="868680"/>
            <a:ext cx="2606040" cy="320040"/>
          </a:xfrm>
          <a:prstGeom prst="rect">
            <a:avLst/>
          </a:prstGeom>
          <a:noFill/>
        </p:spPr>
        <p:txBody>
          <a:bodyPr wrap="square" lIns="45720" tIns="27432" rIns="45720" bIns="27432" anchor="t"/>
          <a:lstStyle/>
          <a:p>
            <a:pPr algn="r">
              <a:buNone/>
            </a:pPr>
            <a:r>
              <a:rPr sz="1200" b="0" i="1">
                <a:solidFill>
                  <a:srgbClr val="7F7F7F"/>
                </a:solidFill>
                <a:latin typeface="Times New Roman"/>
                <a:ea typeface="Times New Roman"/>
                <a:cs typeface="Times New Roman"/>
              </a:rPr>
              <a:t>Sales Project 1</a:t>
            </a:r>
          </a:p>
        </p:txBody>
      </p:sp>
      <p:sp>
        <p:nvSpPr>
          <p:cNvPr id="142" name="Rectangle 141"/>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Rubric </a:t>
            </a:r>
            <a:r>
              <a:rPr sz="1700" b="1" i="0">
                <a:solidFill>
                  <a:srgbClr val="C00000"/>
                </a:solidFill>
                <a:latin typeface="Times New Roman"/>
                <a:ea typeface="Times New Roman"/>
                <a:cs typeface="Times New Roman"/>
              </a:rPr>
              <a:t>100 điểm</a:t>
            </a:r>
            <a:r>
              <a:rPr sz="1700" b="0" i="0">
                <a:solidFill>
                  <a:srgbClr val="222222"/>
                </a:solidFill>
                <a:latin typeface="Times New Roman"/>
                <a:ea typeface="Times New Roman"/>
                <a:cs typeface="Times New Roman"/>
              </a:rPr>
              <a:t>: 40 kỹ thuật · 40 báo cáo · 20 sáng tạo</a:t>
            </a:r>
          </a:p>
        </p:txBody>
      </p:sp>
      <p:sp>
        <p:nvSpPr>
          <p:cNvPr id="143" name="Rounded Rectangle 142"/>
          <p:cNvSpPr/>
          <p:nvPr/>
        </p:nvSpPr>
        <p:spPr>
          <a:xfrm>
            <a:off x="365760" y="1371600"/>
            <a:ext cx="3566160" cy="868680"/>
          </a:xfrm>
          <a:prstGeom prst="roundRect">
            <a:avLst>
              <a:gd name="adj" fmla="val 10000"/>
            </a:avLst>
          </a:prstGeom>
          <a:solidFill>
            <a:srgbClr val="2E5B3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Kỹ thuật</a:t>
            </a:r>
          </a:p>
        </p:txBody>
      </p:sp>
      <p:sp>
        <p:nvSpPr>
          <p:cNvPr id="144" name="Rounded Rectangle 143"/>
          <p:cNvSpPr/>
          <p:nvPr/>
        </p:nvSpPr>
        <p:spPr>
          <a:xfrm>
            <a:off x="365760" y="2331720"/>
            <a:ext cx="3566160" cy="3657600"/>
          </a:xfrm>
          <a:prstGeom prst="roundRect">
            <a:avLst>
              <a:gd name="adj" fmla="val 4000"/>
            </a:avLst>
          </a:prstGeom>
          <a:solidFill>
            <a:srgbClr val="E2F0D9"/>
          </a:solidFill>
          <a:ln w="15875">
            <a:solidFill>
              <a:srgbClr val="2E5B31"/>
            </a:solidFill>
          </a:ln>
          <a:effectLst/>
        </p:spPr>
        <p:txBody>
          <a:bodyPr rtlCol="0" anchor="ctr" wrap="square" lIns="73152" tIns="36576" rIns="73152" bIns="36576"/>
          <a:lstStyle/>
          <a:p>
            <a:pPr algn="ctr"/>
          </a:p>
        </p:txBody>
      </p:sp>
      <p:sp>
        <p:nvSpPr>
          <p:cNvPr id="145" name="TextBox 144"/>
          <p:cNvSpPr txBox="1"/>
          <p:nvPr/>
        </p:nvSpPr>
        <p:spPr>
          <a:xfrm>
            <a:off x="457200" y="2423160"/>
            <a:ext cx="3383279" cy="3520440"/>
          </a:xfrm>
          <a:prstGeom prst="rect">
            <a:avLst/>
          </a:prstGeom>
          <a:noFill/>
        </p:spPr>
        <p:txBody>
          <a:bodyPr wrap="square" lIns="45720" tIns="27432" rIns="45720" bIns="27432" anchor="t"/>
          <a:lstStyle/>
          <a:p>
            <a:pPr algn="l" marL="182880" indent="-182880">
              <a:buClr>
                <a:srgbClr val="2E5B31"/>
              </a:buClr>
              <a:buFont typeface="Arial"/>
              <a:buChar char="•"/>
            </a:pPr>
            <a:r>
              <a:rPr sz="1400" b="1" i="0">
                <a:solidFill>
                  <a:srgbClr val="2E5B31"/>
                </a:solidFill>
                <a:latin typeface="Times New Roman"/>
                <a:ea typeface="Times New Roman"/>
                <a:cs typeface="Times New Roman"/>
              </a:rPr>
              <a:t>Làm sạch &amp; mô hình (10)</a:t>
            </a:r>
          </a:p>
          <a:p>
            <a:pPr algn="l" marL="182880" indent="-182880">
              <a:spcAft>
                <a:spcPts val="800"/>
              </a:spcAft>
              <a:buFont typeface="Arial"/>
              <a:buChar char=" "/>
            </a:pPr>
            <a:r>
              <a:rPr sz="1300" b="0" i="0">
                <a:solidFill>
                  <a:srgbClr val="222222"/>
                </a:solidFill>
                <a:latin typeface="Times New Roman"/>
                <a:ea typeface="Times New Roman"/>
                <a:cs typeface="Times New Roman"/>
              </a:rPr>
              <a:t>Bỏ trùng, COMPLETED, map theo hiệu lực, quan hệ đúng</a:t>
            </a:r>
          </a:p>
          <a:p>
            <a:pPr algn="l" marL="182880" indent="-182880">
              <a:buClr>
                <a:srgbClr val="2E5B31"/>
              </a:buClr>
              <a:buFont typeface="Arial"/>
              <a:buChar char="•"/>
            </a:pPr>
            <a:r>
              <a:rPr sz="1400" b="1" i="0">
                <a:solidFill>
                  <a:srgbClr val="2E5B31"/>
                </a:solidFill>
                <a:latin typeface="Times New Roman"/>
                <a:ea typeface="Times New Roman"/>
                <a:cs typeface="Times New Roman"/>
              </a:rPr>
              <a:t>DAX (12)</a:t>
            </a:r>
          </a:p>
          <a:p>
            <a:pPr algn="l" marL="182880" indent="-182880">
              <a:spcAft>
                <a:spcPts val="800"/>
              </a:spcAft>
              <a:buFont typeface="Arial"/>
              <a:buChar char=" "/>
            </a:pPr>
            <a:r>
              <a:rPr sz="1300" b="0" i="0">
                <a:solidFill>
                  <a:srgbClr val="222222"/>
                </a:solidFill>
                <a:latin typeface="Times New Roman"/>
                <a:ea typeface="Times New Roman"/>
                <a:cs typeface="Times New Roman"/>
              </a:rPr>
              <a:t>KPI khớp số kiểm tra; Δ, cờ, quy đổi online</a:t>
            </a:r>
          </a:p>
          <a:p>
            <a:pPr algn="l" marL="182880" indent="-182880">
              <a:buClr>
                <a:srgbClr val="2E5B31"/>
              </a:buClr>
              <a:buFont typeface="Arial"/>
              <a:buChar char="•"/>
            </a:pPr>
            <a:r>
              <a:rPr sz="1400" b="1" i="0">
                <a:solidFill>
                  <a:srgbClr val="2E5B31"/>
                </a:solidFill>
                <a:latin typeface="Times New Roman"/>
                <a:ea typeface="Times New Roman"/>
                <a:cs typeface="Times New Roman"/>
              </a:rPr>
              <a:t>Dashboard 4 trang (12)</a:t>
            </a:r>
          </a:p>
          <a:p>
            <a:pPr algn="l" marL="182880" indent="-182880">
              <a:spcAft>
                <a:spcPts val="800"/>
              </a:spcAft>
              <a:buFont typeface="Arial"/>
              <a:buChar char=" "/>
            </a:pPr>
            <a:r>
              <a:rPr sz="1300" b="0" i="0">
                <a:solidFill>
                  <a:srgbClr val="222222"/>
                </a:solidFill>
                <a:latin typeface="Times New Roman"/>
                <a:ea typeface="Times New Roman"/>
                <a:cs typeface="Times New Roman"/>
              </a:rPr>
              <a:t>Đủ thẻ, biểu đồ, bảng; slicer đồng bộ</a:t>
            </a:r>
          </a:p>
          <a:p>
            <a:pPr algn="l" marL="182880" indent="-182880">
              <a:buClr>
                <a:srgbClr val="2E5B31"/>
              </a:buClr>
              <a:buFont typeface="Arial"/>
              <a:buChar char="•"/>
            </a:pPr>
            <a:r>
              <a:rPr sz="1400" b="1" i="0">
                <a:solidFill>
                  <a:srgbClr val="2E5B31"/>
                </a:solidFill>
                <a:latin typeface="Times New Roman"/>
                <a:ea typeface="Times New Roman"/>
                <a:cs typeface="Times New Roman"/>
              </a:rPr>
              <a:t>Trải nghiệm (6)</a:t>
            </a:r>
          </a:p>
          <a:p>
            <a:pPr algn="l" marL="182880" indent="-182880">
              <a:spcAft>
                <a:spcPts val="800"/>
              </a:spcAft>
              <a:buFont typeface="Arial"/>
              <a:buChar char=" "/>
            </a:pPr>
            <a:r>
              <a:rPr sz="1300" b="0" i="0">
                <a:solidFill>
                  <a:srgbClr val="222222"/>
                </a:solidFill>
                <a:latin typeface="Times New Roman"/>
                <a:ea typeface="Times New Roman"/>
                <a:cs typeface="Times New Roman"/>
              </a:rPr>
              <a:t>Đơn vị, caption, màu, điều hướng</a:t>
            </a:r>
          </a:p>
        </p:txBody>
      </p:sp>
      <p:sp>
        <p:nvSpPr>
          <p:cNvPr id="146" name="Rounded Rectangle 145"/>
          <p:cNvSpPr/>
          <p:nvPr/>
        </p:nvSpPr>
        <p:spPr>
          <a:xfrm>
            <a:off x="4091940" y="1371600"/>
            <a:ext cx="4846320" cy="868680"/>
          </a:xfrm>
          <a:prstGeom prst="roundRect">
            <a:avLst>
              <a:gd name="adj" fmla="val 10000"/>
            </a:avLst>
          </a:prstGeom>
          <a:solidFill>
            <a:srgbClr val="123A7A"/>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40 điểm</a:t>
            </a:r>
          </a:p>
          <a:p>
            <a:pPr algn="ctr">
              <a:buNone/>
            </a:pPr>
            <a:r>
              <a:rPr sz="1300" b="0" i="0">
                <a:solidFill>
                  <a:srgbClr val="FFFFFF"/>
                </a:solidFill>
                <a:latin typeface="Times New Roman"/>
                <a:ea typeface="Times New Roman"/>
                <a:cs typeface="Times New Roman"/>
              </a:rPr>
              <a:t>Báo cáo phân tích</a:t>
            </a:r>
          </a:p>
        </p:txBody>
      </p:sp>
      <p:sp>
        <p:nvSpPr>
          <p:cNvPr id="147" name="Rounded Rectangle 146"/>
          <p:cNvSpPr/>
          <p:nvPr/>
        </p:nvSpPr>
        <p:spPr>
          <a:xfrm>
            <a:off x="4091940" y="2331720"/>
            <a:ext cx="4846320" cy="3657600"/>
          </a:xfrm>
          <a:prstGeom prst="roundRect">
            <a:avLst>
              <a:gd name="adj" fmla="val 4000"/>
            </a:avLst>
          </a:prstGeom>
          <a:solidFill>
            <a:srgbClr val="DEEAF6"/>
          </a:solidFill>
          <a:ln w="15875">
            <a:solidFill>
              <a:srgbClr val="123A7A"/>
            </a:solidFill>
          </a:ln>
          <a:effectLst/>
        </p:spPr>
        <p:txBody>
          <a:bodyPr rtlCol="0" anchor="ctr" wrap="square" lIns="73152" tIns="36576" rIns="73152" bIns="36576"/>
          <a:lstStyle/>
          <a:p>
            <a:pPr algn="ctr"/>
          </a:p>
        </p:txBody>
      </p:sp>
      <p:sp>
        <p:nvSpPr>
          <p:cNvPr id="148" name="TextBox 147"/>
          <p:cNvSpPr txBox="1"/>
          <p:nvPr/>
        </p:nvSpPr>
        <p:spPr>
          <a:xfrm>
            <a:off x="4183380" y="2423160"/>
            <a:ext cx="4663440" cy="3520440"/>
          </a:xfrm>
          <a:prstGeom prst="rect">
            <a:avLst/>
          </a:prstGeom>
          <a:noFill/>
        </p:spPr>
        <p:txBody>
          <a:bodyPr wrap="square" lIns="45720" tIns="27432" rIns="45720" bIns="27432" anchor="t"/>
          <a:lstStyle/>
          <a:p>
            <a:pPr algn="l" marL="182880" indent="-182880">
              <a:buClr>
                <a:srgbClr val="123A7A"/>
              </a:buClr>
              <a:buFont typeface="Arial"/>
              <a:buChar char="•"/>
            </a:pPr>
            <a:r>
              <a:rPr sz="1400" b="1" i="0">
                <a:solidFill>
                  <a:srgbClr val="123A7A"/>
                </a:solidFill>
                <a:latin typeface="Times New Roman"/>
                <a:ea typeface="Times New Roman"/>
                <a:cs typeface="Times New Roman"/>
              </a:rPr>
              <a:t>Cấu trúc 8 phần (8)</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template, từ câu hỏi đến kết luận</a:t>
            </a:r>
          </a:p>
          <a:p>
            <a:pPr algn="l" marL="182880" indent="-182880">
              <a:buClr>
                <a:srgbClr val="123A7A"/>
              </a:buClr>
              <a:buFont typeface="Arial"/>
              <a:buChar char="•"/>
            </a:pPr>
            <a:r>
              <a:rPr sz="1400" b="1" i="0">
                <a:solidFill>
                  <a:srgbClr val="123A7A"/>
                </a:solidFill>
                <a:latin typeface="Times New Roman"/>
                <a:ea typeface="Times New Roman"/>
                <a:cs typeface="Times New Roman"/>
              </a:rPr>
              <a:t>Đối soát (16)</a:t>
            </a:r>
          </a:p>
          <a:p>
            <a:pPr algn="l" marL="182880" indent="-182880">
              <a:spcAft>
                <a:spcPts val="800"/>
              </a:spcAft>
              <a:buFont typeface="Arial"/>
              <a:buChar char=" "/>
            </a:pPr>
            <a:r>
              <a:rPr sz="1300" b="0" i="0">
                <a:solidFill>
                  <a:srgbClr val="222222"/>
                </a:solidFill>
                <a:latin typeface="Times New Roman"/>
                <a:ea typeface="Times New Roman"/>
                <a:cs typeface="Times New Roman"/>
              </a:rPr>
              <a:t>Giải thích mọi ô vượt ngưỡng; cầu nối còn lại = 0</a:t>
            </a:r>
          </a:p>
          <a:p>
            <a:pPr algn="l" marL="182880" indent="-182880">
              <a:buClr>
                <a:srgbClr val="123A7A"/>
              </a:buClr>
              <a:buFont typeface="Arial"/>
              <a:buChar char="•"/>
            </a:pPr>
            <a:r>
              <a:rPr sz="1400" b="1" i="0">
                <a:solidFill>
                  <a:srgbClr val="123A7A"/>
                </a:solidFill>
                <a:latin typeface="Times New Roman"/>
                <a:ea typeface="Times New Roman"/>
                <a:cs typeface="Times New Roman"/>
              </a:rPr>
              <a:t>Lập luận (10)</a:t>
            </a:r>
          </a:p>
          <a:p>
            <a:pPr algn="l" marL="182880" indent="-182880">
              <a:spcAft>
                <a:spcPts val="800"/>
              </a:spcAft>
              <a:buFont typeface="Arial"/>
              <a:buChar char=" "/>
            </a:pPr>
            <a:r>
              <a:rPr sz="1300" b="0" i="0">
                <a:solidFill>
                  <a:srgbClr val="222222"/>
                </a:solidFill>
                <a:latin typeface="Times New Roman"/>
                <a:ea typeface="Times New Roman"/>
                <a:cs typeface="Times New Roman"/>
              </a:rPr>
              <a:t>Finding → Insight → Recommendation có số làm chỗ dựa</a:t>
            </a:r>
          </a:p>
          <a:p>
            <a:pPr algn="l" marL="182880" indent="-182880">
              <a:buClr>
                <a:srgbClr val="123A7A"/>
              </a:buClr>
              <a:buFont typeface="Arial"/>
              <a:buChar char="•"/>
            </a:pPr>
            <a:r>
              <a:rPr sz="1400" b="1" i="0">
                <a:solidFill>
                  <a:srgbClr val="123A7A"/>
                </a:solidFill>
                <a:latin typeface="Times New Roman"/>
                <a:ea typeface="Times New Roman"/>
                <a:cs typeface="Times New Roman"/>
              </a:rPr>
              <a:t>Giới hạn (6)</a:t>
            </a:r>
          </a:p>
          <a:p>
            <a:pPr algn="l" marL="182880" indent="-182880">
              <a:spcAft>
                <a:spcPts val="800"/>
              </a:spcAft>
              <a:buFont typeface="Arial"/>
              <a:buChar char=" "/>
            </a:pPr>
            <a:r>
              <a:rPr sz="1300" b="0" i="0">
                <a:solidFill>
                  <a:srgbClr val="222222"/>
                </a:solidFill>
                <a:latin typeface="Times New Roman"/>
                <a:ea typeface="Times New Roman"/>
                <a:cs typeface="Times New Roman"/>
              </a:rPr>
              <a:t>As-of, PENDING, giả định ghi nhận</a:t>
            </a:r>
          </a:p>
        </p:txBody>
      </p:sp>
      <p:sp>
        <p:nvSpPr>
          <p:cNvPr id="149" name="Rounded Rectangle 148"/>
          <p:cNvSpPr/>
          <p:nvPr/>
        </p:nvSpPr>
        <p:spPr>
          <a:xfrm>
            <a:off x="9098280" y="1371600"/>
            <a:ext cx="2743200" cy="868680"/>
          </a:xfrm>
          <a:prstGeom prst="roundRect">
            <a:avLst>
              <a:gd name="adj" fmla="val 10000"/>
            </a:avLst>
          </a:prstGeom>
          <a:solidFill>
            <a:srgbClr val="C55A11"/>
          </a:solidFill>
          <a:ln>
            <a:noFill/>
          </a:ln>
          <a:effectLst/>
        </p:spPr>
        <p:txBody>
          <a:bodyPr rtlCol="0" anchor="ctr" wrap="square" lIns="73152" tIns="36576" rIns="73152" bIns="36576"/>
          <a:lstStyle/>
          <a:p>
            <a:pPr algn="ctr">
              <a:buNone/>
            </a:pPr>
            <a:r>
              <a:rPr sz="2200" b="1" i="0">
                <a:solidFill>
                  <a:srgbClr val="FFFFFF"/>
                </a:solidFill>
                <a:latin typeface="Times New Roman"/>
                <a:ea typeface="Times New Roman"/>
                <a:cs typeface="Times New Roman"/>
              </a:rPr>
              <a:t>20 điểm</a:t>
            </a:r>
          </a:p>
          <a:p>
            <a:pPr algn="ctr">
              <a:buNone/>
            </a:pPr>
            <a:r>
              <a:rPr sz="1300" b="0" i="0">
                <a:solidFill>
                  <a:srgbClr val="FFFFFF"/>
                </a:solidFill>
                <a:latin typeface="Times New Roman"/>
                <a:ea typeface="Times New Roman"/>
                <a:cs typeface="Times New Roman"/>
              </a:rPr>
              <a:t>Sáng tạo</a:t>
            </a:r>
          </a:p>
        </p:txBody>
      </p:sp>
      <p:sp>
        <p:nvSpPr>
          <p:cNvPr id="150" name="Rounded Rectangle 149"/>
          <p:cNvSpPr/>
          <p:nvPr/>
        </p:nvSpPr>
        <p:spPr>
          <a:xfrm>
            <a:off x="9098280" y="2331720"/>
            <a:ext cx="2743200" cy="3657600"/>
          </a:xfrm>
          <a:prstGeom prst="roundRect">
            <a:avLst>
              <a:gd name="adj" fmla="val 4000"/>
            </a:avLst>
          </a:prstGeom>
          <a:solidFill>
            <a:srgbClr val="FBE5D6"/>
          </a:solidFill>
          <a:ln w="15875">
            <a:solidFill>
              <a:srgbClr val="C55A11"/>
            </a:solidFill>
          </a:ln>
          <a:effectLst/>
        </p:spPr>
        <p:txBody>
          <a:bodyPr rtlCol="0" anchor="ctr" wrap="square" lIns="73152" tIns="36576" rIns="73152" bIns="36576"/>
          <a:lstStyle/>
          <a:p>
            <a:pPr algn="ctr"/>
          </a:p>
        </p:txBody>
      </p:sp>
      <p:sp>
        <p:nvSpPr>
          <p:cNvPr id="151" name="TextBox 150"/>
          <p:cNvSpPr txBox="1"/>
          <p:nvPr/>
        </p:nvSpPr>
        <p:spPr>
          <a:xfrm>
            <a:off x="9189719" y="2423160"/>
            <a:ext cx="2560320" cy="3520440"/>
          </a:xfrm>
          <a:prstGeom prst="rect">
            <a:avLst/>
          </a:prstGeom>
          <a:noFill/>
        </p:spPr>
        <p:txBody>
          <a:bodyPr wrap="square" lIns="45720" tIns="27432" rIns="45720" bIns="27432" anchor="t"/>
          <a:lstStyle/>
          <a:p>
            <a:pPr algn="l" marL="182880" indent="-182880">
              <a:buClr>
                <a:srgbClr val="C55A11"/>
              </a:buClr>
              <a:buFont typeface="Arial"/>
              <a:buChar char="•"/>
            </a:pPr>
            <a:r>
              <a:rPr sz="1400" b="1" i="0">
                <a:solidFill>
                  <a:srgbClr val="C55A11"/>
                </a:solidFill>
                <a:latin typeface="Times New Roman"/>
                <a:ea typeface="Times New Roman"/>
                <a:cs typeface="Times New Roman"/>
              </a:rPr>
              <a:t>Vượt gợi ý</a:t>
            </a:r>
          </a:p>
          <a:p>
            <a:pPr algn="l" marL="182880" indent="-182880">
              <a:spcAft>
                <a:spcPts val="800"/>
              </a:spcAft>
              <a:buFont typeface="Arial"/>
              <a:buChar char=" "/>
            </a:pPr>
            <a:r>
              <a:rPr sz="1300" b="0" i="0">
                <a:solidFill>
                  <a:srgbClr val="222222"/>
                </a:solidFill>
                <a:latin typeface="Times New Roman"/>
                <a:ea typeface="Times New Roman"/>
                <a:cs typeface="Times New Roman"/>
              </a:rPr>
              <a:t>Drill-through cửa hàng – ngày, tooltip</a:t>
            </a:r>
          </a:p>
          <a:p>
            <a:pPr algn="l" marL="182880" indent="-182880">
              <a:buClr>
                <a:srgbClr val="C55A11"/>
              </a:buClr>
              <a:buFont typeface="Arial"/>
              <a:buChar char="•"/>
            </a:pPr>
            <a:r>
              <a:rPr sz="1400" b="1" i="0">
                <a:solidFill>
                  <a:srgbClr val="C55A11"/>
                </a:solidFill>
                <a:latin typeface="Times New Roman"/>
                <a:ea typeface="Times New Roman"/>
                <a:cs typeface="Times New Roman"/>
              </a:rPr>
              <a:t>Bảng bổ sung</a:t>
            </a:r>
          </a:p>
          <a:p>
            <a:pPr algn="l" marL="182880" indent="-182880">
              <a:spcAft>
                <a:spcPts val="800"/>
              </a:spcAft>
              <a:buFont typeface="Arial"/>
              <a:buChar char=" "/>
            </a:pPr>
            <a:r>
              <a:rPr sz="1300" b="0" i="0">
                <a:solidFill>
                  <a:srgbClr val="222222"/>
                </a:solidFill>
                <a:latin typeface="Times New Roman"/>
                <a:ea typeface="Times New Roman"/>
                <a:cs typeface="Times New Roman"/>
              </a:rPr>
              <a:t>fx_rate, unit_cost, dim_customer</a:t>
            </a:r>
          </a:p>
          <a:p>
            <a:pPr algn="l" marL="182880" indent="-182880">
              <a:buClr>
                <a:srgbClr val="C55A11"/>
              </a:buClr>
              <a:buFont typeface="Arial"/>
              <a:buChar char="•"/>
            </a:pPr>
            <a:r>
              <a:rPr sz="1400" b="1" i="0">
                <a:solidFill>
                  <a:srgbClr val="C55A11"/>
                </a:solidFill>
                <a:latin typeface="Times New Roman"/>
                <a:ea typeface="Times New Roman"/>
                <a:cs typeface="Times New Roman"/>
              </a:rPr>
              <a:t>Cảnh báo</a:t>
            </a:r>
          </a:p>
          <a:p>
            <a:pPr algn="l" marL="182880" indent="-182880">
              <a:spcAft>
                <a:spcPts val="800"/>
              </a:spcAft>
              <a:buFont typeface="Arial"/>
              <a:buChar char=" "/>
            </a:pPr>
            <a:r>
              <a:rPr sz="1300" b="0" i="0">
                <a:solidFill>
                  <a:srgbClr val="222222"/>
                </a:solidFill>
                <a:latin typeface="Times New Roman"/>
                <a:ea typeface="Times New Roman"/>
                <a:cs typeface="Times New Roman"/>
              </a:rPr>
              <a:t>Theo dõi ô vượt ngưỡng hằng tháng</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jpg"/>
          <p:cNvPicPr>
            <a:picLocks noChangeAspect="1"/>
          </p:cNvPicPr>
          <p:nvPr/>
        </p:nvPicPr>
        <p:blipFill>
          <a:blip r:embed="rId2"/>
          <a:stretch>
            <a:fillRect/>
          </a:stretch>
        </p:blipFill>
        <p:spPr>
          <a:xfrm>
            <a:off x="0" y="0"/>
            <a:ext cx="12191695" cy="6858000"/>
          </a:xfrm>
          <a:prstGeom prst="rect">
            <a:avLst/>
          </a:prstGeom>
        </p:spPr>
      </p:pic>
      <p:sp>
        <p:nvSpPr>
          <p:cNvPr id="3" name="TextBox 2"/>
          <p:cNvSpPr txBox="1"/>
          <p:nvPr/>
        </p:nvSpPr>
        <p:spPr>
          <a:xfrm>
            <a:off x="731520" y="2377440"/>
            <a:ext cx="5486400" cy="1097280"/>
          </a:xfrm>
          <a:prstGeom prst="rect">
            <a:avLst/>
          </a:prstGeom>
          <a:noFill/>
        </p:spPr>
        <p:txBody>
          <a:bodyPr wrap="square" lIns="45720" tIns="27432" rIns="45720" bIns="27432" anchor="t"/>
          <a:lstStyle/>
          <a:p>
            <a:pPr algn="l">
              <a:buNone/>
            </a:pPr>
            <a:r>
              <a:rPr sz="5400" b="1" i="0">
                <a:solidFill>
                  <a:srgbClr val="FFFFFF"/>
                </a:solidFill>
                <a:latin typeface="Times New Roman"/>
                <a:ea typeface="Times New Roman"/>
                <a:cs typeface="Times New Roman"/>
              </a:rPr>
              <a:t>Hỏi &amp; đáp</a:t>
            </a:r>
          </a:p>
        </p:txBody>
      </p:sp>
      <p:sp>
        <p:nvSpPr>
          <p:cNvPr id="4" name="TextBox 3"/>
          <p:cNvSpPr txBox="1"/>
          <p:nvPr/>
        </p:nvSpPr>
        <p:spPr>
          <a:xfrm>
            <a:off x="731520" y="3429000"/>
            <a:ext cx="5486400" cy="914400"/>
          </a:xfrm>
          <a:prstGeom prst="rect">
            <a:avLst/>
          </a:prstGeom>
          <a:noFill/>
        </p:spPr>
        <p:txBody>
          <a:bodyPr wrap="square" lIns="45720" tIns="27432" rIns="45720" bIns="27432" anchor="t"/>
          <a:lstStyle/>
          <a:p>
            <a:pPr algn="l">
              <a:buNone/>
            </a:pPr>
            <a:r>
              <a:rPr sz="1800" b="0" i="0">
                <a:solidFill>
                  <a:srgbClr val="FFFFFF"/>
                </a:solidFill>
                <a:latin typeface="Times New Roman"/>
                <a:ea typeface="Times New Roman"/>
                <a:cs typeface="Times New Roman"/>
              </a:rPr>
              <a:t>Sales Project 1 · Kết quả bán hàng và đối soát doanh thu</a:t>
            </a:r>
          </a:p>
        </p:txBody>
      </p:sp>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Đáp án cầu nối năm 2020 · ẩn khi trình chiếu cho học viên</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Unexplained = </a:t>
            </a:r>
            <a:r>
              <a:rPr sz="1700" b="1" i="0">
                <a:solidFill>
                  <a:srgbClr val="2E5B31"/>
                </a:solidFill>
                <a:latin typeface="Times New Roman"/>
                <a:ea typeface="Times New Roman"/>
                <a:cs typeface="Times New Roman"/>
              </a:rPr>
              <a:t>0 USD</a:t>
            </a:r>
            <a:r>
              <a:rPr sz="1700" b="0" i="0">
                <a:solidFill>
                  <a:srgbClr val="222222"/>
                </a:solidFill>
                <a:latin typeface="Times New Roman"/>
                <a:ea typeface="Times New Roman"/>
                <a:cs typeface="Times New Roman"/>
              </a:rPr>
              <a:t> ở mọi ô tháng × cửa hàng (Instructor Key, sheet bridge_store_month)</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sp>
        <p:nvSpPr>
          <p:cNvPr id="143" name="Rectangle 142"/>
          <p:cNvSpPr/>
          <p:nvPr/>
        </p:nvSpPr>
        <p:spPr>
          <a:xfrm>
            <a:off x="365760" y="1371600"/>
            <a:ext cx="7498079" cy="4617720"/>
          </a:xfrm>
          <a:prstGeom prst="rect">
            <a:avLst/>
          </a:prstGeom>
          <a:solidFill>
            <a:srgbClr val="FFFFFF"/>
          </a:solidFill>
          <a:ln w="15875">
            <a:solidFill>
              <a:srgbClr val="C00000"/>
            </a:solidFill>
          </a:ln>
          <a:effectLst/>
        </p:spPr>
        <p:txBody>
          <a:bodyPr rtlCol="0" anchor="ctr" wrap="square" lIns="73152" tIns="36576" rIns="73152" bIns="36576"/>
          <a:lstStyle/>
          <a:p>
            <a:pPr algn="ctr"/>
          </a:p>
        </p:txBody>
      </p:sp>
      <p:sp>
        <p:nvSpPr>
          <p:cNvPr id="144" name="Rectangle 143"/>
          <p:cNvSpPr/>
          <p:nvPr/>
        </p:nvSpPr>
        <p:spPr>
          <a:xfrm>
            <a:off x="365760" y="1371600"/>
            <a:ext cx="7498079" cy="329184"/>
          </a:xfrm>
          <a:prstGeom prst="rect">
            <a:avLst/>
          </a:prstGeom>
          <a:solidFill>
            <a:srgbClr val="C00000"/>
          </a:solidFill>
          <a:ln>
            <a:noFill/>
          </a:ln>
          <a:effectLst/>
        </p:spPr>
        <p:txBody>
          <a:bodyPr rtlCol="0" anchor="ctr" wrap="square" lIns="109728" tIns="18288" bIns="18288"/>
          <a:lstStyle/>
          <a:p>
            <a:pPr algn="l">
              <a:buNone/>
            </a:pPr>
            <a:r>
              <a:rPr sz="1400" b="1" i="0">
                <a:solidFill>
                  <a:srgbClr val="FFFFFF"/>
                </a:solidFill>
                <a:latin typeface="Times New Roman"/>
                <a:ea typeface="Times New Roman"/>
                <a:cs typeface="Times New Roman"/>
              </a:rPr>
              <a:t>Cầu nối 2020: dữ liệu đơn → Finance (nghìn USD, trục cắt)</a:t>
            </a:r>
          </a:p>
        </p:txBody>
      </p:sp>
      <p:graphicFrame>
        <p:nvGraphicFramePr>
          <p:cNvPr id="145" name="Chart 144"/>
          <p:cNvGraphicFramePr>
            <a:graphicFrameLocks noGrp="1"/>
          </p:cNvGraphicFramePr>
          <p:nvPr/>
        </p:nvGraphicFramePr>
        <p:xfrm>
          <a:off x="457200" y="1737360"/>
          <a:ext cx="7315200" cy="4206240"/>
        </p:xfrm>
        <a:graphic>
          <a:graphicData uri="http://schemas.openxmlformats.org/drawingml/2006/chart">
            <c:chart xmlns:c="http://schemas.openxmlformats.org/drawingml/2006/chart" r:id="rId3"/>
          </a:graphicData>
        </a:graphic>
      </p:graphicFrame>
      <p:graphicFrame>
        <p:nvGraphicFramePr>
          <p:cNvPr id="146" name="Table 145"/>
          <p:cNvGraphicFramePr>
            <a:graphicFrameLocks noGrp="1"/>
          </p:cNvGraphicFramePr>
          <p:nvPr/>
        </p:nvGraphicFramePr>
        <p:xfrm>
          <a:off x="8092440" y="1371600"/>
          <a:ext cx="3749040" cy="4617712"/>
        </p:xfrm>
        <a:graphic>
          <a:graphicData uri="http://schemas.openxmlformats.org/drawingml/2006/table">
            <a:tbl>
              <a:tblPr firstRow="1">
                <a:tableStyleId>{5940675A-B579-460E-94D1-54222C63F5DA}</a:tableStyleId>
              </a:tblPr>
              <a:tblGrid>
                <a:gridCol w="2103120"/>
                <a:gridCol w="1645920"/>
              </a:tblGrid>
              <a:tr h="419792">
                <a:tc>
                  <a:txBody>
                    <a:bodyPr/>
                    <a:lstStyle/>
                    <a:p>
                      <a:pPr algn="l">
                        <a:buNone/>
                      </a:pPr>
                      <a:r>
                        <a:rPr sz="1200" b="1" i="0">
                          <a:solidFill>
                            <a:srgbClr val="FFFFFF"/>
                          </a:solidFill>
                          <a:latin typeface="Times New Roman"/>
                          <a:ea typeface="Times New Roman"/>
                          <a:cs typeface="Times New Roman"/>
                        </a:rPr>
                        <a:t>Bước</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419792">
                <a:tc>
                  <a:txBody>
                    <a:bodyPr/>
                    <a:lstStyle/>
                    <a:p>
                      <a:pPr algn="l">
                        <a:buNone/>
                      </a:pPr>
                      <a:r>
                        <a:rPr sz="1200" b="1" i="0">
                          <a:solidFill>
                            <a:srgbClr val="222222"/>
                          </a:solidFill>
                          <a:latin typeface="Times New Roman"/>
                          <a:ea typeface="Times New Roman"/>
                          <a:cs typeface="Times New Roman"/>
                        </a:rPr>
                        <a:t>Net Revenue đơn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1"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+59.682,78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−2.937,04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cửa hàng + online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8.797.370,41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419792">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419792">
                <a:tc>
                  <a:txBody>
                    <a:bodyPr/>
                    <a:lstStyle/>
                    <a:p>
                      <a:pPr algn="l">
                        <a:buNone/>
                      </a:pPr>
                      <a:r>
                        <a:rPr sz="1200" b="1" i="0">
                          <a:solidFill>
                            <a:srgbClr val="222222"/>
                          </a:solidFill>
                          <a:latin typeface="Times New Roman"/>
                          <a:ea typeface="Times New Roman"/>
                          <a:cs typeface="Times New Roman"/>
                        </a:rPr>
                        <a:t>Finance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1"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32 ô vượt ngưỡng năm 2020 và nguyên nhân chính</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Toàn bộ dữ liệu có 120 ô vượt ngưỡng; năm 2020: </a:t>
            </a:r>
            <a:r>
              <a:rPr sz="1700" b="1" i="0">
                <a:solidFill>
                  <a:srgbClr val="C00000"/>
                </a:solidFill>
                <a:latin typeface="Times New Roman"/>
                <a:ea typeface="Times New Roman"/>
                <a:cs typeface="Times New Roman"/>
              </a:rPr>
              <a:t>32 ô</a:t>
            </a:r>
            <a:r>
              <a:rPr sz="1700" b="0" i="0">
                <a:solidFill>
                  <a:srgbClr val="222222"/>
                </a:solidFill>
                <a:latin typeface="Times New Roman"/>
                <a:ea typeface="Times New Roman"/>
                <a:cs typeface="Times New Roman"/>
              </a:rPr>
              <a:t> – học viên phải giải thích đủ</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+41.120,82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−2.907,00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+1.249,96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−17.488,29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S08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+677,87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S16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−481,65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Thiếu dữ liệu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+301,65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+1.475,00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+5.097,97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+1.739,66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+1.284,70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−474,90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+67.117,99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graphicFrame>
        <p:nvGraphicFramePr>
          <p:cNvPr id="144" name="Table 143"/>
          <p:cNvGraphicFramePr>
            <a:graphicFrameLocks noGrp="1"/>
          </p:cNvGraphicFramePr>
          <p:nvPr/>
        </p:nvGraphicFramePr>
        <p:xfrm>
          <a:off x="6172200" y="1298448"/>
          <a:ext cx="5669280" cy="4754866"/>
        </p:xfrm>
        <a:graphic>
          <a:graphicData uri="http://schemas.openxmlformats.org/drawingml/2006/table">
            <a:tbl>
              <a:tblPr firstRow="1">
                <a:tableStyleId>{5940675A-B579-460E-94D1-54222C63F5DA}</a:tableStyleId>
              </a:tblPr>
              <a:tblGrid>
                <a:gridCol w="822960"/>
                <a:gridCol w="548640"/>
                <a:gridCol w="1188720"/>
                <a:gridCol w="822960"/>
                <a:gridCol w="2286000"/>
              </a:tblGrid>
              <a:tr h="279698">
                <a:tc>
                  <a:txBody>
                    <a:bodyPr/>
                    <a:lstStyle/>
                    <a:p>
                      <a:pPr algn="l">
                        <a:buNone/>
                      </a:pPr>
                      <a:r>
                        <a:rPr sz="1100" b="1" i="0">
                          <a:solidFill>
                            <a:srgbClr val="FFFFFF"/>
                          </a:solidFill>
                          <a:latin typeface="Times New Roman"/>
                          <a:ea typeface="Times New Roman"/>
                          <a:cs typeface="Times New Roman"/>
                        </a:rPr>
                        <a:t>Tháng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Δ%</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Nguyên nhân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S40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−568,00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03/2020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Hoàn tiền trễ</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04/2020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−46.927,78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−263,5%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05/2020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+27.197,36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−3.869,50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S36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+349,99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+15,3%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+1.906,98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+7,3%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06/2020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+18.513,26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+13,8%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07/2020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S22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+2.831,93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+86,2%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Đơn huỷ vẫn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09/2020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−4.564,50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10/2020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+7.191,03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−5.577,47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−15,5%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−22.812,19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000" b="0" i="0">
                          <a:solidFill>
                            <a:srgbClr val="222222"/>
                          </a:solidFill>
                          <a:latin typeface="Times New Roman"/>
                          <a:ea typeface="Times New Roman"/>
                          <a:cs typeface="Times New Roman"/>
                        </a:rPr>
                        <a:t>−17,5%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000" b="0" i="0">
                          <a:solidFill>
                            <a:srgbClr val="222222"/>
                          </a:solidFill>
                          <a:latin typeface="Times New Roman"/>
                          <a:ea typeface="Times New Roman"/>
                          <a:cs typeface="Times New Roman"/>
                        </a:rPr>
                        <a:t>Online lệch thời điểm</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279698">
                <a:tc>
                  <a:txBody>
                    <a:bodyPr/>
                    <a:lstStyle/>
                    <a:p>
                      <a:pPr algn="l">
                        <a:buNone/>
                      </a:pPr>
                      <a:r>
                        <a:rPr sz="1000" b="0" i="0">
                          <a:solidFill>
                            <a:srgbClr val="222222"/>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000" b="0" i="0">
                          <a:solidFill>
                            <a:srgbClr val="222222"/>
                          </a:solidFill>
                          <a:latin typeface="Times New Roman"/>
                          <a:ea typeface="Times New Roman"/>
                          <a:cs typeface="Times New Roman"/>
                        </a:rPr>
                        <a:t>+32,7%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000" b="0" i="0">
                          <a:solidFill>
                            <a:srgbClr val="222222"/>
                          </a:solidFill>
                          <a:latin typeface="Times New Roman"/>
                          <a:ea typeface="Times New Roman"/>
                          <a:cs typeface="Times New Roman"/>
                        </a:rPr>
                        <a:t>Ghi trùng bút toán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bl>
          </a:graphicData>
        </a:graphic>
      </p:graphicFrame>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Chênh lệch cài sẵn năm 2020 và nguyên nhân hệ thống</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Đơn huỷ vẫn ghi nhận </a:t>
            </a:r>
            <a:r>
              <a:rPr sz="1700" b="1" i="0">
                <a:solidFill>
                  <a:srgbClr val="C55A11"/>
                </a:solidFill>
                <a:latin typeface="Times New Roman"/>
                <a:ea typeface="Times New Roman"/>
                <a:cs typeface="Times New Roman"/>
              </a:rPr>
              <a:t>nhỏ từng đơn</a:t>
            </a:r>
            <a:r>
              <a:rPr sz="1700" b="0" i="0">
                <a:solidFill>
                  <a:srgbClr val="222222"/>
                </a:solidFill>
                <a:latin typeface="Times New Roman"/>
                <a:ea typeface="Times New Roman"/>
                <a:cs typeface="Times New Roman"/>
              </a:rPr>
              <a:t> nhưng cộng lại đáng kể; một số đơn rơi vào ô trong ngưỡng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7" cy="2304288"/>
        </p:xfrm>
        <a:graphic>
          <a:graphicData uri="http://schemas.openxmlformats.org/drawingml/2006/table">
            <a:tbl>
              <a:tblPr firstRow="1">
                <a:tableStyleId>{5940675A-B579-460E-94D1-54222C63F5DA}</a:tableStyleId>
              </a:tblPr>
              <a:tblGrid>
                <a:gridCol w="3305007"/>
                <a:gridCol w="1193474"/>
                <a:gridCol w="826251"/>
                <a:gridCol w="1652503"/>
                <a:gridCol w="4498482"/>
              </a:tblGrid>
              <a:tr h="384048">
                <a:tc>
                  <a:txBody>
                    <a:bodyPr/>
                    <a:lstStyle/>
                    <a:p>
                      <a:pPr algn="l">
                        <a:buNone/>
                      </a:pPr>
                      <a:r>
                        <a:rPr sz="1200" b="1" i="0">
                          <a:solidFill>
                            <a:srgbClr val="FFFFFF"/>
                          </a:solidFill>
                          <a:latin typeface="Times New Roman"/>
                          <a:ea typeface="Times New Roman"/>
                          <a:cs typeface="Times New Roman"/>
                        </a:rPr>
                        <a:t>Loại (Instructor Key)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Mã</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Số ca</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Tác động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048">
                <a:tc>
                  <a:txBody>
                    <a:bodyPr/>
                    <a:lstStyle/>
                    <a:p>
                      <a:pPr algn="l">
                        <a:buNone/>
                      </a:pPr>
                      <a:r>
                        <a:rPr sz="1200" b="0" i="0">
                          <a:solidFill>
                            <a:srgbClr val="222222"/>
                          </a:solidFill>
                          <a:latin typeface="Times New Roman"/>
                          <a:ea typeface="Times New Roman"/>
                          <a:cs typeface="Times New Roman"/>
                        </a:rPr>
                        <a:t>Finance thiếu dữ liệu 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−22.168,91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Đơn huỷ vẫn được Finance ghi nhận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K15–K25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+17.002,68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S08, S22, S33, S36, S38, S43…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Bút toán ghi trùng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+10.141,04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S12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048">
                <a:tc>
                  <a:txBody>
                    <a:bodyPr/>
                    <a:lstStyle/>
                    <a:p>
                      <a:pPr algn="l">
                        <a:buNone/>
                      </a:pPr>
                      <a:r>
                        <a:rPr sz="1200" b="0" i="0">
                          <a:solidFill>
                            <a:srgbClr val="222222"/>
                          </a:solidFill>
                          <a:latin typeface="Times New Roman"/>
                          <a:ea typeface="Times New Roman"/>
                          <a:cs typeface="Times New Roman"/>
                        </a:rPr>
                        <a:t>Ghi doanh thu gồm VAT</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K27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+2.901,63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200" b="0" i="0">
                          <a:solidFill>
                            <a:srgbClr val="222222"/>
                          </a:solidFill>
                          <a:latin typeface="Times New Roman"/>
                          <a:ea typeface="Times New Roman"/>
                          <a:cs typeface="Times New Roman"/>
                        </a:rPr>
                        <a:t>S54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048">
                <a:tc>
                  <a:txBody>
                    <a:bodyPr/>
                    <a:lstStyle/>
                    <a:p>
                      <a:pPr algn="l">
                        <a:buNone/>
                      </a:pPr>
                      <a:r>
                        <a:rPr sz="1200" b="0" i="0">
                          <a:solidFill>
                            <a:srgbClr val="222222"/>
                          </a:solidFill>
                          <a:latin typeface="Times New Roman"/>
                          <a:ea typeface="Times New Roman"/>
                          <a:cs typeface="Times New Roman"/>
                        </a:rPr>
                        <a:t>Điều chỉnh HQ không thuộc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K31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ctr">
                        <a:buNone/>
                      </a:pPr>
                      <a:r>
                        <a:rPr sz="1200" b="0" i="0">
                          <a:solidFill>
                            <a:srgbClr val="222222"/>
                          </a:solidFill>
                          <a:latin typeface="Times New Roman"/>
                          <a:ea typeface="Times New Roman"/>
                          <a:cs typeface="Times New Roman"/>
                        </a:rPr>
                        <a:t>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−1.435,50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200" b="0" i="0">
                          <a:solidFill>
                            <a:srgbClr val="222222"/>
                          </a:solidFill>
                          <a:latin typeface="Times New Roman"/>
                          <a:ea typeface="Times New Roman"/>
                          <a:cs typeface="Times New Roman"/>
                        </a:rPr>
                        <a:t>HQ-ADJ</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graphicFrame>
        <p:nvGraphicFramePr>
          <p:cNvPr id="144" name="Table 143"/>
          <p:cNvGraphicFramePr>
            <a:graphicFrameLocks noGrp="1"/>
          </p:cNvGraphicFramePr>
          <p:nvPr/>
        </p:nvGraphicFramePr>
        <p:xfrm>
          <a:off x="365760" y="3904487"/>
          <a:ext cx="11475718" cy="2084832"/>
        </p:xfrm>
        <a:graphic>
          <a:graphicData uri="http://schemas.openxmlformats.org/drawingml/2006/table">
            <a:tbl>
              <a:tblPr firstRow="1">
                <a:tableStyleId>{5940675A-B579-460E-94D1-54222C63F5DA}</a:tableStyleId>
              </a:tblPr>
              <a:tblGrid>
                <a:gridCol w="4223064"/>
                <a:gridCol w="1468892"/>
                <a:gridCol w="5783762"/>
              </a:tblGrid>
              <a:tr h="347472">
                <a:tc>
                  <a:txBody>
                    <a:bodyPr/>
                    <a:lstStyle/>
                    <a:p>
                      <a:pPr algn="l">
                        <a:buNone/>
                      </a:pPr>
                      <a:r>
                        <a:rPr sz="1100" b="1" i="0">
                          <a:solidFill>
                            <a:srgbClr val="FFFFFF"/>
                          </a:solidFill>
                          <a:latin typeface="Times New Roman"/>
                          <a:ea typeface="Times New Roman"/>
                          <a:cs typeface="Times New Roman"/>
                        </a:rPr>
                        <a:t>Nguyên nhân hệ thống / bẫy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Độ lớn (USD)</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100" b="1" i="0">
                          <a:solidFill>
                            <a:srgbClr val="FFFFFF"/>
                          </a:solidFill>
                          <a:latin typeface="Times New Roman"/>
                          <a:ea typeface="Times New Roman"/>
                          <a:cs typeface="Times New Roman"/>
                        </a:rPr>
                        <a:t>Cách phát hiện</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47472">
                <a:tc>
                  <a:txBody>
                    <a:bodyPr/>
                    <a:lstStyle/>
                    <a:p>
                      <a:pPr algn="l">
                        <a:buNone/>
                      </a:pPr>
                      <a:r>
                        <a:rPr sz="1100" b="0" i="0">
                          <a:solidFill>
                            <a:srgbClr val="222222"/>
                          </a:solidFill>
                          <a:latin typeface="Times New Roman"/>
                          <a:ea typeface="Times New Roman"/>
                          <a:cs typeface="Times New Roman"/>
                        </a:rPr>
                        <a:t>Online: dữ liệu đơn theo order_date, Finance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1.346.286,28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Cộng dồn cả kỳ ≈ 0, chỉ lệch ở ranh giới tháng; biến mất khi so theo delivery_date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Hoàn tiền: Returns theo return_date, Finance theo ngày hạch toán (trễ 0–3 ngày)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93.465,04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Lệch theo ngày; cuối tháng tạo chênh lệch nhỏ</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120 dòng trùng trong fact_sales_line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67.493,06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bỏ trùng → Net Sales phía đơn cao hơn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47472">
                <a:tc>
                  <a:txBody>
                    <a:bodyPr/>
                    <a:lstStyle/>
                    <a:p>
                      <a:pPr algn="l">
                        <a:buNone/>
                      </a:pPr>
                      <a:r>
                        <a:rPr sz="1100" b="0" i="0">
                          <a:solidFill>
                            <a:srgbClr val="222222"/>
                          </a:solidFill>
                          <a:latin typeface="Times New Roman"/>
                          <a:ea typeface="Times New Roman"/>
                          <a:cs typeface="Times New Roman"/>
                        </a:rPr>
                        <a:t>Đơn online PENDING tại as-of</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100" b="0" i="0">
                          <a:solidFill>
                            <a:srgbClr val="222222"/>
                          </a:solidFill>
                          <a:latin typeface="Times New Roman"/>
                          <a:ea typeface="Times New Roman"/>
                          <a:cs typeface="Times New Roman"/>
                        </a:rPr>
                        <a:t>73.105,11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l">
                        <a:buNone/>
                      </a:pPr>
                      <a:r>
                        <a:rPr sz="1100" b="0" i="0">
                          <a:solidFill>
                            <a:srgbClr val="222222"/>
                          </a:solidFill>
                          <a:latin typeface="Times New Roman"/>
                          <a:ea typeface="Times New Roman"/>
                          <a:cs typeface="Times New Roman"/>
                        </a:rPr>
                        <a:t>Tính nhầm PENDING → cao hơn Finance đúng số này</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47472">
                <a:tc>
                  <a:txBody>
                    <a:bodyPr/>
                    <a:lstStyle/>
                    <a:p>
                      <a:pPr algn="l">
                        <a:buNone/>
                      </a:pPr>
                      <a:r>
                        <a:rPr sz="1100" b="0" i="0">
                          <a:solidFill>
                            <a:srgbClr val="222222"/>
                          </a:solidFill>
                          <a:latin typeface="Times New Roman"/>
                          <a:ea typeface="Times New Roman"/>
                          <a:cs typeface="Times New Roman"/>
                        </a:rPr>
                        <a:t>Cửa hàng 38 đổi mã Finance GBR-03 → GBR-03N từ 01/07/2019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100" b="0" i="0">
                          <a:solidFill>
                            <a:srgbClr val="222222"/>
                          </a:solidFill>
                          <a:latin typeface="Times New Roman"/>
                          <a:ea typeface="Times New Roman"/>
                          <a:cs typeface="Times New Roman"/>
                        </a:rPr>
                        <a:t>0,00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l">
                        <a:buNone/>
                      </a:pPr>
                      <a:r>
                        <a:rPr sz="1100" b="0" i="0">
                          <a:solidFill>
                            <a:srgbClr val="222222"/>
                          </a:solidFill>
                          <a:latin typeface="Times New Roman"/>
                          <a:ea typeface="Times New Roman"/>
                          <a:cs typeface="Times New Roman"/>
                        </a:rPr>
                        <a:t>Không map theo hiệu lực → doanh thu từ 07/2019 thành 'không xác định cửa hàng'</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show="0">
  <p:cSld>
    <p:spTree>
      <p:nvGrpSpPr>
        <p:cNvPr id="1" name=""/>
        <p:cNvGrpSpPr/>
        <p:nvPr/>
      </p:nvGrpSpPr>
      <p:grpSpPr/>
      <p:sp>
        <p:nvSpPr>
          <p:cNvPr id="2" name="TextBox 1"/>
          <p:cNvSpPr txBox="1"/>
          <p:nvPr/>
        </p:nvSpPr>
        <p:spPr>
          <a:xfrm>
            <a:off x="0" y="0"/>
            <a:ext cx="12191695" cy="740664"/>
          </a:xfrm>
          <a:prstGeom prst="rect">
            <a:avLst/>
          </a:prstGeom>
          <a:noFill/>
        </p:spPr>
        <p:txBody>
          <a:bodyPr wrap="square" lIns="1920240" tIns="18288" rIns="548640" bIns="18288" anchor="ctr"/>
          <a:lstStyle/>
          <a:p>
            <a:pPr algn="ctr">
              <a:buNone/>
            </a:pPr>
            <a:r>
              <a:rPr sz="4000" b="1" i="0">
                <a:solidFill>
                  <a:srgbClr val="00B050"/>
                </a:solidFill>
                <a:latin typeface="Times New Roman"/>
                <a:ea typeface="Times New Roman"/>
                <a:cs typeface="Times New Roman"/>
              </a:rPr>
              <a:t>Phụ lục mentor</a:t>
            </a:r>
          </a:p>
        </p:txBody>
      </p:sp>
      <p:pic>
        <p:nvPicPr>
          <p:cNvPr id="3" name="Picture 2" descr="image.png"/>
          <p:cNvPicPr>
            <a:picLocks noChangeAspect="1"/>
          </p:cNvPicPr>
          <p:nvPr/>
        </p:nvPicPr>
        <p:blipFill>
          <a:blip r:embed="rId2"/>
          <a:stretch>
            <a:fillRect/>
          </a:stretch>
        </p:blipFill>
        <p:spPr>
          <a:xfrm>
            <a:off x="89103" y="47409"/>
            <a:ext cx="1815898" cy="718793"/>
          </a:xfrm>
          <a:prstGeom prst="rect">
            <a:avLst/>
          </a:prstGeom>
        </p:spPr>
      </p:pic>
      <p:sp>
        <p:nvSpPr>
          <p:cNvPr id="139" name="Google Shape;139;p15"/>
          <p:cNvSpPr txBox="1">
            <a:spLocks noGrp="1"/>
          </p:cNvSpPr>
          <p:nvPr>
            <p:ph type="sldNum" idx="12"/>
          </p:nvPr>
        </p:nvSpPr>
        <p:spPr>
          <a:xfrm>
            <a:off x="11732288" y="1"/>
            <a:ext cx="457200" cy="738390"/>
          </a:xfrm>
          <a:prstGeom prst="rect">
            <a:avLst/>
          </a:prstGeom>
          <a:solidFill>
            <a:srgbClr val="92D050"/>
          </a:solidFill>
          <a:ln>
            <a:noFill/>
          </a:ln>
        </p:spPr>
        <p:txBody>
          <a:bodyPr spcFirstLastPara="1" wrap="square" lIns="0" tIns="45700" rIns="0" bIns="45700" anchor="ctr" anchorCtr="0">
            <a:noAutofit/>
          </a:bodyPr>
          <a:lstStyle/>
          <a:p>
            <a:pPr marL="0" lvl="0" indent="0" algn="ctr" rtl="0">
              <a:spcBef>
                <a:spcPts val="0"/>
              </a:spcBef>
              <a:spcAft>
                <a:spcPts val="0"/>
              </a:spcAft>
              <a:buNone/>
            </a:pPr>
            <a:fld id="{00000000-1234-1234-1234-123412341234}" type="slidenum">
              <a:rPr lang="vi-VN" sz="1800">
                <a:solidFill>
                  <a:srgbClr val="0C0C0C"/>
                </a:solidFill>
                <a:latin typeface="Algerian"/>
                <a:ea typeface="Algerian"/>
                <a:cs typeface="Algerian"/>
                <a:sym typeface="Algerian"/>
              </a:rPr>
              <a:t>3</a:t>
            </a:fld>
            <a:endParaRPr sz="1800">
              <a:solidFill>
                <a:srgbClr val="0C0C0C"/>
              </a:solidFill>
              <a:latin typeface="Algerian"/>
              <a:ea typeface="Algerian"/>
              <a:cs typeface="Algerian"/>
              <a:sym typeface="Algerian"/>
            </a:endParaRPr>
          </a:p>
        </p:txBody>
      </p:sp>
      <p:sp>
        <p:nvSpPr>
          <p:cNvPr id="140" name="TextBox 139"/>
          <p:cNvSpPr txBox="1"/>
          <p:nvPr/>
        </p:nvSpPr>
        <p:spPr>
          <a:xfrm>
            <a:off x="45720" y="850392"/>
            <a:ext cx="9418320" cy="365760"/>
          </a:xfrm>
          <a:prstGeom prst="rect">
            <a:avLst/>
          </a:prstGeom>
          <a:noFill/>
        </p:spPr>
        <p:txBody>
          <a:bodyPr wrap="square" lIns="45720" tIns="27432" rIns="45720" bIns="27432" anchor="t"/>
          <a:lstStyle/>
          <a:p>
            <a:pPr algn="l" marL="228600" indent="-228600">
              <a:buClr>
                <a:srgbClr val="0070C0"/>
              </a:buClr>
              <a:buFont typeface="Arial"/>
              <a:buChar char="❖"/>
            </a:pPr>
            <a:r>
              <a:rPr sz="1500" b="1" i="0">
                <a:solidFill>
                  <a:srgbClr val="0070C0"/>
                </a:solidFill>
                <a:latin typeface="Times New Roman"/>
                <a:ea typeface="Times New Roman"/>
                <a:cs typeface="Times New Roman"/>
              </a:rPr>
              <a:t>Số kiểm tra KPI cho học viên: 12/2020, LM, SPLY, YTD</a:t>
            </a:r>
          </a:p>
        </p:txBody>
      </p:sp>
      <p:sp>
        <p:nvSpPr>
          <p:cNvPr id="141" name="Rectangle 140"/>
          <p:cNvSpPr/>
          <p:nvPr/>
        </p:nvSpPr>
        <p:spPr>
          <a:xfrm>
            <a:off x="347472" y="6144768"/>
            <a:ext cx="11475720" cy="457200"/>
          </a:xfrm>
          <a:prstGeom prst="rect">
            <a:avLst/>
          </a:prstGeom>
          <a:solidFill>
            <a:srgbClr val="E2F0D9"/>
          </a:solidFill>
          <a:ln>
            <a:noFill/>
          </a:ln>
          <a:effectLst/>
        </p:spPr>
        <p:txBody>
          <a:bodyPr rtlCol="0" anchor="ctr" wrap="square" tIns="18288" bIns="18288"/>
          <a:lstStyle/>
          <a:p>
            <a:pPr algn="ctr">
              <a:buNone/>
            </a:pPr>
            <a:r>
              <a:rPr sz="1700" b="0" i="0">
                <a:solidFill>
                  <a:srgbClr val="222222"/>
                </a:solidFill>
                <a:latin typeface="Times New Roman"/>
                <a:ea typeface="Times New Roman"/>
                <a:cs typeface="Times New Roman"/>
              </a:rPr>
              <a:t>Dùng khi chấm phần </a:t>
            </a:r>
            <a:r>
              <a:rPr sz="1700" b="1" i="0">
                <a:solidFill>
                  <a:srgbClr val="2E5B31"/>
                </a:solidFill>
                <a:latin typeface="Times New Roman"/>
                <a:ea typeface="Times New Roman"/>
                <a:cs typeface="Times New Roman"/>
              </a:rPr>
              <a:t>DAX (12 điểm)</a:t>
            </a:r>
            <a:r>
              <a:rPr sz="1700" b="0" i="0">
                <a:solidFill>
                  <a:srgbClr val="222222"/>
                </a:solidFill>
                <a:latin typeface="Times New Roman"/>
                <a:ea typeface="Times New Roman"/>
                <a:cs typeface="Times New Roman"/>
              </a:rPr>
              <a:t>: lệch quá 0,01 USD → kiểm tra bỏ trùng, trạng thái, ngày trả hàng</a:t>
            </a:r>
          </a:p>
        </p:txBody>
      </p:sp>
      <p:sp>
        <p:nvSpPr>
          <p:cNvPr id="142" name="Rounded Rectangle 141"/>
          <p:cNvSpPr/>
          <p:nvPr/>
        </p:nvSpPr>
        <p:spPr>
          <a:xfrm>
            <a:off x="9646920" y="914400"/>
            <a:ext cx="2468880" cy="292608"/>
          </a:xfrm>
          <a:prstGeom prst="roundRect">
            <a:avLst>
              <a:gd name="adj" fmla="val 30000"/>
            </a:avLst>
          </a:prstGeom>
          <a:solidFill>
            <a:srgbClr val="C00000"/>
          </a:solidFill>
          <a:ln>
            <a:noFill/>
          </a:ln>
          <a:effectLst/>
        </p:spPr>
        <p:txBody>
          <a:bodyPr rtlCol="0" anchor="ctr" wrap="square" lIns="73152" tIns="36576" rIns="73152" bIns="36576"/>
          <a:lstStyle/>
          <a:p>
            <a:pPr algn="ctr">
              <a:buNone/>
            </a:pPr>
            <a:r>
              <a:rPr sz="1100" b="1" i="0">
                <a:solidFill>
                  <a:srgbClr val="FFFFFF"/>
                </a:solidFill>
                <a:latin typeface="Times New Roman"/>
                <a:ea typeface="Times New Roman"/>
                <a:cs typeface="Times New Roman"/>
              </a:rPr>
              <a:t>DÀNH CHO MENTOR</a:t>
            </a:r>
          </a:p>
        </p:txBody>
      </p:sp>
      <p:graphicFrame>
        <p:nvGraphicFramePr>
          <p:cNvPr id="143" name="Table 142"/>
          <p:cNvGraphicFramePr>
            <a:graphicFrameLocks noGrp="1"/>
          </p:cNvGraphicFramePr>
          <p:nvPr/>
        </p:nvGraphicFramePr>
        <p:xfrm>
          <a:off x="365760" y="1371600"/>
          <a:ext cx="11475716" cy="4617720"/>
        </p:xfrm>
        <a:graphic>
          <a:graphicData uri="http://schemas.openxmlformats.org/drawingml/2006/table">
            <a:tbl>
              <a:tblPr firstRow="1">
                <a:tableStyleId>{5940675A-B579-460E-94D1-54222C63F5DA}</a:tableStyleId>
              </a:tblPr>
              <a:tblGrid>
                <a:gridCol w="2641237"/>
                <a:gridCol w="1730465"/>
                <a:gridCol w="1730465"/>
                <a:gridCol w="1730465"/>
                <a:gridCol w="1821542"/>
                <a:gridCol w="1821542"/>
              </a:tblGrid>
              <a:tr h="384810">
                <a:tc>
                  <a:txBody>
                    <a:bodyPr/>
                    <a:lstStyle/>
                    <a:p>
                      <a:pPr algn="l">
                        <a:buNone/>
                      </a:pPr>
                      <a:r>
                        <a:rPr sz="1200" b="1" i="0">
                          <a:solidFill>
                            <a:srgbClr val="FFFFFF"/>
                          </a:solidFill>
                          <a:latin typeface="Times New Roman"/>
                          <a:ea typeface="Times New Roman"/>
                          <a:cs typeface="Times New Roman"/>
                        </a:rPr>
                        <a:t>KPI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12/2020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LM 11/2020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SPLY 12/2019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c>
                  <a:txBody>
                    <a:bodyPr/>
                    <a:lstStyle/>
                    <a:p>
                      <a:pPr algn="ctr">
                        <a:buNone/>
                      </a:pPr>
                      <a:r>
                        <a:rPr sz="1200" b="1" i="0">
                          <a:solidFill>
                            <a:srgbClr val="FFFFFF"/>
                          </a:solidFill>
                          <a:latin typeface="Times New Roman"/>
                          <a:ea typeface="Times New Roman"/>
                          <a:cs typeface="Times New Roman"/>
                        </a:rPr>
                        <a:t>YTD 2019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2E5B31"/>
                    </a:solidFill>
                  </a:tcPr>
                </a:tc>
              </a:tr>
              <a:tr h="384810">
                <a:tc>
                  <a:txBody>
                    <a:bodyPr/>
                    <a:lstStyle/>
                    <a:p>
                      <a:pPr algn="l">
                        <a:buNone/>
                      </a:pPr>
                      <a:r>
                        <a:rPr sz="1200" b="1" i="0">
                          <a:solidFill>
                            <a:srgbClr val="222222"/>
                          </a:solidFill>
                          <a:latin typeface="Times New Roman"/>
                          <a:ea typeface="Times New Roman"/>
                          <a:cs typeface="Times New Roman"/>
                        </a:rPr>
                        <a:t>Gross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640.551,11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252.950,76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2.400.312,48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9.080.387,90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17.750.417,69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Discounts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24.739,37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11.493,80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83.880,88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138.974,66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375.050,39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Sales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615.811,74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241.456,96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2.316.431,60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8.941.413,24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17.375.367,30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9.686,67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3.420,28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53.016,63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208.665,01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451.134,18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Net Revenue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606.125,07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238.036,68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2.263.414,97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8.732.748,23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16.924.233,12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Orders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310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1.223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4.528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8.842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Units</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2.359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1.031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9.123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33.642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66.565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AOV</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1.986,49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1.665,22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1.894,06</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1.974,69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1.965,09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ASP</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261,05</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234,20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253,91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265,78</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261,03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r h="384810">
                <a:tc>
                  <a:txBody>
                    <a:bodyPr/>
                    <a:lstStyle/>
                    <a:p>
                      <a:pPr algn="l">
                        <a:buNone/>
                      </a:pPr>
                      <a:r>
                        <a:rPr sz="1200" b="1" i="0">
                          <a:solidFill>
                            <a:srgbClr val="222222"/>
                          </a:solidFill>
                          <a:latin typeface="Times New Roman"/>
                          <a:ea typeface="Times New Roman"/>
                          <a:cs typeface="Times New Roman"/>
                        </a:rPr>
                        <a:t>Return Rate</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1,57%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1,42%</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2,29%</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2,33%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c>
                  <a:txBody>
                    <a:bodyPr/>
                    <a:lstStyle/>
                    <a:p>
                      <a:pPr algn="r">
                        <a:buNone/>
                      </a:pPr>
                      <a:r>
                        <a:rPr sz="1200" b="0" i="0">
                          <a:solidFill>
                            <a:srgbClr val="222222"/>
                          </a:solidFill>
                          <a:latin typeface="Times New Roman"/>
                          <a:ea typeface="Times New Roman"/>
                          <a:cs typeface="Times New Roman"/>
                        </a:rPr>
                        <a:t>2,60%</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2F2F2"/>
                    </a:solidFill>
                  </a:tcPr>
                </a:tc>
              </a:tr>
              <a:tr h="384810">
                <a:tc>
                  <a:txBody>
                    <a:bodyPr/>
                    <a:lstStyle/>
                    <a:p>
                      <a:pPr algn="l">
                        <a:buNone/>
                      </a:pPr>
                      <a:r>
                        <a:rPr sz="1200" b="1" i="0">
                          <a:solidFill>
                            <a:srgbClr val="222222"/>
                          </a:solidFill>
                          <a:latin typeface="Times New Roman"/>
                          <a:ea typeface="Times New Roman"/>
                          <a:cs typeface="Times New Roman"/>
                        </a:rPr>
                        <a:t>Finance Net Revenue (toàn chuỗi)</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592.153,34</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232.459,21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2.246.169,37</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8.795.934,91</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c>
                  <a:txBody>
                    <a:bodyPr/>
                    <a:lstStyle/>
                    <a:p>
                      <a:pPr algn="r">
                        <a:buNone/>
                      </a:pPr>
                      <a:r>
                        <a:rPr sz="1200" b="0" i="0">
                          <a:solidFill>
                            <a:srgbClr val="222222"/>
                          </a:solidFill>
                          <a:latin typeface="Times New Roman"/>
                          <a:ea typeface="Times New Roman"/>
                          <a:cs typeface="Times New Roman"/>
                        </a:rPr>
                        <a:t>16.940.908,23</a:t>
                      </a:r>
                    </a:p>
                  </a:txBody>
                  <a:tcPr marL="54864" marR="54864" marT="18288" marB="18288" anchor="ctr">
                    <a:lnL w="6350">
                      <a:solidFill>
                        <a:srgbClr val="BFBFBF"/>
                      </a:solidFill>
                    </a:lnL>
                    <a:lnR w="6350">
                      <a:solidFill>
                        <a:srgbClr val="BFBFBF"/>
                      </a:solidFill>
                    </a:lnR>
                    <a:lnT w="6350">
                      <a:solidFill>
                        <a:srgbClr val="BFBFBF"/>
                      </a:solidFill>
                    </a:lnT>
                    <a:lnB w="6350">
                      <a:solidFill>
                        <a:srgbClr val="BFBFBF"/>
                      </a:solidFill>
                    </a:lnB>
                    <a:solidFill>
                      <a:srgbClr val="FFFFFF"/>
                    </a:solidFill>
                  </a:tcPr>
                </a:tc>
              </a:tr>
            </a:tbl>
          </a:graphicData>
        </a:graphic>
      </p:graphicFrame>
    </p:spTree>
  </p:cSld>
  <p:clrMapOvr>
    <a:masterClrMapping/>
  </p:clrMapOvr>
</p:sld>
</file>

<file path=ppt/theme/theme1.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31</TotalTime>
  <Words>16730</Words>
  <Application>Microsoft Office PowerPoint</Application>
  <PresentationFormat>Widescreen</PresentationFormat>
  <Paragraphs>1273</Paragraphs>
  <Slides>58</Slides>
  <Notes>58</Notes>
  <HiddenSlides>0</HiddenSlides>
  <MMClips>0</MMClips>
  <ScaleCrop>false</ScaleCrop>
  <HeadingPairs>
    <vt:vector size="6" baseType="variant">
      <vt:variant>
        <vt:lpstr>Fonts Used</vt:lpstr>
      </vt:variant>
      <vt:variant>
        <vt:i4>7</vt:i4>
      </vt:variant>
      <vt:variant>
        <vt:lpstr>Theme</vt:lpstr>
      </vt:variant>
      <vt:variant>
        <vt:i4>1</vt:i4>
      </vt:variant>
      <vt:variant>
        <vt:lpstr>Slide Titles</vt:lpstr>
      </vt:variant>
      <vt:variant>
        <vt:i4>58</vt:i4>
      </vt:variant>
    </vt:vector>
  </HeadingPairs>
  <TitlesOfParts>
    <vt:vector size="66" baseType="lpstr">
      <vt:lpstr>Algerian</vt:lpstr>
      <vt:lpstr>Arial</vt:lpstr>
      <vt:lpstr>Calibri</vt:lpstr>
      <vt:lpstr>Courier New</vt:lpstr>
      <vt:lpstr>Noto Sans Symbols</vt:lpstr>
      <vt:lpstr>Times New Roman</vt:lpstr>
      <vt:lpstr>Wingdings</vt:lpstr>
      <vt:lpstr>Office Theme</vt:lpstr>
      <vt:lpstr>EDA MENTORSHIP</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cp:lastModifiedBy>Huy Vu Quang &lt;CV-SME-MASS.CB&gt;</cp:lastModifiedBy>
  <cp:revision>3</cp:revision>
  <dcterms:modified xsi:type="dcterms:W3CDTF">2026-10-10T00:34:38Z</dcterms:modified>
  <dc:title>Sales Project 1 – Kết quả bán hàng và đối soát doanh thu</dc:title>
  <dc:subject>EDA Mentorship – Nexa Home</dc:subject>
  <dc:creator>EDA Mentorship</dc:creator>
</cp:coreProperties>
</file>