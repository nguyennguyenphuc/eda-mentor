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6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Mở đầu" id="{FB200B35-5723-57E7-BCA2-04A696BD0C23}">
          <p14:sldIdLst>
            <p14:sldId id="256"/>
            <p14:sldId id="257"/>
          </p14:sldIdLst>
        </p14:section>
        <p14:section name="Phần 1 · Bối cảnh" id="{CA9727B0-816C-57B5-A7EE-1041D6F58670}">
          <p14:sldIdLst>
            <p14:sldId id="258"/>
            <p14:sldId id="259"/>
            <p14:sldId id="260"/>
          </p14:sldIdLst>
        </p14:section>
        <p14:section name="Phần 2 · Đề bài" id="{A83B4ECC-E86D-534D-A49C-8F82043F2318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hần 3 · KPI" id="{27970E54-C475-597F-8161-78EFCE9B5003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Phần 4 · Dữ liệu &amp; modeling" id="{18F674DB-7378-55DE-BD5F-3792669B0C25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Phần 5 · Khám phá dữ liệu" id="{3A7D7AE7-21E4-5C31-B7BB-761A449440DF}">
          <p14:sldIdLst>
            <p14:sldId id="284"/>
            <p14:sldId id="285"/>
            <p14:sldId id="286"/>
            <p14:sldId id="287"/>
            <p14:sldId id="288"/>
          </p14:sldIdLst>
        </p14:section>
        <p14:section name="Phần 6 · DAX" id="{8AE14257-564C-5899-AD89-0D155765DAC5}">
          <p14:sldIdLst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Phần 7 · Phân tích kết quả" id="{9E384DC5-995C-55E6-B0EF-B89EA27FDFFA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Phần 8 · Đầu ra &amp; chấm điểm" id="{2CB85F52-B697-5D48-9499-5FDA194CEDFA}">
          <p14:sldIdLst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 (dữ liệu đơn)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11,9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0,9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2021*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6.55004821</c:v>
                </c:pt>
                <c:pt idx="1">
                  <c:v>6.87307383</c:v>
                </c:pt>
                <c:pt idx="2">
                  <c:v>11.92344934</c:v>
                </c:pt>
                <c:pt idx="3">
                  <c:v>16.92423312</c:v>
                </c:pt>
                <c:pt idx="4">
                  <c:v>8.73274823</c:v>
                </c:pt>
                <c:pt idx="5">
                  <c:v>0.9053749499999999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Revenue (Finance)</c:v>
                </c:pt>
              </c:strCache>
            </c:strRef>
          </c:tx>
          <c:spPr>
            <a:solidFill>
              <a:srgbClr val="8CB86E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11,9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0,9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2021*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6.464763980000001</c:v>
                </c:pt>
                <c:pt idx="1">
                  <c:v>6.90818202</c:v>
                </c:pt>
                <c:pt idx="2">
                  <c:v>11.89152855</c:v>
                </c:pt>
                <c:pt idx="3">
                  <c:v>16.94090823</c:v>
                </c:pt>
                <c:pt idx="4">
                  <c:v>8.79593491</c:v>
                </c:pt>
                <c:pt idx="5">
                  <c:v>0.93552474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 (dữ liệu đơn)</c:v>
                </c:pt>
              </c:strCache>
            </c:strRef>
          </c:tx>
          <c:spPr>
            <a:ln w="28575">
              <a:solidFill>
                <a:srgbClr val="2E5B31"/>
              </a:solidFill>
            </a:ln>
          </c:spPr>
          <c:marker>
            <c:symbol val="circle"/>
            <c:size val="5"/>
            <c:spPr>
              <a:solidFill>
                <a:srgbClr val="2E5B31"/>
              </a:solidFill>
              <a:ln>
                <a:solidFill>
                  <a:srgbClr val="2E5B31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2.263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3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606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01/19</c:v>
                </c:pt>
                <c:pt idx="1">
                  <c:v>02/19</c:v>
                </c:pt>
                <c:pt idx="2">
                  <c:v>03/19</c:v>
                </c:pt>
                <c:pt idx="3">
                  <c:v>04/19</c:v>
                </c:pt>
                <c:pt idx="4">
                  <c:v>05/19</c:v>
                </c:pt>
                <c:pt idx="5">
                  <c:v>06/19</c:v>
                </c:pt>
                <c:pt idx="6">
                  <c:v>07/19</c:v>
                </c:pt>
                <c:pt idx="7">
                  <c:v>08/19</c:v>
                </c:pt>
                <c:pt idx="8">
                  <c:v>09/19</c:v>
                </c:pt>
                <c:pt idx="9">
                  <c:v>10/19</c:v>
                </c:pt>
                <c:pt idx="10">
                  <c:v>11/19</c:v>
                </c:pt>
                <c:pt idx="11">
                  <c:v>12/19</c:v>
                </c:pt>
                <c:pt idx="12">
                  <c:v>01/20</c:v>
                </c:pt>
                <c:pt idx="13">
                  <c:v>02/20</c:v>
                </c:pt>
                <c:pt idx="14">
                  <c:v>03/20</c:v>
                </c:pt>
                <c:pt idx="15">
                  <c:v>04/20</c:v>
                </c:pt>
                <c:pt idx="16">
                  <c:v>05/20</c:v>
                </c:pt>
                <c:pt idx="17">
                  <c:v>06/20</c:v>
                </c:pt>
                <c:pt idx="18">
                  <c:v>07/20</c:v>
                </c:pt>
                <c:pt idx="19">
                  <c:v>08/20</c:v>
                </c:pt>
                <c:pt idx="20">
                  <c:v>09/20</c:v>
                </c:pt>
                <c:pt idx="21">
                  <c:v>10/20</c:v>
                </c:pt>
                <c:pt idx="22">
                  <c:v>11/20</c:v>
                </c:pt>
                <c:pt idx="23">
                  <c:v>12/20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1797.96887</c:v>
                </c:pt>
                <c:pt idx="1">
                  <c:v>2004.56868</c:v>
                </c:pt>
                <c:pt idx="2">
                  <c:v>742.70609</c:v>
                </c:pt>
                <c:pt idx="3">
                  <c:v>139.51809</c:v>
                </c:pt>
                <c:pt idx="4">
                  <c:v>1514.71303</c:v>
                </c:pt>
                <c:pt idx="5">
                  <c:v>1317.2358800000002</c:v>
                </c:pt>
                <c:pt idx="6">
                  <c:v>1322.89155</c:v>
                </c:pt>
                <c:pt idx="7">
                  <c:v>1339.30325</c:v>
                </c:pt>
                <c:pt idx="8">
                  <c:v>1430.22698</c:v>
                </c:pt>
                <c:pt idx="9">
                  <c:v>1488.3058700000001</c:v>
                </c:pt>
                <c:pt idx="10">
                  <c:v>1563.37986</c:v>
                </c:pt>
                <c:pt idx="11">
                  <c:v>2263.4149700000003</c:v>
                </c:pt>
                <c:pt idx="12">
                  <c:v>1911.3349200000002</c:v>
                </c:pt>
                <c:pt idx="13">
                  <c:v>2158.2621799999997</c:v>
                </c:pt>
                <c:pt idx="14">
                  <c:v>614.1452099999999</c:v>
                </c:pt>
                <c:pt idx="15">
                  <c:v>202.94221</c:v>
                </c:pt>
                <c:pt idx="16">
                  <c:v>837.31026</c:v>
                </c:pt>
                <c:pt idx="17">
                  <c:v>714.3334</c:v>
                </c:pt>
                <c:pt idx="18">
                  <c:v>477.06367</c:v>
                </c:pt>
                <c:pt idx="19">
                  <c:v>378.42989</c:v>
                </c:pt>
                <c:pt idx="20">
                  <c:v>357.63703000000004</c:v>
                </c:pt>
                <c:pt idx="21">
                  <c:v>237.12771</c:v>
                </c:pt>
                <c:pt idx="22">
                  <c:v>238.03668</c:v>
                </c:pt>
                <c:pt idx="23">
                  <c:v>606.1250699999999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Revenue (Finance)</c:v>
                </c:pt>
              </c:strCache>
            </c:strRef>
          </c:tx>
          <c:spPr>
            <a:ln w="22225">
              <a:solidFill>
                <a:srgbClr val="C55A11"/>
              </a:solidFill>
              <a:prstDash val="dash"/>
            </a:ln>
          </c:spPr>
          <c:marker>
            <c:symbol val="none"/>
          </c:marker>
          <c:cat>
            <c:strRef>
              <c:f>Sheet1!$A$2:$A$25</c:f>
              <c:strCache>
                <c:ptCount val="24"/>
                <c:pt idx="0">
                  <c:v>01/19</c:v>
                </c:pt>
                <c:pt idx="1">
                  <c:v>02/19</c:v>
                </c:pt>
                <c:pt idx="2">
                  <c:v>03/19</c:v>
                </c:pt>
                <c:pt idx="3">
                  <c:v>04/19</c:v>
                </c:pt>
                <c:pt idx="4">
                  <c:v>05/19</c:v>
                </c:pt>
                <c:pt idx="5">
                  <c:v>06/19</c:v>
                </c:pt>
                <c:pt idx="6">
                  <c:v>07/19</c:v>
                </c:pt>
                <c:pt idx="7">
                  <c:v>08/19</c:v>
                </c:pt>
                <c:pt idx="8">
                  <c:v>09/19</c:v>
                </c:pt>
                <c:pt idx="9">
                  <c:v>10/19</c:v>
                </c:pt>
                <c:pt idx="10">
                  <c:v>11/19</c:v>
                </c:pt>
                <c:pt idx="11">
                  <c:v>12/19</c:v>
                </c:pt>
                <c:pt idx="12">
                  <c:v>01/20</c:v>
                </c:pt>
                <c:pt idx="13">
                  <c:v>02/20</c:v>
                </c:pt>
                <c:pt idx="14">
                  <c:v>03/20</c:v>
                </c:pt>
                <c:pt idx="15">
                  <c:v>04/20</c:v>
                </c:pt>
                <c:pt idx="16">
                  <c:v>05/20</c:v>
                </c:pt>
                <c:pt idx="17">
                  <c:v>06/20</c:v>
                </c:pt>
                <c:pt idx="18">
                  <c:v>07/20</c:v>
                </c:pt>
                <c:pt idx="19">
                  <c:v>08/20</c:v>
                </c:pt>
                <c:pt idx="20">
                  <c:v>09/20</c:v>
                </c:pt>
                <c:pt idx="21">
                  <c:v>10/20</c:v>
                </c:pt>
                <c:pt idx="22">
                  <c:v>11/20</c:v>
                </c:pt>
                <c:pt idx="23">
                  <c:v>12/20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1848.06513</c:v>
                </c:pt>
                <c:pt idx="1">
                  <c:v>1953.1373</c:v>
                </c:pt>
                <c:pt idx="2">
                  <c:v>838.0922800000001</c:v>
                </c:pt>
                <c:pt idx="3">
                  <c:v>111.56246</c:v>
                </c:pt>
                <c:pt idx="4">
                  <c:v>1487.64784</c:v>
                </c:pt>
                <c:pt idx="5">
                  <c:v>1350.83665</c:v>
                </c:pt>
                <c:pt idx="6">
                  <c:v>1337.4678600000002</c:v>
                </c:pt>
                <c:pt idx="7">
                  <c:v>1275.1990700000001</c:v>
                </c:pt>
                <c:pt idx="8">
                  <c:v>1465.91527</c:v>
                </c:pt>
                <c:pt idx="9">
                  <c:v>1483.3001399999998</c:v>
                </c:pt>
                <c:pt idx="10">
                  <c:v>1543.51486</c:v>
                </c:pt>
                <c:pt idx="11">
                  <c:v>2246.16937</c:v>
                </c:pt>
                <c:pt idx="12">
                  <c:v>1951.6841399999998</c:v>
                </c:pt>
                <c:pt idx="13">
                  <c:v>2129.45535</c:v>
                </c:pt>
                <c:pt idx="14">
                  <c:v>680.02625</c:v>
                </c:pt>
                <c:pt idx="15">
                  <c:v>156.01443</c:v>
                </c:pt>
                <c:pt idx="16">
                  <c:v>864.51761</c:v>
                </c:pt>
                <c:pt idx="17">
                  <c:v>715.61251</c:v>
                </c:pt>
                <c:pt idx="18">
                  <c:v>498.40886</c:v>
                </c:pt>
                <c:pt idx="19">
                  <c:v>378.21194</c:v>
                </c:pt>
                <c:pt idx="20">
                  <c:v>353.07253000000003</c:v>
                </c:pt>
                <c:pt idx="21">
                  <c:v>244.31874</c:v>
                </c:pt>
                <c:pt idx="22">
                  <c:v>232.45920999999998</c:v>
                </c:pt>
                <c:pt idx="23">
                  <c:v>592.15334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Cửa hàng (POS)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83,5%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82,2%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80,4%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78,9%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78,2%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0.8351813790926098</c:v>
                </c:pt>
                <c:pt idx="1">
                  <c:v>0.8218381331419139</c:v>
                </c:pt>
                <c:pt idx="2">
                  <c:v>0.8036151237271278</c:v>
                </c:pt>
                <c:pt idx="3">
                  <c:v>0.7885337514562929</c:v>
                </c:pt>
                <c:pt idx="4">
                  <c:v>0.7820754563402775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Website/app</c:v>
                </c:pt>
              </c:strCache>
            </c:strRef>
          </c:tx>
          <c:spPr>
            <a:solidFill>
              <a:srgbClr val="8CB86E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16,5%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17,8%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19,6%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21,1%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21,8%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0.1648186209073902</c:v>
                </c:pt>
                <c:pt idx="1">
                  <c:v>0.1781618668580861</c:v>
                </c:pt>
                <c:pt idx="2">
                  <c:v>0.19638487627287216</c:v>
                </c:pt>
                <c:pt idx="3">
                  <c:v>0.2114662485437071</c:v>
                </c:pt>
                <c:pt idx="4">
                  <c:v>0.21792454365972247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2020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Pt>
            <c:idx val="1"/>
            <c:spPr>
              <a:solidFill>
                <a:srgbClr val="8CB8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2.010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1.858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Cửa hàng (POS)</c:v>
                </c:pt>
                <c:pt idx="1">
                  <c:v>Website/app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2010.020074734119</c:v>
                </c:pt>
                <c:pt idx="1">
                  <c:v>1857.53422306959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149 (2%)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437 (5%)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541 (6%)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853 (10%)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1.072 (12%)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1.170 (13%)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1.207 (13%)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3.512 (39%)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Game &amp; Đồ chơi</c:v>
                </c:pt>
                <c:pt idx="1">
                  <c:v>Âm thanh</c:v>
                </c:pt>
                <c:pt idx="2">
                  <c:v>Nhạc, phim, sách nói</c:v>
                </c:pt>
                <c:pt idx="3">
                  <c:v>TV &amp; Video</c:v>
                </c:pt>
                <c:pt idx="4">
                  <c:v>Gia dụng</c:v>
                </c:pt>
                <c:pt idx="5">
                  <c:v>Máy ảnh</c:v>
                </c:pt>
                <c:pt idx="6">
                  <c:v>Điện thoại</c:v>
                </c:pt>
                <c:pt idx="7">
                  <c:v>Máy tính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149.48492000000002</c:v>
                </c:pt>
                <c:pt idx="1">
                  <c:v>437.33593</c:v>
                </c:pt>
                <c:pt idx="2">
                  <c:v>541.38284</c:v>
                </c:pt>
                <c:pt idx="3">
                  <c:v>852.6435</c:v>
                </c:pt>
                <c:pt idx="4">
                  <c:v>1072.05762</c:v>
                </c:pt>
                <c:pt idx="5">
                  <c:v>1169.7288500000002</c:v>
                </c:pt>
                <c:pt idx="6">
                  <c:v>1206.78748</c:v>
                </c:pt>
                <c:pt idx="7">
                  <c:v>3511.9921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Tỷ lệ hoàn trả</c:v>
                </c:pt>
              </c:strCache>
            </c:strRef>
          </c:tx>
          <c:spPr>
            <a:solidFill>
              <a:srgbClr val="D98C8C"/>
            </a:solidFill>
            <a:ln>
              <a:noFill/>
            </a:ln>
          </c:spPr>
          <c:dPt>
            <c:idx val="7"/>
            <c:spPr>
              <a:solidFill>
                <a:srgbClr val="C0000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2,05%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2,13%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2,14%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2,55%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2,58%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2,70%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2,84%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3,44%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Máy tính</c:v>
                </c:pt>
                <c:pt idx="1">
                  <c:v>Âm thanh</c:v>
                </c:pt>
                <c:pt idx="2">
                  <c:v>Gia dụng</c:v>
                </c:pt>
                <c:pt idx="3">
                  <c:v>Điện thoại</c:v>
                </c:pt>
                <c:pt idx="4">
                  <c:v>Máy ảnh</c:v>
                </c:pt>
                <c:pt idx="5">
                  <c:v>TV &amp; Video</c:v>
                </c:pt>
                <c:pt idx="6">
                  <c:v>Nhạc, phim, sách nói</c:v>
                </c:pt>
                <c:pt idx="7">
                  <c:v>Game &amp; Đồ chơi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0.020473536942181614</c:v>
                </c:pt>
                <c:pt idx="1">
                  <c:v>0.02125613141367095</c:v>
                </c:pt>
                <c:pt idx="2">
                  <c:v>0.02143155327789191</c:v>
                </c:pt>
                <c:pt idx="3">
                  <c:v>0.025491348319258332</c:v>
                </c:pt>
                <c:pt idx="4">
                  <c:v>0.025802492603307168</c:v>
                </c:pt>
                <c:pt idx="5">
                  <c:v>0.02701180505099728</c:v>
                </c:pt>
                <c:pt idx="6">
                  <c:v>0.0283964670915687</c:v>
                </c:pt>
                <c:pt idx="7">
                  <c:v>0.03439022477986408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Giảm giá</c:v>
                </c:pt>
              </c:strCache>
            </c:strRef>
          </c:tx>
          <c:spPr>
            <a:solidFill>
              <a:srgbClr val="C55A1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0,5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10,9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22,9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33,3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37,0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Mùa xuân (SPRING5)</c:v>
                </c:pt>
                <c:pt idx="1">
                  <c:v>Black Friday (BF15)</c:v>
                </c:pt>
                <c:pt idx="2">
                  <c:v>Giáng sinh (XMAS10)</c:v>
                </c:pt>
                <c:pt idx="3">
                  <c:v>Back to school (BTS10)</c:v>
                </c:pt>
                <c:pt idx="4">
                  <c:v>Năm mới (NEWYEAR5)</c:v>
                </c:pt>
                <c:pt idx="5">
                  <c:v>Ưu đãi đặt online (WEB10)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0.5241399999999999</c:v>
                </c:pt>
                <c:pt idx="1">
                  <c:v>10.883899999999999</c:v>
                </c:pt>
                <c:pt idx="2">
                  <c:v>22.85443</c:v>
                </c:pt>
                <c:pt idx="3">
                  <c:v>33.327400000000004</c:v>
                </c:pt>
                <c:pt idx="4">
                  <c:v>34.41312</c:v>
                </c:pt>
                <c:pt idx="5">
                  <c:v>36.971669999999996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đơn</c:v>
                </c:pt>
              </c:strCache>
            </c:strRef>
          </c:tx>
          <c:spPr>
            <a:solidFill>
              <a:srgbClr val="123A7A"/>
            </a:solidFill>
            <a:ln>
              <a:noFill/>
            </a:ln>
          </c:spPr>
          <c:dPt>
            <c:idx val="0"/>
            <c:spPr>
              <a:solidFill>
                <a:srgbClr val="2E5B31"/>
              </a:solidFill>
            </c:spPr>
          </c:dPt>
          <c:dPt>
            <c:idx val="1"/>
            <c:spPr>
              <a:solidFill>
                <a:srgbClr val="C00000"/>
              </a:solidFill>
            </c:spPr>
          </c:dPt>
          <c:dPt>
            <c:idx val="2"/>
            <c:spPr>
              <a:solidFill>
                <a:srgbClr val="C55A1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25.639 (97,4%)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658 (2,5%)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29 (0,1%)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COMPLETED</c:v>
                </c:pt>
                <c:pt idx="1">
                  <c:v>CANCELLED</c:v>
                </c:pt>
                <c:pt idx="2">
                  <c:v>PENDING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25639</c:v>
                </c:pt>
                <c:pt idx="1">
                  <c:v>658</c:v>
                </c:pt>
                <c:pt idx="2">
                  <c:v>29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1pPr>
            <a:lvl2pPr marL="0" marR="0" lvl="1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2pPr>
            <a:lvl3pPr marL="0" marR="0" lvl="2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3pPr>
            <a:lvl4pPr marL="0" marR="0" lvl="3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4pPr>
            <a:lvl5pPr marL="0" marR="0" lvl="4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5pPr>
            <a:lvl6pPr marL="0" marR="0" lvl="5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6pPr>
            <a:lvl7pPr marL="0" marR="0" lvl="6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7pPr>
            <a:lvl8pPr marL="0" marR="0" lvl="7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8pPr>
            <a:lvl9pPr marL="0" marR="0" lvl="8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-2512" y="738391"/>
            <a:ext cx="12192000" cy="136156"/>
          </a:xfrm>
          <a:prstGeom prst="rect">
            <a:avLst/>
          </a:prstGeom>
          <a:solidFill>
            <a:srgbClr val="D89A6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" name="Google Shape;28;p3" descr="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103" y="47409"/>
            <a:ext cx="1815898" cy="7187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-2512" y="738391"/>
            <a:ext cx="12192000" cy="136156"/>
          </a:xfrm>
          <a:prstGeom prst="rect">
            <a:avLst/>
          </a:prstGeom>
          <a:solidFill>
            <a:srgbClr val="D89A6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15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30.png"/><Relationship Id="rId6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5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19.png"/><Relationship Id="rId8" Type="http://schemas.openxmlformats.org/officeDocument/2006/relationships/image" Target="../media/image36.png"/><Relationship Id="rId9" Type="http://schemas.openxmlformats.org/officeDocument/2006/relationships/image" Target="../media/image11.png"/><Relationship Id="rId10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2" name="Google Shape;92;p13"/>
          <p:cNvSpPr txBox="1">
            <a:spLocks noGrp="1"/>
          </p:cNvSpPr>
          <p:nvPr>
            <p:ph type="ctrTitle"/>
          </p:nvPr>
        </p:nvSpPr>
        <p:spPr>
          <a:xfrm>
            <a:off x="24959" y="1172886"/>
            <a:ext cx="12167041" cy="1485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A6FF"/>
              </a:buClr>
              <a:buSzPts val="4800"/>
              <a:buFont typeface="Times New Roman"/>
              <a:buNone/>
            </a:pPr>
            <a:r>
              <a:rPr lang="vi-VN" b="1">
                <a:solidFill>
                  <a:srgbClr val="2FA6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EDA MENTORSHIP</a:t>
            </a:r>
            <a:endParaRPr b="1">
              <a:solidFill>
                <a:srgbClr val="2FA6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759047" y="2759426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sz="3600" b="1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Sales Project 1</a:t>
            </a:r>
            <a:endParaRPr sz="3600" b="1">
              <a:solidFill>
                <a:srgbClr val="00B05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2400"/>
              <a:buNone/>
            </a:pPr>
            <a:endParaRPr b="1">
              <a:solidFill>
                <a:srgbClr val="00B05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7147249" y="6488668"/>
            <a:ext cx="5044752" cy="369332"/>
          </a:xfrm>
          <a:prstGeom prst="rect">
            <a:avLst/>
          </a:prstGeom>
          <a:solidFill>
            <a:srgbClr val="F8D6FC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Proofreaders &amp; QA/QC:</a:t>
            </a: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2237591" y="4588698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 extrusionOk="0">
                <a:moveTo>
                  <a:pt x="647780" y="323890"/>
                </a:moveTo>
                <a:cubicBezTo>
                  <a:pt x="647780" y="502747"/>
                  <a:pt x="502787" y="647740"/>
                  <a:pt x="323930" y="647740"/>
                </a:cubicBezTo>
                <a:cubicBezTo>
                  <a:pt x="145073" y="647740"/>
                  <a:pt x="80" y="502747"/>
                  <a:pt x="80" y="323890"/>
                </a:cubicBezTo>
                <a:cubicBezTo>
                  <a:pt x="80" y="145033"/>
                  <a:pt x="145073" y="40"/>
                  <a:pt x="323930" y="40"/>
                </a:cubicBezTo>
                <a:cubicBezTo>
                  <a:pt x="502787" y="40"/>
                  <a:pt x="647780" y="145033"/>
                  <a:pt x="647780" y="323890"/>
                </a:cubicBezTo>
                <a:close/>
              </a:path>
            </a:pathLst>
          </a:cu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3228191" y="4341048"/>
            <a:ext cx="9525" cy="1143000"/>
          </a:xfrm>
          <a:custGeom>
            <a:avLst/>
            <a:gdLst/>
            <a:ahLst/>
            <a:cxnLst/>
            <a:rect l="l" t="t" r="r" b="b"/>
            <a:pathLst>
              <a:path w="9525" h="1143000" extrusionOk="0">
                <a:moveTo>
                  <a:pt x="80" y="40"/>
                </a:moveTo>
                <a:lnTo>
                  <a:pt x="80" y="1143040"/>
                </a:lnTo>
              </a:path>
            </a:pathLst>
          </a:custGeom>
          <a:noFill/>
          <a:ln w="14275" cap="flat" cmpd="sng">
            <a:solidFill>
              <a:srgbClr val="E0C898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3327251" y="4245798"/>
            <a:ext cx="1278255" cy="43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1" spc="0">
                <a:solidFill>
                  <a:srgbClr val="B886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Mentor: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3327250" y="4731580"/>
            <a:ext cx="310896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spc="0">
                <a:solidFill>
                  <a:srgbClr val="1C36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Nguyễn Phúc Nguyên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3327251" y="5118288"/>
            <a:ext cx="3108960" cy="39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spc="0">
                <a:solidFill>
                  <a:srgbClr val="1C36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Nguyễn Thảo Nhi</a:t>
            </a:r>
            <a:endParaRPr/>
          </a:p>
        </p:txBody>
      </p:sp>
      <p:pic>
        <p:nvPicPr>
          <p:cNvPr id="100" name="Google Shape;100;p13" descr="Graduation cap Generic Flat icon | Magnific (trước đây là Freepik)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759047" y="4189736"/>
            <a:ext cx="1478669" cy="147866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3"/>
          <p:cNvSpPr/>
          <p:nvPr/>
        </p:nvSpPr>
        <p:spPr>
          <a:xfrm>
            <a:off x="6598699" y="4720143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 extrusionOk="0">
                <a:moveTo>
                  <a:pt x="648320" y="323880"/>
                </a:moveTo>
                <a:cubicBezTo>
                  <a:pt x="648320" y="502737"/>
                  <a:pt x="503327" y="647730"/>
                  <a:pt x="324470" y="647730"/>
                </a:cubicBezTo>
                <a:cubicBezTo>
                  <a:pt x="145613" y="647730"/>
                  <a:pt x="620" y="502737"/>
                  <a:pt x="620" y="323880"/>
                </a:cubicBezTo>
                <a:cubicBezTo>
                  <a:pt x="620" y="145023"/>
                  <a:pt x="145613" y="30"/>
                  <a:pt x="324470" y="30"/>
                </a:cubicBezTo>
                <a:cubicBezTo>
                  <a:pt x="503327" y="30"/>
                  <a:pt x="648320" y="145023"/>
                  <a:pt x="648320" y="323880"/>
                </a:cubicBezTo>
                <a:close/>
              </a:path>
            </a:pathLst>
          </a:cu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7156878" y="4245805"/>
            <a:ext cx="3384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1" spc="0">
                <a:solidFill>
                  <a:srgbClr val="2E8B5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Quality Guardian:</a:t>
            </a:r>
            <a:endParaRPr/>
          </a:p>
        </p:txBody>
      </p:sp>
      <p:pic>
        <p:nvPicPr>
          <p:cNvPr id="108" name="Google Shape;108;p13" descr="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235" y="73262"/>
            <a:ext cx="2479685" cy="98154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3"/>
          <p:cNvSpPr txBox="1"/>
          <p:nvPr/>
        </p:nvSpPr>
        <p:spPr>
          <a:xfrm>
            <a:off x="3327251" y="5484048"/>
            <a:ext cx="3108960" cy="39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C3664"/>
                </a:solidFill>
                <a:latin typeface="Times New Roman"/>
                <a:cs typeface="Times New Roman"/>
                <a:sym typeface="Times New Roman"/>
              </a:rPr>
              <a:t>Đinh Thị Thu Hà</a:t>
            </a:r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1371600" y="3310128"/>
            <a:ext cx="9445752" cy="457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200" b="0" i="1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Kết quả bán hàng và đối soát doanh thu · Nexa Home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33856"/>
          </a:xfrm>
          <a:prstGeom prst="rect">
            <a:avLst/>
          </a:prstGeom>
          <a:solidFill>
            <a:srgbClr val="538135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60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9164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Bối cảnh bán lẻ và đối soát doanh thu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153619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92608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277063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6052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400507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9496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523951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69164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53619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92608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77063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416052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400507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539496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Báo cáo đầu ra và thang chấm điểm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523951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Bối cảnh bán lẻ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Tình huống thực tế: còn 10 phút trước cuộc họp với Kế toán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Muốn tin con số doanh thu, trước hết phải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khớp được số của mình với số Kế toán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417320"/>
            <a:ext cx="3200400" cy="32461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463040" y="1554480"/>
            <a:ext cx="1005840" cy="100584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324" y="1775764"/>
            <a:ext cx="563270" cy="563270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502920" y="2606040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Còn </a:t>
            </a:r>
            <a:r>
              <a:rPr sz="18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10 phút</a:t>
            </a: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trước họp</a:t>
            </a:r>
          </a:p>
          <a:p>
            <a:pPr algn="ctr">
              <a:buNone/>
            </a:pP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với Kế toán</a:t>
            </a:r>
          </a:p>
        </p:txBody>
      </p:sp>
      <p:pic>
        <p:nvPicPr>
          <p:cNvPr id="147" name="Picture 14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310128"/>
            <a:ext cx="731520" cy="731520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502920" y="4069080"/>
            <a:ext cx="29260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4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Trưởng phòng Kinh doanh cần trả lời nhanh 3 câu hỏi</a:t>
            </a:r>
          </a:p>
        </p:txBody>
      </p:sp>
      <p:sp>
        <p:nvSpPr>
          <p:cNvPr id="149" name="Right Arrow 148"/>
          <p:cNvSpPr/>
          <p:nvPr/>
        </p:nvSpPr>
        <p:spPr>
          <a:xfrm>
            <a:off x="3611880" y="2788920"/>
            <a:ext cx="320040" cy="411480"/>
          </a:xfrm>
          <a:prstGeom prst="rightArrow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977639" y="1417320"/>
            <a:ext cx="4846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87368" y="1691640"/>
            <a:ext cx="457200" cy="45720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52" name="Oval 151"/>
          <p:cNvSpPr/>
          <p:nvPr/>
        </p:nvSpPr>
        <p:spPr>
          <a:xfrm>
            <a:off x="4645152" y="1645920"/>
            <a:ext cx="548640" cy="54864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5852" y="1766620"/>
            <a:ext cx="307238" cy="307238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5303520" y="1472184"/>
            <a:ext cx="347472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Quy mô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này Nexa Home thực sự bán được bao nhiêu (Net Revenue, số đơn)?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977639" y="2514600"/>
            <a:ext cx="4846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087368" y="2788920"/>
            <a:ext cx="457200" cy="45720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57" name="Oval 156"/>
          <p:cNvSpPr/>
          <p:nvPr/>
        </p:nvSpPr>
        <p:spPr>
          <a:xfrm>
            <a:off x="4645152" y="2743200"/>
            <a:ext cx="548640" cy="54864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5852" y="2863900"/>
            <a:ext cx="307238" cy="307238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5303520" y="2569464"/>
            <a:ext cx="347472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Chất lượng doanh thu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Bao nhiêu bị mất vì giảm giá, hoàn trả, đơn huỷ?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977639" y="3611880"/>
            <a:ext cx="4846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087368" y="3886200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pic>
        <p:nvPicPr>
          <p:cNvPr id="162" name="Picture 1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3858768"/>
            <a:ext cx="512064" cy="512064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5303520" y="3666744"/>
            <a:ext cx="347472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Khớp số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Vì sao số của Sales khác số Kế toán xác nhận? Chênh ở đâu, bao nhiêu?</a:t>
            </a:r>
          </a:p>
        </p:txBody>
      </p:sp>
      <p:sp>
        <p:nvSpPr>
          <p:cNvPr id="164" name="Right Arrow 163"/>
          <p:cNvSpPr/>
          <p:nvPr/>
        </p:nvSpPr>
        <p:spPr>
          <a:xfrm>
            <a:off x="8869680" y="2788920"/>
            <a:ext cx="320040" cy="411480"/>
          </a:xfrm>
          <a:prstGeom prst="rightArrow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9235440" y="1417320"/>
            <a:ext cx="2587752" cy="324612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030968" y="1554480"/>
            <a:ext cx="1005840" cy="100584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2252" y="1775764"/>
            <a:ext cx="563270" cy="563270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9326880" y="2651760"/>
            <a:ext cx="2404872" cy="6858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8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Data Analyst</a:t>
            </a:r>
          </a:p>
          <a:p>
            <a:pPr algn="ctr">
              <a:buNone/>
            </a:pP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bán lẻ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3337560"/>
            <a:ext cx="2404872" cy="12801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Tính KPI từ dữ liệu đơn hàng, đối chiếu với Kế toán và giải thích từng chênh lệch vượt ngưỡng bằng con số</a:t>
            </a:r>
          </a:p>
        </p:txBody>
      </p:sp>
      <p:sp>
        <p:nvSpPr>
          <p:cNvPr id="170" name="Pentagon 169"/>
          <p:cNvSpPr/>
          <p:nvPr/>
        </p:nvSpPr>
        <p:spPr>
          <a:xfrm>
            <a:off x="384048" y="4983480"/>
            <a:ext cx="2240280" cy="868680"/>
          </a:xfrm>
          <a:prstGeom prst="homePlate">
            <a:avLst>
              <a:gd name="adj" fmla="val 2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 hình thành thế nào</a:t>
            </a:r>
          </a:p>
        </p:txBody>
      </p:sp>
      <p:sp>
        <p:nvSpPr>
          <p:cNvPr id="171" name="Chevron 170"/>
          <p:cNvSpPr/>
          <p:nvPr/>
        </p:nvSpPr>
        <p:spPr>
          <a:xfrm>
            <a:off x="2670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548235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Hai hệ thống ghi nhận khác nhau</a:t>
            </a:r>
          </a:p>
        </p:txBody>
      </p:sp>
      <p:sp>
        <p:nvSpPr>
          <p:cNvPr id="172" name="Chevron 171"/>
          <p:cNvSpPr/>
          <p:nvPr/>
        </p:nvSpPr>
        <p:spPr>
          <a:xfrm>
            <a:off x="4956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Vai trò DA và Kế toán</a:t>
            </a:r>
          </a:p>
        </p:txBody>
      </p:sp>
      <p:sp>
        <p:nvSpPr>
          <p:cNvPr id="173" name="Chevron 172"/>
          <p:cNvSpPr/>
          <p:nvPr/>
        </p:nvSpPr>
        <p:spPr>
          <a:xfrm>
            <a:off x="7242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548235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Xây dashboard 4 trang</a:t>
            </a:r>
          </a:p>
        </p:txBody>
      </p:sp>
      <p:sp>
        <p:nvSpPr>
          <p:cNvPr id="174" name="Chevron 173"/>
          <p:cNvSpPr/>
          <p:nvPr/>
        </p:nvSpPr>
        <p:spPr>
          <a:xfrm>
            <a:off x="9528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Giải thích chênh lệch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Bối cảnh bán lẻ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Nexa Home bán hàng thế nào và doanh thu đi qua những bước nào?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đơn hàng chỉ thành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doanh thu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khi đã hoàn tất; hoàn trả làm giảm doanh thu ở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tháng trả hàng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576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(POS)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tại 8 quốc gia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24612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24612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4612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kênh online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website/app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2648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12648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2.517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sản phẩm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điện tử, gia dụng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00684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00684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26.326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00684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hàng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01/2016 → 20/02/2021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65760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05840" y="2926080"/>
            <a:ext cx="731520" cy="7315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4" y="3087014"/>
            <a:ext cx="409651" cy="409651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41148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1 · Đặt hàng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3891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POS: trả tiền, nhận hàng ngay</a:t>
            </a:r>
          </a:p>
        </p:txBody>
      </p:sp>
      <p:sp>
        <p:nvSpPr>
          <p:cNvPr id="160" name="Right Arrow 159"/>
          <p:cNvSpPr/>
          <p:nvPr/>
        </p:nvSpPr>
        <p:spPr>
          <a:xfrm>
            <a:off x="239572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2697479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3337559" y="2926080"/>
            <a:ext cx="731520" cy="731520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8494" y="3087014"/>
            <a:ext cx="409651" cy="409651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2743199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2 · Giao hàng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77063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delivery_date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chỉ đơn online</a:t>
            </a:r>
          </a:p>
        </p:txBody>
      </p:sp>
      <p:sp>
        <p:nvSpPr>
          <p:cNvPr id="166" name="Right Arrow 165"/>
          <p:cNvSpPr/>
          <p:nvPr/>
        </p:nvSpPr>
        <p:spPr>
          <a:xfrm>
            <a:off x="472744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5029200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8" name="Picture 16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2926080"/>
            <a:ext cx="731520" cy="73152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507492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3 · Hoàn tất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0235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order_status = COMPLETED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(huỷ, đang giao: không tính)</a:t>
            </a:r>
          </a:p>
        </p:txBody>
      </p:sp>
      <p:sp>
        <p:nvSpPr>
          <p:cNvPr id="171" name="Right Arrow 170"/>
          <p:cNvSpPr/>
          <p:nvPr/>
        </p:nvSpPr>
        <p:spPr>
          <a:xfrm>
            <a:off x="705916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360919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8000999" y="292608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934" y="3087014"/>
            <a:ext cx="409651" cy="409651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740664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4 · Hoàn trả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434071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return_date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trừ vào tháng trả hàng</a:t>
            </a:r>
          </a:p>
        </p:txBody>
      </p:sp>
      <p:sp>
        <p:nvSpPr>
          <p:cNvPr id="177" name="Right Arrow 176"/>
          <p:cNvSpPr/>
          <p:nvPr/>
        </p:nvSpPr>
        <p:spPr>
          <a:xfrm>
            <a:off x="939088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9692640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332719" y="2926080"/>
            <a:ext cx="731520" cy="73152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80" name="Picture 17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3654" y="3087014"/>
            <a:ext cx="409651" cy="409651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973836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5 · Kế toán ghi nhận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76579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posting_date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ngày bán · online ngày giao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Bối cảnh bán lẻ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Vì sao số đơn hàng khác số Kế toán và ai làm gì trong đối soát?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không phải lúc nào cũng là lỗi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phải tách lệch thời điểm, lệch quy tắc và lỗi thật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623560" cy="22402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02920" y="1417320"/>
            <a:ext cx="539496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6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Cùng một giao dịch, hai cách ghi sổ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02920" y="1828800"/>
            <a:ext cx="109728" cy="731520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" y="1810512"/>
            <a:ext cx="521208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Dữ liệu đơn hàng (POS, website)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theo ngày đặt hàng, có cả đơn huỷ, đơn đang giao, dòng trùng do lỗi tải dữ liệu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02920" y="2697480"/>
            <a:ext cx="109728" cy="7315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85800" y="2679192"/>
            <a:ext cx="521208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File Kế toán (finance_revenue.xlsx)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theo ngày ghi sổ: online khi giao xong, hoàn tiền khi Kế toán xử lý; mã cửa hàng riêng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749039"/>
            <a:ext cx="5623560" cy="224028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02920" y="3794760"/>
            <a:ext cx="539496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6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Nếu không đối soát thì sao?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2920" y="4206240"/>
            <a:ext cx="5394960" cy="1737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Sales báo cáo một số, Kế toán báo cáo số khác → lãnh đạo không biết tin số nào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Thưởng doanh số, chỉ tiêu cửa hàng tính trên số sai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Lỗi thật (ghi trùng, thiếu dữ liệu, sai thuế) bị che lấp trong tổng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263640" y="137160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6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Ba vai trò trong một vòng đối soát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263640" y="1828800"/>
            <a:ext cx="55778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400800" y="2103120"/>
            <a:ext cx="685800" cy="68580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253996"/>
            <a:ext cx="384048" cy="38404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7223760" y="1874519"/>
            <a:ext cx="4526280" cy="1143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Data Analyst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KPI từ dữ liệu đơn · ghép với Kế toán theo tháng × cửa hàng × kênh · lập bảng giải thích chênh lệch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63640" y="3200400"/>
            <a:ext cx="55778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400800" y="3474720"/>
            <a:ext cx="685800" cy="68580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3625596"/>
            <a:ext cx="384048" cy="384048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7223760" y="3246120"/>
            <a:ext cx="4526280" cy="1143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Kế toán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Cung cấp số đã xác nhận · xác nhận nguyên nhân phía sổ sách (bút toán trùng, thiếu dữ liệu, VAT)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63640" y="4572000"/>
            <a:ext cx="55778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2" name="Picture 16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864608"/>
            <a:ext cx="640080" cy="64008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7223760" y="4617720"/>
            <a:ext cx="4526280" cy="1143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Cửa hàng / E-commerce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Xác nhận trạng thái đơn, ngày giao, hoàn trả khi DA hỏi lại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Hai sản phẩm cần nộp, slicer dùng chung và 4 sheet dashboard Excel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trang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yêu cầu tối thiểu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và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gợi ý mở rộng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ở các slide sau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577840" cy="59436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640080" tIns="18288" bIns="18288"/>
          <a:lstStyle/>
          <a:p>
            <a:pPr algn="l">
              <a:buNone/>
            </a:pPr>
            <a:r>
              <a:rPr sz="15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  File Excel (.xlsx)</a:t>
            </a:r>
            <a:r>
              <a:rPr sz="15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Power Query · DAX · 4 sheet</a:t>
            </a:r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44752"/>
            <a:ext cx="457200" cy="45720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6263640" y="1371600"/>
            <a:ext cx="5577840" cy="5943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640080" tIns="18288" bIns="18288"/>
          <a:lstStyle/>
          <a:p>
            <a:pPr algn="l">
              <a:buNone/>
            </a:pPr>
            <a:r>
              <a:rPr sz="16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  Báo cáo phân tích</a:t>
            </a:r>
            <a:r>
              <a:rPr sz="16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8 phần theo guild_report_template</a:t>
            </a:r>
          </a:p>
        </p:txBody>
      </p:sp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44752"/>
            <a:ext cx="457200" cy="4572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365760" y="210312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Slicer dùng chung cho cả 4 sheet (CUBEVALUE đọc theo slicer)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65760" y="2468880"/>
            <a:ext cx="3657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2615184"/>
            <a:ext cx="475488" cy="47548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51560" y="2487168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Năm + Tháng báo cáo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 slicer, chọn một · mặc định 12/2020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06240" y="2468880"/>
            <a:ext cx="3657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2615184"/>
            <a:ext cx="475488" cy="475488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4892040" y="2487168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Kênh bán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Tất cả · Cửa hàng (POS) · Website/app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046720" y="2468880"/>
            <a:ext cx="3657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2615184"/>
            <a:ext cx="475488" cy="47548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8732520" y="2487168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Quốc gia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Tất cả hoặc 1 trong 8 quốc gia + Online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5760" y="338328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Bốn sheet dashboard (mỗi sheet là một trang)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6576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344168" y="3840480"/>
            <a:ext cx="731520" cy="7315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5102" y="4001414"/>
            <a:ext cx="409651" cy="409651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45720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Tổng quan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75488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Điểm chính · 5 thẻ · Net Revenue 24 tháng · số đơn vs AOV · Gross → Net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4612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224528" y="3840480"/>
            <a:ext cx="731520" cy="73152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5462" y="4001414"/>
            <a:ext cx="409651" cy="409651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333756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Doanh thu đến từ đâu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55848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Danh mục, quốc gia xếp hạng · bảng kênh · Top 10 cửa hàng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12648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104888" y="3840480"/>
            <a:ext cx="731520" cy="73152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5822" y="4001414"/>
            <a:ext cx="409651" cy="409651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21792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Đối soát với Kế toán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36208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Phân rã Δ · Δ theo tháng · bảng cửa hàng có ⚠ · Δ online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00684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985248" y="384048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6182" y="4001414"/>
            <a:ext cx="409651" cy="409651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909828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Hoàn trả &amp; chất lượng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116567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 · lý do · danh mục · huỷ/đang giao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Tổng quan: Điểm chính, 5 thẻ KPI và 5 biểu đồ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Mở trang bằng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câu Điểm chính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rồi mới đến thẻ và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biểu đồ có tiêu đề nêu kết luận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1 · Tổng quan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Tháng này bán được bao nhiêu, vì sao tăng/giảm, có khớp Kế toán không?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688336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779776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đơn hoàn tất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010912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102352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USD/đơn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7333488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424927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% · điểm %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656064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47504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Kế toán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 · % · số cửa hàng vượt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Đường Net Revenue 24 tháng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Xám; tháng chọn tô xanh, ghi chú điểm cùng kỳ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Waterfall Gross → Net Revenue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− Giảm giá − Hoàn trả, tháng chọn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Số đơn và AOV (2 biểu đồ nhỏ)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Tách 2 trục: giảm vì ít đơn hay đơn nhỏ?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Cột Δ sau quy đổi theo tháng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Đỏ = tháng có cửa hàng vượt ngưỡng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Doanh thu: doanh thu đến từ kênh, danh mục, quốc gia nào?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dùng pie/treemap: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cột ngang xếp hạng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so sánh độ dài nhanh và chính xác hơn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2 · Doanh thu đến từ đâu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 tập trung ở đâu, kênh nào tăng?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6898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36042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Units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sản phẩm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7220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6364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trọng online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% Net Sales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07542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16686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Giảm giá / Gross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% · điểm %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Cột ngang danh mục, xếp hạng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Mục lớn nhất tô xanh, còn lại xám; nhãn giá trị + %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Cột ngang quốc gia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là một dòng riêng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Bảng kênh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Sales, đơn, AOV, so với tháng trước và cùng kỳ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Top 10 cửa hàng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Thanh trong ô + so với tháng trước, cùng kỳ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Đối soát: số của mình lệch Kế toán bao nhiêu, ở đâu?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Đối soát: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= Kế toán − dữ liệu đơn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cờ khi |Δ| &gt;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200 USD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và |Δ%| &gt;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1%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3 · Đối soát với Kế toán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Chênh lệch nằm ở cửa hàng nào, tháng nào, kênh nào?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(đơn)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688336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779776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(Finance)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010912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102352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 · % trên Kế toán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7333488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424927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sau quy đổi online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656064" y="2331720"/>
            <a:ext cx="218541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47504" y="2359152"/>
            <a:ext cx="2002536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vượt ngưỡng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/ số cửa hàng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Phân rã Δ tháng chọn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lệch thời điểm → cửa hàng ⚠ → còn lại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Cột Δ sau quy đổi theo tháng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Đỏ = có cửa hàng vượt ngưỡng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Bảng cửa hàng xếp theo |Δ|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Đơn, Kế toán, Δ, Δ%, Δ sau quy đổi, ⚠ Vượt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online: gốc và sau quy đổi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Về gần 0 → lệch thời điểm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Hoàn trả &amp; chất lượng: bao nhiêu doanh thu bị mất?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 tăng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tín hiệu xấu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màu đảo, thay đổi bằng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điểm 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4 · Hoàn trả &amp; chất lượng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 có "sạch" không: trả hàng, huỷ đơn, dữ liệu lỗi?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Giá trị hoàn trả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6898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36042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% · thay đổi bằng điểm %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7220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6364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huỷ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07542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16686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Dòng trùng đã loại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dòng · kèm số đơn PENDING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Đường tỷ lệ hoàn trả 24 tháng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chọn tô xanh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Cột ngang lý do trả hàng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Lý do lớn nhất tô xanh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Cột ngang tỷ lệ hoàn trả theo danh mục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Nhãn kèm Net Sales để đọc cùng quy mô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Đơn huỷ và đang giao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tháng đặt hàng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Bảng tự rà soát mức độ hoàn thiện sản phẩm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Tự rà soát: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Bắt buộc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Nên có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Sáng tạo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7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Bắt buộc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75488" y="1965960"/>
            <a:ext cx="3474720" cy="3931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120 dòng trùng, chỉ tính đơn COMPLETED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 trang đủ thẻ KPI, biểu đồ, bảng theo yêu cầu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 slicer dùng chung (Năm, Tháng, Kênh, Quốc gia), đồng bộ cả 4 trang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Thẻ KPI so với tháng trước và cùng tháng năm trước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Map Kế toán theo valid_from / valid_to, tách HQ-ADJ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đối soát có cờ vượt ngưỡng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206240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206240" y="137160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7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Nên có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15968" y="1965960"/>
            <a:ext cx="3474720" cy="3931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online sau khi quy về delivery_date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Line chart không bị slicer Tháng lọc (đủ 24 tháng)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Tiêu đề hành động nêu kết luận, câu Điểm chính đầu trang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rõ đơn vị: USD, nghìn USD, %, điểm %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Nút Đặt lại và điều hướng giữa 4 trang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Xám cho bối cảnh, 1 màu nhấn; ▲/▼ ở cột thay đổi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046720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8046720" y="137160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7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Sáng tạo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156448" y="1965960"/>
            <a:ext cx="3474720" cy="3931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Drill-through "Chi tiết cửa hàng – ngày"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Tooltip Δ theo ngày khi rê chuột vào ô vượt ngưỡng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giải thích chênh lệch: tổng nguyên nhân = Δ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Dùng fx_rate, unit_cost, dim_customer (bảng bổ sung)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Nguyên tắc trình bày: Storytelling with Data (Cole Nussbaumer Knaflic)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Dashboard để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ra quyết định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không để trưng bày: người xem phải thấy kết luận trong 3 giây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 · Hiểu bối cảnh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02920" y="1920240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Ai xem, cần quyết định gì? Viết Big Idea thành 1 câu: câu Điểm chính đầu mỗi trang.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206240" y="13716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206240" y="1371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 · Chọn hình phù hợp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43400" y="1920240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Đường cho xu hướng, cột ngang xếp hạng cho danh mục, bảng cho chi tiết. Bỏ pie, donut, treemap, 3D.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046720" y="13716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8046720" y="1371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 · Gỡ rối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183880" y="1920240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khung, nền màu, lưới đậm, chú giải thừa; nhãn trực tiếp; ít chữ số lẻ.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65760" y="370332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65760" y="370332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 · Dẫn mắt người xem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02920" y="4251959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Xám cho bối cảnh, MỘT màu nhấn cho điều cần thấy; đỏ chỉ cho vấn đề (⚠ vượt ngưỡng).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206240" y="370332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206240" y="370332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5 · Nghĩ như nhà thiết kế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43400" y="4251959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Căn lưới thẳng, định dạng số thống nhất, màu an toàn cho người mù màu, tooltip.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46720" y="370332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8046720" y="370332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6 · Kể chuyện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183880" y="4251959"/>
            <a:ext cx="3383280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5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Tiêu đề nêu kết luận ("Máy tính chiếm 43% Net Sales"), không chỉ mô tả; nguồn và as-of ở chân trang.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Thuật ngữ dùng trong bài: theo VAS 14 và giao diện Excel tiếng Việt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Tên file, cột, số đo giữ tiếng Anh;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văn bản dùng thuật ngữ chuẩn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bảng đầy đủ ở phụ lục hướng dẫn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11475719" cy="4617718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275080"/>
                <a:gridCol w="4553857"/>
                <a:gridCol w="3278777"/>
                <a:gridCol w="2368005"/>
              </a:tblGrid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Nhóm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Thuật ngữ trong tài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Tiếng Anh / trong file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Căn cứ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Vai trò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phòng Tài chính – Kế toán (gọi tắt: Kế toán)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Finance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thực tế doanh nghiệp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Vai trò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Trưởng phòng Kinh doanh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Sales Manager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thực tế doanh nghiệp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Vai trò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chuyên viên phân tích dữ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Data Analyst (DA)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thực tế tuyển dụng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 bán hàng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Gross Sales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14; mẫu B02-DN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chiết khấu thương mại (khuyến mãi giảm giá trên hoá đơn)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Discounts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hàng bán bị trả lại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 thuần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14; TT 99/2025/TT-BTC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nhận doanh thu · ngày ghi sổ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Revenue recognition · posting_date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14; sổ Nhật ký chung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Chỉ tiêu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tỷ lệ hàng bán bị trả lại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 Rate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VAS 14 + thực tế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Chỉ tiêu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chênh lệch · ngưỡng · đối soát (đối chiếu số liệu)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 · threshold · reconciliation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thực tế kế toán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Excel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Mô hình Dữ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Data Model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Microsoft vi-vn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Excel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số đo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measure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Microsoft vi-vn (Power Pivot)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8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Dữ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lược đồ hình sao · bảng dữ kiện · bảng chiều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star schema · fact table · dimension table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giáo trình CSDL / kho dữ liệu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Cây KPI: từ Gross Sales đến chênh lệch với Kế toán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Hiểu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định nghĩa và thứ tự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trước, viết DAX sau: Gross → Net Sales → Net Revenue → Δ Finance</a:t>
            </a:r>
          </a:p>
        </p:txBody>
      </p:sp>
      <p:pic>
        <p:nvPicPr>
          <p:cNvPr id="143" name="Picture 142" descr="04_cay_k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8" y="1325880"/>
            <a:ext cx="10806243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Nhóm doanh thu: định nghĩa, công thức và một ví dụ tính tay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là con số đem đi đối soát; Net Sales là mẫu số chung của AOV, ASP, tỷ lệ hoàn trả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212848" y="1463040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Σ quantity × unit_price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937760" y="1417320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COMPLETED, đã bỏ dòng trùng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2304288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65760" y="2304288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Discounts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212848" y="2395728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Σ discount_amount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37760" y="2350008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Khuyến mãi theo promo_code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65760" y="3236976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365760" y="3236976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Sales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212848" y="3328416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Gross Sales − Discounts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37760" y="3282696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sau giảm giá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65760" y="4169664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65760" y="4169664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Returns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212848" y="4261104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Σ return_amount theo return_date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937760" y="4215384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Trừ vào tháng trả hàng, không phải tháng bán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5102352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365760" y="5102352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2212848" y="5193792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Net Sales − Returns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937760" y="5148072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Con số so với Kế toán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7269480" y="1371600"/>
            <a:ext cx="457200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269480" y="1371600"/>
            <a:ext cx="45720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Ví dụ tính tay (sheet sample_transactions)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406640" y="1901952"/>
            <a:ext cx="4297680" cy="7315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 690000 · cửa hàng POS · 6 dòng · mã BF15 (giảm 15%)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406640" y="2514600"/>
            <a:ext cx="4297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498079" y="2542032"/>
            <a:ext cx="219456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Σ quantity × unit_price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601200" y="2542032"/>
            <a:ext cx="201168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r">
              <a:buNone/>
            </a:pP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5.509,99 USD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406640" y="3383280"/>
            <a:ext cx="4297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498079" y="3410712"/>
            <a:ext cx="219456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5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− Discounts</a:t>
            </a:r>
          </a:p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Σ discount_amount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601200" y="3410712"/>
            <a:ext cx="201168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r">
              <a:buNone/>
            </a:pP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826,50 USD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406640" y="4251960"/>
            <a:ext cx="4297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498079" y="4279392"/>
            <a:ext cx="219456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5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= Net Sales</a:t>
            </a:r>
          </a:p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Gross − Discounts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601200" y="4279392"/>
            <a:ext cx="201168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r">
              <a:buNone/>
            </a:pP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4.683,49 USD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406640" y="5120640"/>
            <a:ext cx="429768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Kiểm tra: 826,50 / 5.509,99 = 15,0% ≈ 15% khuyến mãi. Đơn này không có hoàn trả nên Net Revenue = Net Sales.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Nhóm đơn hàng và giá: Orders, Units, AOV, ASP, Return Rate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Orders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đếm đơn, không đếm dòng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AOV, ASP và tỷ lệ hoàn trả đều chia cho Net Sales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7223757" cy="3017514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114777"/>
                <a:gridCol w="2720057"/>
                <a:gridCol w="1962008"/>
                <a:gridCol w="1426915"/>
              </a:tblGrid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KPI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Công thức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chú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 trị 12/2020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Orders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DISTINCTCOUNT(order_number)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310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Units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 quantity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2.359 sản phẩm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AOV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Sales / Orders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 trị trung bình mỗi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1.986,49 USD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ASP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Sales / Units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 bán trung bình mỗi sản phẩm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261,05 USD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 Rate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Returns / Net Sales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Tăng là xấu, đo bằng điểm 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1,57%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4" name="TextBox 143"/>
          <p:cNvSpPr txBox="1"/>
          <p:nvPr/>
        </p:nvSpPr>
        <p:spPr>
          <a:xfrm>
            <a:off x="365760" y="4480560"/>
            <a:ext cx="722376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Kiểm chứng: AOV = 615.811,74 / 310 = 1.986,49 USD/đơn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818120" y="1371600"/>
            <a:ext cx="4023360" cy="4617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7818120" y="1371600"/>
            <a:ext cx="402336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Bốn mốc thời gian</a:t>
            </a:r>
          </a:p>
        </p:txBody>
      </p:sp>
      <p:sp>
        <p:nvSpPr>
          <p:cNvPr id="147" name="Oval 146"/>
          <p:cNvSpPr/>
          <p:nvPr/>
        </p:nvSpPr>
        <p:spPr>
          <a:xfrm>
            <a:off x="7955279" y="196596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58200" y="1892807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báo cáo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12/2020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chọn trên slicer</a:t>
            </a:r>
          </a:p>
        </p:txBody>
      </p:sp>
      <p:sp>
        <p:nvSpPr>
          <p:cNvPr id="149" name="Oval 148"/>
          <p:cNvSpPr/>
          <p:nvPr/>
        </p:nvSpPr>
        <p:spPr>
          <a:xfrm>
            <a:off x="7955279" y="2834639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458200" y="2761487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trước (LM)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11/2020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so sánh gần nhất</a:t>
            </a:r>
          </a:p>
        </p:txBody>
      </p:sp>
      <p:sp>
        <p:nvSpPr>
          <p:cNvPr id="151" name="Oval 150"/>
          <p:cNvSpPr/>
          <p:nvPr/>
        </p:nvSpPr>
        <p:spPr>
          <a:xfrm>
            <a:off x="7955279" y="370332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58200" y="3630168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Cùng kỳ năm trước (SPLY)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12/2019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loại bỏ yếu tố mùa vụ</a:t>
            </a:r>
          </a:p>
        </p:txBody>
      </p:sp>
      <p:sp>
        <p:nvSpPr>
          <p:cNvPr id="153" name="Oval 152"/>
          <p:cNvSpPr/>
          <p:nvPr/>
        </p:nvSpPr>
        <p:spPr>
          <a:xfrm>
            <a:off x="7955279" y="45720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458200" y="4498848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Lũy kế năm (YTD)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01–12/2020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cộng dồn từ tháng 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955279" y="5440680"/>
            <a:ext cx="3794760" cy="502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Δ% = (Hiện tại − Kỳ so sánh) / Kỳ so sánh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65760" y="4892040"/>
            <a:ext cx="7223760" cy="109728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Bẫy thường gặp: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đếm COUNT(order_number) trên bảng dòng → số đơn bị nhân theo số sản phẩm trong đơn; tính AOV trên Gross thay vì Net Sales → AOV cao hơn thực tế.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Quy tắc trạng thái đơn và quy tắc ghi nhận của Kế toán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Chỉ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COMPLETED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vào doanh thu; Kế toán ghi online theo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ngày giao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hoàn tiền theo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ngày ghi sổ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65760" y="132588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Trạng thái đơn (dim_order_status)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65760" y="1737360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65760" y="1737360"/>
            <a:ext cx="1691640" cy="914400"/>
          </a:xfrm>
          <a:prstGeom prst="roundRect">
            <a:avLst>
              <a:gd name="adj" fmla="val 6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COMPLETED</a:t>
            </a:r>
          </a:p>
          <a:p>
            <a:pPr algn="ctr"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25.639 đơn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148840" y="1764792"/>
            <a:ext cx="3749039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doanh thu: </a:t>
            </a: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Có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đã thanh toán (POS) hoặc đã giao thành công (online)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2761488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65760" y="2761488"/>
            <a:ext cx="1691640" cy="9144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CANCELLED</a:t>
            </a:r>
          </a:p>
          <a:p>
            <a:pPr algn="ctr"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658 đơn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48840" y="2788920"/>
            <a:ext cx="3749039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doanh thu: </a:t>
            </a: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Không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Khách huỷ hoặc thanh toán thất bại; loại khỏi mọi KPI doanh thu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65760" y="3785616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365760" y="3785616"/>
            <a:ext cx="1691640" cy="914400"/>
          </a:xfrm>
          <a:prstGeom prst="roundRect">
            <a:avLst>
              <a:gd name="adj" fmla="val 6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PENDING</a:t>
            </a:r>
          </a:p>
          <a:p>
            <a:pPr algn="ctr"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29 đơn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148840" y="3813048"/>
            <a:ext cx="3749039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doanh thu: </a:t>
            </a: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Không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online chưa giao tại ngày trích dữ liệu 20/02/2021; chưa đủ điều kiện ghi nhận doanh thu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4846320"/>
            <a:ext cx="557784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Tổng 26.326 đơn = 25.639 + 658 + 29. PENDING là đơn online chưa giao tại ngày trích 20/02/2021.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132588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Kế toán ghi nhận khi nào?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263640" y="1737360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00800" y="1764792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POS · Retail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nhận doanh thu tại ngày đặt hàng (khách thanh toán và nhận hàng ngay)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63640" y="2788920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00800" y="2816351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ONLINE · E-commerce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nhận doanh thu tại ngày giao hàng thành công (delivery_date)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63640" y="3840479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00800" y="3867911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Hoàn tiền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Kế toán hạch toán vào ngày xử lý, có thể trễ vài ngày sau return_date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63640" y="4892040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400800" y="4919472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VAT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net_revenue chưa gồm VAT; vat_amount = 10% × net_revenue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Chênh lệch Δ và ngưỡng cho phép: khi nào phải giải thích?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Chỉ ô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× cửa hàng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vượt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cả hai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điều kiện mới bắt buộc giải thích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 Finance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94560" y="1399032"/>
            <a:ext cx="45262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Finance Net Revenue − Net Revenue (đơn)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Dương: Kế toán ghi cao hơn dữ liệu đơn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65760" y="2395728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365760" y="239572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 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94560" y="2423160"/>
            <a:ext cx="45262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/ |Finance Net Revenue|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Chia cho trị tuyệt đối để giữ dấu của Δ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419856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65760" y="3419856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Cờ vượt ngưỡng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94560" y="3447288"/>
            <a:ext cx="45262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|Δ| &gt; 200 USD  VÀ  |Δ%| &gt; 1%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Xét ở mức tháng × cửa hàng (store_key 0 = online)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65760" y="45262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t" wrap="square" lIns="137160" tIns="54864" rIns="137160" bIns="36576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Vì sao cần cả hai điều kiện?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lớn: lệch 300 USD có thể chỉ 0,1% → làm tròn, không đáng giải thích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nhỏ: lệch 5% nhưng chỉ 50 USD → không đáng công truy vết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995160" y="1371600"/>
            <a:ext cx="484632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6995160" y="1371600"/>
            <a:ext cx="484632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Ví dụ thật, tháng 12/2020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132320" y="1965960"/>
            <a:ext cx="4572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269480" y="2011679"/>
            <a:ext cx="4343400" cy="1737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300"/>
              </a:spcAft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Cửa hàng S62 (United States)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Đơn: 6.191,92 · Kế toán: 6.278,89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+86,97 USD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· Δ%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+1,4%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1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Trong ngưỡng: ghi nhận, không bắt buộc giải thích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132320" y="3931920"/>
            <a:ext cx="4572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269480" y="3977639"/>
            <a:ext cx="4343400" cy="1737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300"/>
              </a:spcAft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Cửa hàng S12 (France)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Đơn: 20.853,35 · Kế toán: 30.994,39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+10.141,04 USD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· Δ%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+32,7%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1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Vượt ngưỡng: phải tìm nguyên nhân và số tiền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Pipeline dữ liệu: từ file nguồn đến dashboard và báo cáo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Học viên làm 5 bước trong Excel: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Power Query → Data Model → DAX → 4 sheet → Báo cáo</a:t>
            </a:r>
          </a:p>
        </p:txBody>
      </p:sp>
      <p:pic>
        <p:nvPicPr>
          <p:cNvPr id="143" name="Picture 142" descr="01_pipeline_du_li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231" y="1325880"/>
            <a:ext cx="11032776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Cấu trúc bộ dữ liệu Nexa Home và hai bảng dữ kiện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bảng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hạt dữ liệu (grain)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khác nhau: dòng sản phẩm, lần trả hàng, ngày × mã cửa hàng Kế toán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576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32588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file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Dataset + Kế toán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24612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24612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 + 1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0624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dữ kiện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 · trả hàng · Kế toán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2648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12648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08660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chiều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ngày, cửa hàng, sản phẩm…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00684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00684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96696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map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mã Kế toán → store_key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65760" y="25146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65760" y="2514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fact_sales_line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63.004 dòng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57200" y="3017520"/>
            <a:ext cx="3474720" cy="2926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Hạt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sản phẩm trong một đơn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Trường chính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order_number · line_item · order_date · delivery_date · store_key · channel_code · product_key · quantity · unit_price · promo_code · discount_amount · order_status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Lưu ý: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Có 120 dòng trùng hoàn toàn cần loại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206240" y="25146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206240" y="2514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fact_return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2.430 dòng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297680" y="3017520"/>
            <a:ext cx="3474720" cy="2926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Hạt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lần trả hàng của một dòng bán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Trường chính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return_id · order_number · line_item · return_date · return_qty · return_amount · return_reason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Lưu ý: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có store_key: lấy qua order_number + line_item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046720" y="25146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046720" y="2514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finance_revenue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19.400 dòng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38160" y="3017520"/>
            <a:ext cx="3474720" cy="2926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Hạt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ngày ghi sổ × một mã cửa hàng Kế toán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Trường chính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posting_date · fin_store_code · fin_channel · entry_type · revenue_recognized · refunds · net_revenue · vat_amount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Lưu ý: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fin_store_code ≠ store_key: phải map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Các bảng chiều và bảng hỗ trợ: dùng để lọc, nhóm và quy đổi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dim_date phải được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Mark as date table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để dùng DATEADD, SAMEPERIODLASTYEAR, DATESYTD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dim_date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1.917</a:t>
            </a:r>
          </a:p>
        </p:txBody>
      </p:sp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38528"/>
            <a:ext cx="411480" cy="411480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932688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ngày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date · month_id · month_label · year · has_data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24612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24612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dim_store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67</a:t>
            </a:r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938528"/>
            <a:ext cx="411480" cy="411480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3813048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cửa hàng (0 = Online)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3756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store_key · store_code · channel_code · country · region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2648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612648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dim_product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2.517</a:t>
            </a:r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938528"/>
            <a:ext cx="411480" cy="411480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6693408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sản phẩm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1792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product_key · category · subcategory · brand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900684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00684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dim_customer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15.266</a:t>
            </a:r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8280" y="1938528"/>
            <a:ext cx="411480" cy="411480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9573767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bổ sung (sáng tạo)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09828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customer_key · country · continent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6576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dim_channel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2</a:t>
            </a:r>
          </a:p>
        </p:txBody>
      </p:sp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315968"/>
            <a:ext cx="411480" cy="41148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932688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/ ONLINE + quy tắc ghi nhận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720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channel_code · fin_channel · revenue_recognition_rule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24612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324612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dim_promotion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7</a:t>
            </a:r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4315968"/>
            <a:ext cx="411480" cy="41148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3813048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Mã khuyến mãi và % giảm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33756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promo_code · promo_name · discount_pct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2648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612648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dim_order_status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3</a:t>
            </a:r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4315968"/>
            <a:ext cx="411480" cy="41148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693408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Trạng thái và có tính doanh thu không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21792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order_status · count_in_revenue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900684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900684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map_store_finance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69</a:t>
            </a:r>
          </a:p>
        </p:txBody>
      </p:sp>
      <p:pic>
        <p:nvPicPr>
          <p:cNvPr id="180" name="Picture 17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8280" y="4315968"/>
            <a:ext cx="411480" cy="41148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9573767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Mã Kế toán → store_key theo hiệu lực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09828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fin_store_code · store_key · valid_from · valid_to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Mô hình dữ liệu dạng lược đồ hình sao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Quan hệ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1 → nhiều, lọc một chiều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delivery_date là quan hệ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inactive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bật bằng USERELATIONSHIP</a:t>
            </a:r>
          </a:p>
        </p:txBody>
      </p:sp>
      <p:pic>
        <p:nvPicPr>
          <p:cNvPr id="143" name="Picture 142" descr="02_mo_hinh_du_li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699" y="1298448"/>
            <a:ext cx="6887641" cy="4754880"/>
          </a:xfrm>
          <a:prstGeom prst="rect">
            <a:avLst/>
          </a:prstGeom>
        </p:spPr>
      </p:pic>
      <p:sp>
        <p:nvSpPr>
          <p:cNvPr id="144" name="Rounded Rectangle 143"/>
          <p:cNvSpPr/>
          <p:nvPr/>
        </p:nvSpPr>
        <p:spPr>
          <a:xfrm>
            <a:off x="8138160" y="1371600"/>
            <a:ext cx="3703320" cy="4617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8138160" y="1371600"/>
            <a:ext cx="370332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dựng trong Excel (Power Pivot)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29600" y="1920240"/>
            <a:ext cx="352044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Pivot → Manage → Diagram View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kéo khoá ở dim thả lên cột ở fact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delivery_date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kéo dim_date[date] lần 2 → Excel tự để inactive (nét đứt)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Mark as Date Table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cho dim_date; Sort by Column: month_label theo month_id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fact_return, fact_finance: lấy store_key trong Power Query trước khi nạp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dim_channel → dim_store: slicer Kênh lọc được cả Kế toán và hoàn trả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nối 2 bảng dữ kiện trực tiếp với nhau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map_store_finance: quy đổi mã cửa hàng Kế toán theo ngày hiệu lực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Join chỉ theo fin_store_code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chưa đủ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phải thêm điều kiện posting_date nằm trong [valid_from, valid_to]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11475717" cy="2286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24880"/>
                <a:gridCol w="1117105"/>
                <a:gridCol w="1320215"/>
                <a:gridCol w="1320215"/>
                <a:gridCol w="6093302"/>
              </a:tblGrid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fin_store_code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store_key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valid_from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valid_to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chú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ECOM-01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AUS-01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GBR-03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30/06/2019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Mã cũ, ngừng dùng sau khi đổi hệ thống kế toán cửa hàng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GBR-03N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01/07/2019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Mã mới từ 01/07/2019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Bút toán điều chỉnh tại văn phòng chính, không thuộc cửa hàng nào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365760" y="38404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65760" y="384048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Bẫy 1 · Đổi mã cửa hàng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5488" y="4343400"/>
            <a:ext cx="3438144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38 dùng mã GBR-03 đến 30/06/2019, sau đó GBR-03N. Gõ tay bảng mã theo mã cũ → doanh thu từ 07/2019 thành "không xác định cửa hàng"; luôn dùng map_store_finance kèm ngày hiệu lực.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06240" y="38404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206240" y="384048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Bẫy 2 · Dòng HQ-ADJ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315968" y="4343400"/>
            <a:ext cx="3438144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Bút toán điều chỉnh tại văn phòng chính, store_key trống. Không gán vào cửa hàng nào; giải thích ở cấp tổng chuỗi.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046720" y="38404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8046720" y="384048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làm trong Power Query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156448" y="4343400"/>
            <a:ext cx="3438144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Merge finance với map theo fin_store_code → lọc posting_date ≥ valid_from và ≤ valid_to → kiểm tra số dòng vẫn = 19.400.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Quy tắc làm sạch và số dòng phải khớp sau khi nạp (QC_Summary)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Chưa khớp số dòng thì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chưa tính KPI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mọi sai lệch phía sau đều bắt đầu từ bước này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7680960" cy="4617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651760"/>
                <a:gridCol w="1828800"/>
                <a:gridCol w="3200400"/>
              </a:tblGrid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Kiểm tra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Kết quả cần khớp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chú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fact_sales_line nạp vào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63.004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Gồm dòng trùng cài sẵn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Bỏ dòng trùng hoàn toàn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− 120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Còn 62.884 dòng; khoá order_number + line_item duy nhất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Tổng số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26.326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Đếm phân biệt order_number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25.639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Chỉ nhóm này vào KPI 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CANCELLED / PENDING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658 / 29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Loại khỏi KPI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fact_return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2.430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Mỗi dòng khớp 1 dòng bán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finance_revenue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Sau khi map vẫn đủ số dòng, không nhân đôi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dim_store / dim_product / dim_date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67 / 2.517 / 1.917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dim_date phủ 01/01/2016 → 31/03/2021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8275320" y="1371600"/>
            <a:ext cx="356616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8275320" y="1371600"/>
            <a:ext cx="356616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Ba quy tắc làm sạch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366760" y="1920240"/>
            <a:ext cx="338328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1. Bỏ trùng</a:t>
            </a:r>
          </a:p>
          <a:p>
            <a:pPr algn="l">
              <a:spcAft>
                <a:spcPts val="8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Query → Remove Duplicates trên toàn bộ cột</a:t>
            </a:r>
          </a:p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2. Lọc trạng thái</a:t>
            </a:r>
          </a:p>
          <a:p>
            <a:pPr algn="l">
              <a:spcAft>
                <a:spcPts val="8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Giữ dữ liệu đủ cột, lọc COMPLETED trong số đo để vẫn đếm được đơn huỷ</a:t>
            </a:r>
          </a:p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3. Đúng kiểu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Ngày là Date, tiền là Fixed decimal (Currency), store_key là Whole Number ở mọi bảng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Pipeline Power Query: mỗi query một làn, mỗi bước một Applied Step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Ô cam là bước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đổi số dòng hoặc ghép bảng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kiểm số dòng ngay sau bước đó, trước khi làm bước tiếp</a:t>
            </a:r>
          </a:p>
        </p:txBody>
      </p:sp>
      <p:pic>
        <p:nvPicPr>
          <p:cNvPr id="143" name="Picture 142" descr="05_power_query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65" y="1298448"/>
            <a:ext cx="10779309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Power Query · fact_sales_line và fact_return: bỏ trùng trước, ghép sau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fact_return ghép với fact_sales_line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đã bỏ trùng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mỗi dòng trả hàng khớp đúng một dòng bán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65760" y="1325880"/>
            <a:ext cx="11475720" cy="292608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fact_sales_line — 7 bước, làm bằng chuột trong Power Query Editor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65760" y="1655064"/>
            <a:ext cx="1513985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Source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mở file nguồn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026049" y="1655064"/>
            <a:ext cx="1513985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Navigation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chọn Table tbl_fact_sales_line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63.004 dòng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888889" y="229057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47" name="Rounded Rectangle 146"/>
          <p:cNvSpPr/>
          <p:nvPr/>
        </p:nvSpPr>
        <p:spPr>
          <a:xfrm>
            <a:off x="3686338" y="1655064"/>
            <a:ext cx="1513985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Changed Type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đặt kiểu: Date, Whole Number, Fixed Decimal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63.004 dòng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3549178" y="229057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49" name="Rounded Rectangle 148"/>
          <p:cNvSpPr/>
          <p:nvPr/>
        </p:nvSpPr>
        <p:spPr>
          <a:xfrm>
            <a:off x="5346627" y="1655064"/>
            <a:ext cx="1513985" cy="1271016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Removed Duplicates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Ctrl+A → Remove Rows → Remove Duplicates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62.884 dòng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5209467" y="229057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51" name="Rounded Rectangle 150"/>
          <p:cNvSpPr/>
          <p:nvPr/>
        </p:nvSpPr>
        <p:spPr>
          <a:xfrm>
            <a:off x="7006916" y="1655064"/>
            <a:ext cx="1513985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Inserted Multiplication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quantity × unit_price → gross_amount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62.884 dòng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6869756" y="229057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53" name="Rounded Rectangle 152"/>
          <p:cNvSpPr/>
          <p:nvPr/>
        </p:nvSpPr>
        <p:spPr>
          <a:xfrm>
            <a:off x="8667205" y="1655064"/>
            <a:ext cx="1513985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Inserted Subtraction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gross_amount − discount_amount → net_amount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62.884 dòng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8530045" y="229057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55" name="Rounded Rectangle 154"/>
          <p:cNvSpPr/>
          <p:nvPr/>
        </p:nvSpPr>
        <p:spPr>
          <a:xfrm>
            <a:off x="10327494" y="1655064"/>
            <a:ext cx="1513985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Changed Type1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 cột tiền → Fixed Decimal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62.884 dòng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10190334" y="229057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57" name="TextBox 156"/>
          <p:cNvSpPr txBox="1"/>
          <p:nvPr/>
        </p:nvSpPr>
        <p:spPr>
          <a:xfrm>
            <a:off x="365760" y="3063240"/>
            <a:ext cx="7863840" cy="292608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fact_return — ghép 3 khoá từ dòng bán gốc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65760" y="3392424"/>
            <a:ext cx="1455724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Source · Navigation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chọn Table tbl_fact_return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2.430 dòng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967788" y="3392424"/>
            <a:ext cx="1455724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Changed Type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đặt kiểu cột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2.430 dòng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1830628" y="402793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61" name="Rounded Rectangle 160"/>
          <p:cNvSpPr/>
          <p:nvPr/>
        </p:nvSpPr>
        <p:spPr>
          <a:xfrm>
            <a:off x="3569817" y="3392424"/>
            <a:ext cx="1455724" cy="1271016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Merged Queries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Merge với fact_sales_line theo order_number + line_item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2.430 dòng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3432657" y="402793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63" name="Rounded Rectangle 162"/>
          <p:cNvSpPr/>
          <p:nvPr/>
        </p:nvSpPr>
        <p:spPr>
          <a:xfrm>
            <a:off x="5171846" y="3392424"/>
            <a:ext cx="1455724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Expanded fact_sales_line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lấy store_key, channel_code, product_key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2.430 dòng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5034686" y="402793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65" name="Rounded Rectangle 164"/>
          <p:cNvSpPr/>
          <p:nvPr/>
        </p:nvSpPr>
        <p:spPr>
          <a:xfrm>
            <a:off x="6773875" y="3392424"/>
            <a:ext cx="1455724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Changed Type1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đặt kiểu 3 cột mới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2.430 dòng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6636715" y="4027932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8412480" y="3392424"/>
          <a:ext cx="3429000" cy="127101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783080"/>
                <a:gridCol w="822960"/>
                <a:gridCol w="822960"/>
              </a:tblGrid>
              <a:tr h="4236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Bước đổi số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Trước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4236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Removed Duplicates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63.004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62.884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36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Merged Queries + Expand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2.430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2.430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8" name="Rounded Rectangle 167"/>
          <p:cNvSpPr/>
          <p:nvPr/>
        </p:nvSpPr>
        <p:spPr>
          <a:xfrm>
            <a:off x="365760" y="489204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Bỏ trùng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Ctrl+A chọn mọi cột → Home → Remove Rows → Remove Duplicates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206240" y="489204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Thêm cột tiền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Chọn 2 cột → Add Column → Standard → Multiply / Subtract; bấm đúp tiêu đề để đổi tên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046720" y="489204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Ghép 2 khoá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Merge Queries: bấm order_number rồi Ctrl + line_item ở cả hai bảng, cùng thứ tự; Left Outer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Power Query · fact_finance: gắn store_key theo mã và ngày hiệu lực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Tạo bằng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Reference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từ finance_raw; số dòng phải giữ nguyên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19.400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65760" y="1325880"/>
            <a:ext cx="11475720" cy="292608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fact_finance — 7 bước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65760" y="1655064"/>
            <a:ext cx="1513985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Source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Reference từ finance_raw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19.400 dòng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026049" y="1655064"/>
            <a:ext cx="1513985" cy="1152144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Merged Queries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Merge với map_store_finance theo fin_store_code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19.400 dòng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888889" y="2231136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47" name="Rounded Rectangle 146"/>
          <p:cNvSpPr/>
          <p:nvPr/>
        </p:nvSpPr>
        <p:spPr>
          <a:xfrm>
            <a:off x="3686338" y="1655064"/>
            <a:ext cx="1513985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Expanded map_store_finance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lấy store_key, valid_from, valid_to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19.400 dòng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3549178" y="2231136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49" name="Rounded Rectangle 148"/>
          <p:cNvSpPr/>
          <p:nvPr/>
        </p:nvSpPr>
        <p:spPr>
          <a:xfrm>
            <a:off x="5346627" y="1655064"/>
            <a:ext cx="1513985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Added Conditional Column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hieu_luc = 1 nếu valid_from ≤ posting_date ≤ valid_to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19.400 dòng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5209467" y="2231136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51" name="Rounded Rectangle 150"/>
          <p:cNvSpPr/>
          <p:nvPr/>
        </p:nvSpPr>
        <p:spPr>
          <a:xfrm>
            <a:off x="7006916" y="1655064"/>
            <a:ext cx="1513985" cy="1152144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Filtered Rows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giữ hieu_luc = 1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19.400 dòng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6869756" y="2231136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53" name="Rounded Rectangle 152"/>
          <p:cNvSpPr/>
          <p:nvPr/>
        </p:nvSpPr>
        <p:spPr>
          <a:xfrm>
            <a:off x="8667205" y="1655064"/>
            <a:ext cx="1513985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Removed Columns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valid_from, valid_to, hieu_luc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19.400 dòng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8530045" y="2231136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55" name="Rounded Rectangle 154"/>
          <p:cNvSpPr/>
          <p:nvPr/>
        </p:nvSpPr>
        <p:spPr>
          <a:xfrm>
            <a:off x="10327494" y="1655064"/>
            <a:ext cx="1513985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1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Changed Type</a:t>
            </a:r>
          </a:p>
          <a:p>
            <a:pPr algn="ctr">
              <a:buNone/>
            </a:pPr>
            <a:r>
              <a:rPr sz="10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store_key → Whole Number</a:t>
            </a:r>
          </a:p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19.400 dòng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10190334" y="2231136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57" name="Rounded Rectangle 156"/>
          <p:cNvSpPr/>
          <p:nvPr/>
        </p:nvSpPr>
        <p:spPr>
          <a:xfrm>
            <a:off x="365760" y="3200400"/>
            <a:ext cx="5669280" cy="16002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t" wrap="square" lIns="137160" tIns="73152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Conditional Column “hieu_luc” (Add Column → Conditional Column)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If posting_date  is before  valid_from  →  0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Else If posting_date  is after  valid_to  →  0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Else  →  1      (ô Value chọn Select a column)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Rồi lọc hieu_luc = 1 và bỏ 3 cột phụ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217920" y="3200400"/>
            <a:ext cx="1275588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000" b="1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Source · Navigation</a:t>
            </a:r>
          </a:p>
          <a:p>
            <a:pPr algn="ctr">
              <a:buNone/>
            </a:pPr>
            <a:r>
              <a:rPr sz="9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chọn Table tbl_finance_revenue</a:t>
            </a:r>
          </a:p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19.400 dòng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7639812" y="3200400"/>
            <a:ext cx="1275588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000" b="1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Changed Type</a:t>
            </a:r>
          </a:p>
          <a:p>
            <a:pPr algn="ctr">
              <a:buNone/>
            </a:pPr>
            <a:r>
              <a:rPr sz="9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đặt kiểu cột</a:t>
            </a:r>
          </a:p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19.400 dòng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7502652" y="4000500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61" name="Rounded Rectangle 160"/>
          <p:cNvSpPr/>
          <p:nvPr/>
        </p:nvSpPr>
        <p:spPr>
          <a:xfrm>
            <a:off x="9144000" y="3200400"/>
            <a:ext cx="1275588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000" b="1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Source · Navigation</a:t>
            </a:r>
          </a:p>
          <a:p>
            <a:pPr algn="ctr">
              <a:buNone/>
            </a:pPr>
            <a:r>
              <a:rPr sz="9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chọn Table tbl_map_store_finance</a:t>
            </a:r>
          </a:p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69 dòng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10565892" y="3200400"/>
            <a:ext cx="1275588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 wrap="square" lIns="45720" tIns="27432" rIns="45720" bIns="27432"/>
          <a:lstStyle/>
          <a:p>
            <a:pPr algn="ctr">
              <a:buNone/>
            </a:pPr>
            <a:r>
              <a:rPr sz="1000" b="1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Changed Type</a:t>
            </a:r>
          </a:p>
          <a:p>
            <a:pPr algn="ctr">
              <a:buNone/>
            </a:pPr>
            <a:r>
              <a:rPr sz="9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đặt kiểu cột</a:t>
            </a:r>
          </a:p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69 dòng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0428732" y="4000500"/>
            <a:ext cx="128016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64" name="TextBox 163"/>
          <p:cNvSpPr txBox="1"/>
          <p:nvPr/>
        </p:nvSpPr>
        <p:spPr>
          <a:xfrm>
            <a:off x="6217920" y="2871216"/>
            <a:ext cx="5623560" cy="2743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1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Hai query trung gian: finance_raw (trái) · map_store_finance (phải)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65760" y="4983480"/>
            <a:ext cx="36576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Chỉ tạo kết nối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finance_raw, map_store_finance: Close &amp; Load To → Only Create Connection, không nạp Data Model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206240" y="4983480"/>
            <a:ext cx="36576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Lọc theo ngày hiệu lực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posting_date nằm trong [valid_from, valid_to]: chốt an toàn khi một cửa hàng đổi mã Kế toán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46720" y="4983480"/>
            <a:ext cx="36576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HQ-ADJ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3 dòng giữ store_key trống: không gán cho cửa hàng nào, giải thích ở tổng chuỗi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Nạp vào Data Model và cấu hình trong Power Pivot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Close &amp; Load To →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Only Create Connection + Add to Data Model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không đổ bảng 63 nghìn dòng ra sheet</a:t>
            </a:r>
          </a:p>
        </p:txBody>
      </p:sp>
      <p:sp>
        <p:nvSpPr>
          <p:cNvPr id="143" name="Oval 142"/>
          <p:cNvSpPr/>
          <p:nvPr/>
        </p:nvSpPr>
        <p:spPr>
          <a:xfrm>
            <a:off x="365760" y="1371600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05840" y="1316736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Close &amp; Load To…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Dim, fact, _Measures: Only Create Connection + tick Add this data to the Data Model</a:t>
            </a:r>
          </a:p>
        </p:txBody>
      </p:sp>
      <p:sp>
        <p:nvSpPr>
          <p:cNvPr id="145" name="Oval 144"/>
          <p:cNvSpPr/>
          <p:nvPr/>
        </p:nvSpPr>
        <p:spPr>
          <a:xfrm>
            <a:off x="365760" y="2304288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5840" y="2249424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Query trung gian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finance_raw, map_store_finance: chỉ Only Create Connection</a:t>
            </a:r>
          </a:p>
        </p:txBody>
      </p:sp>
      <p:sp>
        <p:nvSpPr>
          <p:cNvPr id="147" name="Oval 146"/>
          <p:cNvSpPr/>
          <p:nvPr/>
        </p:nvSpPr>
        <p:spPr>
          <a:xfrm>
            <a:off x="365760" y="3236976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05840" y="3182112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Power Pivot → Manage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Diagram View: kéo khoá dim → fact; delivery_date kéo lần 2 → inactive</a:t>
            </a:r>
          </a:p>
        </p:txBody>
      </p:sp>
      <p:sp>
        <p:nvSpPr>
          <p:cNvPr id="149" name="Oval 148"/>
          <p:cNvSpPr/>
          <p:nvPr/>
        </p:nvSpPr>
        <p:spPr>
          <a:xfrm>
            <a:off x="365760" y="4169664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05840" y="4114800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Mark as Date Table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dim_date → cột date; Sort by Column: month_label theo month_id</a:t>
            </a:r>
          </a:p>
        </p:txBody>
      </p:sp>
      <p:sp>
        <p:nvSpPr>
          <p:cNvPr id="151" name="Oval 150"/>
          <p:cNvSpPr/>
          <p:nvPr/>
        </p:nvSpPr>
        <p:spPr>
          <a:xfrm>
            <a:off x="365760" y="5102352"/>
            <a:ext cx="502920" cy="5029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" y="5047488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Hide from Client Tools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Ẩn khoá ở bảng dữ kiện và cột ghi_chu của _Measures</a:t>
            </a:r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6675120" y="1371600"/>
          <a:ext cx="5166360" cy="329184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566160"/>
                <a:gridCol w="1600200"/>
              </a:tblGrid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Kiểm trong Power Pivot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Phải ra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fact_sales_line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62.884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fact_return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2.430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fact_finance (3 dòng HQ-ADJ trống store_key)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PivotTable Data Model: đơn COMPLETED 2020 (Distinct Count)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4.528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PivotTable Data Model: Σ fact_finance[net_revenue] 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8.795.935 USD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Rounded Rectangle 153"/>
          <p:cNvSpPr/>
          <p:nvPr/>
        </p:nvSpPr>
        <p:spPr>
          <a:xfrm>
            <a:off x="6675120" y="4800600"/>
            <a:ext cx="5166360" cy="1188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36576" rIns="109728" bIns="36576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Excel không có cửa sổ chạy truy vấn DAX: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kiểm mô hình bằng PivotTable From Data Model hoặc một ô CUBEVALUE trước khi viết số đo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Doanh thu theo năm: dữ liệu đơn và Kế toán, 2016–2021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Hai nguồn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gần khớp ở cấp năm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chênh lệch chỉ lộ ra khi xuống tháng × cửa hàng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758952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758952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Revenue theo năm (triệu USD)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5678424"/>
            <a:ext cx="7498080" cy="2743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1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* 2021: chỉ đến 20/02/2021</a:t>
            </a:r>
          </a:p>
        </p:txBody>
      </p:sp>
      <p:graphicFrame>
        <p:nvGraphicFramePr>
          <p:cNvPr id="146" name="Chart 145"/>
          <p:cNvGraphicFramePr>
            <a:graphicFrameLocks noGrp="1"/>
          </p:cNvGraphicFramePr>
          <p:nvPr/>
        </p:nvGraphicFramePr>
        <p:xfrm>
          <a:off x="457200" y="1737360"/>
          <a:ext cx="740664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7" name="Rounded Rectangle 146"/>
          <p:cNvSpPr/>
          <p:nvPr/>
        </p:nvSpPr>
        <p:spPr>
          <a:xfrm>
            <a:off x="8183879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8183879" y="1371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Đọc nhanh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275320" y="1920240"/>
            <a:ext cx="347472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2020: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8,73 triệu USD</a:t>
            </a:r>
            <a:r>
              <a:rPr sz="14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, −48,4% so với 2019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đơn: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8.842 → 4.528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 gần như đi ngang: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1.965 → 1.975 USD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Lệch Kế toán − đơn 2020: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+63.187 USD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(+0,72%)</a:t>
            </a:r>
          </a:p>
          <a:p>
            <a:pPr algn="l">
              <a:spcBef>
                <a:spcPts val="400"/>
              </a:spcBef>
              <a:buNone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Câu hỏi: </a:t>
            </a:r>
            <a:r>
              <a:rPr sz="14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giảm do ít đơn hơn hay đơn nhỏ hơn?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Xu hướng theo tháng 2019–2020: hai đường gần như chồng nhau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Đỉnh cuối năm, đáy tháng 4; năm </a:t>
            </a:r>
            <a:r>
              <a:rPr sz="17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2020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sụt mạnh từ tháng 3 – cần nêu bối cảnh khi viết báo cáo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822960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822960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Revenue theo tháng (nghìn USD)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5678424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1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Dữ liệu đơn: Net Sales theo order_date − Returns theo return_date. Kế toán: theo posting_date.</a:t>
            </a:r>
          </a:p>
        </p:txBody>
      </p:sp>
      <p:graphicFrame>
        <p:nvGraphicFramePr>
          <p:cNvPr id="146" name="Chart 145"/>
          <p:cNvGraphicFramePr>
            <a:graphicFrameLocks noGrp="1"/>
          </p:cNvGraphicFramePr>
          <p:nvPr/>
        </p:nvGraphicFramePr>
        <p:xfrm>
          <a:off x="457200" y="1737360"/>
          <a:ext cx="80467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7" name="TextBox 146"/>
          <p:cNvSpPr txBox="1"/>
          <p:nvPr/>
        </p:nvSpPr>
        <p:spPr>
          <a:xfrm>
            <a:off x="8778240" y="1371600"/>
            <a:ext cx="306324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Ba điều cần thấy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778240" y="1783080"/>
            <a:ext cx="3063240" cy="128016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869680" y="1828800"/>
            <a:ext cx="2880360" cy="11887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Đỉnh 12/19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2.263 nghìn USD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778240" y="3200400"/>
            <a:ext cx="3063240" cy="1280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69680" y="3246120"/>
            <a:ext cx="2880360" cy="11887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báo cáo 12/2020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606 nghìn USD, Kế toán 592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778240" y="4617720"/>
            <a:ext cx="3063240" cy="12801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869680" y="4663440"/>
            <a:ext cx="2880360" cy="11887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Online lệch thời điểm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Đường Kế toán trễ hơn ở các tháng có nhiều đơn online giao sang tháng sau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Kênh bán: cửa hàng chiếm phần lớn, online có quy tắc ghi nhận riêng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chỉ chiếm khoảng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22%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Net Sales nhưng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nguồn chênh lệch lớn nhất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khi đối soát theo tháng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658368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658368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Tỷ trọng Net Sales theo kênh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640080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6" name="Rectangle 145"/>
          <p:cNvSpPr/>
          <p:nvPr/>
        </p:nvSpPr>
        <p:spPr>
          <a:xfrm>
            <a:off x="7178040" y="1371600"/>
            <a:ext cx="466344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178040" y="1371600"/>
            <a:ext cx="466344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AOV theo kênh năm 2020 (USD/đơn)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7269480" y="1737360"/>
          <a:ext cx="448056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9" name="Rounded Rectangle 148"/>
          <p:cNvSpPr/>
          <p:nvPr/>
        </p:nvSpPr>
        <p:spPr>
          <a:xfrm>
            <a:off x="7178040" y="4343400"/>
            <a:ext cx="4663440" cy="16459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Vì sao online quan trọng khi đối soát? 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Dữ liệu đơn tính theo ngày đặt, Kế toán tính theo ngày giao: đơn đặt cuối tháng, giao đầu tháng sau sẽ "nhảy" sang tháng khác.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Danh mục năm 2020: ai tạo doanh thu, ai bị trả hàng nhiều?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Danh mục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lớn nhất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chưa chắc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tỷ lệ hoàn trả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cao nhất: đọc hai biểu đồ cùng nhau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66928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566928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Sales theo danh mục 2020 (nghìn USD)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548640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6" name="Rectangle 145"/>
          <p:cNvSpPr/>
          <p:nvPr/>
        </p:nvSpPr>
        <p:spPr>
          <a:xfrm>
            <a:off x="6263640" y="1371600"/>
            <a:ext cx="557784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263640" y="1371600"/>
            <a:ext cx="5577840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Tỷ lệ hoàn trả = Returns / Net Sales, 2020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6355080" y="1737360"/>
          <a:ext cx="5394960" cy="4160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Khuyến mãi và trạng thái đơn: doanh thu bị "bào mòn" ở đâu?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Giảm giá năm </a:t>
            </a:r>
            <a:r>
              <a:rPr sz="17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2020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=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138.975 USD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(</a:t>
            </a:r>
            <a:r>
              <a:rPr sz="17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1,5%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Gross Sales); đơn huỷ và đang giao phải loại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603504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6035040" cy="32918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Giá trị giảm giá theo chương trình 2020 (nghìn USD)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585216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6" name="Rectangle 145"/>
          <p:cNvSpPr/>
          <p:nvPr/>
        </p:nvSpPr>
        <p:spPr>
          <a:xfrm>
            <a:off x="6629400" y="1371600"/>
            <a:ext cx="521208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29400" y="1371600"/>
            <a:ext cx="5212080" cy="329184"/>
          </a:xfrm>
          <a:prstGeom prst="rect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Số đơn theo trạng thái, toàn bộ dữ liệu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6720840" y="1737360"/>
          <a:ext cx="502920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9" name="Rounded Rectangle 148"/>
          <p:cNvSpPr/>
          <p:nvPr/>
        </p:nvSpPr>
        <p:spPr>
          <a:xfrm>
            <a:off x="6629400" y="4343400"/>
            <a:ext cx="5212080" cy="16459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18,8%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Gross Sales 2020 đến từ dòng có khuyến mãi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PENDING đều là đơn online đặt sát ngày trích dữ liệu: tính nhầm → doanh thu cao hơn Kế toán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 đồ số đo: 21 số đo bắt buộc, số đo sau dùng lại số đo trước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viết lại công thức: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[Net Revenue] = [Net Sales] − [Returns]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sửa một chỗ, đúng mọi nơi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 · Doanh thu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02920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02920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Discounts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02920" y="3300984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Net Sales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02920" y="3959352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Returns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02920" y="4617720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</a:p>
        </p:txBody>
      </p:sp>
      <p:sp>
        <p:nvSpPr>
          <p:cNvPr id="150" name="Right Arrow 149"/>
          <p:cNvSpPr/>
          <p:nvPr/>
        </p:nvSpPr>
        <p:spPr>
          <a:xfrm>
            <a:off x="2551176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2679191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2679191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0F6E56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 · Đơn &amp; giá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816351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Orders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816351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Units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816351" y="3300984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AOV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816351" y="3959352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ASP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816351" y="4617720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Return Rate</a:t>
            </a:r>
          </a:p>
        </p:txBody>
      </p:sp>
      <p:sp>
        <p:nvSpPr>
          <p:cNvPr id="158" name="Right Arrow 157"/>
          <p:cNvSpPr/>
          <p:nvPr/>
        </p:nvSpPr>
        <p:spPr>
          <a:xfrm>
            <a:off x="4864608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992624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4992624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 · Kế toán &amp; Δ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129784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Finance Net Revenue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5129784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Finance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129784" y="3300984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Finance %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129784" y="3959352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tuyệt đối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129784" y="4617720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Vượt ngưỡng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129784" y="527608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Số cửa hàng vượt ngưỡng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7178040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7306056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7306056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 · Quy đổi online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443216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Net Sales (cơ sở Finance)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443216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Δ sau quy đổi</a:t>
            </a:r>
          </a:p>
        </p:txBody>
      </p:sp>
      <p:sp>
        <p:nvSpPr>
          <p:cNvPr id="172" name="Right Arrow 171"/>
          <p:cNvSpPr/>
          <p:nvPr/>
        </p:nvSpPr>
        <p:spPr>
          <a:xfrm>
            <a:off x="9491472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9619488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9619488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5 · So sánh kỳ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756648" y="1984248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Net Revenue LM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56648" y="2642615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Net Revenue SPLY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756648" y="3300984"/>
            <a:ext cx="1901952" cy="54864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Net Revenue YTD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Tạo số đo trong Power Pivot; % thay đổi và câu Điểm chính bằng công thức Excel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DAX chỉ tính số;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chữ và % đặt ở ô Excel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trỏ vào các ô CUBEVALUE – dễ sửa, đúng sở trường Excel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5120640" cy="41148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1 · Hộp thoại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57200" y="1847088"/>
            <a:ext cx="4937760" cy="12801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Pivot → Measures → New Measure…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Table name: _Measures · đặt tên · gõ công thức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Check formula → chọn Format → OK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65760" y="329184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365760" y="3291840"/>
            <a:ext cx="5120640" cy="411480"/>
          </a:xfrm>
          <a:prstGeom prst="roundRect">
            <a:avLst>
              <a:gd name="adj" fmla="val 15000"/>
            </a:avLst>
          </a:prstGeom>
          <a:solidFill>
            <a:srgbClr val="0F6E56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2 · Calculation Area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0" y="3767328"/>
            <a:ext cx="4937760" cy="12801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Pivot → Manage → tab _Measures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Bấm ô trống dưới lưới, gõ Tên := công thức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Nhanh khi gõ liền nhiều số đo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525780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Khác công cụ BI chuyên dụng: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có thư mục hiển thị số đo, không có cửa sổ chạy DAX – kiểm bằng PivotTable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0" y="1371600"/>
            <a:ext cx="6172200" cy="379476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Khối ô trên sheet _pivot (đọc 4 slicer)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B2 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CUBERANKEDMEMBER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"ThisWorkbookDataModel"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,Slicer_year,1)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B3 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CUBERANKEDMEMBER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"ThisWorkbookDataModel"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,Slicer_month,1)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C2 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(B2)     C3 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(B3)     (năm, tháng dạng số)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B8  tháng trước: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(C3=1,(C2-1)*100+12,C2*100+C3-1)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B10 nhãn kỳ: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TEXT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(C3,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"00"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"/"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&amp;C2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C24 =N(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CUBEVALUE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"ThisWorkbookDataModel"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"[Measures].[Net Revenue]"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Slicer_year,Slicer_month,Slicer_channel_name,Slicer_country))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D24  … </a:t>
            </a:r>
            <a:r>
              <a:rPr sz="10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 LM]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E24  … </a:t>
            </a:r>
            <a:r>
              <a:rPr sz="10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 SPLY]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F24 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(D24=0,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,(C24-D24)/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(D24))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Câu Điểm chính = công thức Excel thường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"Net Revenue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&amp;B10&amp;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 đạt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FIXED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(C24/1000,1)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 nghìn USD —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(F24&gt;=0,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"+"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"−"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FIXED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(F24)*100,1)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"% so với tháng trước."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669280" y="5303520"/>
            <a:ext cx="6172200" cy="6858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12/2020: </a:t>
            </a: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“Net Revenue 12/2020 đạt 606,1 nghìn USD — +154,6% so với tháng trước, −73,2% so với cùng kỳ năm trước.”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nhóm doanh thu: từ Gross Sales đến Net Revenue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Lọc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order_status = "COMPLETED"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ngay trong số đo; Returns dùng quan hệ ngày trả hàng của fact_return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94944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Gross Sales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fact_sales_line[gross_amount]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tạo ở Power Query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Discounts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fact_sales_line[discount_amount]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Sales :=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[Gross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[Discounts]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Returns :=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fact_return[return_amount]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theo return_date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:=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[Returns]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543800" y="1371600"/>
            <a:ext cx="42976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543800" y="1371600"/>
            <a:ext cx="42976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635240" y="1920240"/>
            <a:ext cx="411480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gross_amount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= quantity × unit_price đã tính ở Power Query, số đo chỉ cần SUM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CALCULATE + KEEPFILTERS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thêm điều kiện COMPLETED cho mọi pivot, vẫn giữ slicer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Cú pháp Excel </a:t>
            </a: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Tên := công thức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gõ trong bảng _Measures (Power Pivot)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Returns không lọc trạng thái: mọi dòng trả hàng đều thuộc đơn COMPLETED (QC đã kiểm)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Kiểm chứng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12/2020: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640.551,11 − Discounts 24.739,37 = Net Sales 615.811,74; − Returns 9.686,67 = Net Revenue 606.125,07 USD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nhóm đơn hàng, giá và so sánh thời gian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DIVIDE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thay cho dấu /; time intelligence cần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dim_date đã Mark as date table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66928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Orders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DISTINCTCOUNT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fact_sales_line[order_number]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Units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fact_sales_line[quantity]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AOV :=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[Orders]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ASP :=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[Units]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Return Rate :=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[Returns]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0" y="1371600"/>
            <a:ext cx="5623560" cy="32461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LM :=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DATEADD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-1, MONTH )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SPLY :=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SAMEPERIODLASTYEAR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YTD :=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DATESYTD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2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% so tháng trước tính ở ô Excel: =(C24-D24)/ABS(D24)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17920" y="475488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Kiểm chứng 12/2020: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606.125, LM 238.037 → +154,6%; SPLY 2.263.415 → −73,2%; YTD 8.732.748 USD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đối soát: Finance Net Revenue, Δ, Δ% và cờ vượt ngưỡng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Cờ xét ở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tháng × cửa hàng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dùng SUMX qua từng ô thay vì so tổng của cả bảng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66928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Finance Net Revenue :=           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bỏ HQ-ADJ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fact_finance[net_revenue]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NOT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ISBLANK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fact_finance[store_key]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Δ Finance :=</a:t>
            </a:r>
          </a:p>
          <a:p>
            <a:pPr algn="l">
              <a:buNone/>
            </a:pP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[Finance Net 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Δ Finance % :=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[Finance Net 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Vượt ngưỡng :=                   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1 = ô vượt ngưỡng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&gt; 200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&amp;&amp;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 %]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&gt; 0.01,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1, 0 )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0" y="1371600"/>
            <a:ext cx="5623560" cy="30175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Số cửa hàng vượt ngưỡng :=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SUMX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CROSSJOIN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VALUES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dim_date[month_id]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   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VALUES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dim_store[store_key]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[Vượt ngưỡng]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17920" y="452628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36576" rIns="109728" bIns="36576"/>
          <a:lstStyle/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Context transition: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đo trong SUMX được tính lại cho từng cặp tháng × cửa hàng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HQ-ADJ: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store_key trống nên không thuộc ô nào; báo riêng ở tổng chuỗi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quy đổi online về ngày giao bằng USERELATIONSHIP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Nếu Δ online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biến mất sau quy đổi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thì đó là lệch thời điểm, không phải lỗi dữ liệu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76656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Sales (cơ sở Finance) :=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VAR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pos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fact_sales_line[channel_code]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"POS"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VAR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onl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fact_sales_line[channel_code]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"ONLINE"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USERELATIONSHIP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fact_sales_line[delivery_date]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             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pos + onl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Δ sau quy đổi :=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[Finance Net 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 (cơ sở Finance)]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[Returns]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360920" y="1371600"/>
            <a:ext cx="448056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360920" y="1371600"/>
            <a:ext cx="448056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52360" y="1920240"/>
            <a:ext cx="429768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USERELATIONSHIP bật quan hệ inactive delivery_date chỉ trong số đo này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KEEPFILTERS giữ lựa chọn của slicer Kênh, không ghi đè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giữ ngày đặt hàng vì Kế toán ghi POS theo ngày bán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Ví dụ 12/2020: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toàn chuỗi −12.536 USD; sau quy đổi online còn 10.276 USD → phần còn lại nằm ở kênh cửa hàng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Bố cục đề xuất 4 trang dashboard (bản tham chiếu của mentor)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Thứ tự đọc: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câu Điểm chính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thẻ KPI → biểu đồ có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tiêu đề nêu kết luận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bảng chi tiết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Tổng quan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6576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5" name="Picture 144" descr="dash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194313"/>
            <a:ext cx="2606040" cy="2286493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36576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2700">
            <a:solidFill>
              <a:srgbClr val="2E5B31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này bán được bao nhiêu, khớp Kế toán chưa?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4612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24612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9" name="Picture 148" descr="dash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39" y="2196693"/>
            <a:ext cx="2606040" cy="2281732"/>
          </a:xfrm>
          <a:prstGeom prst="rect">
            <a:avLst/>
          </a:prstGeom>
        </p:spPr>
      </p:pic>
      <p:sp>
        <p:nvSpPr>
          <p:cNvPr id="150" name="Rounded Rectangle 149"/>
          <p:cNvSpPr/>
          <p:nvPr/>
        </p:nvSpPr>
        <p:spPr>
          <a:xfrm>
            <a:off x="324612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đến từ kênh, danh mục, quốc gia nào?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2648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Đối soát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12648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3" name="Picture 152" descr="dash_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195968"/>
            <a:ext cx="2606040" cy="2283182"/>
          </a:xfrm>
          <a:prstGeom prst="rect">
            <a:avLst/>
          </a:prstGeom>
        </p:spPr>
      </p:pic>
      <p:sp>
        <p:nvSpPr>
          <p:cNvPr id="154" name="Rounded Rectangle 153"/>
          <p:cNvSpPr/>
          <p:nvPr/>
        </p:nvSpPr>
        <p:spPr>
          <a:xfrm>
            <a:off x="612648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Lệch ở cửa hàng nào, tháng nào, kênh nào?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00684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Hoàn trả &amp; chất lượng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00684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dash_s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2196693"/>
            <a:ext cx="2606040" cy="2281732"/>
          </a:xfrm>
          <a:prstGeom prst="rect">
            <a:avLst/>
          </a:prstGeom>
        </p:spPr>
      </p:pic>
      <p:sp>
        <p:nvSpPr>
          <p:cNvPr id="158" name="Rounded Rectangle 157"/>
          <p:cNvSpPr/>
          <p:nvPr/>
        </p:nvSpPr>
        <p:spPr>
          <a:xfrm>
            <a:off x="900684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8D7D7"/>
          </a:solidFill>
          <a:ln w="12700">
            <a:solidFill>
              <a:srgbClr val="C00000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Bao nhiêu doanh thu bị mất, vì sao?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Từ số đo đến dashboard Excel: Slicer, CUBEVALUE, PivotTable, biểu đồ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Ảnh ở slide trước chụp từ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dashboard Excel tham chiếu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trong Excel mỗi khối dựng bằng một trong 4 đối tượng dưới đây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Slicer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57200" y="1874519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Bộ lọc dùng chung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2286000"/>
            <a:ext cx="2514600" cy="1783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Insert → Slicer (Data Model): Năm, Tháng, Kênh, Quốc gia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Copy sang sheet khác = dùng chung bộ lọc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Report Connections: chọn pivot bị lọc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46120" y="13716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24612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CUBEVALUE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337560" y="1874519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Thẻ KPI, câu Điểm chính, tiêu đề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337560" y="2286000"/>
            <a:ext cx="2514600" cy="1783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ô = một số đo theo slicer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So tháng trước: truyền thành viên month_id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Đặt tự do, định dạng như ô thường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26480" y="13716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612648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PivotTable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217920" y="1874519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Xếp hạng, bảng chi tiết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17920" y="2286000"/>
            <a:ext cx="2514600" cy="1783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Insert → PivotTable → From Data Model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Sort giảm dần; Value Filters → Top 10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trên sheet trỏ vào pivot ở _pivot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006840" y="13716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00684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Biểu đồ thường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98280" y="1874519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Xu hướng, xếp hạng, waterfall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098280" y="2286000"/>
            <a:ext cx="2514600" cy="1783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Line, Stacked Bar/Column từ bảng phụ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Waterfall: Insert → Waterfall, Set as total</a:t>
            </a:r>
          </a:p>
          <a:p>
            <a:pPr algn="l" marL="182880" indent="-182880"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Xoá Chart Title, tiêu đề đặt ở ô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4251960"/>
            <a:ext cx="6675120" cy="173736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Số đơn tháng trước (không cần viết thêm số đo DAX)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=N(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CUBEVALUE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"ThisWorkbookDataModel"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"[Measures].[Orders]"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"[dim_date].[month_id].&amp;["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&amp;$B$8&amp;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"]"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Slicer_channel_name,Slicer_country))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Dòng so sánh trên thẻ KPI</a:t>
            </a:r>
          </a:p>
          <a:p>
            <a:pPr algn="l">
              <a:buNone/>
            </a:pP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(F25=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"–"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(F25&gt;0,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"▲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"▼ 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)&amp;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FIXED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0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(F25)*100,1)&amp;</a:t>
            </a:r>
            <a:r>
              <a:rPr sz="10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"% so với tháng trước"</a:t>
            </a:r>
            <a:r>
              <a:rPr sz="10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223760" y="4251960"/>
            <a:ext cx="4617720" cy="173736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109728" tIns="27432" bIns="27432"/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Tô màu nhấn bền: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phụ 2 cột nhấn = IF(là mục lớn nhất, giá trị, 0) và nền = phần còn lại, vẽ cột chồng</a:t>
            </a:r>
          </a:p>
          <a:p>
            <a:pPr algn="l" marL="182880" indent="-182880">
              <a:buFont typeface="Arial"/>
              <a:buChar char="•"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Xu hướng 24 tháng: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phụ CUBEVALUE theo month_id, chỉ truyền slicer Kênh và Quốc gia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Bảng dựng 4 sheet: mỗi khối hình là một đối tượng Excel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Giữ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cùng vùng ô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cho slicer (B4:Q6), Điểm chính (B7:Q9) và thẻ KPI (B11:Q14) ở cả 4 sheet để chuyển sheet không nhảy mắt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11475720" cy="38404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371600"/>
                <a:gridCol w="3291840"/>
                <a:gridCol w="4572000"/>
                <a:gridCol w="2240280"/>
              </a:tblGrid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Sheet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Điểm chính + thẻ KPI (CUBEVALUE)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Biểu đồ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Bảng (PivotTable)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Tong_quan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 · Orders · AOV · Return Rate · Δ Finance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Line 24 tháng · Waterfall Gross → Net · Orders, AOV · Δ theo tháng, đỏ = vượt (cột chồng)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Doanh_thu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Sales · Units · Tỷ trọng online · Chiết khấu / Gross Sales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Danh mục, Quốc gia (cột ngang chồng: nhấn / nền, nguồn PivotTable)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Kênh · Top 10 cửa hàng (data bar)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Doi_soat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 · Kế toán · Δ · Δ sau quy đổi · Số cửa hàng vượt ngưỡng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Phân rã Δ (Waterfall) · Δ theo tháng, đỏ = vượt (cột chồng) · Δ online (Line)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Top 10 cửa hàng theo Δ tuyệt đối, ⚠ Vượt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Hoan_tra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Returns · Return Rate · Đơn huỷ · Dòng trùng đã loại (+ đơn PENDING)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 Rate 24 tháng · Lý do, Danh mục (cột ngang chồng) · Huỷ &amp; chờ giao (Line)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365760" y="5349240"/>
            <a:ext cx="11475720" cy="6400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Sheet _pivot (ẩn khi nộp):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chứa 8 PivotTable nguồn, các ô CUBEVALUE và bảng phụ của biểu đồ; 4 sheet dashboard chỉ có slicer, thẻ KPI, biểu đồ và bảng cho người xem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Tổng quan, tháng 12/2020: Điểm chính, 5 thẻ KPI và 5 biểu đồ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Thẻ KPI =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giá trị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so với tháng trước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so với cùng kỳ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một mốc so sánh không đủ kết luận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250284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158844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5844644" y="1371600"/>
            <a:ext cx="5996835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này bán được bao nhiêu và có khớp Kế toán không?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844644" y="2377440"/>
            <a:ext cx="5996835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844644" y="2377440"/>
            <a:ext cx="5996835" cy="41148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17796" y="2834640"/>
            <a:ext cx="5850531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606,1 nghìn USD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+154,6% so với 11/2020, −73,2% so với 12/2019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đơn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310 (cùng kỳ 1.223)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nhưng </a:t>
            </a: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1.986 USD tăng +4,9% → giảm do ít đơn, không do đơn nhỏ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→ Net: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giảm giá 24,7, hoàn trả 9,7 nghìn USD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Finance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−12.536 USD (−2,11%), </a:t>
            </a: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2 ô vượt ngưỡng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chưa gồm HQ-ADJ −1.436 USD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Doanh thu, tháng 12/2020: kênh, danh mục, quốc gia, cửa hàng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Cột ngang xếp hạng: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một màu nhấn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cho mục lớn nhất, còn lại xám; ▲/▼ luôn kèm chữ, không chỉ dựa vào màu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261049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169609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5855409" y="1371600"/>
            <a:ext cx="5986070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tập trung ở đâu, kênh nào tăng?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855409" y="2377440"/>
            <a:ext cx="598607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855409" y="2377440"/>
            <a:ext cx="5986070" cy="41148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28561" y="2834640"/>
            <a:ext cx="5839766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(POS)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460,9 nghìn USD = 74,8% Net Sales; online 154,9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+272,3% so với tháng trước, POS +130,6%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Máy tính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chiếm 43,4% Net Sales – danh mục lớn nhất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 theo kênh: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2.058, online 1.801 USD/đơn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Top 10: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đọc cột Thay đổi; ô "–" là cửa hàng không bán ở kỳ so sánh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Đối soát, tháng 12/2020: Δ ở đâu và có biến mất sau quy đổi không?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Đối soát theo thứ tự: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tổng chuỗi → kênh → cửa hàng → ngày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257766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166326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5852126" y="1371600"/>
            <a:ext cx="5989353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nằm ở cửa hàng nào, tháng nào, kênh nào?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852126" y="2377440"/>
            <a:ext cx="5989353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852126" y="2377440"/>
            <a:ext cx="5989353" cy="41148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25278" y="2834640"/>
            <a:ext cx="5843049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toàn chuỗi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−12.536 USD = −2,11% trên Kế toán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−22.812 USD (−17,5%), về 0 sau khi quy về ngày giao → lệch thời điểm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S12: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Kế toán cao hơn 10.141 USD (32,7%), không đổi sau quy đổi → phải xem từng posting_date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Còn lại: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48 cửa hàng có số liệu khác đều trong ngưỡng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Mẹo: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xếp bảng theo |Δ| giảm dần, chỉ đào sâu các dòng có cờ Vượt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Hoàn trả &amp; chất lượng, tháng 12/2020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 đo bằng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điểm %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tăng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xấu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nên dùng màu đảo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261049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169609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5855409" y="1371600"/>
            <a:ext cx="5986070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có "sạch" không: trả hàng, huỷ đơn, dữ liệu lỗi?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855409" y="2377440"/>
            <a:ext cx="598607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855409" y="2377440"/>
            <a:ext cx="5986070" cy="41148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28561" y="2834640"/>
            <a:ext cx="5839766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Hoàn trả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9.687 USD, tỷ lệ 1,57%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(+0,16 điểm % so với 11/2020, −0,72 điểm % so với 12/2019)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Lý do lớn nhất: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Giao nhầm hàng (38,3% giá trị trả trong tháng)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Danh mục: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đọc tỷ lệ cùng quy mô; danh mục nhỏ dễ có tỷ lệ cao do ít đơn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Chất lượng dữ liệu: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120 dòng trùng đã loại, 29 đơn PENDING tại ngày trích (20/02/2021)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Quy trình đối soát 8 bước: từ hai nguồn đến bảng giải thích chênh lệch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nguyên nhân phải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số tiền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tổng các nguyên nhân = Δ, phần chưa giải thích = 0</a:t>
            </a:r>
          </a:p>
        </p:txBody>
      </p:sp>
      <p:pic>
        <p:nvPicPr>
          <p:cNvPr id="143" name="Picture 142" descr="03_quy_trinh_doi_so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98448"/>
            <a:ext cx="7022482" cy="4754880"/>
          </a:xfrm>
          <a:prstGeom prst="rect">
            <a:avLst/>
          </a:prstGeom>
        </p:spPr>
      </p:pic>
      <p:sp>
        <p:nvSpPr>
          <p:cNvPr id="144" name="Rounded Rectangle 143"/>
          <p:cNvSpPr/>
          <p:nvPr/>
        </p:nvSpPr>
        <p:spPr>
          <a:xfrm>
            <a:off x="7616842" y="1371600"/>
            <a:ext cx="4224637" cy="4617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616842" y="1371600"/>
            <a:ext cx="4224637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Tóm tắt 8 bước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708282" y="1901952"/>
            <a:ext cx="4041757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1.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dòng trùng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2.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Giữ đơn COMPLETED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3.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− Discounts = Net Sales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4.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 − Returns = Net Revenue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5.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Map Kế toán → store_key theo hiệu lực, tách HQ-ADJ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6.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Ghép tháng × store_key, tính Δ và Δ%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7.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Ô vượt ngưỡng: xem theo ngày và theo kênh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8.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giải thích: tổng nguyên nhân = Δ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Bảng cầu nối năm 2020: khung học viên cần điền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Hai đầu cầu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tính được từ dữ liệu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phần giữa là bài làm: mỗi dòng = một nguyên nhân + số tiền + bằng chứng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7863838" cy="4617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615558"/>
                <a:gridCol w="1536612"/>
                <a:gridCol w="2711668"/>
              </a:tblGrid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Bước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Số tiền (USD)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Bằng chứng cần đưa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 dữ liệu đơn 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8.732.748,23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Measure [Net Revenue]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Lệch thời điểm online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 online trước / sau quy về delivery_date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Hoàn tiền hạch toán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Cặp Δ trái dấu ở 2 tháng liền kề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Nguyên nhân phía Kế toán (đơn huỷ, thiếu ngày, VAT, ghi trùng…)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hàng, ngày, posting_date cụ thể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= Finance Net Revenue (cửa hàng + online)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8.797.370,41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 net_revenue đã map store_key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Điều chỉnh 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−1.435,50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Dòng fin_store_code = 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= Finance Net Revenue toàn chuỗi 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8.795.934,91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 net_revenue cả file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8458200" y="1371600"/>
            <a:ext cx="338328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8458200" y="1371600"/>
            <a:ext cx="338328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Tự kiểm tra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49640" y="1920240"/>
            <a:ext cx="320040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800"/>
              </a:spcAft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Tổng cần giải thích: </a:t>
            </a: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+64.622,18 USD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Cộng các dòng ± phải ra đúng số này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Lệch thời điểm cộng cả năm gần 0 nhưng từng tháng rất lớn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nguyên nhân phía Kế toán: ghi cửa hàng, ngày, số tiền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"ép" phần dư vào một dòng "khác"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Viết kết luận: Finding – Insight – Recommendation – Limitation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kết luận có một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con số trên dashboard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làm chỗ dựa; khuyến nghị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tương xứng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bằng chứng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Finding</a:t>
            </a:r>
          </a:p>
        </p:txBody>
      </p:sp>
      <p:sp>
        <p:nvSpPr>
          <p:cNvPr id="145" name="Oval 144"/>
          <p:cNvSpPr/>
          <p:nvPr/>
        </p:nvSpPr>
        <p:spPr>
          <a:xfrm>
            <a:off x="1325880" y="1965960"/>
            <a:ext cx="777240" cy="77724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872" y="2136952"/>
            <a:ext cx="435254" cy="435254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5720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Dữ liệu cho thấy gì, ở nhóm nào, chênh bao nhiêu, tại ngày nào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5720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online 12/2020 = −22.812 USD; về 0 khi tính theo ngày giao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24612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24612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Insight</a:t>
            </a:r>
          </a:p>
        </p:txBody>
      </p:sp>
      <p:sp>
        <p:nvSpPr>
          <p:cNvPr id="151" name="Oval 150"/>
          <p:cNvSpPr/>
          <p:nvPr/>
        </p:nvSpPr>
        <p:spPr>
          <a:xfrm>
            <a:off x="4206240" y="1965960"/>
            <a:ext cx="777240" cy="77724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232" y="2136952"/>
            <a:ext cx="435254" cy="435254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333756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Ý nghĩa với kinh doanh, không nhắc lại số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3756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online là lệch thời điểm ghi nhận, không phải doanh thu bị mất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2648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12648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Recommendation</a:t>
            </a:r>
          </a:p>
        </p:txBody>
      </p:sp>
      <p:sp>
        <p:nvSpPr>
          <p:cNvPr id="157" name="Oval 156"/>
          <p:cNvSpPr/>
          <p:nvPr/>
        </p:nvSpPr>
        <p:spPr>
          <a:xfrm>
            <a:off x="7086600" y="1965960"/>
            <a:ext cx="777240" cy="77724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7592" y="2136952"/>
            <a:ext cx="435254" cy="435254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621792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Ai làm gì, theo dõi chỉ số nào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21792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Báo cáo tháng dùng Net Revenue theo cơ sở Finance; Kế toán kiểm tra bút toán ở ô vượt ngưỡng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00684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900684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Limitation</a:t>
            </a:r>
          </a:p>
        </p:txBody>
      </p:sp>
      <p:sp>
        <p:nvSpPr>
          <p:cNvPr id="163" name="Oval 162"/>
          <p:cNvSpPr/>
          <p:nvPr/>
        </p:nvSpPr>
        <p:spPr>
          <a:xfrm>
            <a:off x="9966960" y="196596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37952" y="2136952"/>
            <a:ext cx="435254" cy="435254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09828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Giới hạn có thể ảnh hưởng kết luận và bước kiểm tra tiếp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09828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Dữ liệu đến 20/02/2021: đơn PENDING và hoàn tiền cuối tháng có thể làm số thay đổi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Báo cáo đầu ra và thang chấm điểm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Hai sản phẩm cần nộp và cấu trúc báo cáo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Báo cáo bám theo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guild_report_template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8 phần + Phụ lục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931920" cy="210312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08760"/>
            <a:ext cx="640080" cy="640080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1234440" y="1508760"/>
            <a:ext cx="2971800" cy="6400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1  File Excel (.xlsx)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2240280"/>
            <a:ext cx="3703320" cy="11887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Query + Data Model + số đo DAX; 4 sheet: Tổng quan, Doanh thu, Đối soát, Hoàn trả &amp; chất lượng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361188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749039"/>
            <a:ext cx="640080" cy="640080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1234440" y="3749039"/>
            <a:ext cx="2971800" cy="6400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  Báo cáo phân tích (PDF)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02920" y="4434840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8 phần kèm Phụ lục bảng cầu nối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65760" y="5120640"/>
            <a:ext cx="3931920" cy="9144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buFont typeface="Arial"/>
              <a:buChar char="☐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Đổi đường dẫn nguồn → Refresh All chạy được</a:t>
            </a:r>
          </a:p>
          <a:p>
            <a:pPr algn="l" marL="274320" indent="-274320">
              <a:buFont typeface="Arial"/>
              <a:buChar char="☐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trong báo cáo khớp dashboard</a:t>
            </a:r>
          </a:p>
          <a:p>
            <a:pPr algn="l" marL="274320" indent="-274320">
              <a:buFont typeface="Arial"/>
              <a:buChar char="☐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cầu nối có phần chưa giải thích = 0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526280" y="1371600"/>
            <a:ext cx="73152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Cấu trúc báo cáo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526280" y="196596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599432" y="20574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56632" y="2002536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Problem &amp; Analytical Questions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99432" y="2560320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Vì sao số Sales ≠ Kế toán; 2–4 câu hỏi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995160" y="196596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068312" y="20574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525512" y="2002536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Data &amp; Preparation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68312" y="2560320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Nguồn, phạm vi, làm sạch, số dòng QC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464040" y="196596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9537192" y="20574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III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994392" y="2002536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Exploratory Analysis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537192" y="2560320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Xu hướng, kênh, danh mục, hoàn trả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526280" y="331012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4599432" y="3401568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IV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056632" y="3346704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Main Analysis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99432" y="3904488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Đối soát tháng × cửa hàng × kênh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995160" y="331012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7068312" y="3401568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525512" y="3346704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Key Findings &amp; Insights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068312" y="3904488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Nguyên nhân + số tiền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464040" y="331012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537192" y="3401568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VI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994392" y="3346704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Recommendations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537192" y="3904488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Ai làm gì với Kế toán, cửa hàng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526280" y="4654296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4599432" y="4745736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VII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056632" y="4690872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Limitations &amp; Next Steps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99432" y="5248656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As-of, PENDING, giả định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6995160" y="4654296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068312" y="4745736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VIII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525512" y="4690872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References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068312" y="5248656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Nguồn dữ liệu, tài liệu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464040" y="4654296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537192" y="4745736"/>
            <a:ext cx="411480" cy="41148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994392" y="4690872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Phụ lục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537192" y="5248656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Bảng cầu nối, danh sách ô vượt ngưỡng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Báo cáo đầu ra và thang chấm điểm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Thang chấm điểm 100 điểm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Rubric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100 điểm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40 kỹ thuật · 40 báo cáo · 20 sáng tạo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40 điểm</a:t>
            </a:r>
          </a:p>
          <a:p>
            <a:pPr algn="ctr">
              <a:buNone/>
            </a:pPr>
            <a:r>
              <a:rPr sz="13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Kỹ thuật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65760" y="2331720"/>
            <a:ext cx="3566160" cy="3657600"/>
          </a:xfrm>
          <a:prstGeom prst="roundRect">
            <a:avLst>
              <a:gd name="adj" fmla="val 4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2423160"/>
            <a:ext cx="3383279" cy="35204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Power Query &amp; mô hình (10)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Query đúng thứ tự, bỏ trùng, map theo hiệu lực; quan hệ, Date Table</a:t>
            </a:r>
          </a:p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DAX (12)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KPI khớp số kiểm tra; Δ, cờ, quy đổi online</a:t>
            </a:r>
          </a:p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Dashboard 4 sheet Excel (12)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Thẻ CUBEVALUE, Pivot, biểu đồ đủ; slicer dùng chung</a:t>
            </a:r>
          </a:p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Trải nghiệm (6)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vị, caption, màu, điều hướng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091940" y="1371600"/>
            <a:ext cx="4846320" cy="868680"/>
          </a:xfrm>
          <a:prstGeom prst="roundRect">
            <a:avLst>
              <a:gd name="adj" fmla="val 10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40 điểm</a:t>
            </a:r>
          </a:p>
          <a:p>
            <a:pPr algn="ctr">
              <a:buNone/>
            </a:pPr>
            <a:r>
              <a:rPr sz="13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Báo cáo phân tích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091940" y="2331720"/>
            <a:ext cx="4846320" cy="3657600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183380" y="2423160"/>
            <a:ext cx="4663440" cy="35204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Cấu trúc 8 phần (8)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template, từ câu hỏi đến kết luận</a:t>
            </a:r>
          </a:p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Đối soát (16)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Giải thích mọi ô vượt ngưỡng; cầu nối còn lại = 0</a:t>
            </a:r>
          </a:p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Lập luận (10)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Finding → Insight → Recommendation có số làm chỗ dựa</a:t>
            </a:r>
          </a:p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Giới hạn (6)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As-of, PENDING, giả định ghi nhận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098280" y="137160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20 điểm</a:t>
            </a:r>
          </a:p>
          <a:p>
            <a:pPr algn="ctr">
              <a:buNone/>
            </a:pPr>
            <a:r>
              <a:rPr sz="13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Sáng tạo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098280" y="2331720"/>
            <a:ext cx="2743200" cy="3657600"/>
          </a:xfrm>
          <a:prstGeom prst="roundRect">
            <a:avLst>
              <a:gd name="adj" fmla="val 4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189719" y="2423160"/>
            <a:ext cx="2560320" cy="35204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buClr>
                <a:srgbClr val="C55A11"/>
              </a:buClr>
              <a:buFont typeface="Arial"/>
              <a:buChar char="•"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Vượt gợi ý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Sheet chi tiết cửa hàng – ngày, Show Details</a:t>
            </a:r>
          </a:p>
          <a:p>
            <a:pPr algn="l" marL="182880" indent="-182880">
              <a:buClr>
                <a:srgbClr val="C55A11"/>
              </a:buClr>
              <a:buFont typeface="Arial"/>
              <a:buChar char="•"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Bảng bổ sung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fx_rate, unit_cost, dim_customer</a:t>
            </a:r>
          </a:p>
          <a:p>
            <a:pPr algn="l" marL="182880" indent="-182880">
              <a:buClr>
                <a:srgbClr val="C55A11"/>
              </a:buClr>
              <a:buFont typeface="Arial"/>
              <a:buChar char="•"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Cảnh báo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dõi ô vượt ngưỡng hằng tháng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377440"/>
            <a:ext cx="54864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5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Hỏi &amp; đáp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5486400" cy="9144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8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Sales Project 1 · Kết quả bán hàng và đối soát doanh thu</a:t>
            </a:r>
          </a:p>
        </p:txBody>
      </p:sp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16730</Words>
  <Application>Microsoft Office PowerPoint</Application>
  <PresentationFormat>Widescreen</PresentationFormat>
  <Paragraphs>1273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Algerian</vt:lpstr>
      <vt:lpstr>Arial</vt:lpstr>
      <vt:lpstr>Calibri</vt:lpstr>
      <vt:lpstr>Courier New</vt:lpstr>
      <vt:lpstr>Noto Sans Symbols</vt:lpstr>
      <vt:lpstr>Times New Roman</vt:lpstr>
      <vt:lpstr>Wingdings</vt:lpstr>
      <vt:lpstr>Office Theme</vt:lpstr>
      <vt:lpstr>EDA MENTORSHIP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Huy Vu Quang &lt;CV-SME-MASS.CB&gt;</cp:lastModifiedBy>
  <cp:revision>3</cp:revision>
  <dcterms:modified xsi:type="dcterms:W3CDTF">2026-10-10T00:34:38Z</dcterms:modified>
  <dc:title>Sales Project 1 – Kết quả bán hàng và đối soát doanh thu</dc:title>
  <dc:subject>EDA Mentorship – Nexa Home</dc:subject>
  <dc:creator>EDA Mentorship</dc:creator>
</cp:coreProperties>
</file>