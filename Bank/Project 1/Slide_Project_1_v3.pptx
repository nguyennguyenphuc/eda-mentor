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32.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33.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34.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30" r:id="rId54"/>
    <p:sldId id="331" r:id="rId55"/>
    <p:sldId id="332" r:id="rId56"/>
    <p:sldId id="333" r:id="rId57"/>
    <p:sldId id="334" r:id="rId58"/>
    <p:sldId id="287" r:id="rId5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Giá trị</c:v>
                </c:pt>
              </c:strCache>
            </c:strRef>
          </c:tx>
          <c:spPr>
            <a:solidFill>
              <a:srgbClr val="2E5B31"/>
            </a:solidFill>
          </c:spPr>
          <c:invertIfNegative val="1"/>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 1</c:v>
                </c:pt>
                <c:pt idx="1">
                  <c:v>1 – 5</c:v>
                </c:pt>
                <c:pt idx="2">
                  <c:v>5 – 20</c:v>
                </c:pt>
                <c:pt idx="3">
                  <c:v>20 – 100</c:v>
                </c:pt>
                <c:pt idx="4">
                  <c:v>&gt; 100</c:v>
                </c:pt>
              </c:strCache>
            </c:strRef>
          </c:cat>
          <c:val>
            <c:numRef>
              <c:f>Sheet1!$B$2:$B$6</c:f>
              <c:numCache>
                <c:formatCode>General</c:formatCode>
                <c:ptCount val="5"/>
                <c:pt idx="0">
                  <c:v>3049</c:v>
                </c:pt>
                <c:pt idx="1">
                  <c:v>4429</c:v>
                </c:pt>
                <c:pt idx="2">
                  <c:v>2592</c:v>
                </c:pt>
                <c:pt idx="3">
                  <c:v>888</c:v>
                </c:pt>
                <c:pt idx="4">
                  <c:v>115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00-4B68-840F-7AB73401230E}"/>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Tỷ trọng dư nợ lũy kế (%)</c:v>
                </c:pt>
              </c:strCache>
            </c:strRef>
          </c:tx>
          <c:spPr>
            <a:ln w="28575">
              <a:solidFill>
                <a:srgbClr val="123A7A"/>
              </a:solidFill>
            </a:ln>
          </c:spPr>
          <c:marker>
            <c:symbol val="diamond"/>
            <c:size val="5"/>
            <c:spPr>
              <a:solidFill>
                <a:srgbClr val="123A7A"/>
              </a:solidFill>
              <a:ln>
                <a:solidFill>
                  <a:srgbClr val="123A7A"/>
                </a:solidFill>
              </a:ln>
            </c:spPr>
          </c:marker>
          <c:cat>
            <c:strRef>
              <c:f>Sheet1!$A$2:$A$22</c:f>
              <c:strCache>
                <c:ptCount val="21"/>
                <c:pt idx="0">
                  <c:v>0%</c:v>
                </c:pt>
                <c:pt idx="2">
                  <c:v>10%</c:v>
                </c:pt>
                <c:pt idx="4">
                  <c:v>20%</c:v>
                </c:pt>
                <c:pt idx="6">
                  <c:v>30%</c:v>
                </c:pt>
                <c:pt idx="8">
                  <c:v>40%</c:v>
                </c:pt>
                <c:pt idx="10">
                  <c:v>50%</c:v>
                </c:pt>
                <c:pt idx="12">
                  <c:v>60%</c:v>
                </c:pt>
                <c:pt idx="14">
                  <c:v>70%</c:v>
                </c:pt>
                <c:pt idx="16">
                  <c:v>80%</c:v>
                </c:pt>
                <c:pt idx="18">
                  <c:v>90%</c:v>
                </c:pt>
                <c:pt idx="20">
                  <c:v>100%</c:v>
                </c:pt>
              </c:strCache>
            </c:strRef>
          </c:cat>
          <c:val>
            <c:numRef>
              <c:f>Sheet1!$B$2:$B$22</c:f>
              <c:numCache>
                <c:formatCode>General</c:formatCode>
                <c:ptCount val="21"/>
                <c:pt idx="0">
                  <c:v>2.2000000000000002</c:v>
                </c:pt>
                <c:pt idx="1">
                  <c:v>54.7</c:v>
                </c:pt>
                <c:pt idx="2">
                  <c:v>67.7</c:v>
                </c:pt>
                <c:pt idx="3">
                  <c:v>75.5</c:v>
                </c:pt>
                <c:pt idx="4">
                  <c:v>80.8</c:v>
                </c:pt>
                <c:pt idx="5">
                  <c:v>84.7</c:v>
                </c:pt>
                <c:pt idx="6">
                  <c:v>87.8</c:v>
                </c:pt>
                <c:pt idx="7">
                  <c:v>90.2</c:v>
                </c:pt>
                <c:pt idx="8">
                  <c:v>92.2</c:v>
                </c:pt>
                <c:pt idx="9">
                  <c:v>93.8</c:v>
                </c:pt>
                <c:pt idx="10">
                  <c:v>95.2</c:v>
                </c:pt>
                <c:pt idx="11">
                  <c:v>96.3</c:v>
                </c:pt>
                <c:pt idx="12">
                  <c:v>97.2</c:v>
                </c:pt>
                <c:pt idx="13">
                  <c:v>98</c:v>
                </c:pt>
                <c:pt idx="14">
                  <c:v>98.6</c:v>
                </c:pt>
                <c:pt idx="15">
                  <c:v>99</c:v>
                </c:pt>
                <c:pt idx="16">
                  <c:v>99.4</c:v>
                </c:pt>
                <c:pt idx="17">
                  <c:v>99.7</c:v>
                </c:pt>
                <c:pt idx="18">
                  <c:v>99.9</c:v>
                </c:pt>
                <c:pt idx="19">
                  <c:v>100</c:v>
                </c:pt>
                <c:pt idx="20">
                  <c:v>100</c:v>
                </c:pt>
              </c:numCache>
            </c:numRef>
          </c:val>
          <c:smooth val="0"/>
          <c:extLst>
            <c:ext xmlns:c16="http://schemas.microsoft.com/office/drawing/2014/chart" uri="{C3380CC4-5D6E-409C-BE32-E72D297353CC}">
              <c16:uniqueId val="{00000000-F4A0-4CF7-B616-5D8BE05ACF4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a:defRPr sz="1000"/>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E3E3E3"/>
              </a:solidFill>
            </a:ln>
          </c:spPr>
        </c:majorGridlines>
        <c:numFmt formatCode="0" sourceLinked="0"/>
        <c:majorTickMark val="out"/>
        <c:minorTickMark val="none"/>
        <c:tickLblPos val="nextTo"/>
        <c:txPr>
          <a:bodyPr/>
          <a:lstStyle/>
          <a:p>
            <a:pPr>
              <a:defRPr sz="1000"/>
            </a:pPr>
            <a:endParaRPr lang="en-US"/>
          </a:p>
        </c:txPr>
        <c:crossAx val="2118791784"/>
        <c:crosses val="autoZero"/>
        <c:crossBetween val="between"/>
      </c:valAx>
    </c:plotArea>
    <c:plotVisOnly val="1"/>
    <c:dispBlanksAs val="gap"/>
    <c:showDLblsOverMax val="0"/>
  </c:chart>
  <c:txPr>
    <a:bodyPr/>
    <a:lstStyle/>
    <a:p>
      <a:pPr>
        <a:defRPr sz="1000">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Giá trị</c:v>
                </c:pt>
              </c:strCache>
            </c:strRef>
          </c:tx>
          <c:spPr>
            <a:solidFill>
              <a:srgbClr val="C55A11"/>
            </a:solidFill>
          </c:spPr>
          <c:invertIfNegative val="1"/>
          <c:dPt>
            <c:idx val="0"/>
            <c:invertIfNegative val="1"/>
            <c:bubble3D val="0"/>
            <c:spPr>
              <a:solidFill>
                <a:srgbClr val="C00000"/>
              </a:solidFill>
            </c:spPr>
            <c:extLst>
              <c:ext xmlns:c16="http://schemas.microsoft.com/office/drawing/2014/chart" uri="{C3380CC4-5D6E-409C-BE32-E72D297353CC}">
                <c16:uniqueId val="{00000001-4D0F-4C47-891D-587249B6ACE4}"/>
              </c:ext>
            </c:extLst>
          </c:dPt>
          <c:dPt>
            <c:idx val="1"/>
            <c:invertIfNegative val="1"/>
            <c:bubble3D val="0"/>
            <c:extLst>
              <c:ext xmlns:c16="http://schemas.microsoft.com/office/drawing/2014/chart" uri="{C3380CC4-5D6E-409C-BE32-E72D297353CC}">
                <c16:uniqueId val="{00000003-4D0F-4C47-891D-587249B6ACE4}"/>
              </c:ext>
            </c:extLst>
          </c:dPt>
          <c:dPt>
            <c:idx val="2"/>
            <c:invertIfNegative val="1"/>
            <c:bubble3D val="0"/>
            <c:extLst>
              <c:ext xmlns:c16="http://schemas.microsoft.com/office/drawing/2014/chart" uri="{C3380CC4-5D6E-409C-BE32-E72D297353CC}">
                <c16:uniqueId val="{00000005-4D0F-4C47-891D-587249B6ACE4}"/>
              </c:ext>
            </c:extLst>
          </c:dPt>
          <c:dPt>
            <c:idx val="3"/>
            <c:invertIfNegative val="1"/>
            <c:bubble3D val="0"/>
            <c:extLst>
              <c:ext xmlns:c16="http://schemas.microsoft.com/office/drawing/2014/chart" uri="{C3380CC4-5D6E-409C-BE32-E72D297353CC}">
                <c16:uniqueId val="{00000007-4D0F-4C47-891D-587249B6ACE4}"/>
              </c:ext>
            </c:extLst>
          </c:dPt>
          <c:dPt>
            <c:idx val="4"/>
            <c:invertIfNegative val="1"/>
            <c:bubble3D val="0"/>
            <c:extLst>
              <c:ext xmlns:c16="http://schemas.microsoft.com/office/drawing/2014/chart" uri="{C3380CC4-5D6E-409C-BE32-E72D297353CC}">
                <c16:uniqueId val="{00000009-4D0F-4C47-891D-587249B6ACE4}"/>
              </c:ext>
            </c:extLst>
          </c:dPt>
          <c:dPt>
            <c:idx val="5"/>
            <c:invertIfNegative val="1"/>
            <c:bubble3D val="0"/>
            <c:extLst>
              <c:ext xmlns:c16="http://schemas.microsoft.com/office/drawing/2014/chart" uri="{C3380CC4-5D6E-409C-BE32-E72D297353CC}">
                <c16:uniqueId val="{0000000B-4D0F-4C47-891D-587249B6ACE4}"/>
              </c:ext>
            </c:extLst>
          </c:dPt>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&lt; 0</c:v>
                </c:pt>
                <c:pt idx="1">
                  <c:v>0 – 1</c:v>
                </c:pt>
                <c:pt idx="2">
                  <c:v>1 – 5</c:v>
                </c:pt>
                <c:pt idx="3">
                  <c:v>5 – 10</c:v>
                </c:pt>
                <c:pt idx="4">
                  <c:v>10 – 30</c:v>
                </c:pt>
                <c:pt idx="5">
                  <c:v>&gt; 30</c:v>
                </c:pt>
              </c:strCache>
            </c:strRef>
          </c:cat>
          <c:val>
            <c:numRef>
              <c:f>Sheet1!$B$2:$B$7</c:f>
              <c:numCache>
                <c:formatCode>General</c:formatCode>
                <c:ptCount val="6"/>
                <c:pt idx="0">
                  <c:v>346</c:v>
                </c:pt>
                <c:pt idx="1">
                  <c:v>1700</c:v>
                </c:pt>
                <c:pt idx="2">
                  <c:v>4142</c:v>
                </c:pt>
                <c:pt idx="3">
                  <c:v>2194</c:v>
                </c:pt>
                <c:pt idx="4">
                  <c:v>2296</c:v>
                </c:pt>
                <c:pt idx="5">
                  <c:v>1095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4D0F-4C47-891D-587249B6ACE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Giá trị</c:v>
                </c:pt>
              </c:strCache>
            </c:strRef>
          </c:tx>
          <c:spPr>
            <a:solidFill>
              <a:srgbClr val="123A7A"/>
            </a:solidFill>
          </c:spPr>
          <c:invertIfNegative val="1"/>
          <c:dPt>
            <c:idx val="0"/>
            <c:invertIfNegative val="1"/>
            <c:bubble3D val="0"/>
            <c:extLst>
              <c:ext xmlns:c16="http://schemas.microsoft.com/office/drawing/2014/chart" uri="{C3380CC4-5D6E-409C-BE32-E72D297353CC}">
                <c16:uniqueId val="{00000001-12FC-4488-82E2-5B53BE2A6615}"/>
              </c:ext>
            </c:extLst>
          </c:dPt>
          <c:dPt>
            <c:idx val="1"/>
            <c:invertIfNegative val="1"/>
            <c:bubble3D val="0"/>
            <c:extLst>
              <c:ext xmlns:c16="http://schemas.microsoft.com/office/drawing/2014/chart" uri="{C3380CC4-5D6E-409C-BE32-E72D297353CC}">
                <c16:uniqueId val="{00000003-12FC-4488-82E2-5B53BE2A6615}"/>
              </c:ext>
            </c:extLst>
          </c:dPt>
          <c:dPt>
            <c:idx val="2"/>
            <c:invertIfNegative val="1"/>
            <c:bubble3D val="0"/>
            <c:spPr>
              <a:solidFill>
                <a:srgbClr val="5B9BD5"/>
              </a:solidFill>
            </c:spPr>
            <c:extLst>
              <c:ext xmlns:c16="http://schemas.microsoft.com/office/drawing/2014/chart" uri="{C3380CC4-5D6E-409C-BE32-E72D297353CC}">
                <c16:uniqueId val="{00000005-12FC-4488-82E2-5B53BE2A6615}"/>
              </c:ext>
            </c:extLst>
          </c:dPt>
          <c:dPt>
            <c:idx val="3"/>
            <c:invertIfNegative val="1"/>
            <c:bubble3D val="0"/>
            <c:spPr>
              <a:solidFill>
                <a:srgbClr val="5B9BD5"/>
              </a:solidFill>
            </c:spPr>
            <c:extLst>
              <c:ext xmlns:c16="http://schemas.microsoft.com/office/drawing/2014/chart" uri="{C3380CC4-5D6E-409C-BE32-E72D297353CC}">
                <c16:uniqueId val="{00000007-12FC-4488-82E2-5B53BE2A6615}"/>
              </c:ext>
            </c:extLst>
          </c:dPt>
          <c:dPt>
            <c:idx val="4"/>
            <c:invertIfNegative val="1"/>
            <c:bubble3D val="0"/>
            <c:spPr>
              <a:solidFill>
                <a:srgbClr val="5B9BD5"/>
              </a:solidFill>
            </c:spPr>
            <c:extLst>
              <c:ext xmlns:c16="http://schemas.microsoft.com/office/drawing/2014/chart" uri="{C3380CC4-5D6E-409C-BE32-E72D297353CC}">
                <c16:uniqueId val="{00000009-12FC-4488-82E2-5B53BE2A6615}"/>
              </c:ext>
            </c:extLst>
          </c:dPt>
          <c:dLbls>
            <c:numFmt formatCode="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VND</c:v>
                </c:pt>
                <c:pt idx="1">
                  <c:v>USD</c:v>
                </c:pt>
                <c:pt idx="2">
                  <c:v>Ngắn hạn</c:v>
                </c:pt>
                <c:pt idx="3">
                  <c:v>Trung dài hạn</c:v>
                </c:pt>
                <c:pt idx="4">
                  <c:v>Thấu chi</c:v>
                </c:pt>
              </c:strCache>
            </c:strRef>
          </c:cat>
          <c:val>
            <c:numRef>
              <c:f>Sheet1!$B$2:$B$6</c:f>
              <c:numCache>
                <c:formatCode>General</c:formatCode>
                <c:ptCount val="5"/>
                <c:pt idx="0">
                  <c:v>11</c:v>
                </c:pt>
                <c:pt idx="1">
                  <c:v>5.3</c:v>
                </c:pt>
                <c:pt idx="2">
                  <c:v>9.1999999999999993</c:v>
                </c:pt>
                <c:pt idx="3">
                  <c:v>12.5</c:v>
                </c:pt>
                <c:pt idx="4">
                  <c:v>10.8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12FC-4488-82E2-5B53BE2A6615}"/>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FBFBF"/>
            </a:solidFill>
          </a:ln>
        </c:spPr>
        <c:txPr>
          <a:bodyPr/>
          <a:lstStyle/>
          <a:p>
            <a:pPr>
              <a:defRPr sz="1100"/>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Times New Roman"/>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Tỷ trọng</c:v>
                </c:pt>
              </c:strCache>
            </c:strRef>
          </c:tx>
          <c:dPt>
            <c:idx val="0"/>
            <c:bubble3D val="0"/>
            <c:spPr>
              <a:solidFill>
                <a:srgbClr val="2B4F18"/>
              </a:solidFill>
            </c:spPr>
            <c:extLst>
              <c:ext xmlns:c16="http://schemas.microsoft.com/office/drawing/2014/chart" uri="{C3380CC4-5D6E-409C-BE32-E72D297353CC}">
                <c16:uniqueId val="{00000001-F496-43B7-A062-20CDB35E3ABA}"/>
              </c:ext>
            </c:extLst>
          </c:dPt>
          <c:dPt>
            <c:idx val="1"/>
            <c:bubble3D val="0"/>
            <c:spPr>
              <a:solidFill>
                <a:srgbClr val="5E9B3A"/>
              </a:solidFill>
            </c:spPr>
            <c:extLst>
              <c:ext xmlns:c16="http://schemas.microsoft.com/office/drawing/2014/chart" uri="{C3380CC4-5D6E-409C-BE32-E72D297353CC}">
                <c16:uniqueId val="{00000003-F496-43B7-A062-20CDB35E3ABA}"/>
              </c:ext>
            </c:extLst>
          </c:dPt>
          <c:dPt>
            <c:idx val="2"/>
            <c:bubble3D val="0"/>
            <c:spPr>
              <a:solidFill>
                <a:srgbClr val="A9CF8A"/>
              </a:solidFill>
            </c:spPr>
            <c:extLst>
              <c:ext xmlns:c16="http://schemas.microsoft.com/office/drawing/2014/chart" uri="{C3380CC4-5D6E-409C-BE32-E72D297353CC}">
                <c16:uniqueId val="{00000005-F496-43B7-A062-20CDB35E3ABA}"/>
              </c:ext>
            </c:extLst>
          </c:dPt>
          <c:dPt>
            <c:idx val="3"/>
            <c:bubble3D val="0"/>
            <c:spPr>
              <a:solidFill>
                <a:srgbClr val="3E8E6A"/>
              </a:solidFill>
            </c:spPr>
            <c:extLst>
              <c:ext xmlns:c16="http://schemas.microsoft.com/office/drawing/2014/chart" uri="{C3380CC4-5D6E-409C-BE32-E72D297353CC}">
                <c16:uniqueId val="{00000007-F496-43B7-A062-20CDB35E3ABA}"/>
              </c:ext>
            </c:extLst>
          </c:dPt>
          <c:dPt>
            <c:idx val="4"/>
            <c:bubble3D val="0"/>
            <c:spPr>
              <a:solidFill>
                <a:srgbClr val="86B85F"/>
              </a:solidFill>
            </c:spPr>
            <c:extLst>
              <c:ext xmlns:c16="http://schemas.microsoft.com/office/drawing/2014/chart" uri="{C3380CC4-5D6E-409C-BE32-E72D297353CC}">
                <c16:uniqueId val="{00000009-F496-43B7-A062-20CDB35E3ABA}"/>
              </c:ext>
            </c:extLst>
          </c:dPt>
          <c:dPt>
            <c:idx val="5"/>
            <c:bubble3D val="0"/>
            <c:spPr>
              <a:solidFill>
                <a:srgbClr val="E8D48A"/>
              </a:solidFill>
            </c:spPr>
            <c:extLst>
              <c:ext xmlns:c16="http://schemas.microsoft.com/office/drawing/2014/chart" uri="{C3380CC4-5D6E-409C-BE32-E72D297353CC}">
                <c16:uniqueId val="{0000000B-F496-43B7-A062-20CDB35E3ABA}"/>
              </c:ext>
            </c:extLst>
          </c:dPt>
          <c:dPt>
            <c:idx val="6"/>
            <c:bubble3D val="0"/>
            <c:spPr>
              <a:solidFill>
                <a:srgbClr val="EBDDB0"/>
              </a:solidFill>
            </c:spPr>
            <c:extLst>
              <c:ext xmlns:c16="http://schemas.microsoft.com/office/drawing/2014/chart" uri="{C3380CC4-5D6E-409C-BE32-E72D297353CC}">
                <c16:uniqueId val="{0000000D-F496-43B7-A062-20CDB35E3ABA}"/>
              </c:ext>
            </c:extLst>
          </c:dPt>
          <c:dLbls>
            <c:dLbl>
              <c:idx val="0"/>
              <c:spPr/>
              <c:txPr>
                <a:bodyPr/>
                <a:lstStyle/>
                <a:p>
                  <a:pPr>
                    <a:defRPr sz="11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496-43B7-A062-20CDB35E3ABA}"/>
                </c:ext>
              </c:extLst>
            </c:dLbl>
            <c:dLbl>
              <c:idx val="1"/>
              <c:spPr/>
              <c:txPr>
                <a:bodyPr/>
                <a:lstStyle/>
                <a:p>
                  <a:pPr>
                    <a:defRPr sz="11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496-43B7-A062-20CDB35E3ABA}"/>
                </c:ext>
              </c:extLst>
            </c:dLbl>
            <c:dLbl>
              <c:idx val="2"/>
              <c:spPr/>
              <c:txPr>
                <a:bodyPr/>
                <a:lstStyle/>
                <a:p>
                  <a:pPr>
                    <a:defRPr sz="11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496-43B7-A062-20CDB35E3ABA}"/>
                </c:ext>
              </c:extLst>
            </c:dLbl>
            <c:dLbl>
              <c:idx val="3"/>
              <c:spPr/>
              <c:txPr>
                <a:bodyPr/>
                <a:lstStyle/>
                <a:p>
                  <a:pPr>
                    <a:defRPr sz="11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496-43B7-A062-20CDB35E3ABA}"/>
                </c:ext>
              </c:extLst>
            </c:dLbl>
            <c:dLbl>
              <c:idx val="4"/>
              <c:spPr/>
              <c:txPr>
                <a:bodyPr/>
                <a:lstStyle/>
                <a:p>
                  <a:pPr>
                    <a:defRPr sz="11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496-43B7-A062-20CDB35E3ABA}"/>
                </c:ext>
              </c:extLst>
            </c:dLbl>
            <c:dLbl>
              <c:idx val="5"/>
              <c:spPr/>
              <c:txPr>
                <a:bodyPr/>
                <a:lstStyle/>
                <a:p>
                  <a:pPr>
                    <a:defRPr sz="11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496-43B7-A062-20CDB35E3ABA}"/>
                </c:ext>
              </c:extLst>
            </c:dLbl>
            <c:dLbl>
              <c:idx val="6"/>
              <c:spPr/>
              <c:txPr>
                <a:bodyPr/>
                <a:lstStyle/>
                <a:p>
                  <a:pPr>
                    <a:defRPr sz="11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F496-43B7-A062-20CDB35E3AB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Sheet1!$A$2:$A$8</c:f>
              <c:strCache>
                <c:ptCount val="7"/>
                <c:pt idx="0">
                  <c:v>BIGCORP 1</c:v>
                </c:pt>
                <c:pt idx="1">
                  <c:v>MICRO</c:v>
                </c:pt>
                <c:pt idx="2">
                  <c:v>UPPER 1</c:v>
                </c:pt>
                <c:pt idx="3">
                  <c:v>SMALL</c:v>
                </c:pt>
                <c:pt idx="4">
                  <c:v>MEDIUM 2</c:v>
                </c:pt>
                <c:pt idx="5">
                  <c:v>MEDIUM 1</c:v>
                </c:pt>
                <c:pt idx="6">
                  <c:v>UPPER 2</c:v>
                </c:pt>
              </c:strCache>
            </c:strRef>
          </c:cat>
          <c:val>
            <c:numRef>
              <c:f>Sheet1!$B$2:$B$8</c:f>
              <c:numCache>
                <c:formatCode>General</c:formatCode>
                <c:ptCount val="7"/>
                <c:pt idx="0">
                  <c:v>21.4</c:v>
                </c:pt>
                <c:pt idx="1">
                  <c:v>20.2</c:v>
                </c:pt>
                <c:pt idx="2">
                  <c:v>15.7</c:v>
                </c:pt>
                <c:pt idx="3">
                  <c:v>14.2</c:v>
                </c:pt>
                <c:pt idx="4">
                  <c:v>10.8</c:v>
                </c:pt>
                <c:pt idx="5">
                  <c:v>10.6</c:v>
                </c:pt>
                <c:pt idx="6">
                  <c:v>7</c:v>
                </c:pt>
              </c:numCache>
            </c:numRef>
          </c:val>
          <c:extLst>
            <c:ext xmlns:c16="http://schemas.microsoft.com/office/drawing/2014/chart" uri="{C3380CC4-5D6E-409C-BE32-E72D297353CC}">
              <c16:uniqueId val="{0000000E-F496-43B7-A062-20CDB35E3ABA}"/>
            </c:ext>
          </c:extLst>
        </c:ser>
        <c:dLbls>
          <c:dLblPos val="inEnd"/>
          <c:showLegendKey val="0"/>
          <c:showVal val="1"/>
          <c:showCatName val="0"/>
          <c:showSerName val="0"/>
          <c:showPercent val="0"/>
          <c:showBubbleSize val="0"/>
          <c:showLeaderLines val="1"/>
        </c:dLbls>
        <c:firstSliceAng val="0"/>
      </c:pieChart>
    </c:plotArea>
    <c:legend>
      <c:legendPos val="b"/>
      <c:overlay val="0"/>
      <c:txPr>
        <a:bodyPr/>
        <a:lstStyle/>
        <a:p>
          <a:pPr>
            <a:defRPr sz="1100"/>
          </a:pPr>
          <a:endParaRPr lang="en-US"/>
        </a:p>
      </c:txPr>
    </c:legend>
    <c:plotVisOnly val="1"/>
    <c:dispBlanksAs val="gap"/>
    <c:showDLblsOverMax val="1"/>
  </c:chart>
  <c:txPr>
    <a:bodyPr/>
    <a:lstStyle/>
    <a:p>
      <a:pPr>
        <a:defRPr sz="1100">
          <a:latin typeface="Times New Roman"/>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Tỷ trọng</c:v>
                </c:pt>
              </c:strCache>
            </c:strRef>
          </c:tx>
          <c:dPt>
            <c:idx val="0"/>
            <c:bubble3D val="0"/>
            <c:spPr>
              <a:solidFill>
                <a:srgbClr val="2B4F18"/>
              </a:solidFill>
            </c:spPr>
            <c:extLst>
              <c:ext xmlns:c16="http://schemas.microsoft.com/office/drawing/2014/chart" uri="{C3380CC4-5D6E-409C-BE32-E72D297353CC}">
                <c16:uniqueId val="{00000001-2E82-41CD-90D6-135BE7AB2AE1}"/>
              </c:ext>
            </c:extLst>
          </c:dPt>
          <c:dPt>
            <c:idx val="1"/>
            <c:bubble3D val="0"/>
            <c:spPr>
              <a:solidFill>
                <a:srgbClr val="5E9B3A"/>
              </a:solidFill>
            </c:spPr>
            <c:extLst>
              <c:ext xmlns:c16="http://schemas.microsoft.com/office/drawing/2014/chart" uri="{C3380CC4-5D6E-409C-BE32-E72D297353CC}">
                <c16:uniqueId val="{00000003-2E82-41CD-90D6-135BE7AB2AE1}"/>
              </c:ext>
            </c:extLst>
          </c:dPt>
          <c:dPt>
            <c:idx val="2"/>
            <c:bubble3D val="0"/>
            <c:spPr>
              <a:solidFill>
                <a:srgbClr val="A9CF8A"/>
              </a:solidFill>
            </c:spPr>
            <c:extLst>
              <c:ext xmlns:c16="http://schemas.microsoft.com/office/drawing/2014/chart" uri="{C3380CC4-5D6E-409C-BE32-E72D297353CC}">
                <c16:uniqueId val="{00000005-2E82-41CD-90D6-135BE7AB2AE1}"/>
              </c:ext>
            </c:extLst>
          </c:dPt>
          <c:dLbls>
            <c:dLbl>
              <c:idx val="0"/>
              <c:spPr/>
              <c:txPr>
                <a:bodyPr/>
                <a:lstStyle/>
                <a:p>
                  <a:pPr>
                    <a:defRPr sz="10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E82-41CD-90D6-135BE7AB2AE1}"/>
                </c:ext>
              </c:extLst>
            </c:dLbl>
            <c:dLbl>
              <c:idx val="1"/>
              <c:spPr/>
              <c:txPr>
                <a:bodyPr/>
                <a:lstStyle/>
                <a:p>
                  <a:pPr>
                    <a:defRPr sz="10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E82-41CD-90D6-135BE7AB2AE1}"/>
                </c:ext>
              </c:extLst>
            </c:dLbl>
            <c:dLbl>
              <c:idx val="2"/>
              <c:spPr/>
              <c:txPr>
                <a:bodyPr/>
                <a:lstStyle/>
                <a:p>
                  <a:pPr>
                    <a:defRPr sz="10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E82-41CD-90D6-135BE7AB2AE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Ngắn hạn</c:v>
                </c:pt>
                <c:pt idx="1">
                  <c:v>Trung dài hạn</c:v>
                </c:pt>
                <c:pt idx="2">
                  <c:v>Thấu chi</c:v>
                </c:pt>
              </c:strCache>
            </c:strRef>
          </c:cat>
          <c:val>
            <c:numRef>
              <c:f>Sheet1!$B$2:$B$4</c:f>
              <c:numCache>
                <c:formatCode>General</c:formatCode>
                <c:ptCount val="3"/>
                <c:pt idx="0">
                  <c:v>63.9</c:v>
                </c:pt>
                <c:pt idx="1">
                  <c:v>34.6</c:v>
                </c:pt>
                <c:pt idx="2">
                  <c:v>1.5</c:v>
                </c:pt>
              </c:numCache>
            </c:numRef>
          </c:val>
          <c:extLst>
            <c:ext xmlns:c16="http://schemas.microsoft.com/office/drawing/2014/chart" uri="{C3380CC4-5D6E-409C-BE32-E72D297353CC}">
              <c16:uniqueId val="{00000006-2E82-41CD-90D6-135BE7AB2AE1}"/>
            </c:ext>
          </c:extLst>
        </c:ser>
        <c:dLbls>
          <c:dLblPos val="inEnd"/>
          <c:showLegendKey val="0"/>
          <c:showVal val="1"/>
          <c:showCatName val="0"/>
          <c:showSerName val="0"/>
          <c:showPercent val="0"/>
          <c:showBubbleSize val="0"/>
          <c:showLeaderLines val="1"/>
        </c:dLbls>
        <c:firstSliceAng val="0"/>
      </c:pieChart>
    </c:plotArea>
    <c:legend>
      <c:legendPos val="b"/>
      <c:overlay val="0"/>
      <c:txPr>
        <a:bodyPr/>
        <a:lstStyle/>
        <a:p>
          <a:pPr>
            <a:defRPr sz="1000"/>
          </a:pPr>
          <a:endParaRPr lang="en-US"/>
        </a:p>
      </c:txPr>
    </c:legend>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Tỷ trọng</c:v>
                </c:pt>
              </c:strCache>
            </c:strRef>
          </c:tx>
          <c:dPt>
            <c:idx val="0"/>
            <c:bubble3D val="0"/>
            <c:spPr>
              <a:solidFill>
                <a:srgbClr val="2B4F18"/>
              </a:solidFill>
            </c:spPr>
            <c:extLst>
              <c:ext xmlns:c16="http://schemas.microsoft.com/office/drawing/2014/chart" uri="{C3380CC4-5D6E-409C-BE32-E72D297353CC}">
                <c16:uniqueId val="{00000001-7186-452E-BCD7-A20B1EE747BA}"/>
              </c:ext>
            </c:extLst>
          </c:dPt>
          <c:dPt>
            <c:idx val="1"/>
            <c:bubble3D val="0"/>
            <c:spPr>
              <a:solidFill>
                <a:srgbClr val="5E9B3A"/>
              </a:solidFill>
            </c:spPr>
            <c:extLst>
              <c:ext xmlns:c16="http://schemas.microsoft.com/office/drawing/2014/chart" uri="{C3380CC4-5D6E-409C-BE32-E72D297353CC}">
                <c16:uniqueId val="{00000003-7186-452E-BCD7-A20B1EE747BA}"/>
              </c:ext>
            </c:extLst>
          </c:dPt>
          <c:dPt>
            <c:idx val="2"/>
            <c:bubble3D val="0"/>
            <c:spPr>
              <a:solidFill>
                <a:srgbClr val="A9CF8A"/>
              </a:solidFill>
            </c:spPr>
            <c:extLst>
              <c:ext xmlns:c16="http://schemas.microsoft.com/office/drawing/2014/chart" uri="{C3380CC4-5D6E-409C-BE32-E72D297353CC}">
                <c16:uniqueId val="{00000005-7186-452E-BCD7-A20B1EE747BA}"/>
              </c:ext>
            </c:extLst>
          </c:dPt>
          <c:dLbls>
            <c:dLbl>
              <c:idx val="0"/>
              <c:spPr/>
              <c:txPr>
                <a:bodyPr/>
                <a:lstStyle/>
                <a:p>
                  <a:pPr>
                    <a:defRPr sz="10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186-452E-BCD7-A20B1EE747BA}"/>
                </c:ext>
              </c:extLst>
            </c:dLbl>
            <c:dLbl>
              <c:idx val="1"/>
              <c:spPr/>
              <c:txPr>
                <a:bodyPr/>
                <a:lstStyle/>
                <a:p>
                  <a:pPr>
                    <a:defRPr sz="10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186-452E-BCD7-A20B1EE747BA}"/>
                </c:ext>
              </c:extLst>
            </c:dLbl>
            <c:dLbl>
              <c:idx val="2"/>
              <c:spPr/>
              <c:txPr>
                <a:bodyPr/>
                <a:lstStyle/>
                <a:p>
                  <a:pPr>
                    <a:defRPr sz="10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186-452E-BCD7-A20B1EE747B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Sheet1!$A$2:$A$4</c:f>
              <c:strCache>
                <c:ptCount val="3"/>
                <c:pt idx="0">
                  <c:v>CV thường</c:v>
                </c:pt>
                <c:pt idx="1">
                  <c:v>UPAS thường</c:v>
                </c:pt>
                <c:pt idx="2">
                  <c:v>UPAS X</c:v>
                </c:pt>
              </c:strCache>
            </c:strRef>
          </c:cat>
          <c:val>
            <c:numRef>
              <c:f>Sheet1!$B$2:$B$4</c:f>
              <c:numCache>
                <c:formatCode>General</c:formatCode>
                <c:ptCount val="3"/>
                <c:pt idx="0">
                  <c:v>89.8</c:v>
                </c:pt>
                <c:pt idx="1">
                  <c:v>9.8000000000000007</c:v>
                </c:pt>
                <c:pt idx="2">
                  <c:v>0.5</c:v>
                </c:pt>
              </c:numCache>
            </c:numRef>
          </c:val>
          <c:extLst>
            <c:ext xmlns:c16="http://schemas.microsoft.com/office/drawing/2014/chart" uri="{C3380CC4-5D6E-409C-BE32-E72D297353CC}">
              <c16:uniqueId val="{00000006-7186-452E-BCD7-A20B1EE747BA}"/>
            </c:ext>
          </c:extLst>
        </c:ser>
        <c:dLbls>
          <c:dLblPos val="inEnd"/>
          <c:showLegendKey val="0"/>
          <c:showVal val="1"/>
          <c:showCatName val="0"/>
          <c:showSerName val="0"/>
          <c:showPercent val="0"/>
          <c:showBubbleSize val="0"/>
          <c:showLeaderLines val="1"/>
        </c:dLbls>
        <c:firstSliceAng val="0"/>
      </c:pieChart>
    </c:plotArea>
    <c:legend>
      <c:legendPos val="b"/>
      <c:overlay val="0"/>
      <c:txPr>
        <a:bodyPr/>
        <a:lstStyle/>
        <a:p>
          <a:pPr>
            <a:defRPr sz="1000"/>
          </a:pPr>
          <a:endParaRPr lang="en-US"/>
        </a:p>
      </c:txPr>
    </c:legend>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Tỷ trọng</c:v>
                </c:pt>
              </c:strCache>
            </c:strRef>
          </c:tx>
          <c:dPt>
            <c:idx val="0"/>
            <c:bubble3D val="0"/>
            <c:spPr>
              <a:solidFill>
                <a:srgbClr val="5E9B3A"/>
              </a:solidFill>
            </c:spPr>
            <c:extLst>
              <c:ext xmlns:c16="http://schemas.microsoft.com/office/drawing/2014/chart" uri="{C3380CC4-5D6E-409C-BE32-E72D297353CC}">
                <c16:uniqueId val="{00000001-A45B-46CC-B309-3CA55CCE1A30}"/>
              </c:ext>
            </c:extLst>
          </c:dPt>
          <c:dPt>
            <c:idx val="1"/>
            <c:bubble3D val="0"/>
            <c:spPr>
              <a:solidFill>
                <a:srgbClr val="E8D48A"/>
              </a:solidFill>
            </c:spPr>
            <c:extLst>
              <c:ext xmlns:c16="http://schemas.microsoft.com/office/drawing/2014/chart" uri="{C3380CC4-5D6E-409C-BE32-E72D297353CC}">
                <c16:uniqueId val="{00000003-A45B-46CC-B309-3CA55CCE1A30}"/>
              </c:ext>
            </c:extLst>
          </c:dPt>
          <c:dLbls>
            <c:dLbl>
              <c:idx val="0"/>
              <c:spPr/>
              <c:txPr>
                <a:bodyPr/>
                <a:lstStyle/>
                <a:p>
                  <a:pPr>
                    <a:defRPr sz="10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45B-46CC-B309-3CA55CCE1A30}"/>
                </c:ext>
              </c:extLst>
            </c:dLbl>
            <c:dLbl>
              <c:idx val="1"/>
              <c:spPr/>
              <c:txPr>
                <a:bodyPr/>
                <a:lstStyle/>
                <a:p>
                  <a:pPr>
                    <a:defRPr sz="10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45B-46CC-B309-3CA55CCE1A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VND</c:v>
                </c:pt>
                <c:pt idx="1">
                  <c:v>USD</c:v>
                </c:pt>
              </c:strCache>
            </c:strRef>
          </c:cat>
          <c:val>
            <c:numRef>
              <c:f>Sheet1!$B$2:$B$3</c:f>
              <c:numCache>
                <c:formatCode>General</c:formatCode>
                <c:ptCount val="2"/>
                <c:pt idx="0">
                  <c:v>85.1</c:v>
                </c:pt>
                <c:pt idx="1">
                  <c:v>14.9</c:v>
                </c:pt>
              </c:numCache>
            </c:numRef>
          </c:val>
          <c:extLst>
            <c:ext xmlns:c16="http://schemas.microsoft.com/office/drawing/2014/chart" uri="{C3380CC4-5D6E-409C-BE32-E72D297353CC}">
              <c16:uniqueId val="{00000004-A45B-46CC-B309-3CA55CCE1A30}"/>
            </c:ext>
          </c:extLst>
        </c:ser>
        <c:dLbls>
          <c:dLblPos val="inEnd"/>
          <c:showLegendKey val="0"/>
          <c:showVal val="1"/>
          <c:showCatName val="0"/>
          <c:showSerName val="0"/>
          <c:showPercent val="0"/>
          <c:showBubbleSize val="0"/>
          <c:showLeaderLines val="1"/>
        </c:dLbls>
        <c:firstSliceAng val="0"/>
      </c:pieChart>
    </c:plotArea>
    <c:legend>
      <c:legendPos val="b"/>
      <c:overlay val="0"/>
      <c:txPr>
        <a:bodyPr/>
        <a:lstStyle/>
        <a:p>
          <a:pPr>
            <a:defRPr sz="1000"/>
          </a:pPr>
          <a:endParaRPr lang="en-US"/>
        </a:p>
      </c:txPr>
    </c:legend>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Tỷ trọng</c:v>
                </c:pt>
              </c:strCache>
            </c:strRef>
          </c:tx>
          <c:dPt>
            <c:idx val="0"/>
            <c:bubble3D val="0"/>
            <c:spPr>
              <a:solidFill>
                <a:srgbClr val="2B4F18"/>
              </a:solidFill>
            </c:spPr>
            <c:extLst>
              <c:ext xmlns:c16="http://schemas.microsoft.com/office/drawing/2014/chart" uri="{C3380CC4-5D6E-409C-BE32-E72D297353CC}">
                <c16:uniqueId val="{00000001-4FD5-41A0-A1DD-D5228E9CE0D1}"/>
              </c:ext>
            </c:extLst>
          </c:dPt>
          <c:dPt>
            <c:idx val="1"/>
            <c:bubble3D val="0"/>
            <c:spPr>
              <a:solidFill>
                <a:srgbClr val="A9CF8A"/>
              </a:solidFill>
            </c:spPr>
            <c:extLst>
              <c:ext xmlns:c16="http://schemas.microsoft.com/office/drawing/2014/chart" uri="{C3380CC4-5D6E-409C-BE32-E72D297353CC}">
                <c16:uniqueId val="{00000003-4FD5-41A0-A1DD-D5228E9CE0D1}"/>
              </c:ext>
            </c:extLst>
          </c:dPt>
          <c:dLbls>
            <c:dLbl>
              <c:idx val="0"/>
              <c:spPr/>
              <c:txPr>
                <a:bodyPr/>
                <a:lstStyle/>
                <a:p>
                  <a:pPr>
                    <a:defRPr sz="1000">
                      <a:solidFill>
                        <a:srgbClr val="FFFFFF"/>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FD5-41A0-A1DD-D5228E9CE0D1}"/>
                </c:ext>
              </c:extLst>
            </c:dLbl>
            <c:dLbl>
              <c:idx val="1"/>
              <c:spPr/>
              <c:txPr>
                <a:bodyPr/>
                <a:lstStyle/>
                <a:p>
                  <a:pPr>
                    <a:defRPr sz="1000">
                      <a:solidFill>
                        <a:srgbClr val="262626"/>
                      </a:solidFil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FD5-41A0-A1DD-D5228E9CE0D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Nam</c:v>
                </c:pt>
                <c:pt idx="1">
                  <c:v>Bắc</c:v>
                </c:pt>
              </c:strCache>
            </c:strRef>
          </c:cat>
          <c:val>
            <c:numRef>
              <c:f>Sheet1!$B$2:$B$3</c:f>
              <c:numCache>
                <c:formatCode>General</c:formatCode>
                <c:ptCount val="2"/>
                <c:pt idx="0">
                  <c:v>52.6</c:v>
                </c:pt>
                <c:pt idx="1">
                  <c:v>47.4</c:v>
                </c:pt>
              </c:numCache>
            </c:numRef>
          </c:val>
          <c:extLst>
            <c:ext xmlns:c16="http://schemas.microsoft.com/office/drawing/2014/chart" uri="{C3380CC4-5D6E-409C-BE32-E72D297353CC}">
              <c16:uniqueId val="{00000004-4FD5-41A0-A1DD-D5228E9CE0D1}"/>
            </c:ext>
          </c:extLst>
        </c:ser>
        <c:dLbls>
          <c:dLblPos val="inEnd"/>
          <c:showLegendKey val="0"/>
          <c:showVal val="1"/>
          <c:showCatName val="0"/>
          <c:showSerName val="0"/>
          <c:showPercent val="0"/>
          <c:showBubbleSize val="0"/>
          <c:showLeaderLines val="1"/>
        </c:dLbls>
        <c:firstSliceAng val="0"/>
      </c:pieChart>
    </c:plotArea>
    <c:legend>
      <c:legendPos val="b"/>
      <c:overlay val="0"/>
      <c:txPr>
        <a:bodyPr/>
        <a:lstStyle/>
        <a:p>
          <a:pPr>
            <a:defRPr sz="1000"/>
          </a:pPr>
          <a:endParaRPr lang="en-US"/>
        </a:p>
      </c:txPr>
    </c:legend>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Giá trị</c:v>
                </c:pt>
              </c:strCache>
            </c:strRef>
          </c:tx>
          <c:spPr>
            <a:solidFill>
              <a:srgbClr val="2E5B31"/>
            </a:solidFill>
          </c:spPr>
          <c:invertIfNegative val="1"/>
          <c:dLbls>
            <c:numFmt formatCode="#,##0" sourceLinked="0"/>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Xây lắp</c:v>
                </c:pt>
                <c:pt idx="1">
                  <c:v>Thương mại tổng hợp</c:v>
                </c:pt>
                <c:pt idx="2">
                  <c:v>Ngành khác</c:v>
                </c:pt>
                <c:pt idx="3">
                  <c:v>Bất động sản</c:v>
                </c:pt>
                <c:pt idx="4">
                  <c:v>Vận tải đường bộ</c:v>
                </c:pt>
                <c:pt idx="5">
                  <c:v>Nông sản - Thủy sản</c:v>
                </c:pt>
                <c:pt idx="6">
                  <c:v>Sắt thép</c:v>
                </c:pt>
                <c:pt idx="7">
                  <c:v>Lương thực thực phẩm</c:v>
                </c:pt>
                <c:pt idx="8">
                  <c:v>SX điện - điện tử</c:v>
                </c:pt>
                <c:pt idx="9">
                  <c:v>Logistics - Kho vận</c:v>
                </c:pt>
              </c:strCache>
            </c:strRef>
          </c:cat>
          <c:val>
            <c:numRef>
              <c:f>Sheet1!$B$2:$B$11</c:f>
              <c:numCache>
                <c:formatCode>General</c:formatCode>
                <c:ptCount val="10"/>
                <c:pt idx="0">
                  <c:v>12946</c:v>
                </c:pt>
                <c:pt idx="1">
                  <c:v>10185</c:v>
                </c:pt>
                <c:pt idx="2">
                  <c:v>9739</c:v>
                </c:pt>
                <c:pt idx="3">
                  <c:v>8459</c:v>
                </c:pt>
                <c:pt idx="4">
                  <c:v>6867</c:v>
                </c:pt>
                <c:pt idx="5">
                  <c:v>5046</c:v>
                </c:pt>
                <c:pt idx="6">
                  <c:v>4919</c:v>
                </c:pt>
                <c:pt idx="7">
                  <c:v>4515</c:v>
                </c:pt>
                <c:pt idx="8">
                  <c:v>4339</c:v>
                </c:pt>
                <c:pt idx="9">
                  <c:v>3494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75C-4AD1-82B8-8D8A59520BC6}"/>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latin typeface="Times New Roman"/>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Giá trị</c:v>
                </c:pt>
              </c:strCache>
            </c:strRef>
          </c:tx>
          <c:spPr>
            <a:solidFill>
              <a:srgbClr val="C55A11"/>
            </a:solidFill>
          </c:spPr>
          <c:invertIfNegative val="1"/>
          <c:dLbls>
            <c:numFmt formatCode="#,##0" sourceLinked="0"/>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TT KHDN Nam 1</c:v>
                </c:pt>
                <c:pt idx="1">
                  <c:v>TT KHDN Bắc 1</c:v>
                </c:pt>
                <c:pt idx="2">
                  <c:v>CN Nghệ An 2</c:v>
                </c:pt>
                <c:pt idx="3">
                  <c:v>TT KHDN Bắc 4</c:v>
                </c:pt>
                <c:pt idx="4">
                  <c:v>CN Bình Dương 4</c:v>
                </c:pt>
                <c:pt idx="5">
                  <c:v>TT KHDN Bắc 5</c:v>
                </c:pt>
                <c:pt idx="6">
                  <c:v>CN TP HCM 3</c:v>
                </c:pt>
                <c:pt idx="7">
                  <c:v>TT KHDN Nam 4</c:v>
                </c:pt>
                <c:pt idx="8">
                  <c:v>TT KHDN Nam 5</c:v>
                </c:pt>
                <c:pt idx="9">
                  <c:v>CN Hà Nội 10</c:v>
                </c:pt>
              </c:strCache>
            </c:strRef>
          </c:cat>
          <c:val>
            <c:numRef>
              <c:f>Sheet1!$B$2:$B$11</c:f>
              <c:numCache>
                <c:formatCode>General</c:formatCode>
                <c:ptCount val="10"/>
                <c:pt idx="0">
                  <c:v>8614</c:v>
                </c:pt>
                <c:pt idx="1">
                  <c:v>6138</c:v>
                </c:pt>
                <c:pt idx="2">
                  <c:v>4348</c:v>
                </c:pt>
                <c:pt idx="3">
                  <c:v>3953</c:v>
                </c:pt>
                <c:pt idx="4">
                  <c:v>3400</c:v>
                </c:pt>
                <c:pt idx="5">
                  <c:v>3265</c:v>
                </c:pt>
                <c:pt idx="6">
                  <c:v>3099</c:v>
                </c:pt>
                <c:pt idx="7">
                  <c:v>2268</c:v>
                </c:pt>
                <c:pt idx="8">
                  <c:v>2216</c:v>
                </c:pt>
                <c:pt idx="9">
                  <c:v>2145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45C-4A35-880F-BD40FC3E284D}"/>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9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latin typeface="Times New Roman"/>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Giá trị</c:v>
                </c:pt>
              </c:strCache>
            </c:strRef>
          </c:tx>
          <c:spPr>
            <a:solidFill>
              <a:srgbClr val="123A7A"/>
            </a:solidFill>
          </c:spPr>
          <c:invertIfNegative val="1"/>
          <c:dPt>
            <c:idx val="0"/>
            <c:invertIfNegative val="1"/>
            <c:bubble3D val="0"/>
            <c:spPr>
              <a:solidFill>
                <a:srgbClr val="A9CF8A"/>
              </a:solidFill>
            </c:spPr>
            <c:extLst>
              <c:ext xmlns:c16="http://schemas.microsoft.com/office/drawing/2014/chart" uri="{C3380CC4-5D6E-409C-BE32-E72D297353CC}">
                <c16:uniqueId val="{00000001-F4C9-46FF-8A25-A95FCF27272F}"/>
              </c:ext>
            </c:extLst>
          </c:dPt>
          <c:dPt>
            <c:idx val="1"/>
            <c:invertIfNegative val="1"/>
            <c:bubble3D val="0"/>
            <c:spPr>
              <a:solidFill>
                <a:srgbClr val="2B4F18"/>
              </a:solidFill>
            </c:spPr>
            <c:extLst>
              <c:ext xmlns:c16="http://schemas.microsoft.com/office/drawing/2014/chart" uri="{C3380CC4-5D6E-409C-BE32-E72D297353CC}">
                <c16:uniqueId val="{00000003-F4C9-46FF-8A25-A95FCF27272F}"/>
              </c:ext>
            </c:extLst>
          </c:dPt>
          <c:dPt>
            <c:idx val="2"/>
            <c:invertIfNegative val="1"/>
            <c:bubble3D val="0"/>
            <c:spPr>
              <a:solidFill>
                <a:srgbClr val="5E9B3A"/>
              </a:solidFill>
            </c:spPr>
            <c:extLst>
              <c:ext xmlns:c16="http://schemas.microsoft.com/office/drawing/2014/chart" uri="{C3380CC4-5D6E-409C-BE32-E72D297353CC}">
                <c16:uniqueId val="{00000005-F4C9-46FF-8A25-A95FCF27272F}"/>
              </c:ext>
            </c:extLst>
          </c:dPt>
          <c:dPt>
            <c:idx val="3"/>
            <c:invertIfNegative val="1"/>
            <c:bubble3D val="0"/>
            <c:spPr>
              <a:solidFill>
                <a:srgbClr val="1F8A70"/>
              </a:solidFill>
            </c:spPr>
            <c:extLst>
              <c:ext xmlns:c16="http://schemas.microsoft.com/office/drawing/2014/chart" uri="{C3380CC4-5D6E-409C-BE32-E72D297353CC}">
                <c16:uniqueId val="{00000007-F4C9-46FF-8A25-A95FCF27272F}"/>
              </c:ext>
            </c:extLst>
          </c:dPt>
          <c:dPt>
            <c:idx val="4"/>
            <c:invertIfNegative val="1"/>
            <c:bubble3D val="0"/>
            <c:spPr>
              <a:solidFill>
                <a:srgbClr val="E8D48A"/>
              </a:solidFill>
            </c:spPr>
            <c:extLst>
              <c:ext xmlns:c16="http://schemas.microsoft.com/office/drawing/2014/chart" uri="{C3380CC4-5D6E-409C-BE32-E72D297353CC}">
                <c16:uniqueId val="{00000009-F4C9-46FF-8A25-A95FCF27272F}"/>
              </c:ext>
            </c:extLst>
          </c:dPt>
          <c:dLbls>
            <c:numFmt formatCode="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Nhóm 1</c:v>
                </c:pt>
                <c:pt idx="1">
                  <c:v>OD2</c:v>
                </c:pt>
                <c:pt idx="2">
                  <c:v>OD3</c:v>
                </c:pt>
                <c:pt idx="3">
                  <c:v>OD4</c:v>
                </c:pt>
                <c:pt idx="4">
                  <c:v>OD5</c:v>
                </c:pt>
              </c:strCache>
            </c:strRef>
          </c:cat>
          <c:val>
            <c:numRef>
              <c:f>Sheet1!$B$2:$B$6</c:f>
              <c:numCache>
                <c:formatCode>General</c:formatCode>
                <c:ptCount val="5"/>
                <c:pt idx="0">
                  <c:v>96.4</c:v>
                </c:pt>
                <c:pt idx="1">
                  <c:v>0.9</c:v>
                </c:pt>
                <c:pt idx="2">
                  <c:v>0.9</c:v>
                </c:pt>
                <c:pt idx="3">
                  <c:v>0.5</c:v>
                </c:pt>
                <c:pt idx="4">
                  <c:v>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F4C9-46FF-8A25-A95FCF27272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Giá trị</c:v>
                </c:pt>
              </c:strCache>
            </c:strRef>
          </c:tx>
          <c:spPr>
            <a:solidFill>
              <a:srgbClr val="2E5B31"/>
            </a:solidFill>
          </c:spPr>
          <c:invertIfNegative val="1"/>
          <c:dLbls>
            <c:numFmt formatCode="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MICRO</c:v>
                </c:pt>
                <c:pt idx="1">
                  <c:v>SMALL</c:v>
                </c:pt>
                <c:pt idx="2">
                  <c:v>MEDIUM 1</c:v>
                </c:pt>
                <c:pt idx="3">
                  <c:v>MEDIUM 2</c:v>
                </c:pt>
                <c:pt idx="4">
                  <c:v>UPPER 1</c:v>
                </c:pt>
                <c:pt idx="5">
                  <c:v>UPPER 2</c:v>
                </c:pt>
                <c:pt idx="6">
                  <c:v>BIGCORP 1</c:v>
                </c:pt>
              </c:strCache>
            </c:strRef>
          </c:cat>
          <c:val>
            <c:numRef>
              <c:f>Sheet1!$B$2:$B$8</c:f>
              <c:numCache>
                <c:formatCode>General</c:formatCode>
                <c:ptCount val="7"/>
                <c:pt idx="0">
                  <c:v>11.8</c:v>
                </c:pt>
                <c:pt idx="1">
                  <c:v>11</c:v>
                </c:pt>
                <c:pt idx="2">
                  <c:v>9.6999999999999993</c:v>
                </c:pt>
                <c:pt idx="3">
                  <c:v>8.9</c:v>
                </c:pt>
                <c:pt idx="4">
                  <c:v>7.6</c:v>
                </c:pt>
                <c:pt idx="5">
                  <c:v>7.3</c:v>
                </c:pt>
                <c:pt idx="6">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0DE-4EDF-8FD0-3636762F1D09}"/>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Giá trị</c:v>
                </c:pt>
              </c:strCache>
            </c:strRef>
          </c:tx>
          <c:spPr>
            <a:solidFill>
              <a:srgbClr val="C55A11"/>
            </a:solidFill>
          </c:spPr>
          <c:invertIfNegative val="1"/>
          <c:dLbls>
            <c:numFmt formatCode="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MICRO</c:v>
                </c:pt>
                <c:pt idx="1">
                  <c:v>SMALL</c:v>
                </c:pt>
                <c:pt idx="2">
                  <c:v>MEDIUM 1</c:v>
                </c:pt>
                <c:pt idx="3">
                  <c:v>MEDIUM 2</c:v>
                </c:pt>
                <c:pt idx="4">
                  <c:v>UPPER 1</c:v>
                </c:pt>
                <c:pt idx="5">
                  <c:v>UPPER 2</c:v>
                </c:pt>
                <c:pt idx="6">
                  <c:v>BIGCORP 1</c:v>
                </c:pt>
              </c:strCache>
            </c:strRef>
          </c:cat>
          <c:val>
            <c:numRef>
              <c:f>Sheet1!$B$2:$B$8</c:f>
              <c:numCache>
                <c:formatCode>General</c:formatCode>
                <c:ptCount val="7"/>
                <c:pt idx="0">
                  <c:v>2.67</c:v>
                </c:pt>
                <c:pt idx="1">
                  <c:v>2.08</c:v>
                </c:pt>
                <c:pt idx="2">
                  <c:v>1.83</c:v>
                </c:pt>
                <c:pt idx="3">
                  <c:v>1.56</c:v>
                </c:pt>
                <c:pt idx="4">
                  <c:v>1.22</c:v>
                </c:pt>
                <c:pt idx="5">
                  <c:v>0.99</c:v>
                </c:pt>
                <c:pt idx="6">
                  <c:v>0.97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821-4DED-B3E8-2928F649283A}"/>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BFBFBF"/>
            </a:solidFill>
          </a:ln>
        </c:spPr>
        <c:txPr>
          <a:bodyPr/>
          <a:lstStyle/>
          <a:p>
            <a:pPr>
              <a:defRPr sz="1000"/>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000">
          <a:latin typeface="Times New Roman"/>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scatterChart>
        <c:scatterStyle val="lineMarker"/>
        <c:varyColors val="0"/>
        <c:ser>
          <c:idx val="0"/>
          <c:order val="0"/>
          <c:tx>
            <c:strRef>
              <c:f>Sheet1!$B$1</c:f>
              <c:strCache>
                <c:ptCount val="1"/>
                <c:pt idx="0">
                  <c:v>ĐVKD</c:v>
                </c:pt>
              </c:strCache>
            </c:strRef>
          </c:tx>
          <c:spPr>
            <a:ln w="47625">
              <a:noFill/>
            </a:ln>
          </c:spPr>
          <c:marker>
            <c:symbol val="circle"/>
            <c:size val="7"/>
            <c:spPr>
              <a:solidFill>
                <a:srgbClr val="123A7A"/>
              </a:solidFill>
              <a:ln>
                <a:solidFill>
                  <a:srgbClr val="123A7A"/>
                </a:solidFill>
              </a:ln>
            </c:spPr>
          </c:marker>
          <c:xVal>
            <c:numRef>
              <c:f>Sheet1!$A$2:$A$79</c:f>
              <c:numCache>
                <c:formatCode>General</c:formatCode>
                <c:ptCount val="78"/>
                <c:pt idx="0">
                  <c:v>1062</c:v>
                </c:pt>
                <c:pt idx="1">
                  <c:v>758</c:v>
                </c:pt>
                <c:pt idx="2">
                  <c:v>1095</c:v>
                </c:pt>
                <c:pt idx="3">
                  <c:v>689</c:v>
                </c:pt>
                <c:pt idx="4">
                  <c:v>1321</c:v>
                </c:pt>
                <c:pt idx="5">
                  <c:v>426</c:v>
                </c:pt>
                <c:pt idx="6">
                  <c:v>1694</c:v>
                </c:pt>
                <c:pt idx="7">
                  <c:v>666</c:v>
                </c:pt>
                <c:pt idx="8">
                  <c:v>496</c:v>
                </c:pt>
                <c:pt idx="9">
                  <c:v>297</c:v>
                </c:pt>
                <c:pt idx="10">
                  <c:v>2145</c:v>
                </c:pt>
                <c:pt idx="11">
                  <c:v>810</c:v>
                </c:pt>
                <c:pt idx="12">
                  <c:v>913</c:v>
                </c:pt>
                <c:pt idx="13">
                  <c:v>618</c:v>
                </c:pt>
                <c:pt idx="14">
                  <c:v>768</c:v>
                </c:pt>
                <c:pt idx="15">
                  <c:v>209</c:v>
                </c:pt>
                <c:pt idx="16">
                  <c:v>283</c:v>
                </c:pt>
                <c:pt idx="17">
                  <c:v>986</c:v>
                </c:pt>
                <c:pt idx="18">
                  <c:v>997</c:v>
                </c:pt>
                <c:pt idx="19">
                  <c:v>507</c:v>
                </c:pt>
                <c:pt idx="20">
                  <c:v>670</c:v>
                </c:pt>
                <c:pt idx="21">
                  <c:v>572</c:v>
                </c:pt>
                <c:pt idx="22">
                  <c:v>1346</c:v>
                </c:pt>
                <c:pt idx="23">
                  <c:v>391</c:v>
                </c:pt>
                <c:pt idx="24">
                  <c:v>955</c:v>
                </c:pt>
                <c:pt idx="25">
                  <c:v>480</c:v>
                </c:pt>
                <c:pt idx="26">
                  <c:v>318</c:v>
                </c:pt>
                <c:pt idx="27">
                  <c:v>665</c:v>
                </c:pt>
                <c:pt idx="28">
                  <c:v>1160</c:v>
                </c:pt>
                <c:pt idx="29">
                  <c:v>418</c:v>
                </c:pt>
                <c:pt idx="30">
                  <c:v>431</c:v>
                </c:pt>
                <c:pt idx="31">
                  <c:v>4348</c:v>
                </c:pt>
                <c:pt idx="32">
                  <c:v>450</c:v>
                </c:pt>
                <c:pt idx="33">
                  <c:v>1135</c:v>
                </c:pt>
                <c:pt idx="34">
                  <c:v>1043</c:v>
                </c:pt>
                <c:pt idx="35">
                  <c:v>667</c:v>
                </c:pt>
                <c:pt idx="36">
                  <c:v>3099</c:v>
                </c:pt>
                <c:pt idx="37">
                  <c:v>419</c:v>
                </c:pt>
                <c:pt idx="38">
                  <c:v>1278</c:v>
                </c:pt>
                <c:pt idx="39">
                  <c:v>769</c:v>
                </c:pt>
                <c:pt idx="40">
                  <c:v>477</c:v>
                </c:pt>
                <c:pt idx="41">
                  <c:v>1876</c:v>
                </c:pt>
                <c:pt idx="42">
                  <c:v>547</c:v>
                </c:pt>
                <c:pt idx="43">
                  <c:v>1657</c:v>
                </c:pt>
                <c:pt idx="44">
                  <c:v>1659</c:v>
                </c:pt>
                <c:pt idx="45">
                  <c:v>1926</c:v>
                </c:pt>
                <c:pt idx="46">
                  <c:v>318</c:v>
                </c:pt>
                <c:pt idx="47">
                  <c:v>1915</c:v>
                </c:pt>
                <c:pt idx="48">
                  <c:v>1131</c:v>
                </c:pt>
                <c:pt idx="49">
                  <c:v>516</c:v>
                </c:pt>
                <c:pt idx="50">
                  <c:v>611</c:v>
                </c:pt>
                <c:pt idx="51">
                  <c:v>3400</c:v>
                </c:pt>
                <c:pt idx="52">
                  <c:v>166</c:v>
                </c:pt>
                <c:pt idx="53">
                  <c:v>628</c:v>
                </c:pt>
                <c:pt idx="54">
                  <c:v>498</c:v>
                </c:pt>
                <c:pt idx="55">
                  <c:v>1254</c:v>
                </c:pt>
                <c:pt idx="56">
                  <c:v>1276</c:v>
                </c:pt>
                <c:pt idx="57">
                  <c:v>221</c:v>
                </c:pt>
                <c:pt idx="58">
                  <c:v>1341</c:v>
                </c:pt>
                <c:pt idx="59">
                  <c:v>162</c:v>
                </c:pt>
                <c:pt idx="60">
                  <c:v>589</c:v>
                </c:pt>
                <c:pt idx="61">
                  <c:v>562</c:v>
                </c:pt>
                <c:pt idx="62">
                  <c:v>1353</c:v>
                </c:pt>
                <c:pt idx="63">
                  <c:v>521</c:v>
                </c:pt>
                <c:pt idx="64">
                  <c:v>1225</c:v>
                </c:pt>
                <c:pt idx="65">
                  <c:v>653</c:v>
                </c:pt>
                <c:pt idx="66">
                  <c:v>1023</c:v>
                </c:pt>
                <c:pt idx="67">
                  <c:v>830</c:v>
                </c:pt>
                <c:pt idx="68">
                  <c:v>6138</c:v>
                </c:pt>
                <c:pt idx="69">
                  <c:v>1287</c:v>
                </c:pt>
                <c:pt idx="70">
                  <c:v>1856</c:v>
                </c:pt>
                <c:pt idx="71">
                  <c:v>3953</c:v>
                </c:pt>
                <c:pt idx="72">
                  <c:v>3265</c:v>
                </c:pt>
                <c:pt idx="73">
                  <c:v>8614</c:v>
                </c:pt>
                <c:pt idx="74">
                  <c:v>1564</c:v>
                </c:pt>
                <c:pt idx="75">
                  <c:v>1518</c:v>
                </c:pt>
                <c:pt idx="76">
                  <c:v>2268</c:v>
                </c:pt>
                <c:pt idx="77">
                  <c:v>2216</c:v>
                </c:pt>
              </c:numCache>
            </c:numRef>
          </c:xVal>
          <c:yVal>
            <c:numRef>
              <c:f>Sheet1!$B$2:$B$79</c:f>
              <c:numCache>
                <c:formatCode>General</c:formatCode>
                <c:ptCount val="78"/>
                <c:pt idx="0">
                  <c:v>7.18</c:v>
                </c:pt>
                <c:pt idx="1">
                  <c:v>8.42</c:v>
                </c:pt>
                <c:pt idx="2">
                  <c:v>12.06</c:v>
                </c:pt>
                <c:pt idx="3">
                  <c:v>4.41</c:v>
                </c:pt>
                <c:pt idx="4">
                  <c:v>11.95</c:v>
                </c:pt>
                <c:pt idx="5">
                  <c:v>5.19</c:v>
                </c:pt>
                <c:pt idx="6">
                  <c:v>19.43</c:v>
                </c:pt>
                <c:pt idx="7">
                  <c:v>7.52</c:v>
                </c:pt>
                <c:pt idx="8">
                  <c:v>5.38</c:v>
                </c:pt>
                <c:pt idx="9">
                  <c:v>3.89</c:v>
                </c:pt>
                <c:pt idx="10">
                  <c:v>23.01</c:v>
                </c:pt>
                <c:pt idx="11">
                  <c:v>6.66</c:v>
                </c:pt>
                <c:pt idx="12">
                  <c:v>9.48</c:v>
                </c:pt>
                <c:pt idx="13">
                  <c:v>4.47</c:v>
                </c:pt>
                <c:pt idx="14">
                  <c:v>6.7</c:v>
                </c:pt>
                <c:pt idx="15">
                  <c:v>1.74</c:v>
                </c:pt>
                <c:pt idx="16">
                  <c:v>2.93</c:v>
                </c:pt>
                <c:pt idx="17">
                  <c:v>7.91</c:v>
                </c:pt>
                <c:pt idx="18">
                  <c:v>7.67</c:v>
                </c:pt>
                <c:pt idx="19">
                  <c:v>6.14</c:v>
                </c:pt>
                <c:pt idx="20">
                  <c:v>6.52</c:v>
                </c:pt>
                <c:pt idx="21">
                  <c:v>4.9000000000000004</c:v>
                </c:pt>
                <c:pt idx="22">
                  <c:v>11.93</c:v>
                </c:pt>
                <c:pt idx="23">
                  <c:v>4.6100000000000003</c:v>
                </c:pt>
                <c:pt idx="24">
                  <c:v>8.77</c:v>
                </c:pt>
                <c:pt idx="25">
                  <c:v>5.63</c:v>
                </c:pt>
                <c:pt idx="26">
                  <c:v>2.67</c:v>
                </c:pt>
                <c:pt idx="27">
                  <c:v>3.59</c:v>
                </c:pt>
                <c:pt idx="28">
                  <c:v>11.71</c:v>
                </c:pt>
                <c:pt idx="29">
                  <c:v>5.53</c:v>
                </c:pt>
                <c:pt idx="30">
                  <c:v>4.54</c:v>
                </c:pt>
                <c:pt idx="31">
                  <c:v>42.73</c:v>
                </c:pt>
                <c:pt idx="32">
                  <c:v>3.67</c:v>
                </c:pt>
                <c:pt idx="33">
                  <c:v>11.7</c:v>
                </c:pt>
                <c:pt idx="34">
                  <c:v>9.73</c:v>
                </c:pt>
                <c:pt idx="35">
                  <c:v>5.1100000000000003</c:v>
                </c:pt>
                <c:pt idx="36">
                  <c:v>25.91</c:v>
                </c:pt>
                <c:pt idx="37">
                  <c:v>4.38</c:v>
                </c:pt>
                <c:pt idx="38">
                  <c:v>15.4</c:v>
                </c:pt>
                <c:pt idx="39">
                  <c:v>7.23</c:v>
                </c:pt>
                <c:pt idx="40">
                  <c:v>4.8600000000000003</c:v>
                </c:pt>
                <c:pt idx="41">
                  <c:v>14.98</c:v>
                </c:pt>
                <c:pt idx="42">
                  <c:v>5.83</c:v>
                </c:pt>
                <c:pt idx="43">
                  <c:v>15.01</c:v>
                </c:pt>
                <c:pt idx="44">
                  <c:v>16.22</c:v>
                </c:pt>
                <c:pt idx="45">
                  <c:v>18.940000000000001</c:v>
                </c:pt>
                <c:pt idx="46">
                  <c:v>3.29</c:v>
                </c:pt>
                <c:pt idx="47">
                  <c:v>17.190000000000001</c:v>
                </c:pt>
                <c:pt idx="48">
                  <c:v>5.22</c:v>
                </c:pt>
                <c:pt idx="49">
                  <c:v>4.67</c:v>
                </c:pt>
                <c:pt idx="50">
                  <c:v>6.03</c:v>
                </c:pt>
                <c:pt idx="51">
                  <c:v>29.89</c:v>
                </c:pt>
                <c:pt idx="52">
                  <c:v>1.4</c:v>
                </c:pt>
                <c:pt idx="53">
                  <c:v>6.45</c:v>
                </c:pt>
                <c:pt idx="54">
                  <c:v>5.88</c:v>
                </c:pt>
                <c:pt idx="55">
                  <c:v>13.35</c:v>
                </c:pt>
                <c:pt idx="56">
                  <c:v>11.91</c:v>
                </c:pt>
                <c:pt idx="57">
                  <c:v>2.33</c:v>
                </c:pt>
                <c:pt idx="58">
                  <c:v>12.89</c:v>
                </c:pt>
                <c:pt idx="59">
                  <c:v>1.29</c:v>
                </c:pt>
                <c:pt idx="60">
                  <c:v>6.63</c:v>
                </c:pt>
                <c:pt idx="61">
                  <c:v>3.99</c:v>
                </c:pt>
                <c:pt idx="62">
                  <c:v>12.83</c:v>
                </c:pt>
                <c:pt idx="63">
                  <c:v>3.95</c:v>
                </c:pt>
                <c:pt idx="64">
                  <c:v>14.26</c:v>
                </c:pt>
                <c:pt idx="65">
                  <c:v>5.67</c:v>
                </c:pt>
                <c:pt idx="66">
                  <c:v>7.76</c:v>
                </c:pt>
                <c:pt idx="67">
                  <c:v>6.76</c:v>
                </c:pt>
                <c:pt idx="68">
                  <c:v>26.82</c:v>
                </c:pt>
                <c:pt idx="69">
                  <c:v>3.18</c:v>
                </c:pt>
                <c:pt idx="70">
                  <c:v>14.48</c:v>
                </c:pt>
                <c:pt idx="71">
                  <c:v>22.33</c:v>
                </c:pt>
                <c:pt idx="72">
                  <c:v>21.36</c:v>
                </c:pt>
                <c:pt idx="73">
                  <c:v>52.21</c:v>
                </c:pt>
                <c:pt idx="74">
                  <c:v>2.69</c:v>
                </c:pt>
                <c:pt idx="75">
                  <c:v>10.64</c:v>
                </c:pt>
                <c:pt idx="76">
                  <c:v>15.18</c:v>
                </c:pt>
                <c:pt idx="77">
                  <c:v>15.74</c:v>
                </c:pt>
              </c:numCache>
            </c:numRef>
          </c:yVal>
          <c:smooth val="0"/>
          <c:extLst>
            <c:ext xmlns:c16="http://schemas.microsoft.com/office/drawing/2014/chart" uri="{C3380CC4-5D6E-409C-BE32-E72D297353CC}">
              <c16:uniqueId val="{00000000-3B4F-47C0-834B-A3D76139EBDF}"/>
            </c:ext>
          </c:extLst>
        </c:ser>
        <c:dLbls>
          <c:showLegendKey val="0"/>
          <c:showVal val="0"/>
          <c:showCatName val="0"/>
          <c:showSerName val="0"/>
          <c:showPercent val="0"/>
          <c:showBubbleSize val="0"/>
        </c:dLbls>
        <c:axId val="-2128940872"/>
        <c:axId val="-2129643912"/>
      </c:scatterChart>
      <c:valAx>
        <c:axId val="-2128940872"/>
        <c:scaling>
          <c:orientation val="minMax"/>
        </c:scaling>
        <c:delete val="0"/>
        <c:axPos val="b"/>
        <c:numFmt formatCode="#,##0" sourceLinked="0"/>
        <c:majorTickMark val="out"/>
        <c:minorTickMark val="none"/>
        <c:tickLblPos val="nextTo"/>
        <c:crossAx val="-2129643912"/>
        <c:crosses val="autoZero"/>
        <c:crossBetween val="midCat"/>
      </c:valAx>
      <c:valAx>
        <c:axId val="-2129643912"/>
        <c:scaling>
          <c:orientation val="minMax"/>
        </c:scaling>
        <c:delete val="0"/>
        <c:axPos val="l"/>
        <c:majorGridlines>
          <c:spPr>
            <a:ln>
              <a:solidFill>
                <a:srgbClr val="E3E3E3"/>
              </a:solidFill>
            </a:ln>
          </c:spPr>
        </c:majorGridlines>
        <c:numFmt formatCode="0" sourceLinked="0"/>
        <c:majorTickMark val="out"/>
        <c:minorTickMark val="none"/>
        <c:tickLblPos val="nextTo"/>
        <c:crossAx val="-2128940872"/>
        <c:crosses val="autoZero"/>
        <c:crossBetween val="midCat"/>
      </c:valAx>
    </c:plotArea>
    <c:plotVisOnly val="1"/>
    <c:dispBlanksAs val="gap"/>
    <c:showDLblsOverMax val="0"/>
  </c:chart>
  <c:txPr>
    <a:bodyPr/>
    <a:lstStyle/>
    <a:p>
      <a:pPr>
        <a:defRPr sz="1000">
          <a:latin typeface="Times New Roman"/>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Dư nợ</c:v>
                </c:pt>
              </c:strCache>
            </c:strRef>
          </c:tx>
          <c:spPr>
            <a:ln w="28575">
              <a:solidFill>
                <a:srgbClr val="2E5B31"/>
              </a:solidFill>
            </a:ln>
          </c:spPr>
          <c:marker>
            <c:symbol val="diamond"/>
            <c:size val="5"/>
            <c:spPr>
              <a:solidFill>
                <a:srgbClr val="2E5B31"/>
              </a:solidFill>
              <a:ln>
                <a:solidFill>
                  <a:srgbClr val="2E5B31"/>
                </a:solidFill>
              </a:ln>
            </c:spPr>
          </c:marker>
          <c:cat>
            <c:strRef>
              <c:f>Sheet1!$A$2:$A$19</c:f>
              <c:strCache>
                <c:ptCount val="18"/>
                <c:pt idx="0">
                  <c:v>01/25</c:v>
                </c:pt>
                <c:pt idx="1">
                  <c:v>02/25</c:v>
                </c:pt>
                <c:pt idx="2">
                  <c:v>03/25</c:v>
                </c:pt>
                <c:pt idx="3">
                  <c:v>04/25</c:v>
                </c:pt>
                <c:pt idx="4">
                  <c:v>05/25</c:v>
                </c:pt>
                <c:pt idx="5">
                  <c:v>06/25</c:v>
                </c:pt>
                <c:pt idx="6">
                  <c:v>07/25</c:v>
                </c:pt>
                <c:pt idx="7">
                  <c:v>08/25</c:v>
                </c:pt>
                <c:pt idx="8">
                  <c:v>09/25</c:v>
                </c:pt>
                <c:pt idx="9">
                  <c:v>10/25</c:v>
                </c:pt>
                <c:pt idx="10">
                  <c:v>11/25</c:v>
                </c:pt>
                <c:pt idx="11">
                  <c:v>12/25</c:v>
                </c:pt>
                <c:pt idx="12">
                  <c:v>01/26</c:v>
                </c:pt>
                <c:pt idx="13">
                  <c:v>02/26</c:v>
                </c:pt>
                <c:pt idx="14">
                  <c:v>03/26</c:v>
                </c:pt>
                <c:pt idx="15">
                  <c:v>04/26</c:v>
                </c:pt>
                <c:pt idx="16">
                  <c:v>05/26</c:v>
                </c:pt>
                <c:pt idx="17">
                  <c:v>06/26</c:v>
                </c:pt>
              </c:strCache>
            </c:strRef>
          </c:cat>
          <c:val>
            <c:numRef>
              <c:f>Sheet1!$B$2:$B$19</c:f>
              <c:numCache>
                <c:formatCode>General</c:formatCode>
                <c:ptCount val="18"/>
                <c:pt idx="0">
                  <c:v>82.6</c:v>
                </c:pt>
                <c:pt idx="1">
                  <c:v>82.3</c:v>
                </c:pt>
                <c:pt idx="2">
                  <c:v>84.2</c:v>
                </c:pt>
                <c:pt idx="3">
                  <c:v>86.9</c:v>
                </c:pt>
                <c:pt idx="4">
                  <c:v>87.2</c:v>
                </c:pt>
                <c:pt idx="5">
                  <c:v>88.7</c:v>
                </c:pt>
                <c:pt idx="6">
                  <c:v>89.6</c:v>
                </c:pt>
                <c:pt idx="7">
                  <c:v>91.1</c:v>
                </c:pt>
                <c:pt idx="8">
                  <c:v>91.3</c:v>
                </c:pt>
                <c:pt idx="9">
                  <c:v>92.7</c:v>
                </c:pt>
                <c:pt idx="10">
                  <c:v>93.7</c:v>
                </c:pt>
                <c:pt idx="11">
                  <c:v>94.3</c:v>
                </c:pt>
                <c:pt idx="12">
                  <c:v>95.2</c:v>
                </c:pt>
                <c:pt idx="13">
                  <c:v>94.4</c:v>
                </c:pt>
                <c:pt idx="14">
                  <c:v>96.2</c:v>
                </c:pt>
                <c:pt idx="15">
                  <c:v>96.8</c:v>
                </c:pt>
                <c:pt idx="16">
                  <c:v>97.2</c:v>
                </c:pt>
                <c:pt idx="17">
                  <c:v>98.4</c:v>
                </c:pt>
              </c:numCache>
            </c:numRef>
          </c:val>
          <c:smooth val="0"/>
          <c:extLst>
            <c:ext xmlns:c16="http://schemas.microsoft.com/office/drawing/2014/chart" uri="{C3380CC4-5D6E-409C-BE32-E72D297353CC}">
              <c16:uniqueId val="{00000000-8266-4DB9-B1BA-3D7D7D3804F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E3E3E3"/>
              </a:solidFill>
            </a:ln>
          </c:spPr>
        </c:majorGridlines>
        <c:numFmt formatCode="0" sourceLinked="0"/>
        <c:majorTickMark val="out"/>
        <c:minorTickMark val="none"/>
        <c:tickLblPos val="nextTo"/>
        <c:txPr>
          <a:bodyPr/>
          <a:lstStyle/>
          <a:p>
            <a:pPr>
              <a:defRPr sz="900"/>
            </a:pPr>
            <a:endParaRPr lang="en-US"/>
          </a:p>
        </c:txPr>
        <c:crossAx val="2118791784"/>
        <c:crosses val="autoZero"/>
        <c:crossBetween val="between"/>
      </c:valAx>
    </c:plotArea>
    <c:plotVisOnly val="1"/>
    <c:dispBlanksAs val="gap"/>
    <c:showDLblsOverMax val="0"/>
  </c:chart>
  <c:txPr>
    <a:bodyPr/>
    <a:lstStyle/>
    <a:p>
      <a:pPr>
        <a:defRPr sz="900">
          <a:latin typeface="Times New Roman"/>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NII</c:v>
                </c:pt>
              </c:strCache>
            </c:strRef>
          </c:tx>
          <c:spPr>
            <a:ln w="28575">
              <a:solidFill>
                <a:srgbClr val="2E5B31"/>
              </a:solidFill>
            </a:ln>
          </c:spPr>
          <c:marker>
            <c:symbol val="diamond"/>
            <c:size val="5"/>
            <c:spPr>
              <a:solidFill>
                <a:srgbClr val="2E5B31"/>
              </a:solidFill>
              <a:ln>
                <a:solidFill>
                  <a:srgbClr val="2E5B31"/>
                </a:solidFill>
              </a:ln>
            </c:spPr>
          </c:marker>
          <c:cat>
            <c:strRef>
              <c:f>Sheet1!$A$2:$A$19</c:f>
              <c:strCache>
                <c:ptCount val="18"/>
                <c:pt idx="0">
                  <c:v>01/25</c:v>
                </c:pt>
                <c:pt idx="1">
                  <c:v>02/25</c:v>
                </c:pt>
                <c:pt idx="2">
                  <c:v>03/25</c:v>
                </c:pt>
                <c:pt idx="3">
                  <c:v>04/25</c:v>
                </c:pt>
                <c:pt idx="4">
                  <c:v>05/25</c:v>
                </c:pt>
                <c:pt idx="5">
                  <c:v>06/25</c:v>
                </c:pt>
                <c:pt idx="6">
                  <c:v>07/25</c:v>
                </c:pt>
                <c:pt idx="7">
                  <c:v>08/25</c:v>
                </c:pt>
                <c:pt idx="8">
                  <c:v>09/25</c:v>
                </c:pt>
                <c:pt idx="9">
                  <c:v>10/25</c:v>
                </c:pt>
                <c:pt idx="10">
                  <c:v>11/25</c:v>
                </c:pt>
                <c:pt idx="11">
                  <c:v>12/25</c:v>
                </c:pt>
                <c:pt idx="12">
                  <c:v>01/26</c:v>
                </c:pt>
                <c:pt idx="13">
                  <c:v>02/26</c:v>
                </c:pt>
                <c:pt idx="14">
                  <c:v>03/26</c:v>
                </c:pt>
                <c:pt idx="15">
                  <c:v>04/26</c:v>
                </c:pt>
                <c:pt idx="16">
                  <c:v>05/26</c:v>
                </c:pt>
                <c:pt idx="17">
                  <c:v>06/26</c:v>
                </c:pt>
              </c:strCache>
            </c:strRef>
          </c:cat>
          <c:val>
            <c:numRef>
              <c:f>Sheet1!$B$2:$B$19</c:f>
              <c:numCache>
                <c:formatCode>General</c:formatCode>
                <c:ptCount val="18"/>
                <c:pt idx="0">
                  <c:v>126.2</c:v>
                </c:pt>
                <c:pt idx="1">
                  <c:v>126.9</c:v>
                </c:pt>
                <c:pt idx="2">
                  <c:v>128.4</c:v>
                </c:pt>
                <c:pt idx="3">
                  <c:v>131.80000000000001</c:v>
                </c:pt>
                <c:pt idx="4">
                  <c:v>133.69999999999999</c:v>
                </c:pt>
                <c:pt idx="5">
                  <c:v>133.69999999999999</c:v>
                </c:pt>
                <c:pt idx="6">
                  <c:v>133.19999999999999</c:v>
                </c:pt>
                <c:pt idx="7">
                  <c:v>132.9</c:v>
                </c:pt>
                <c:pt idx="8">
                  <c:v>131.80000000000001</c:v>
                </c:pt>
                <c:pt idx="9">
                  <c:v>130.6</c:v>
                </c:pt>
                <c:pt idx="10">
                  <c:v>130.69999999999999</c:v>
                </c:pt>
                <c:pt idx="11">
                  <c:v>132.1</c:v>
                </c:pt>
                <c:pt idx="12">
                  <c:v>133.4</c:v>
                </c:pt>
                <c:pt idx="13">
                  <c:v>134</c:v>
                </c:pt>
                <c:pt idx="14">
                  <c:v>134.69999999999999</c:v>
                </c:pt>
                <c:pt idx="15">
                  <c:v>134.69999999999999</c:v>
                </c:pt>
                <c:pt idx="16">
                  <c:v>133.80000000000001</c:v>
                </c:pt>
                <c:pt idx="17">
                  <c:v>131.9</c:v>
                </c:pt>
              </c:numCache>
            </c:numRef>
          </c:val>
          <c:smooth val="0"/>
          <c:extLst>
            <c:ext xmlns:c16="http://schemas.microsoft.com/office/drawing/2014/chart" uri="{C3380CC4-5D6E-409C-BE32-E72D297353CC}">
              <c16:uniqueId val="{00000000-F5F6-45E1-9108-E284F471A389}"/>
            </c:ext>
          </c:extLst>
        </c:ser>
        <c:ser>
          <c:idx val="1"/>
          <c:order val="1"/>
          <c:tx>
            <c:strRef>
              <c:f>Sheet1!$C$1</c:f>
              <c:strCache>
                <c:ptCount val="1"/>
                <c:pt idx="0">
                  <c:v>TOI</c:v>
                </c:pt>
              </c:strCache>
            </c:strRef>
          </c:tx>
          <c:spPr>
            <a:ln w="28575">
              <a:solidFill>
                <a:srgbClr val="123A7A"/>
              </a:solidFill>
            </a:ln>
          </c:spPr>
          <c:marker>
            <c:symbol val="square"/>
            <c:size val="5"/>
            <c:spPr>
              <a:solidFill>
                <a:srgbClr val="123A7A"/>
              </a:solidFill>
              <a:ln>
                <a:solidFill>
                  <a:srgbClr val="123A7A"/>
                </a:solidFill>
              </a:ln>
            </c:spPr>
          </c:marker>
          <c:cat>
            <c:strRef>
              <c:f>Sheet1!$A$2:$A$19</c:f>
              <c:strCache>
                <c:ptCount val="18"/>
                <c:pt idx="0">
                  <c:v>01/25</c:v>
                </c:pt>
                <c:pt idx="1">
                  <c:v>02/25</c:v>
                </c:pt>
                <c:pt idx="2">
                  <c:v>03/25</c:v>
                </c:pt>
                <c:pt idx="3">
                  <c:v>04/25</c:v>
                </c:pt>
                <c:pt idx="4">
                  <c:v>05/25</c:v>
                </c:pt>
                <c:pt idx="5">
                  <c:v>06/25</c:v>
                </c:pt>
                <c:pt idx="6">
                  <c:v>07/25</c:v>
                </c:pt>
                <c:pt idx="7">
                  <c:v>08/25</c:v>
                </c:pt>
                <c:pt idx="8">
                  <c:v>09/25</c:v>
                </c:pt>
                <c:pt idx="9">
                  <c:v>10/25</c:v>
                </c:pt>
                <c:pt idx="10">
                  <c:v>11/25</c:v>
                </c:pt>
                <c:pt idx="11">
                  <c:v>12/25</c:v>
                </c:pt>
                <c:pt idx="12">
                  <c:v>01/26</c:v>
                </c:pt>
                <c:pt idx="13">
                  <c:v>02/26</c:v>
                </c:pt>
                <c:pt idx="14">
                  <c:v>03/26</c:v>
                </c:pt>
                <c:pt idx="15">
                  <c:v>04/26</c:v>
                </c:pt>
                <c:pt idx="16">
                  <c:v>05/26</c:v>
                </c:pt>
                <c:pt idx="17">
                  <c:v>06/26</c:v>
                </c:pt>
              </c:strCache>
            </c:strRef>
          </c:cat>
          <c:val>
            <c:numRef>
              <c:f>Sheet1!$C$2:$C$19</c:f>
              <c:numCache>
                <c:formatCode>General</c:formatCode>
                <c:ptCount val="18"/>
                <c:pt idx="0">
                  <c:v>179.1</c:v>
                </c:pt>
                <c:pt idx="1">
                  <c:v>181.3</c:v>
                </c:pt>
                <c:pt idx="2">
                  <c:v>179</c:v>
                </c:pt>
                <c:pt idx="3">
                  <c:v>189</c:v>
                </c:pt>
                <c:pt idx="4">
                  <c:v>185.3</c:v>
                </c:pt>
                <c:pt idx="5">
                  <c:v>188.7</c:v>
                </c:pt>
                <c:pt idx="6">
                  <c:v>189.1</c:v>
                </c:pt>
                <c:pt idx="7">
                  <c:v>188.9</c:v>
                </c:pt>
                <c:pt idx="8">
                  <c:v>180.4</c:v>
                </c:pt>
                <c:pt idx="9">
                  <c:v>190.6</c:v>
                </c:pt>
                <c:pt idx="10">
                  <c:v>184.3</c:v>
                </c:pt>
                <c:pt idx="11">
                  <c:v>194.7</c:v>
                </c:pt>
                <c:pt idx="12">
                  <c:v>194.8</c:v>
                </c:pt>
                <c:pt idx="13">
                  <c:v>195.5</c:v>
                </c:pt>
                <c:pt idx="14">
                  <c:v>192.7</c:v>
                </c:pt>
                <c:pt idx="15">
                  <c:v>194.9</c:v>
                </c:pt>
                <c:pt idx="16">
                  <c:v>189.3</c:v>
                </c:pt>
                <c:pt idx="17">
                  <c:v>198.4</c:v>
                </c:pt>
              </c:numCache>
            </c:numRef>
          </c:val>
          <c:smooth val="0"/>
          <c:extLst>
            <c:ext xmlns:c16="http://schemas.microsoft.com/office/drawing/2014/chart" uri="{C3380CC4-5D6E-409C-BE32-E72D297353CC}">
              <c16:uniqueId val="{00000001-F5F6-45E1-9108-E284F471A38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E3E3E3"/>
              </a:solidFill>
            </a:ln>
          </c:spPr>
        </c:majorGridlines>
        <c:numFmt formatCode="0" sourceLinked="0"/>
        <c:majorTickMark val="out"/>
        <c:minorTickMark val="none"/>
        <c:tickLblPos val="nextTo"/>
        <c:txPr>
          <a:bodyPr/>
          <a:lstStyle/>
          <a:p>
            <a:pPr>
              <a:defRPr sz="900"/>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latin typeface="Times New Roman"/>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OD2</c:v>
                </c:pt>
              </c:strCache>
            </c:strRef>
          </c:tx>
          <c:spPr>
            <a:ln w="28575">
              <a:solidFill>
                <a:srgbClr val="123A7A"/>
              </a:solidFill>
            </a:ln>
          </c:spPr>
          <c:marker>
            <c:symbol val="diamond"/>
            <c:size val="5"/>
            <c:spPr>
              <a:solidFill>
                <a:srgbClr val="123A7A"/>
              </a:solidFill>
              <a:ln>
                <a:solidFill>
                  <a:srgbClr val="123A7A"/>
                </a:solidFill>
              </a:ln>
            </c:spPr>
          </c:marker>
          <c:cat>
            <c:strRef>
              <c:f>Sheet1!$A$2:$A$19</c:f>
              <c:strCache>
                <c:ptCount val="18"/>
                <c:pt idx="0">
                  <c:v>01/25</c:v>
                </c:pt>
                <c:pt idx="1">
                  <c:v>02/25</c:v>
                </c:pt>
                <c:pt idx="2">
                  <c:v>03/25</c:v>
                </c:pt>
                <c:pt idx="3">
                  <c:v>04/25</c:v>
                </c:pt>
                <c:pt idx="4">
                  <c:v>05/25</c:v>
                </c:pt>
                <c:pt idx="5">
                  <c:v>06/25</c:v>
                </c:pt>
                <c:pt idx="6">
                  <c:v>07/25</c:v>
                </c:pt>
                <c:pt idx="7">
                  <c:v>08/25</c:v>
                </c:pt>
                <c:pt idx="8">
                  <c:v>09/25</c:v>
                </c:pt>
                <c:pt idx="9">
                  <c:v>10/25</c:v>
                </c:pt>
                <c:pt idx="10">
                  <c:v>11/25</c:v>
                </c:pt>
                <c:pt idx="11">
                  <c:v>12/25</c:v>
                </c:pt>
                <c:pt idx="12">
                  <c:v>01/26</c:v>
                </c:pt>
                <c:pt idx="13">
                  <c:v>02/26</c:v>
                </c:pt>
                <c:pt idx="14">
                  <c:v>03/26</c:v>
                </c:pt>
                <c:pt idx="15">
                  <c:v>04/26</c:v>
                </c:pt>
                <c:pt idx="16">
                  <c:v>05/26</c:v>
                </c:pt>
                <c:pt idx="17">
                  <c:v>06/26</c:v>
                </c:pt>
              </c:strCache>
            </c:strRef>
          </c:cat>
          <c:val>
            <c:numRef>
              <c:f>Sheet1!$B$2:$B$19</c:f>
              <c:numCache>
                <c:formatCode>General</c:formatCode>
                <c:ptCount val="18"/>
                <c:pt idx="0">
                  <c:v>0.6</c:v>
                </c:pt>
                <c:pt idx="1">
                  <c:v>0.62</c:v>
                </c:pt>
                <c:pt idx="2">
                  <c:v>0.87</c:v>
                </c:pt>
                <c:pt idx="3">
                  <c:v>0.61</c:v>
                </c:pt>
                <c:pt idx="4">
                  <c:v>0.79</c:v>
                </c:pt>
                <c:pt idx="5">
                  <c:v>0.81</c:v>
                </c:pt>
                <c:pt idx="6">
                  <c:v>0.85</c:v>
                </c:pt>
                <c:pt idx="7">
                  <c:v>1.05</c:v>
                </c:pt>
                <c:pt idx="8">
                  <c:v>1.21</c:v>
                </c:pt>
                <c:pt idx="9">
                  <c:v>1.17</c:v>
                </c:pt>
                <c:pt idx="10">
                  <c:v>0.67</c:v>
                </c:pt>
                <c:pt idx="11">
                  <c:v>0.93</c:v>
                </c:pt>
                <c:pt idx="12">
                  <c:v>1.1200000000000001</c:v>
                </c:pt>
                <c:pt idx="13">
                  <c:v>1.51</c:v>
                </c:pt>
                <c:pt idx="14">
                  <c:v>1.06</c:v>
                </c:pt>
                <c:pt idx="15">
                  <c:v>1.4</c:v>
                </c:pt>
                <c:pt idx="16">
                  <c:v>1.4</c:v>
                </c:pt>
                <c:pt idx="17">
                  <c:v>0.94</c:v>
                </c:pt>
              </c:numCache>
            </c:numRef>
          </c:val>
          <c:smooth val="0"/>
          <c:extLst>
            <c:ext xmlns:c16="http://schemas.microsoft.com/office/drawing/2014/chart" uri="{C3380CC4-5D6E-409C-BE32-E72D297353CC}">
              <c16:uniqueId val="{00000000-B117-4A49-9230-4AF3C2D80DD9}"/>
            </c:ext>
          </c:extLst>
        </c:ser>
        <c:ser>
          <c:idx val="1"/>
          <c:order val="1"/>
          <c:tx>
            <c:strRef>
              <c:f>Sheet1!$C$1</c:f>
              <c:strCache>
                <c:ptCount val="1"/>
                <c:pt idx="0">
                  <c:v>OD3-5</c:v>
                </c:pt>
              </c:strCache>
            </c:strRef>
          </c:tx>
          <c:spPr>
            <a:ln w="28575">
              <a:solidFill>
                <a:srgbClr val="C00000"/>
              </a:solidFill>
            </a:ln>
          </c:spPr>
          <c:marker>
            <c:symbol val="square"/>
            <c:size val="5"/>
            <c:spPr>
              <a:solidFill>
                <a:srgbClr val="C00000"/>
              </a:solidFill>
              <a:ln>
                <a:solidFill>
                  <a:srgbClr val="C00000"/>
                </a:solidFill>
              </a:ln>
            </c:spPr>
          </c:marker>
          <c:cat>
            <c:strRef>
              <c:f>Sheet1!$A$2:$A$19</c:f>
              <c:strCache>
                <c:ptCount val="18"/>
                <c:pt idx="0">
                  <c:v>01/25</c:v>
                </c:pt>
                <c:pt idx="1">
                  <c:v>02/25</c:v>
                </c:pt>
                <c:pt idx="2">
                  <c:v>03/25</c:v>
                </c:pt>
                <c:pt idx="3">
                  <c:v>04/25</c:v>
                </c:pt>
                <c:pt idx="4">
                  <c:v>05/25</c:v>
                </c:pt>
                <c:pt idx="5">
                  <c:v>06/25</c:v>
                </c:pt>
                <c:pt idx="6">
                  <c:v>07/25</c:v>
                </c:pt>
                <c:pt idx="7">
                  <c:v>08/25</c:v>
                </c:pt>
                <c:pt idx="8">
                  <c:v>09/25</c:v>
                </c:pt>
                <c:pt idx="9">
                  <c:v>10/25</c:v>
                </c:pt>
                <c:pt idx="10">
                  <c:v>11/25</c:v>
                </c:pt>
                <c:pt idx="11">
                  <c:v>12/25</c:v>
                </c:pt>
                <c:pt idx="12">
                  <c:v>01/26</c:v>
                </c:pt>
                <c:pt idx="13">
                  <c:v>02/26</c:v>
                </c:pt>
                <c:pt idx="14">
                  <c:v>03/26</c:v>
                </c:pt>
                <c:pt idx="15">
                  <c:v>04/26</c:v>
                </c:pt>
                <c:pt idx="16">
                  <c:v>05/26</c:v>
                </c:pt>
                <c:pt idx="17">
                  <c:v>06/26</c:v>
                </c:pt>
              </c:strCache>
            </c:strRef>
          </c:cat>
          <c:val>
            <c:numRef>
              <c:f>Sheet1!$C$2:$C$19</c:f>
              <c:numCache>
                <c:formatCode>General</c:formatCode>
                <c:ptCount val="18"/>
                <c:pt idx="0">
                  <c:v>2.15</c:v>
                </c:pt>
                <c:pt idx="1">
                  <c:v>2.17</c:v>
                </c:pt>
                <c:pt idx="2">
                  <c:v>2.15</c:v>
                </c:pt>
                <c:pt idx="3">
                  <c:v>2.15</c:v>
                </c:pt>
                <c:pt idx="4">
                  <c:v>2.13</c:v>
                </c:pt>
                <c:pt idx="5">
                  <c:v>2.12</c:v>
                </c:pt>
                <c:pt idx="6">
                  <c:v>2.13</c:v>
                </c:pt>
                <c:pt idx="7">
                  <c:v>2.14</c:v>
                </c:pt>
                <c:pt idx="8">
                  <c:v>2.2200000000000002</c:v>
                </c:pt>
                <c:pt idx="9">
                  <c:v>2.2200000000000002</c:v>
                </c:pt>
                <c:pt idx="10">
                  <c:v>2.2599999999999998</c:v>
                </c:pt>
                <c:pt idx="11">
                  <c:v>2.19</c:v>
                </c:pt>
                <c:pt idx="12">
                  <c:v>2.06</c:v>
                </c:pt>
                <c:pt idx="13">
                  <c:v>1.99</c:v>
                </c:pt>
                <c:pt idx="14">
                  <c:v>2.09</c:v>
                </c:pt>
                <c:pt idx="15">
                  <c:v>2.27</c:v>
                </c:pt>
                <c:pt idx="16">
                  <c:v>2.38</c:v>
                </c:pt>
                <c:pt idx="17">
                  <c:v>2.63</c:v>
                </c:pt>
              </c:numCache>
            </c:numRef>
          </c:val>
          <c:smooth val="0"/>
          <c:extLst>
            <c:ext xmlns:c16="http://schemas.microsoft.com/office/drawing/2014/chart" uri="{C3380CC4-5D6E-409C-BE32-E72D297353CC}">
              <c16:uniqueId val="{00000001-B117-4A49-9230-4AF3C2D80DD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a:lstStyle/>
          <a:p>
            <a:pPr>
              <a:defRPr sz="900"/>
            </a:pPr>
            <a:endParaRPr lang="en-US"/>
          </a:p>
        </c:txPr>
        <c:crossAx val="2140495176"/>
        <c:crosses val="autoZero"/>
        <c:auto val="1"/>
        <c:lblAlgn val="ctr"/>
        <c:lblOffset val="100"/>
        <c:noMultiLvlLbl val="0"/>
      </c:catAx>
      <c:valAx>
        <c:axId val="2140495176"/>
        <c:scaling>
          <c:orientation val="minMax"/>
        </c:scaling>
        <c:delete val="0"/>
        <c:axPos val="l"/>
        <c:majorGridlines>
          <c:spPr>
            <a:ln>
              <a:solidFill>
                <a:srgbClr val="E3E3E3"/>
              </a:solidFill>
            </a:ln>
          </c:spPr>
        </c:majorGridlines>
        <c:numFmt formatCode="0.0" sourceLinked="0"/>
        <c:majorTickMark val="out"/>
        <c:minorTickMark val="none"/>
        <c:tickLblPos val="nextTo"/>
        <c:txPr>
          <a:bodyPr/>
          <a:lstStyle/>
          <a:p>
            <a:pPr>
              <a:defRPr sz="900"/>
            </a:pPr>
            <a:endParaRPr lang="en-US"/>
          </a:p>
        </c:txPr>
        <c:crossAx val="2118791784"/>
        <c:crosses val="autoZero"/>
        <c:crossBetween val="between"/>
      </c:valAx>
    </c:plotArea>
    <c:legend>
      <c:legendPos val="b"/>
      <c:overlay val="0"/>
      <c:txPr>
        <a:bodyPr/>
        <a:lstStyle/>
        <a:p>
          <a:pPr>
            <a:defRPr sz="900"/>
          </a:pPr>
          <a:endParaRPr lang="en-US"/>
        </a:p>
      </c:txPr>
    </c:legend>
    <c:plotVisOnly val="1"/>
    <c:dispBlanksAs val="gap"/>
    <c:showDLblsOverMax val="0"/>
  </c:chart>
  <c:txPr>
    <a:bodyPr/>
    <a:lstStyle/>
    <a:p>
      <a:pPr>
        <a:defRPr sz="9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Project Dashboard Power BI và Báo cáo phân tích Hiệu suất kinh doanh &amp; Chất lượng tín dụng cho vay KHDN. Mục tiêu: hướng dẫn học viên xây dựng dashboard Power BI 4 trang và hoàn thiện báo cáo phân tích 8 phần.</a:t>
            </a:r>
            <a:endParaRPr/>
          </a:p>
        </p:txBody>
      </p:sp>
      <p:sp>
        <p:nvSpPr>
          <p:cNvPr id="90" name="Google Shape;9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Mạch xuyên suốt của kịch bản: hiểu nghiệp vụ → nắm hệ thống chỉ tiêu → hiểu dữ liệu và mô hình → khám phá hình thái dữ liệu → xây dựng measure DAX → thiết kế dashboard và hình thành lập luận phân tích → hoàn thiện sản phẩm và đánh giá.</a:t>
            </a:r>
            <a:endParaRPr/>
          </a:p>
        </p:txBody>
      </p:sp>
      <p:sp>
        <p:nvSpPr>
          <p:cNvPr id="113" name="Google Shape;11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Mở đầu bằng tình huống thực tế: chỉ còn 10 phút trước giờ giao ban, lãnh đạo Khối KHDN cần nhanh chóng trả lời ba câu hỏi: (1) Dư nợ hiện tại là bao nhiêu và biến động như thế nào? (2) Danh mục cho vay đang tạo ra bao nhiêu thu nhập? (3) Khoản vay nào đang phát sinh dấu hiệu rủi ro hoặc có nguy cơ không trả được nợ? Người phân tích dữ liệu tín dụng là người hỗ trợ trả lời ba câu hỏi này bằng dữ liệu. Để diễn giải đúng các con số, trước hết cần hiểu chúng được hình thành từ đâu. Trình tự: mô hình tạo thu nhập của ngân hàng → quy trình cho vay → khác biệt KHDN và KHCN → công việc phân tích dữ liệu tín dụng → vai trò của dashboard.</a:t>
            </a:r>
            <a:endParaRPr/>
          </a:p>
        </p:txBody>
      </p:sp>
      <p:sp>
        <p:nvSpPr>
          <p:cNvPr id="135" name="Google Shape;13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Ngân hàng đóng vai trò trung gian tài chính: huy động tiền gửi với lãi suất thấp hơn và cho doanh nghiệp vay với lãi suất cao hơn. Phần chênh lệch tạo ra nguồn thu nhập chính, đồng thời bù đắp cho các rủi ro ngân hàng phải gánh chịu: rủi ro khách hàng không trả được nợ, rủi ro thanh khoản khi người gửi rút tiền và rủi ro do biến động lãi suất thị trường. Tiền gửi là nghĩa vụ nợ của ngân hàng, trong khi các khoản cho vay là tài sản sinh lời. Vì vậy, tăng trưởng dư nợ chưa đồng nghĩa với kết quả tích cực. Ba chỉ tiêu thu nhập cần ghi nhớ (công thức chi tiết ở Phần 3): NII, NFI, TOI = NII + NFI.</a:t>
            </a:r>
            <a:endParaRPr/>
          </a:p>
        </p:txBody>
      </p:sp>
      <p:sp>
        <p:nvSpPr>
          <p:cNvPr id="175" name="Google Shape;17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Một khoản vay đi qua 6 bước chính; mỗi bước tạo ra một nhóm dữ liệu phục vụ các mục đích phân tích khác nhau: (1) Tiếp cận khách hàng: ghi nhận thông tin khách hàng và phân khúc. (2) Thẩm định: báo cáo tài chính, tài sản bảo đảm, điểm/xếp hạng tín dụng. (3) Phê duyệt: hạn mức được cấp, lãi suất, chương trình ưu đãi (nếu có). (4) Giải ngân: số tiền đã cho vay (dư nợ) và kỳ hạn. (5) Theo dõi sau vay: tình trạng trả nợ, số ngày quá hạn, khoản sắp đến hạn. (6) Thu nợ / tất toán: khoản vay kết thúc khi hoàn thành nghĩa vụ; nếu khách hàng không trả được nợ, khoản vay chuyển sang quy trình xử lý nợ. Ba nhóm chức năng: kinh doanh (ĐVKD, RM) tìm khách hàng và thực hiện chỉ tiêu; thẩm định và quản lý rủi ro đánh giá mức độ an toàn; vận hành thực hiện giải ngân và hỗ trợ theo dõi. Điểm cần nhớ: dashboard dùng dữ liệu từ bước 4 trở đi.</a:t>
            </a:r>
            <a:endParaRPr/>
          </a:p>
        </p:txBody>
      </p:sp>
      <p:sp>
        <p:nvSpPr>
          <p:cNvPr id="218" name="Google Shape;21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So sánh theo các tiêu chí: Khách hàng và khoản vay: KHDN ít khách hàng nhưng quy mô khoản vay lớn, đặc điểm từng khoản đa dạng; KHCN số lượng khách hàng lớn, khoản vay nhỏ hơn, sản phẩm chuẩn hóa cao. Thẩm định: KHDN dựa nhiều vào báo cáo tài chính, phương án kinh doanh, xếp hạng tín dụng, tài sản bảo đảm; KHCN chủ yếu dựa trên thu nhập và mô hình chấm điểm tự động. Sản phẩm và phân khúc: KHDN gồm vay vốn lưu động, vay trung và dài hạn, UPAS, bảo lãnh; phân khúc thường dựa trên doanh thu như SME, MM, CIB. KHCN gồm vay mua nhà, mua xe, tiêu dùng, thẻ. Rủi ro: KHDN có mức độ tập trung cao, một khoản vay xấu có thể ảnh hưởng đáng kể đến toàn danh mục nên cần phân tích theo khách hàng lớn, ĐVKD lớn và đi sâu đến từng khoản vay; KHCN rủi ro phân tán hơn, thường đánh giá bằng thống kê, vintage và mô hình. Ví dụ ở Phần 7: tỷ lệ OD3-5 tăng [x] điểm phần trăm và toàn bộ mức tăng đến từ một khoản vay nhóm 5.</a:t>
            </a:r>
            <a:endParaRPr/>
          </a:p>
        </p:txBody>
      </p:sp>
      <p:sp>
        <p:nvSpPr>
          <p:cNvPr id="272" name="Google Shape;27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Bốn vị trí thường gặp: Chuyên viên MIS / Phân tích kinh doanh (Khối KHDN, Kế hoạch): theo dõi dư nợ và NII/TOI theo ĐVKD. Chuyên viên phân tích danh mục / rủi ro tín dụng (Quản lý rủi ro): theo dõi nhóm nợ, cảnh báo sớm và mức độ tập trung tín dụng. Chuyên viên mô hình rủi ro: xây dựng và theo dõi các mô hình PD, LGD, scorecard; công việc thường nghiêng nhiều hơn về KHCN. Data Analyst / BI Developer (Khối Dữ liệu, CNTT): xây dựng data mart, dashboard và tự động hóa quy trình báo cáo. Một ngày làm việc điển hình: dữ liệu chốt ngày được cập nhật → đối chiếu với core banking → refresh dashboard → tổng hợp 3–5 nhận định chính gửi lãnh đạo trước giao ban → trả lời các câu hỏi phát sinh, chẳng hạn “vì sao dư nợ của ĐVKD X giảm?”.</a:t>
            </a:r>
            <a:endParaRPr/>
          </a:p>
        </p:txBody>
      </p:sp>
      <p:sp>
        <p:nvSpPr>
          <p:cNvPr id="305" name="Google Shape;30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Sử dụng 1–2 JD thực tế, ẩn tên ngân hàng, sau đó chuyển từng yêu cầu thành các đầu việc cụ thể: “Xây dựng hệ thống báo cáo quản trị định kỳ” → báo cáo dư nợ, NII theo ngày/tuần/tháng cho lãnh đạo khối; đây là một trong những dạng dashboard thực hành trong khóa. “Phân tích, cảnh báo chất lượng danh mục” → theo dõi OD2, OD3-5 theo ĐVKD để cảnh báo sớm. “Đề xuất giải pháp dựa trên dữ liệu” → chuyển kết quả thành Finding, Insight, Recommendation (Phần 7). “Thành thạo SQL, Power BI/Tableau, Excel” → SQL truy xuất dữ liệu, DAX xây dựng chỉ tiêu, Excel đối chiếu số liệu. “Hiểu nghiệp vụ tín dụng là lợi thế” → thực tế là nền tảng cần thiết; nếu không phân biệt chỉ tiêu số dư và phát sinh, người phân tích có thể cộng dồn dư nợ sai bản chất.</a:t>
            </a:r>
            <a:endParaRPr/>
          </a:p>
        </p:txBody>
      </p:sp>
      <p:sp>
        <p:nvSpPr>
          <p:cNvPr id="345" name="Google Shape;34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Ba câu hỏi ban đầu của lãnh đạo được chuyển hóa thành ba trang phân tích chuyên sâu, kết hợp với một trang tổng quan. Mỗi trang phục vụ một nhóm người dùng và một nhóm quyết định cụ thể: Trang Dư nợ phục vụ lãnh đạo khối theo dõi quy mô và cơ cấu dư nợ theo kỳ hạn, phân khúc, ngành, sản phẩm, ĐVKD. Trang NII/TOI phục vụ lãnh đạo khối và giám đốc ĐVKD xem xét chính sách ưu đãi lãi suất và cơ cấu sản phẩm. Trang CLTD phục vụ bộ phận quản lý rủi ro giám sát các khoản vay cụ thể và xem xét biện pháp kiểm soát tín dụng. Trang Tổng quan tích hợp ba góc nhìn để lãnh đạo nắm nhanh toàn danh mục trong khoảng 10 phút. Câu chuyển sang Phần 2: “Đây chính là sản phẩm các bạn sẽ xây dựng, đồng thời cũng phản ánh một phần công việc hằng ngày của chuyên viên MIS tín dụng.”</a:t>
            </a:r>
            <a:endParaRPr/>
          </a:p>
        </p:txBody>
      </p:sp>
      <p:sp>
        <p:nvSpPr>
          <p:cNvPr id="372" name="Google Shape;37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Nêu rõ hai sản phẩm cần nộp: file Power BI và báo cáo phân tích. Bộ lọc dùng chung cho cả 4 trang: Tháng báo cáo (chọn một, mặc định là tháng mới nhất), Phân khúc (chọn nhiều) và Sản phẩm (chọn một). Các slide tiếp theo nêu yêu cầu tối thiểu của từng trang.</a:t>
            </a:r>
          </a:p>
        </p:txBody>
      </p:sp>
      <p:sp>
        <p:nvSpPr>
          <p:cNvPr id="403" name="Google Shape;40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Tổng quan: các thẻ KPI gồm dư nợ hiện tại, DNBQ YTD (optional) hiện tại, NII YTD, TOI YTD, tỷ lệ OD2 hiện tại, tỷ lệ OD3-5 hiện tại. Mỗi thẻ bao gồm chỉ số thời điểm hiện tại, so sánh cuối tháng trước (Last Month) và so sánh cùng tháng năm trước (Last Year); riêng thẻ NII YTD và TOI YTD so sánh YTD đến cuối tháng trước và YTD cùng kỳ năm trước. Ba line chart: xu hướng dư nợ theo tháng; xu hướng NII, TOI theo tháng; xu hướng tỷ lệ OD2, OD3-5 theo tháng.</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Dư nợ: thẻ KPI dư nợ hiện tại và DNBQ YTD (optional) (mỗi thẻ gồm hiện tại, cuối tháng trước, cùng tháng năm trước); table dư nợ theo kỳ hạn kèm cột so sánh cuối tháng trước, cùng tháng năm trước và cột thay đổi (▲/▼, xanh/đỏ như thẻ KPI); pie chart dư nợ theo phân khúc; treemap dư nợ theo ngành; bar chart theo sản phẩm; table Top 10 ĐVKD có quy mô dư nợ cao nhất, thêm cột so sánh cuối tháng trước, cùng tháng năm trước và cột thay đổi.</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NII/TOI: nửa trên thuộc NII gồm thẻ NII YTD (chỉ số YTD, so sánh YTD đến cuối tháng trước/Last Month, so sánh YTD cùng kỳ năm trước/Last Year), pie chart NII YTD theo phân khúc, line chart NII YTD xu hướng theo tháng, table Top 10 khách hàng có NII YTD cao nhất, treemap Top 10 ĐVKD có NII YTD cao nhất. Nửa dưới thuộc TOI với cùng cấu trúc cho TOI YTD.</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CLTD: thẻ tỷ lệ OD2, tỷ lệ OD3-5, quy mô dư nợ OD2, quy mô dư nợ OD3-5 (mỗi thẻ gồm hiện tại, cuối tháng trước, cùng tháng năm trước); stacked bar chart phân bổ nhóm nợ theo Top 10 ngành quy mô dư nợ lớn nhất; table tỷ lệ OD2, OD3-5 theo Top 10 ĐVKD kèm các cột so sánh cuối tháng trước, cùng tháng năm trước và cột thay đổi tính bằng điểm phần trăm (▲/▼, màu đảo vì tăng là xấu); line chart tỷ lệ OD2 theo tháng; line chart tỷ lệ OD3-5 theo tháng.</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Bảng phân loại để học viên tự rà soát. Bắt buộc: các yêu cầu tối thiểu của 4 trang, slicer dùng chung, so sánh trên thẻ KPI, biểu đồ đường không bị slicer Tháng lọc, số liệu khớp bảng đối soát. Nên có: nút Đặt lại, caption Hình N, ghi rõ đơn vị, điều hướng, màu đảo. Sáng tạo: tooltip, drill-through, các bảng bổ sung fact_plan, fact_due_soon, fact_debt_group_cic, phân tích chương trình ưu đãi, tài sản bảo đảm, vòng đời khoản vay (xem mục 7.4 hướng dẫn).</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Trước khi xem dữ liệu hoặc viết công thức, cần làm rõ ý nghĩa của từng chỉ tiêu; định nghĩa và quy tắc tính toán là nền tảng nghiệp vụ, không phụ thuộc công cụ triển khai. Quy mô: dư nợ cuối kỳ, DNBQ YTD (optional: bình quân của DNBQ các tháng từ đầu năm đến tháng báo cáo), biến động so với cuối tháng trước và cùng tháng năm trước. Sinh lời: NII, NFI, TOI = NII + NFI, lũy kế YTD và so sánh với YTD đến cuối tháng trước và YTD cùng kỳ năm trước. Chất lượng tín dụng: OD2 (nợ nhóm 2), OD3-5 (nợ nhóm 3 đến 5) cùng quy mô dư nợ tương ứng.</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Ba quy tắc nền tảng: (1) Phân biệt chỉ tiêu số dư và chỉ tiêu phát sinh: dư nợ chỉ lấy tại một ngày chốt cụ thể, không cộng dồn qua nhiều ngày; NII, NFI, TOI cộng dồn trong kỳ. (2) Thống nhất đơn vị đo: quy đổi nhất quán giữa VNĐ, triệu đồng và tỷ đồng; mỗi chỉ tiêu dùng một đơn vị xác định và ghi rõ trên biểu đồ. (3) Phân biệt ba mốc thời gian: ngày báo cáo (người dùng chọn), ngày dữ liệu mới nhất (ngày chốt gần nhất có dữ liệu) và ngày chốt của kỳ so sánh (cuối tháng trước và cùng tháng năm trước; với chỉ tiêu lũy kế YTD là YTD đến cuối tháng trước và YTD cùng kỳ năm trước).</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Trình bày định nghĩa và công thức toán học của nhóm Quy mô, kèm ví dụ tính tay để kiểm chứng. Dư nợ cuối kỳ là số dư tại ngày chốt. DNBQ YTD (optional) là bình quân của DNBQ các tháng từ đầu năm đến tháng báo cáo, tức tổng DNBQ các tháng chia cho số tháng đã qua. Biến động so với cuối tháng trước và cùng tháng năm trước. Ví dụ: DNBQ của tháng là 116,7 trong khi dư nợ cuối tháng là 110. Khi so sánh hai tỷ lệ, phần chênh lệch cần được diễn giải theo điểm phần trăm.</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Sinh lời gồm NII, NFI, TOI = NII + NFI, tính lũy kế từ đầu năm (YTD) và so sánh với YTD đến cuối tháng trước và YTD cùng kỳ năm trước. Các chỉ tiêu phát sinh cộng dồn trong kỳ. Tại tháng 1, YTD của tháng trước chính là cả năm trước nên phép so sánh vô nghĩa và measure trả về trống. Lưu ý trao đổi với học viên: so YTD với YTD cuối tháng trước luôn tăng vì YTD cộng thêm một tháng; ý nghĩa thực của thẻ này nằm ở mức tăng của riêng tháng.</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Chất lượng tín dụng gồm tỷ lệ nợ cần chú ý (OD2, nợ nhóm 2), tỷ lệ nợ xấu (OD3-5, nợ nhóm 3 đến 5) cùng quy mô dư nợ tương ứng. Nhóm nợ chuyển dần theo số ngày quá hạn: nhóm 2 từ 10 đến 90 ngày, nhóm 3 từ 91 đến 180, nhóm 4 từ 181 đến 360, nhóm 5 trên 360 ngày. Khi so sánh hai tỷ lệ, phần chênh lệch được diễn giải theo điểm phần trăm; chỉ tiêu OD áp dụng quy tắc màu đảo.</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Tám quy tắc chung về diễn giải và hiển thị, tổng hợp từ hướng dẫn xây dựng dashboard: ghi đơn vị; ghi ngày chốt; màu thông thường (tăng là tốt); màu đảo cho OD (tăng là xấu); ký hiệu ▲/▼ và dấu “–” khi không có kỳ so sánh; cách so sánh (phần trăm thay đổi cho quy mô và thu nhập, điểm phần trăm cho tỷ lệ); tên cột tiếng Việt; caption “Hình N” không chứa nhận định.</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Bộ dữ liệu AIV Bank KHDN (dữ liệu giả lập, 10.000 khách hàng, ngày dữ liệu mới nhất 30/06/2026) gồm 2 bảng fact, 9 bảng dim và 3 bảng bổ sung cho phần sáng tạo; từ điển dữ liệu ở sheet Data_Dictionary. Số dư có 31 ngày chốt cuối tháng; thu nhập có 30 tháng đủ; 18 tháng từ 01/2025 đến 06/2026 đủ các mốc so sánh. Đây là nền tảng để hoàn thiện Mục II – Data &amp; Preparation của báo cáo.</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fact_loan_balance: một dòng là số dư của một hợp đồng tại một ngày chốt cuối tháng (333.882 dòng). Trường chính: snapshot_date, contract_id, debt_group_id, balance_vnd (VND), days_past_due. Là chỉ tiêu số dư, không cộng dồn qua các tháng. fact_income_monthly: một dòng là thu nhập của một hợp đồng trong một tháng (343.432 dòng). Trường chính: period_end_date, month_id, contract_id, avg_balance_vnd (DNBQ tháng, xấp xỉ bằng trung bình số dư cuối tháng trước và cuối tháng này), nii_mtd, nfi_mtd, toi_mtd (VND). Là chỉ tiêu phát sinh, cộng dồn trong kỳ; nii_mtd đặt tại ngày cuối tháng chính là phát sinh của cả tháng. Hai bảng có hạt dữ liệu khác nhau nên không cộng chéo; chúng chỉ gặp nhau ở hợp đồng và ngày chốt.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dim_loan_contract (31.104 dòng): một dòng là một hợp đồng vay; trường chính gồm cif, branch_id, product_id, term_group (ngắn hạn, trung dài hạn, thấu chi), ccy (VND, USD), campaign_id, ngày mở và ngày đáo hạn, lãi suất, contract_status, exit_reason (Tất toán, Tái tục, Xóa nợ). Hợp đồng tái tục là hợp đồng mới, nối với hợp đồng cũ qua rolled_from_contract_id. dim_customer (10.000 dòng): một dòng là một khách hàng doanh nghiệp. dim_branch (78 dòng): một dòng là một ĐVKD; ĐVKD hạch toán khoản vay nối qua bảng hợp đồng.</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dim_segment (7 phân khúc, từ MICRO đến BIGCORP 1), dim_industry (22 ngành), dim_product (3 sản phẩm: CV thường, UPAS thường, UPAS X), dim_debt_group (5 nhóm nợ, kèm cờ is_od2 và is_od35), dim_campaign (17 chương trình ưu đãi lãi suất). dim_date: lịch liên tục từng ngày từ 01/01/2023 đến 30/06/2026, kèm cờ has_data, is_reportable và các cột dịch kỳ prev_month_end, same_month_prev_year_end, prev_year_end. Ba bảng bổ sung cho phần sáng tạo: fact_plan, fact_due_soon, fact_debt_group_cic.</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Mô hình dạng sao: hai bảng fact dùng chung bảng hợp đồng và bảng ngày; các bảng dim còn lại tỏa ra từ bảng hợp đồng. Toàn bộ quan hệ là nhiều-một, lọc một chiều từ dim xuống fact. 11 quan hệ hoạt động: hai bảng fact nối dim_loan_contract qua contract_id; dim_loan_contract nối dim_customer (cif), dim_branch, dim_product, dim_campaign; dim_customer nối dim_segment và dim_industry; fact_loan_balance nối dim_debt_group; hai bảng fact nối dim_date qua ngày chốt. 1 quan hệ không hoạt động: dim_customer[home_branch_id] nối dim_branch, cho biết ĐVKD quản lý khách hàng; chỉ kích hoạt khi cần bằng USERELATIONSHIP. Không nối fact_income_monthly[debt_group_id] với dim_debt_group vì tạo đường đi mơ hồ.</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Đơn vị và thời gian: VND số nguyên (USD đã quy đổi theo tỷ giá cuối tháng); số dư chỉ có tại ngày cuối tháng; tháng 02/2024 có 29 ngày nên không so cùng kỳ năm trước bằng cách trừ 365 ngày. Nhóm nợ: nhóm 1 đủ tiêu chuẩn, nhóm 2 là OD2, nhóm 3 đến 5 là OD3-5; chuyển dần theo số ngày quá hạn. Hợp đồng không còn ở các ngày chốt sau đó đã kết thúc; exit_reason cho biết lý do. Kiểm tra sau khi nạp: đủ số dòng của từng bảng; chỉ có 6 cột được phép để trống; không có dòng mồ côi giữa các quan hệ; TOI bằng NII cộng NFI. Dữ liệu đã sạch nên không cần làm sạch thêm.</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Hướng dẫn học viên nhận diện hình thái của bộ dữ liệu trước khi đi vào phân tích chuyên sâu, bám theo Mục III của mẫu báo cáo. Ba nhóm nội dung: phân phối của các biến quan trọng (dư nợ, NII, TOI, lãi suất); cơ cấu dữ liệu theo các nhóm phân tích; quan hệ giữa các biến và diễn biến theo thời gian. Nguyên tắc: khi phân phối lệch, dùng trung vị và phân vị để mô tả hợp đồng hoặc khách điển hình, không dùng giá trị trung bình. Mỗi nội dung đi kèm một biểu đồ đề xuất dựng trên trang nháp; các số tại 30/06/2026 dùng để đối chiếu.</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Dư nợ theo hợp đồng: phân phối lệch phải mạnh, trung vị 2,6 tỷ nhưng trung bình 8,9 tỷ; P90 là 18,6 tỷ, P99 là 102 tỷ, lớn nhất 1.888 tỷ. Biểu đồ đề xuất: histogram theo các khoảng dư nợ (dưới 1, 1 đến 5, 5 đến 20, 20 đến 100, trên 100 tỷ), kèm box plot theo phân khúc hoặc trục logarit. Dư nợ theo khách hàng và mức độ tập trung: 1% khách lớn nhất chiếm 29,4% dư nợ, 10% chiếm 67,7%, 20% chiếm 80,8%. Biểu đồ đề xuất: đường Pareto hoặc đường cong Lorenz.</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NII và TOI theo hợp đồng trong một tháng (06/2026): NII trung vị 4,6 triệu, P10 là 0,5 triệu, P90 là 28,3 triệu; 2,9% hợp đồng có NII âm; 74,7% hợp đồng không phát sinh NFI. Biểu đồ đề xuất: histogram theo khoảng triệu đồng kèm bảng tứ phân vị. Lãi suất cho vay: VND bình quân khoảng 11,0%, USD khoảng 5,3%. Biểu đồ đề xuất: box plot theo kỳ hạn và theo tiền tệ.</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Phân khúc: BIGCORP 1 chiếm 21,4% dư nợ, MICRO 20,2%, UPPER 1 15,7%. Kỳ hạn: ngắn hạn 63,9%. Sản phẩm: UPAS 10,3%. Tiền tệ: USD 14,9%. Vùng: Nam 52,6%. Biểu đồ đề xuất: cột chồng 100% hoặc biểu đồ tròn (tối đa 7 lát) có nhãn phần trăm.</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Ngành: 22 ngành, Top 10 ngành chiếm 71,7% dư nợ (Xây lắp 12.946 tỷ đứng đầu). Biểu đồ đề xuất: treemap toàn bộ ngành hoặc cột ngang Top 10. ĐVKD: Top 10 ĐVKD chiếm 40,1% dư nợ. Biểu đồ đề xuất: cột ngang Top 10 hoặc Pareto trên toàn bộ 78 ĐVKD. Nhóm nợ: nhóm 1 chiếm 96,4%, OD2 0,9%, OD3 0,9%, OD4 0,5%, OD5 1,2%. Biểu đồ đề xuất: cột ngang theo nhóm nợ; không dùng biểu đồ tròn vì các nhóm xấu quá nhỏ.</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Lãi suất và biên lãi theo phân khúc: lãi suất bình quân giảm từ khoảng 11,8% ở MICRO xuống khoảng 7,0% ở BIGCORP 1; NIM năm hóa 6 tháng 2026 giảm từ khoảng 2,7% xuống khoảng 1,0%. Biểu đồ đề xuất: biểu đồ kết hợp cột và đường. Quy mô và thu nhập: dư nợ và NII YTD theo ĐVKD có tương quan rất cao (khoảng 0,92). Biểu đồ đề xuất: biểu đồ phân tán, mỗi điểm là một ĐVKD; các điểm lệch khỏi xu hướng là gợi ý cho phân tích sâu.</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Diễn biến 18 tháng: dư nợ tăng từ khoảng 82,1 nghìn tỷ (12/2024) lên khoảng 98,4 nghìn tỷ (06/2026). Biểu đồ đề xuất: ba biểu đồ đường (dư nợ, NII và TOI tháng, tỷ lệ OD2 và OD3-5) đặt cạnh nhau trên cùng trục thời gian. Số liệu vẽ từ fact_loan_balance và fact_income_monthly, 18 tháng từ 01/2025 đến 06/2026.</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Mùa vụ và điểm bất thường: so sánh cùng tháng giữa các năm để xem chỉ tiêu có lặp lại theo mùa hay có tháng lệch khỏi xu hướng. Biểu đồ đề xuất: heatmap ma trận năm theo tháng của mức tăng trưởng, hoặc cột tăng trưởng theo tháng. Số liệu heatmap là tăng trưởng dư nợ toàn danh mục so với tháng trước, tính từ fact_loan_balance. Chất lượng dữ liệu: kiểm tra trống, trùng khóa, quan hệ mồ côi và TOI bằng NII cộng NFI. Dạng trình bày đề xuất: bảng kiểm tra, mỗi phép thử một dòng (kết quả 0 lỗi); xem sheet QC_Summary của bộ dữ liệu.</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Phần này mở đầu bằng bản đồ chuyển đổi từ chỉ tiêu nghiệp vụ sang measure DAX. Mỗi công thức được trình bày theo cùng một mạch: định nghĩa → công thức. Toàn bộ measure dựa trên bốn khuôn: xác định ngày báo cáo, chốt đúng một ngày cho chỉ tiêu số dư, cộng dồn đúng kỳ cho chỉ tiêu phát sinh và dịch ngày để lấy kỳ so sánh. Các measure được đặt trong bảng _Measures, gom theo Display folder: 01 Thời gian, 02 Quy mô, 03 Chất lượng tín dụng, 04 Sinh lời, 05 So sánh, 06 Hiển thị, 07 Phụ trợ. Giữ tiền ở VND, đổi sang tỷ đồng bằng định dạng.</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Ngày BC là ngày cuối tháng người dùng chọn ở slicer tháng, mặc định là tháng mới nhất (30/06/2026); Ngày LM là cuối tháng trước, tính bằng EOMONTH(Ngày BC, -1); Ngày SPLY là cuối tháng tương ứng năm trước, tính bằng EOMONTH(Ngày BC, -12). Bảng ngày phải liên tục từng ngày và được đánh dấu là bảng ngày (Mark as date table). Không dùng TODAY() hay MAX(fact[date]) để xác định ngày báo cáo.</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Dư nợ cuối kỳ: tổng balance_vnd tại đúng Ngày BC (CALCULATE kèm REMOVEFILTERS trên bảng ngày và điều kiện ngày bằng Ngày BC), không cộng dồn qua các tháng. Dư nợ LM và dư nợ SPLY: cùng khuôn với ngày đã dịch; phần trăm thay đổi tính bằng DIVIDE. Lỗi hay gặp: kéo thả balance_vnd thay vì dùng measure; quên REMOVEFILTERS (dư nợ LM trống khi slicer chọn 06/2026); dùng / thay cho DIVIDE.</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DNBQ YTD (optional): bình quân của DNBQ các tháng từ tháng 1 đến tháng báo cáo, tức tổng DNBQ các tháng chia số tháng đã qua; DNBQ tháng là tổng avg_balance_vnd của tháng và là thành phần của DNBQ YTD. Tại tháng 1, DNBQ YTD bằng DNBQ tháng 1. DNBQ hiển thị trên dashboard là DNBQ YTD.</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NII, NFI, TOI tháng: tổng nii_mtd, nfi_mtd tại ngày cuối tháng báo cáo; TOI tháng bằng NII tháng cộng NFI tháng. NII và TOI lũy kế năm (YTD): tổng từ 01/01 đến Ngày BC, tức các tháng đã đóng cộng với tháng hiện tại (DATESBETWEEN); TOI YTD bằng NII YTD cộng NFI YTD.</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YTD kỳ cuối tháng trước (LM) và YTD cùng kỳ năm trước (SPLY) viết bằng khuôn dịch ngày; riêng tháng 1, YTD kỳ cuối tháng trước là cả năm trước nên measure trả về trống.</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Tỷ lệ OD2 và OD3-5: dư nợ của nhóm tương ứng chia tổng dư nợ cùng ngày (DIVIDE); dùng cờ is_od2 và is_od35 của dim_debt_group. Quy mô dư nợ OD2, OD3-5 và các phiên bản LM, SPLY viết theo cùng khuôn dịch ngày.</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Quy tắc chênh lệch: chỉ tiêu quy mô và thu nhập so bằng phần trăm thay đổi; tỷ lệ OD so bằng hiệu số, tính theo điểm phần trăm (hiệu số nhân 100). Lỗi hay gặp: so tỷ lệ OD bằng phần trăm thay đổi (“OD3-5 tăng 12%” thay vì “tăng 0,25 pp”).</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Ký hiệu ▲/▼ và màu sắc: nhãn là một measure văn bản, màu là một measure mã màu áp dụng qua Format → Font color → Field value; chỉ tiêu có tăng là xấu dùng màu đảo. Chia cho 0 và giá trị trống: luôn dùng DIVIDE; measure dịch kỳ trả về BLANK khi không có kỳ so sánh để thẻ hiển thị “–” thay vì số sai.</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Bố cục đề xuất bám sát file dashboard mô phỏng. Tổng quan: 6 thẻ KPI ở trên và 3 line chart ở dưới. Dư nợ: 2 thẻ KPI và bảng kỳ hạn ở hàng trên; pie, treemap, bar ở hàng giữa; bảng Top 10 ĐVKD ở hàng dưới. NII/TOI: hai nửa cùng bố cục 3 cột (cột trái thẻ KPI + pie, cột giữa line + bảng Top 10 khách hàng, cột phải treemap Top 10 ĐVKD). CLTD: 4 thẻ OD; stacked bar theo ngành và bảng OD theo Top 10 ĐVKD; 2 line chart OD2, OD3-5. Các hình sau trích trực tiếp từ dashboard (tháng báo cáo 06/2026, ngày báo cáo 30/06/2026), mỗi loại biểu đồ chọn một hình tiêu biểu. Câu hỏi gợi ý theo trang lấy từ mục 7.2 của hướng dẫn.</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Thẻ KPI dư nợ lấy từ trang Tổng quan của dashboard mô phỏng. Giá trị hiện tại 98.367,3 tỷ; so với cuối tháng trước tăng 1,3%; so với cùng tháng năm trước tăng 10,9%. Gợi ý trao đổi: thẻ KPI cho biết quy mô và hướng đi; các biểu đồ còn lại giải thích tăng trưởng đến từ đâu. Các thẻ NII YTD, TOI YTD và DNBQ YTD so sánh YTD với YTD, nên đọc khác (xem slide thẻ NII/TOI).</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Line chart tỷ lệ OD2 và OD3-5 trên trang Tổng quan trả lời câu hỏi về diễn biến chất lượng tín dụng. Số liệu: OD3-5 2,38% tại 31/05/2026 và 2,63% tại 30/06/2026; OD2 1,40% và 0,94%. Đây là điểm khởi đầu để học viên truy tiếp “biến động đến từ khoản nào?” ở trang CLTD. Lưu ý với biểu đồ đường YTD: đường tự về mức thấp mỗi tháng 1, cần ghi chú trên biểu đồ.</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Biểu đồ tròn theo phân khúc và treemap theo ngành trên trang Dư nợ. Phân khúc: BIGCORP 1 chiếm 21,4%, MICRO 20,2%, UPPER 1 15,7%. Ngành: Top 10 ngành chiếm 71,7% dư nợ, Xây lắp 12.946 tỷ đứng đầu. Gợi ý: một ít phân khúc/ngành chiếm phần lớn dư nợ → hướng khai phá tập trung. Tổng pie phải khớp thẻ Dư nợ (98.367,3 tỷ).</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Bar chart theo sản phẩm (CV thường, UPAS thường, UPAS X) và bảng Top 10 ĐVKD có dư nợ cao nhất kèm cột so sánh cuối tháng trước, cùng tháng năm trước và cột thay đổi (▲/▼, xanh/đỏ). Top 10 ĐVKD chiếm 40,1% dư nợ. Gợi ý trao đổi: một ĐVKD có thể tăng so với tháng trước nhưng giảm so với cùng tháng năm trước (ví dụ CN Bình Dương 4).</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Thẻ NII YTD và line chart NII YTD trên trang NII/TOI. NII YTD tại 06/2026 là 802,5 tỷ; so với YTD đến cuối tháng trước (5 tháng, 670,6 tỷ) tăng 19,7%; so với cùng kỳ năm trước (780,9 tỷ) tăng 2,8%. So sánh YTD với YTD cuối tháng trước luôn tăng vì YTD cộng dồn thêm một tháng; ý nghĩa thực của thẻ nằm ở mức tăng của riêng tháng. Nửa dưới (TOI YTD 1.165,5 tỷ; ▲ 20,5% và ▲ 5,7%) có cùng cấu trúc. Điểm so sánh dư nợ (+10,9%) với NII YTD (+2,8%) là câu hỏi mở cho học viên: vì sao dư nợ tăng nhưng thu nhập tăng chậm hơn?</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Bảng Top 10 khách hàng theo NII YTD (hình 10) và treemap Top 10 ĐVKD theo NII YTD (hình 11). Top 5 khách theo NII YTD (tỷ): Công ty TNHH Xây dựng Vexada 16,15; Công ty TNHH Địa ốc Kaxaze 8,30; Công ty Cổ phần Địa ốc Lomjovor 6,53; Công ty Cổ phần Địa ốc Triorfa 6,41; Công ty Cổ phần Đầu tư Wijogor 5,73. Tổng Top 10 khách ≈ 65,6 tỷ trên 802,5 tỷ NII YTD (≈ 8,2%). Treemap TOI có cùng cấu trúc ở nửa dưới của trang.</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Thẻ OD3-5 và stacked bar phân bổ nhóm nợ theo Top 10 ngành có dư nợ lớn nhất trên trang CLTD. Tỷ lệ OD3-5 là 2,63% tại 30/06/2026, tăng 0,25 điểm % so với cuối tháng trước và 0,51 điểm % so với cùng tháng năm trước (màu đỏ vì tăng là xấu). Stacked bar dạng 100% vì nhóm 1 chiếm khoảng 97% dư nợ; cuối mỗi thanh ghi tỷ lệ OD2 và OD3-5 (ví dụ Bất động sản OD3-5 6,2%, Sản xuất điện - điện tử 9,2%, Xây lắp 3,2%).</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Bảng tỷ lệ OD2, OD3-5 theo Top 10 ĐVKD kèm cuối tháng trước, cùng tháng năm trước và cột thay đổi tính bằng điểm phần trăm (màu đảo). Ví dụ Trung tâm KHDN Bắc 1: OD2 1,24% (giảm 5,45 điểm % so với cuối tháng trước) và OD3-5 8,94% (tăng 6,57 điểm %). Khi một biểu đồ cho thấy điểm lạ, học viên cần truy tiếp “biến động đến từ khoản hoặc khách nào” bằng cách thêm một chiều (khách hàng, hợp đồng) hoặc mở trang chi tiết. Câu hỏi mở: OD2 giảm có thực sự là cải thiện? Dấu hiệu nào xuất hiện trước khi nợ xấu tăng?</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Mỗi nhận định đi theo bốn bước: Câu hỏi, Phân tích, Bằng chứng, Kết luận. Ví dụ mẫu chọn chủ đề nhẹ, không phải đáp án bài. Loại biểu đồ được lựa chọn theo câu hỏi phân tích. Tiêu đề biểu đồ nên thể hiện nhận định kèm số liệu so sánh thay vì chỉ nêu tên chỉ tiêu: “Dư nợ tăng 10,9% so với cùng tháng năm trước” thay cho “Dư nợ theo tháng”.</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Finding: nêu rõ dữ liệu đang cho thấy điều gì, xảy ra ở nhóm nào và mức chênh lệch là bao nhiêu. Ví dụ: OD3-5 tăng 0,25 điểm phần trăm (2,38% → 2,63%) và toàn bộ mức tăng đến từ một khoản vay chuyển từ nhóm 2 sang nhóm 3. Insight: diễn giải ý nghĩa của kết quả đối với danh mục, không nhắc lại số. Ví dụ: rủi ro và thu nhập đều đang tập trung vào một số ít khoản vay hoặc một số ít ĐVKD. Recommendation: xác định đối tượng ưu tiên, hành động đề xuất và chỉ số cần tiếp tục theo dõi; mức độ khuyến nghị phải tương xứng với bằng chứng hiện có. Limitation và Next Step: chỉ ra giới hạn có thể ảnh hưởng đến kết luận (ví dụ dữ liệu chỉ có ngày cuối tháng) và bước kiểm tra hoặc phân tích tiếp theo. Lưu ý giảng viên: ví dụ Finding trên khớp quy luật S1 trong file Instructor Key (chỉ dành cho giảng viên); không phát đáp án cho học viên.</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Hai sản phẩm cần nộp: file Power BI và báo cáo phân tích. Báo cáo gồm 8 phần kèm Phụ lục, bám theo guide_report_template. Trong kịch bản này, Mục II là Data &amp; Preparation (Phần 4) và Mục III là khám phá dữ liệu (Phần 5). Tên các mục còn lại sẽ được bổ sung theo template. Kiểm tra trước khi nộp: file mở được và làm mới được; 4 trang đúng yêu cầu Phần 2; mọi số trên báo cáo truy được về một biểu đồ hoặc bảng trên dashboard.</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Rubric 100 điểm: 40 điểm cho phần kỹ thuật (mô hình dữ liệu, DAX, 4 trang dashboard và trải nghiệm sử dụng), 40 điểm cho báo cáo phân tích và 20 điểm cho các yếu tố sáng tạo vượt ra ngoài các gợi ý trong slide. Gợi ý sáng tạo (mục 7.4 hướng dẫn): kế hoạch so với thực hiện theo ĐVKD, gốc đến hạn 30 ngày, nhóm nợ nội bộ so với CIC, hiệu quả chương trình ưu đãi, mức độ tập trung, vòng đời khoản vay, tài sản bảo đảm, xếp hạng và hồ sơ khách, mùa vụ dư nợ.</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3" name="Google Shape;116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vi-VN" sz="1200">
                <a:solidFill>
                  <a:schemeClr val="dk1"/>
                </a:solidFill>
                <a:latin typeface="Calibri"/>
                <a:ea typeface="Calibri"/>
                <a:cs typeface="Calibri"/>
                <a:sym typeface="Calibri"/>
              </a:rPr>
              <a:t>Hỏi đáp.</a:t>
            </a:r>
            <a:endParaRPr/>
          </a:p>
        </p:txBody>
      </p:sp>
      <p:sp>
        <p:nvSpPr>
          <p:cNvPr id="1164" name="Google Shape;116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58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91425" tIns="45700" rIns="91425" bIns="45700" anchor="ctr" anchorCtr="0">
            <a:noAutofit/>
          </a:bodyPr>
          <a:lstStyle>
            <a:lvl1pPr marL="0" marR="0" lvl="0" indent="0" algn="ctr">
              <a:spcBef>
                <a:spcPts val="0"/>
              </a:spcBef>
              <a:buNone/>
              <a:defRPr sz="1800">
                <a:solidFill>
                  <a:srgbClr val="0C0C0C"/>
                </a:solidFill>
                <a:latin typeface="Algerian"/>
                <a:ea typeface="Algerian"/>
                <a:cs typeface="Algerian"/>
                <a:sym typeface="Algerian"/>
              </a:defRPr>
            </a:lvl1pPr>
            <a:lvl2pPr marL="0" marR="0" lvl="1" indent="0" algn="ctr">
              <a:spcBef>
                <a:spcPts val="0"/>
              </a:spcBef>
              <a:buNone/>
              <a:defRPr sz="1800">
                <a:solidFill>
                  <a:srgbClr val="0C0C0C"/>
                </a:solidFill>
                <a:latin typeface="Algerian"/>
                <a:ea typeface="Algerian"/>
                <a:cs typeface="Algerian"/>
                <a:sym typeface="Algerian"/>
              </a:defRPr>
            </a:lvl2pPr>
            <a:lvl3pPr marL="0" marR="0" lvl="2" indent="0" algn="ctr">
              <a:spcBef>
                <a:spcPts val="0"/>
              </a:spcBef>
              <a:buNone/>
              <a:defRPr sz="1800">
                <a:solidFill>
                  <a:srgbClr val="0C0C0C"/>
                </a:solidFill>
                <a:latin typeface="Algerian"/>
                <a:ea typeface="Algerian"/>
                <a:cs typeface="Algerian"/>
                <a:sym typeface="Algerian"/>
              </a:defRPr>
            </a:lvl3pPr>
            <a:lvl4pPr marL="0" marR="0" lvl="3" indent="0" algn="ctr">
              <a:spcBef>
                <a:spcPts val="0"/>
              </a:spcBef>
              <a:buNone/>
              <a:defRPr sz="1800">
                <a:solidFill>
                  <a:srgbClr val="0C0C0C"/>
                </a:solidFill>
                <a:latin typeface="Algerian"/>
                <a:ea typeface="Algerian"/>
                <a:cs typeface="Algerian"/>
                <a:sym typeface="Algerian"/>
              </a:defRPr>
            </a:lvl4pPr>
            <a:lvl5pPr marL="0" marR="0" lvl="4" indent="0" algn="ctr">
              <a:spcBef>
                <a:spcPts val="0"/>
              </a:spcBef>
              <a:buNone/>
              <a:defRPr sz="1800">
                <a:solidFill>
                  <a:srgbClr val="0C0C0C"/>
                </a:solidFill>
                <a:latin typeface="Algerian"/>
                <a:ea typeface="Algerian"/>
                <a:cs typeface="Algerian"/>
                <a:sym typeface="Algerian"/>
              </a:defRPr>
            </a:lvl5pPr>
            <a:lvl6pPr marL="0" marR="0" lvl="5" indent="0" algn="ctr">
              <a:spcBef>
                <a:spcPts val="0"/>
              </a:spcBef>
              <a:buNone/>
              <a:defRPr sz="1800">
                <a:solidFill>
                  <a:srgbClr val="0C0C0C"/>
                </a:solidFill>
                <a:latin typeface="Algerian"/>
                <a:ea typeface="Algerian"/>
                <a:cs typeface="Algerian"/>
                <a:sym typeface="Algerian"/>
              </a:defRPr>
            </a:lvl6pPr>
            <a:lvl7pPr marL="0" marR="0" lvl="6" indent="0" algn="ctr">
              <a:spcBef>
                <a:spcPts val="0"/>
              </a:spcBef>
              <a:buNone/>
              <a:defRPr sz="1800">
                <a:solidFill>
                  <a:srgbClr val="0C0C0C"/>
                </a:solidFill>
                <a:latin typeface="Algerian"/>
                <a:ea typeface="Algerian"/>
                <a:cs typeface="Algerian"/>
                <a:sym typeface="Algerian"/>
              </a:defRPr>
            </a:lvl7pPr>
            <a:lvl8pPr marL="0" marR="0" lvl="7" indent="0" algn="ctr">
              <a:spcBef>
                <a:spcPts val="0"/>
              </a:spcBef>
              <a:buNone/>
              <a:defRPr sz="1800">
                <a:solidFill>
                  <a:srgbClr val="0C0C0C"/>
                </a:solidFill>
                <a:latin typeface="Algerian"/>
                <a:ea typeface="Algerian"/>
                <a:cs typeface="Algerian"/>
                <a:sym typeface="Algerian"/>
              </a:defRPr>
            </a:lvl8pPr>
            <a:lvl9pPr marL="0" marR="0" lvl="8" indent="0" algn="ctr">
              <a:spcBef>
                <a:spcPts val="0"/>
              </a:spcBef>
              <a:buNone/>
              <a:defRPr sz="1800">
                <a:solidFill>
                  <a:srgbClr val="0C0C0C"/>
                </a:solidFill>
                <a:latin typeface="Algerian"/>
                <a:ea typeface="Algerian"/>
                <a:cs typeface="Algerian"/>
                <a:sym typeface="Algerian"/>
              </a:defRPr>
            </a:lvl9pPr>
          </a:lstStyle>
          <a:p>
            <a:pPr marL="0" lvl="0" indent="0" algn="ctr" rtl="0">
              <a:spcBef>
                <a:spcPts val="0"/>
              </a:spcBef>
              <a:spcAft>
                <a:spcPts val="0"/>
              </a:spcAft>
              <a:buNone/>
            </a:pPr>
            <a:fld id="{00000000-1234-1234-1234-123412341234}" type="slidenum">
              <a:rPr lang="vi-VN"/>
              <a:t>‹#›</a:t>
            </a:fld>
            <a:endParaRPr/>
          </a:p>
        </p:txBody>
      </p:sp>
      <p:sp>
        <p:nvSpPr>
          <p:cNvPr id="27" name="Google Shape;27;p3"/>
          <p:cNvSpPr/>
          <p:nvPr/>
        </p:nvSpPr>
        <p:spPr>
          <a:xfrm>
            <a:off x="-2512" y="738391"/>
            <a:ext cx="12192000" cy="136156"/>
          </a:xfrm>
          <a:prstGeom prst="rect">
            <a:avLst/>
          </a:prstGeom>
          <a:solidFill>
            <a:srgbClr val="D89A6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8" name="Google Shape;28;p3" descr="Logo"/>
          <p:cNvPicPr preferRelativeResize="0"/>
          <p:nvPr/>
        </p:nvPicPr>
        <p:blipFill rotWithShape="1">
          <a:blip r:embed="rId2">
            <a:alphaModFix/>
          </a:blip>
          <a:srcRect/>
          <a:stretch/>
        </p:blipFill>
        <p:spPr>
          <a:xfrm>
            <a:off x="89103" y="47409"/>
            <a:ext cx="1815898" cy="71879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
        <p:nvSpPr>
          <p:cNvPr id="35" name="Google Shape;35;p4"/>
          <p:cNvSpPr/>
          <p:nvPr/>
        </p:nvSpPr>
        <p:spPr>
          <a:xfrm>
            <a:off x="-2512" y="738391"/>
            <a:ext cx="12192000" cy="136156"/>
          </a:xfrm>
          <a:prstGeom prst="rect">
            <a:avLst/>
          </a:prstGeom>
          <a:solidFill>
            <a:srgbClr val="D89A6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0"/>
          <p:cNvSpPr>
            <a:spLocks noGrp="1"/>
          </p:cNvSpPr>
          <p:nvPr>
            <p:ph type="pic" idx="2"/>
          </p:nvPr>
        </p:nvSpPr>
        <p:spPr>
          <a:xfrm>
            <a:off x="5183188" y="987425"/>
            <a:ext cx="6172200" cy="4873625"/>
          </a:xfrm>
          <a:prstGeom prst="rect">
            <a:avLst/>
          </a:prstGeom>
          <a:noFill/>
          <a:ln>
            <a:noFill/>
          </a:ln>
        </p:spPr>
      </p:sp>
      <p:sp>
        <p:nvSpPr>
          <p:cNvPr id="71" name="Google Shape;71;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2"/>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86690" y="93504"/>
            <a:ext cx="136779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12"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28.png"/><Relationship Id="rId5" Type="http://schemas.openxmlformats.org/officeDocument/2006/relationships/image" Target="../media/image31.png"/><Relationship Id="rId10" Type="http://schemas.openxmlformats.org/officeDocument/2006/relationships/image" Target="../media/image24.png"/><Relationship Id="rId4" Type="http://schemas.openxmlformats.org/officeDocument/2006/relationships/image" Target="../media/image30.png"/><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8.png"/><Relationship Id="rId3" Type="http://schemas.openxmlformats.org/officeDocument/2006/relationships/image" Target="../media/image1.png"/><Relationship Id="rId7" Type="http://schemas.openxmlformats.org/officeDocument/2006/relationships/image" Target="../media/image38.png"/><Relationship Id="rId12"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46.png"/><Relationship Id="rId4" Type="http://schemas.openxmlformats.org/officeDocument/2006/relationships/image" Target="../media/image43.pn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42.png"/><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png"/><Relationship Id="rId7"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58.png"/><Relationship Id="rId11" Type="http://schemas.openxmlformats.org/officeDocument/2006/relationships/image" Target="../media/image61.png"/><Relationship Id="rId5" Type="http://schemas.openxmlformats.org/officeDocument/2006/relationships/image" Target="../media/image57.png"/><Relationship Id="rId10" Type="http://schemas.openxmlformats.org/officeDocument/2006/relationships/image" Target="../media/image38.png"/><Relationship Id="rId4" Type="http://schemas.openxmlformats.org/officeDocument/2006/relationships/image" Target="../media/image56.png"/><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62.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chart" Target="../charts/chart2.xml"/><Relationship Id="rId4" Type="http://schemas.openxmlformats.org/officeDocument/2006/relationships/chart" Target="../charts/char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chart" Target="../charts/chart4.xml"/><Relationship Id="rId4" Type="http://schemas.openxmlformats.org/officeDocument/2006/relationships/chart" Target="../charts/chart3.xml"/></Relationships>
</file>

<file path=ppt/slides/_rels/slide31.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image" Target="../media/image1.png"/><Relationship Id="rId7" Type="http://schemas.openxmlformats.org/officeDocument/2006/relationships/chart" Target="../charts/chart8.xml"/><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36.png"/><Relationship Id="rId4" Type="http://schemas.openxmlformats.org/officeDocument/2006/relationships/image" Target="../media/image43.png"/><Relationship Id="rId9"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69.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72.png"/><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image" Target="../media/image74.png"/><Relationship Id="rId4" Type="http://schemas.openxmlformats.org/officeDocument/2006/relationships/image" Target="../media/image73.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76.png"/><Relationship Id="rId4" Type="http://schemas.openxmlformats.org/officeDocument/2006/relationships/image" Target="../media/image75.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77.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1.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3.xml"/><Relationship Id="rId5" Type="http://schemas.openxmlformats.org/officeDocument/2006/relationships/image" Target="../media/image82.png"/><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ctrTitle"/>
          </p:nvPr>
        </p:nvSpPr>
        <p:spPr>
          <a:xfrm>
            <a:off x="24959" y="1172886"/>
            <a:ext cx="12167041" cy="148575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2FA6FF"/>
              </a:buClr>
              <a:buSzPts val="4800"/>
              <a:buFont typeface="Times New Roman"/>
              <a:buNone/>
            </a:pPr>
            <a:r>
              <a:rPr lang="vi-VN" b="1">
                <a:solidFill>
                  <a:srgbClr val="2FA6FF"/>
                </a:solidFill>
                <a:latin typeface="Times New Roman"/>
                <a:ea typeface="Times New Roman"/>
                <a:cs typeface="Times New Roman"/>
                <a:sym typeface="Times New Roman"/>
              </a:rPr>
              <a:t>EDA MENTORSHIP</a:t>
            </a:r>
            <a:endParaRPr b="1">
              <a:solidFill>
                <a:srgbClr val="2FA6FF"/>
              </a:solidFill>
              <a:latin typeface="Times New Roman"/>
              <a:ea typeface="Times New Roman"/>
              <a:cs typeface="Times New Roman"/>
              <a:sym typeface="Times New Roman"/>
            </a:endParaRPr>
          </a:p>
        </p:txBody>
      </p:sp>
      <p:sp>
        <p:nvSpPr>
          <p:cNvPr id="93" name="Google Shape;93;p13"/>
          <p:cNvSpPr txBox="1">
            <a:spLocks noGrp="1"/>
          </p:cNvSpPr>
          <p:nvPr>
            <p:ph type="subTitle" idx="1"/>
          </p:nvPr>
        </p:nvSpPr>
        <p:spPr>
          <a:xfrm>
            <a:off x="1759047" y="2759426"/>
            <a:ext cx="9144000" cy="1655762"/>
          </a:xfrm>
          <a:prstGeom prst="rect">
            <a:avLst/>
          </a:prstGeom>
          <a:noFill/>
          <a:ln>
            <a:noFill/>
          </a:ln>
        </p:spPr>
        <p:txBody>
          <a:bodyPr spcFirstLastPara="1" wrap="square" lIns="91425" tIns="45700" rIns="91425" bIns="45700" anchor="t" anchorCtr="0">
            <a:normAutofit/>
          </a:bodyPr>
          <a:lstStyle/>
          <a:p>
            <a:pPr marL="0" lvl="0" indent="0" algn="ctr" rtl="0">
              <a:spcBef>
                <a:spcPts val="1000"/>
              </a:spcBef>
              <a:spcAft>
                <a:spcPts val="0"/>
              </a:spcAft>
              <a:buClr>
                <a:schemeClr val="dk1"/>
              </a:buClr>
              <a:buSzPts val="1100"/>
              <a:buFont typeface="Arial"/>
              <a:buNone/>
            </a:pPr>
            <a:r>
              <a:rPr lang="vi-VN" sz="3600" b="1">
                <a:solidFill>
                  <a:srgbClr val="00B050"/>
                </a:solidFill>
                <a:latin typeface="Times New Roman"/>
                <a:ea typeface="Times New Roman"/>
                <a:cs typeface="Times New Roman"/>
                <a:sym typeface="Times New Roman"/>
              </a:rPr>
              <a:t>Finance Project 1</a:t>
            </a:r>
            <a:endParaRPr sz="3600" b="1">
              <a:solidFill>
                <a:srgbClr val="00B050"/>
              </a:solidFill>
              <a:latin typeface="Times New Roman"/>
              <a:ea typeface="Times New Roman"/>
              <a:cs typeface="Times New Roman"/>
              <a:sym typeface="Times New Roman"/>
            </a:endParaRPr>
          </a:p>
          <a:p>
            <a:pPr marL="0" lvl="0" indent="0" algn="l" rtl="0">
              <a:lnSpc>
                <a:spcPct val="90000"/>
              </a:lnSpc>
              <a:spcBef>
                <a:spcPts val="0"/>
              </a:spcBef>
              <a:spcAft>
                <a:spcPts val="0"/>
              </a:spcAft>
              <a:buClr>
                <a:srgbClr val="00B050"/>
              </a:buClr>
              <a:buSzPts val="2400"/>
              <a:buNone/>
            </a:pPr>
            <a:endParaRPr b="1">
              <a:solidFill>
                <a:srgbClr val="00B050"/>
              </a:solidFill>
              <a:latin typeface="Times New Roman"/>
              <a:ea typeface="Times New Roman"/>
              <a:cs typeface="Times New Roman"/>
              <a:sym typeface="Times New Roman"/>
            </a:endParaRPr>
          </a:p>
        </p:txBody>
      </p:sp>
      <p:sp>
        <p:nvSpPr>
          <p:cNvPr id="94" name="Google Shape;94;p13"/>
          <p:cNvSpPr txBox="1"/>
          <p:nvPr/>
        </p:nvSpPr>
        <p:spPr>
          <a:xfrm>
            <a:off x="7147249" y="6488668"/>
            <a:ext cx="5044752" cy="369332"/>
          </a:xfrm>
          <a:prstGeom prst="rect">
            <a:avLst/>
          </a:prstGeom>
          <a:solidFill>
            <a:srgbClr val="F8D6FC"/>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1800" b="0" i="0" u="none" strike="noStrike" cap="none">
                <a:solidFill>
                  <a:schemeClr val="dk1"/>
                </a:solidFill>
                <a:latin typeface="Times New Roman"/>
                <a:ea typeface="Times New Roman"/>
                <a:cs typeface="Times New Roman"/>
                <a:sym typeface="Times New Roman"/>
              </a:rPr>
              <a:t>Proofreaders &amp; QA/QC:</a:t>
            </a:r>
            <a:endParaRPr sz="1800" b="0" i="0" u="none" strike="noStrike" cap="none">
              <a:solidFill>
                <a:schemeClr val="dk1"/>
              </a:solidFill>
              <a:latin typeface="Times New Roman"/>
              <a:ea typeface="Times New Roman"/>
              <a:cs typeface="Times New Roman"/>
              <a:sym typeface="Times New Roman"/>
            </a:endParaRPr>
          </a:p>
        </p:txBody>
      </p:sp>
      <p:sp>
        <p:nvSpPr>
          <p:cNvPr id="95" name="Google Shape;95;p13"/>
          <p:cNvSpPr/>
          <p:nvPr/>
        </p:nvSpPr>
        <p:spPr>
          <a:xfrm>
            <a:off x="2237591" y="4177218"/>
            <a:ext cx="647700" cy="647700"/>
          </a:xfrm>
          <a:custGeom>
            <a:avLst/>
            <a:gdLst/>
            <a:ahLst/>
            <a:cxnLst/>
            <a:rect l="l" t="t" r="r" b="b"/>
            <a:pathLst>
              <a:path w="647700" h="647700" extrusionOk="0">
                <a:moveTo>
                  <a:pt x="647780" y="323890"/>
                </a:moveTo>
                <a:cubicBezTo>
                  <a:pt x="647780" y="502747"/>
                  <a:pt x="502787" y="647740"/>
                  <a:pt x="323930" y="647740"/>
                </a:cubicBezTo>
                <a:cubicBezTo>
                  <a:pt x="145073" y="647740"/>
                  <a:pt x="80" y="502747"/>
                  <a:pt x="80" y="323890"/>
                </a:cubicBezTo>
                <a:cubicBezTo>
                  <a:pt x="80" y="145033"/>
                  <a:pt x="145073" y="40"/>
                  <a:pt x="323930" y="40"/>
                </a:cubicBezTo>
                <a:cubicBezTo>
                  <a:pt x="502787" y="40"/>
                  <a:pt x="647780" y="145033"/>
                  <a:pt x="647780" y="323890"/>
                </a:cubicBezTo>
                <a:close/>
              </a:path>
            </a:pathLst>
          </a:custGeom>
          <a:noFill/>
          <a:ln w="19050"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6" name="Google Shape;96;p13"/>
          <p:cNvSpPr/>
          <p:nvPr/>
        </p:nvSpPr>
        <p:spPr>
          <a:xfrm>
            <a:off x="3228191" y="3929568"/>
            <a:ext cx="9525" cy="1143000"/>
          </a:xfrm>
          <a:custGeom>
            <a:avLst/>
            <a:gdLst/>
            <a:ahLst/>
            <a:cxnLst/>
            <a:rect l="l" t="t" r="r" b="b"/>
            <a:pathLst>
              <a:path w="9525" h="1143000" extrusionOk="0">
                <a:moveTo>
                  <a:pt x="80" y="40"/>
                </a:moveTo>
                <a:lnTo>
                  <a:pt x="80" y="1143040"/>
                </a:lnTo>
              </a:path>
            </a:pathLst>
          </a:custGeom>
          <a:noFill/>
          <a:ln w="14275" cap="flat" cmpd="sng">
            <a:solidFill>
              <a:srgbClr val="E0C898"/>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13"/>
          <p:cNvSpPr txBox="1"/>
          <p:nvPr/>
        </p:nvSpPr>
        <p:spPr>
          <a:xfrm>
            <a:off x="3327251" y="3834318"/>
            <a:ext cx="1278255" cy="4343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400" b="1" spc="0">
                <a:solidFill>
                  <a:srgbClr val="B8860B"/>
                </a:solidFill>
                <a:latin typeface="Times New Roman"/>
                <a:ea typeface="Times New Roman"/>
                <a:cs typeface="Times New Roman"/>
                <a:sym typeface="Times New Roman"/>
              </a:rPr>
              <a:t>Mentor:</a:t>
            </a:r>
            <a:endParaRPr/>
          </a:p>
        </p:txBody>
      </p:sp>
      <p:sp>
        <p:nvSpPr>
          <p:cNvPr id="98" name="Google Shape;98;p13"/>
          <p:cNvSpPr txBox="1"/>
          <p:nvPr/>
        </p:nvSpPr>
        <p:spPr>
          <a:xfrm>
            <a:off x="3327250" y="4320100"/>
            <a:ext cx="2292000" cy="39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50" spc="0">
                <a:solidFill>
                  <a:srgbClr val="1C3664"/>
                </a:solidFill>
                <a:latin typeface="Times New Roman"/>
                <a:ea typeface="Times New Roman"/>
                <a:cs typeface="Times New Roman"/>
                <a:sym typeface="Times New Roman"/>
              </a:rPr>
              <a:t>Vũ Quang Huy</a:t>
            </a:r>
            <a:endParaRPr/>
          </a:p>
        </p:txBody>
      </p:sp>
      <p:sp>
        <p:nvSpPr>
          <p:cNvPr id="99" name="Google Shape;99;p13"/>
          <p:cNvSpPr txBox="1"/>
          <p:nvPr/>
        </p:nvSpPr>
        <p:spPr>
          <a:xfrm>
            <a:off x="3327251" y="4706808"/>
            <a:ext cx="2591364" cy="392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50" spc="0">
                <a:solidFill>
                  <a:srgbClr val="1C3664"/>
                </a:solidFill>
                <a:latin typeface="Times New Roman"/>
                <a:ea typeface="Times New Roman"/>
                <a:cs typeface="Times New Roman"/>
                <a:sym typeface="Times New Roman"/>
              </a:rPr>
              <a:t>Trần Nguyễn Vân Anh</a:t>
            </a:r>
            <a:endParaRPr/>
          </a:p>
        </p:txBody>
      </p:sp>
      <p:pic>
        <p:nvPicPr>
          <p:cNvPr id="100" name="Google Shape;100;p13" descr="Graduation cap Generic Flat icon | Magnific (trước đây là Freepik)"/>
          <p:cNvPicPr preferRelativeResize="0"/>
          <p:nvPr/>
        </p:nvPicPr>
        <p:blipFill rotWithShape="1">
          <a:blip r:embed="rId3">
            <a:alphaModFix/>
          </a:blip>
          <a:srcRect/>
          <a:stretch/>
        </p:blipFill>
        <p:spPr>
          <a:xfrm>
            <a:off x="1759047" y="3778256"/>
            <a:ext cx="1478669" cy="1478669"/>
          </a:xfrm>
          <a:prstGeom prst="rect">
            <a:avLst/>
          </a:prstGeom>
          <a:noFill/>
          <a:ln>
            <a:noFill/>
          </a:ln>
        </p:spPr>
      </p:pic>
      <p:sp>
        <p:nvSpPr>
          <p:cNvPr id="101" name="Google Shape;101;p13"/>
          <p:cNvSpPr/>
          <p:nvPr/>
        </p:nvSpPr>
        <p:spPr>
          <a:xfrm>
            <a:off x="6598699" y="4308663"/>
            <a:ext cx="647700" cy="647700"/>
          </a:xfrm>
          <a:custGeom>
            <a:avLst/>
            <a:gdLst/>
            <a:ahLst/>
            <a:cxnLst/>
            <a:rect l="l" t="t" r="r" b="b"/>
            <a:pathLst>
              <a:path w="647700" h="647700" extrusionOk="0">
                <a:moveTo>
                  <a:pt x="648320" y="323880"/>
                </a:moveTo>
                <a:cubicBezTo>
                  <a:pt x="648320" y="502737"/>
                  <a:pt x="503327" y="647730"/>
                  <a:pt x="324470" y="647730"/>
                </a:cubicBezTo>
                <a:cubicBezTo>
                  <a:pt x="145613" y="647730"/>
                  <a:pt x="620" y="502737"/>
                  <a:pt x="620" y="323880"/>
                </a:cubicBezTo>
                <a:cubicBezTo>
                  <a:pt x="620" y="145023"/>
                  <a:pt x="145613" y="30"/>
                  <a:pt x="324470" y="30"/>
                </a:cubicBezTo>
                <a:cubicBezTo>
                  <a:pt x="503327" y="30"/>
                  <a:pt x="648320" y="145023"/>
                  <a:pt x="648320" y="323880"/>
                </a:cubicBezTo>
                <a:close/>
              </a:path>
            </a:pathLst>
          </a:custGeom>
          <a:noFill/>
          <a:ln w="19050" cap="flat" cmpd="sng">
            <a:solidFill>
              <a:srgbClr val="FFFFF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13"/>
          <p:cNvSpPr txBox="1"/>
          <p:nvPr/>
        </p:nvSpPr>
        <p:spPr>
          <a:xfrm>
            <a:off x="6392959" y="4462968"/>
            <a:ext cx="1059180" cy="2438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1050" b="1" spc="0">
                <a:solidFill>
                  <a:srgbClr val="FFFFFF"/>
                </a:solidFill>
                <a:latin typeface="Arial"/>
                <a:ea typeface="Arial"/>
                <a:cs typeface="Arial"/>
                <a:sym typeface="Arial"/>
              </a:rPr>
              <a:t>[Icon: Shield]</a:t>
            </a:r>
            <a:endParaRPr/>
          </a:p>
        </p:txBody>
      </p:sp>
      <p:sp>
        <p:nvSpPr>
          <p:cNvPr id="103" name="Google Shape;103;p13"/>
          <p:cNvSpPr txBox="1"/>
          <p:nvPr/>
        </p:nvSpPr>
        <p:spPr>
          <a:xfrm>
            <a:off x="7156878" y="3834325"/>
            <a:ext cx="33843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400" b="1" spc="0">
                <a:solidFill>
                  <a:srgbClr val="2E8B57"/>
                </a:solidFill>
                <a:latin typeface="Times New Roman"/>
                <a:ea typeface="Times New Roman"/>
                <a:cs typeface="Times New Roman"/>
                <a:sym typeface="Times New Roman"/>
              </a:rPr>
              <a:t>Quality Guardian:</a:t>
            </a:r>
            <a:endParaRPr/>
          </a:p>
        </p:txBody>
      </p:sp>
      <p:pic>
        <p:nvPicPr>
          <p:cNvPr id="108" name="Google Shape;108;p13" descr="Logo"/>
          <p:cNvPicPr preferRelativeResize="0"/>
          <p:nvPr/>
        </p:nvPicPr>
        <p:blipFill rotWithShape="1">
          <a:blip r:embed="rId4">
            <a:alphaModFix/>
          </a:blip>
          <a:srcRect/>
          <a:stretch/>
        </p:blipFill>
        <p:spPr>
          <a:xfrm>
            <a:off x="309235" y="73262"/>
            <a:ext cx="2479685" cy="981542"/>
          </a:xfrm>
          <a:prstGeom prst="rect">
            <a:avLst/>
          </a:prstGeom>
          <a:noFill/>
          <a:ln>
            <a:noFill/>
          </a:ln>
        </p:spPr>
      </p:pic>
      <p:sp>
        <p:nvSpPr>
          <p:cNvPr id="109" name="Google Shape;109;p13"/>
          <p:cNvSpPr txBox="1"/>
          <p:nvPr/>
        </p:nvSpPr>
        <p:spPr>
          <a:xfrm>
            <a:off x="3327251" y="5072568"/>
            <a:ext cx="2591364" cy="3923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50">
                <a:solidFill>
                  <a:srgbClr val="1C3664"/>
                </a:solidFill>
                <a:latin typeface="Times New Roman"/>
                <a:cs typeface="Times New Roman"/>
                <a:sym typeface="Times New Roman"/>
              </a:rPr>
              <a:t>Đinh Lan Hương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4"/>
          <p:cNvSpPr/>
          <p:nvPr/>
        </p:nvSpPr>
        <p:spPr>
          <a:xfrm>
            <a:off x="0" y="0"/>
            <a:ext cx="12192000" cy="1134258"/>
          </a:xfrm>
          <a:prstGeom prst="rect">
            <a:avLst/>
          </a:prstGeom>
          <a:solidFill>
            <a:srgbClr val="53813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6500" b="1">
                <a:solidFill>
                  <a:schemeClr val="lt1"/>
                </a:solidFill>
                <a:latin typeface="Times New Roman"/>
                <a:ea typeface="Times New Roman"/>
                <a:cs typeface="Times New Roman"/>
                <a:sym typeface="Times New Roman"/>
              </a:rPr>
              <a:t>Outline</a:t>
            </a:r>
            <a:endParaRPr sz="6500" b="1">
              <a:solidFill>
                <a:schemeClr val="lt1"/>
              </a:solidFill>
              <a:latin typeface="Times New Roman"/>
              <a:ea typeface="Times New Roman"/>
              <a:cs typeface="Times New Roman"/>
              <a:sym typeface="Times New Roman"/>
            </a:endParaRPr>
          </a:p>
        </p:txBody>
      </p:sp>
      <p:sp>
        <p:nvSpPr>
          <p:cNvPr id="116" name="Google Shape;116;p14"/>
          <p:cNvSpPr/>
          <p:nvPr/>
        </p:nvSpPr>
        <p:spPr>
          <a:xfrm>
            <a:off x="685800" y="169164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i="0">
                <a:solidFill>
                  <a:srgbClr val="C55A11"/>
                </a:solidFill>
                <a:latin typeface="Times New Roman"/>
                <a:ea typeface="Times New Roman"/>
                <a:cs typeface="Times New Roman"/>
                <a:sym typeface="Times New Roman"/>
              </a:rPr>
              <a:t>Bối cảnh</a:t>
            </a:r>
            <a:r>
              <a:rPr lang="vi-VN" sz="1900" b="1">
                <a:solidFill>
                  <a:srgbClr val="C55A11"/>
                </a:solidFill>
                <a:latin typeface="Times New Roman"/>
                <a:ea typeface="Times New Roman"/>
                <a:cs typeface="Times New Roman"/>
                <a:sym typeface="Times New Roman"/>
              </a:rPr>
              <a:t> về ngân hàng</a:t>
            </a:r>
            <a:endParaRPr/>
          </a:p>
        </p:txBody>
      </p:sp>
      <p:sp>
        <p:nvSpPr>
          <p:cNvPr id="117" name="Google Shape;117;p14"/>
          <p:cNvSpPr/>
          <p:nvPr/>
        </p:nvSpPr>
        <p:spPr>
          <a:xfrm>
            <a:off x="429768" y="153619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1</a:t>
            </a:r>
            <a:endParaRPr/>
          </a:p>
        </p:txBody>
      </p:sp>
      <p:sp>
        <p:nvSpPr>
          <p:cNvPr id="118" name="Google Shape;118;p14"/>
          <p:cNvSpPr/>
          <p:nvPr/>
        </p:nvSpPr>
        <p:spPr>
          <a:xfrm>
            <a:off x="685800" y="292608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i="0">
                <a:solidFill>
                  <a:srgbClr val="C55A11"/>
                </a:solidFill>
                <a:latin typeface="Times New Roman"/>
                <a:ea typeface="Times New Roman"/>
                <a:cs typeface="Times New Roman"/>
                <a:sym typeface="Times New Roman"/>
              </a:rPr>
              <a:t>Đề bài </a:t>
            </a:r>
            <a:r>
              <a:rPr lang="vi-VN" sz="1900" b="1">
                <a:solidFill>
                  <a:srgbClr val="C55A11"/>
                </a:solidFill>
                <a:latin typeface="Times New Roman"/>
                <a:ea typeface="Times New Roman"/>
                <a:cs typeface="Times New Roman"/>
                <a:sym typeface="Times New Roman"/>
              </a:rPr>
              <a:t>xây dựng dashboard</a:t>
            </a:r>
            <a:endParaRPr/>
          </a:p>
        </p:txBody>
      </p:sp>
      <p:sp>
        <p:nvSpPr>
          <p:cNvPr id="119" name="Google Shape;119;p14"/>
          <p:cNvSpPr/>
          <p:nvPr/>
        </p:nvSpPr>
        <p:spPr>
          <a:xfrm>
            <a:off x="429768" y="277063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2</a:t>
            </a:r>
            <a:endParaRPr/>
          </a:p>
        </p:txBody>
      </p:sp>
      <p:sp>
        <p:nvSpPr>
          <p:cNvPr id="120" name="Google Shape;120;p14"/>
          <p:cNvSpPr/>
          <p:nvPr/>
        </p:nvSpPr>
        <p:spPr>
          <a:xfrm>
            <a:off x="685800" y="416052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i="0">
                <a:solidFill>
                  <a:srgbClr val="C55A11"/>
                </a:solidFill>
                <a:latin typeface="Times New Roman"/>
                <a:ea typeface="Times New Roman"/>
                <a:cs typeface="Times New Roman"/>
                <a:sym typeface="Times New Roman"/>
              </a:rPr>
              <a:t>Hệ thống c</a:t>
            </a:r>
            <a:r>
              <a:rPr lang="vi-VN" sz="1900" b="1">
                <a:solidFill>
                  <a:srgbClr val="C55A11"/>
                </a:solidFill>
                <a:latin typeface="Times New Roman"/>
                <a:ea typeface="Times New Roman"/>
                <a:cs typeface="Times New Roman"/>
                <a:sym typeface="Times New Roman"/>
              </a:rPr>
              <a:t>hỉ số KPI</a:t>
            </a:r>
            <a:endParaRPr/>
          </a:p>
        </p:txBody>
      </p:sp>
      <p:sp>
        <p:nvSpPr>
          <p:cNvPr id="121" name="Google Shape;121;p14"/>
          <p:cNvSpPr/>
          <p:nvPr/>
        </p:nvSpPr>
        <p:spPr>
          <a:xfrm>
            <a:off x="429768" y="400507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3</a:t>
            </a:r>
            <a:endParaRPr/>
          </a:p>
        </p:txBody>
      </p:sp>
      <p:sp>
        <p:nvSpPr>
          <p:cNvPr id="122" name="Google Shape;122;p14"/>
          <p:cNvSpPr/>
          <p:nvPr/>
        </p:nvSpPr>
        <p:spPr>
          <a:xfrm>
            <a:off x="685800" y="539496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i="0">
                <a:solidFill>
                  <a:srgbClr val="C55A11"/>
                </a:solidFill>
                <a:latin typeface="Times New Roman"/>
                <a:ea typeface="Times New Roman"/>
                <a:cs typeface="Times New Roman"/>
                <a:sym typeface="Times New Roman"/>
              </a:rPr>
              <a:t>Nguồn dữ liệu </a:t>
            </a:r>
            <a:r>
              <a:rPr lang="vi-VN" sz="1900" b="1">
                <a:solidFill>
                  <a:srgbClr val="C55A11"/>
                </a:solidFill>
                <a:latin typeface="Times New Roman"/>
                <a:ea typeface="Times New Roman"/>
                <a:cs typeface="Times New Roman"/>
                <a:sym typeface="Times New Roman"/>
              </a:rPr>
              <a:t>và</a:t>
            </a:r>
            <a:r>
              <a:rPr lang="vi-VN" sz="1900" b="1" i="0">
                <a:solidFill>
                  <a:srgbClr val="C55A11"/>
                </a:solidFill>
                <a:latin typeface="Times New Roman"/>
                <a:ea typeface="Times New Roman"/>
                <a:cs typeface="Times New Roman"/>
                <a:sym typeface="Times New Roman"/>
              </a:rPr>
              <a:t> </a:t>
            </a:r>
            <a:r>
              <a:rPr lang="vi-VN" sz="1900" b="1">
                <a:solidFill>
                  <a:srgbClr val="C55A11"/>
                </a:solidFill>
                <a:latin typeface="Times New Roman"/>
                <a:ea typeface="Times New Roman"/>
                <a:cs typeface="Times New Roman"/>
                <a:sym typeface="Times New Roman"/>
              </a:rPr>
              <a:t>data modeling</a:t>
            </a:r>
            <a:endParaRPr/>
          </a:p>
        </p:txBody>
      </p:sp>
      <p:sp>
        <p:nvSpPr>
          <p:cNvPr id="123" name="Google Shape;123;p14"/>
          <p:cNvSpPr/>
          <p:nvPr/>
        </p:nvSpPr>
        <p:spPr>
          <a:xfrm>
            <a:off x="429768" y="523951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4</a:t>
            </a:r>
            <a:endParaRPr/>
          </a:p>
        </p:txBody>
      </p:sp>
      <p:sp>
        <p:nvSpPr>
          <p:cNvPr id="124" name="Google Shape;124;p14"/>
          <p:cNvSpPr/>
          <p:nvPr/>
        </p:nvSpPr>
        <p:spPr>
          <a:xfrm>
            <a:off x="6446520" y="169164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i="0">
                <a:solidFill>
                  <a:srgbClr val="C55A11"/>
                </a:solidFill>
                <a:latin typeface="Times New Roman"/>
                <a:ea typeface="Times New Roman"/>
                <a:cs typeface="Times New Roman"/>
                <a:sym typeface="Times New Roman"/>
              </a:rPr>
              <a:t>Khám phá dữ liệu</a:t>
            </a:r>
            <a:endParaRPr/>
          </a:p>
        </p:txBody>
      </p:sp>
      <p:sp>
        <p:nvSpPr>
          <p:cNvPr id="125" name="Google Shape;125;p14"/>
          <p:cNvSpPr/>
          <p:nvPr/>
        </p:nvSpPr>
        <p:spPr>
          <a:xfrm>
            <a:off x="6190488" y="153619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5</a:t>
            </a:r>
            <a:endParaRPr/>
          </a:p>
        </p:txBody>
      </p:sp>
      <p:sp>
        <p:nvSpPr>
          <p:cNvPr id="126" name="Google Shape;126;p14"/>
          <p:cNvSpPr/>
          <p:nvPr/>
        </p:nvSpPr>
        <p:spPr>
          <a:xfrm>
            <a:off x="6446520" y="292608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i="0">
                <a:solidFill>
                  <a:srgbClr val="C55A11"/>
                </a:solidFill>
                <a:latin typeface="Times New Roman"/>
                <a:ea typeface="Times New Roman"/>
                <a:cs typeface="Times New Roman"/>
                <a:sym typeface="Times New Roman"/>
              </a:rPr>
              <a:t>C</a:t>
            </a:r>
            <a:r>
              <a:rPr lang="vi-VN" sz="1900" b="1">
                <a:solidFill>
                  <a:srgbClr val="C55A11"/>
                </a:solidFill>
                <a:latin typeface="Times New Roman"/>
                <a:ea typeface="Times New Roman"/>
                <a:cs typeface="Times New Roman"/>
                <a:sym typeface="Times New Roman"/>
              </a:rPr>
              <a:t>ác mẫu công thức DAX</a:t>
            </a:r>
            <a:r>
              <a:rPr lang="vi-VN" sz="1900" b="1" i="0">
                <a:solidFill>
                  <a:srgbClr val="C55A11"/>
                </a:solidFill>
                <a:latin typeface="Times New Roman"/>
                <a:ea typeface="Times New Roman"/>
                <a:cs typeface="Times New Roman"/>
                <a:sym typeface="Times New Roman"/>
              </a:rPr>
              <a:t> </a:t>
            </a:r>
            <a:endParaRPr/>
          </a:p>
        </p:txBody>
      </p:sp>
      <p:sp>
        <p:nvSpPr>
          <p:cNvPr id="127" name="Google Shape;127;p14"/>
          <p:cNvSpPr/>
          <p:nvPr/>
        </p:nvSpPr>
        <p:spPr>
          <a:xfrm>
            <a:off x="6190488" y="277063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6</a:t>
            </a:r>
            <a:endParaRPr/>
          </a:p>
        </p:txBody>
      </p:sp>
      <p:sp>
        <p:nvSpPr>
          <p:cNvPr id="128" name="Google Shape;128;p14"/>
          <p:cNvSpPr/>
          <p:nvPr/>
        </p:nvSpPr>
        <p:spPr>
          <a:xfrm>
            <a:off x="6446520" y="416052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a:solidFill>
                  <a:srgbClr val="C55A11"/>
                </a:solidFill>
                <a:latin typeface="Times New Roman"/>
                <a:ea typeface="Times New Roman"/>
                <a:cs typeface="Times New Roman"/>
                <a:sym typeface="Times New Roman"/>
              </a:rPr>
              <a:t>Phân tích kết quả </a:t>
            </a:r>
            <a:endParaRPr/>
          </a:p>
        </p:txBody>
      </p:sp>
      <p:sp>
        <p:nvSpPr>
          <p:cNvPr id="129" name="Google Shape;129;p14"/>
          <p:cNvSpPr/>
          <p:nvPr/>
        </p:nvSpPr>
        <p:spPr>
          <a:xfrm>
            <a:off x="6190488" y="400507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7</a:t>
            </a:r>
            <a:endParaRPr/>
          </a:p>
        </p:txBody>
      </p:sp>
      <p:sp>
        <p:nvSpPr>
          <p:cNvPr id="130" name="Google Shape;130;p14"/>
          <p:cNvSpPr/>
          <p:nvPr/>
        </p:nvSpPr>
        <p:spPr>
          <a:xfrm>
            <a:off x="6446520" y="5394960"/>
            <a:ext cx="5257800" cy="868680"/>
          </a:xfrm>
          <a:prstGeom prst="roundRect">
            <a:avLst>
              <a:gd name="adj" fmla="val 16667"/>
            </a:avLst>
          </a:prstGeom>
          <a:solidFill>
            <a:srgbClr val="FBE4D4"/>
          </a:solidFill>
          <a:ln w="19050" cap="flat" cmpd="sng">
            <a:solidFill>
              <a:srgbClr val="BF9000"/>
            </a:solidFill>
            <a:prstDash val="solid"/>
            <a:miter lim="8000"/>
            <a:headEnd type="none" w="sm" len="sm"/>
            <a:tailEnd type="none" w="sm" len="sm"/>
          </a:ln>
        </p:spPr>
        <p:txBody>
          <a:bodyPr spcFirstLastPara="1" wrap="square" lIns="228600" tIns="45700" rIns="137150" bIns="45700" anchor="ctr" anchorCtr="0">
            <a:noAutofit/>
          </a:bodyPr>
          <a:lstStyle/>
          <a:p>
            <a:pPr marL="0" marR="0" lvl="0" indent="0" algn="ctr" rtl="0">
              <a:spcBef>
                <a:spcPts val="0"/>
              </a:spcBef>
              <a:spcAft>
                <a:spcPts val="0"/>
              </a:spcAft>
              <a:buNone/>
            </a:pPr>
            <a:r>
              <a:rPr lang="vi-VN" sz="1900" b="1">
                <a:solidFill>
                  <a:srgbClr val="C55A11"/>
                </a:solidFill>
                <a:latin typeface="Times New Roman"/>
                <a:ea typeface="Times New Roman"/>
                <a:cs typeface="Times New Roman"/>
                <a:sym typeface="Times New Roman"/>
              </a:rPr>
              <a:t>Báo cáo đầu</a:t>
            </a:r>
            <a:r>
              <a:rPr lang="vi-VN" sz="1900" b="1" i="0">
                <a:solidFill>
                  <a:srgbClr val="C55A11"/>
                </a:solidFill>
                <a:latin typeface="Times New Roman"/>
                <a:ea typeface="Times New Roman"/>
                <a:cs typeface="Times New Roman"/>
                <a:sym typeface="Times New Roman"/>
              </a:rPr>
              <a:t> ra</a:t>
            </a:r>
            <a:r>
              <a:rPr lang="vi-VN" sz="1900" b="1">
                <a:solidFill>
                  <a:srgbClr val="C55A11"/>
                </a:solidFill>
                <a:latin typeface="Times New Roman"/>
                <a:ea typeface="Times New Roman"/>
                <a:cs typeface="Times New Roman"/>
                <a:sym typeface="Times New Roman"/>
              </a:rPr>
              <a:t> và</a:t>
            </a:r>
            <a:r>
              <a:rPr lang="vi-VN" sz="1900" b="1" i="0">
                <a:solidFill>
                  <a:srgbClr val="C55A11"/>
                </a:solidFill>
                <a:latin typeface="Times New Roman"/>
                <a:ea typeface="Times New Roman"/>
                <a:cs typeface="Times New Roman"/>
                <a:sym typeface="Times New Roman"/>
              </a:rPr>
              <a:t> thang chấm điểm</a:t>
            </a:r>
            <a:endParaRPr/>
          </a:p>
        </p:txBody>
      </p:sp>
      <p:sp>
        <p:nvSpPr>
          <p:cNvPr id="131" name="Google Shape;131;p14"/>
          <p:cNvSpPr/>
          <p:nvPr/>
        </p:nvSpPr>
        <p:spPr>
          <a:xfrm>
            <a:off x="6190488" y="5239512"/>
            <a:ext cx="1371600" cy="310896"/>
          </a:xfrm>
          <a:prstGeom prst="roundRect">
            <a:avLst>
              <a:gd name="adj" fmla="val 16667"/>
            </a:avLst>
          </a:prstGeom>
          <a:solidFill>
            <a:srgbClr val="703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1200" b="1">
                <a:solidFill>
                  <a:schemeClr val="lt1"/>
                </a:solidFill>
                <a:latin typeface="Times New Roman"/>
                <a:ea typeface="Times New Roman"/>
                <a:cs typeface="Times New Roman"/>
                <a:sym typeface="Times New Roman"/>
              </a:rPr>
              <a:t>PHẦN 8</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138" name="Google Shape;138;p15"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139" name="Google Shape;139;p15"/>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3</a:t>
            </a:fld>
            <a:endParaRPr sz="1800">
              <a:solidFill>
                <a:srgbClr val="0C0C0C"/>
              </a:solidFill>
              <a:latin typeface="Algerian"/>
              <a:ea typeface="Algerian"/>
              <a:cs typeface="Algerian"/>
              <a:sym typeface="Algerian"/>
            </a:endParaRPr>
          </a:p>
        </p:txBody>
      </p:sp>
      <p:sp>
        <p:nvSpPr>
          <p:cNvPr id="140" name="Google Shape;140;p15"/>
          <p:cNvSpPr txBox="1"/>
          <p:nvPr/>
        </p:nvSpPr>
        <p:spPr>
          <a:xfrm>
            <a:off x="45720" y="896112"/>
            <a:ext cx="10058400" cy="323125"/>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en-US" sz="1500" b="1" i="0">
                <a:solidFill>
                  <a:srgbClr val="0070C0"/>
                </a:solidFill>
                <a:latin typeface="Times New Roman"/>
                <a:ea typeface="Times New Roman"/>
                <a:cs typeface="Times New Roman"/>
                <a:sym typeface="Times New Roman"/>
              </a:rPr>
              <a:t>Tình huống thực tế tại ngân hàng</a:t>
            </a:r>
            <a:endParaRPr/>
          </a:p>
        </p:txBody>
      </p:sp>
      <p:sp>
        <p:nvSpPr>
          <p:cNvPr id="141" name="Google Shape;141;p15"/>
          <p:cNvSpPr/>
          <p:nvPr/>
        </p:nvSpPr>
        <p:spPr>
          <a:xfrm>
            <a:off x="347472" y="6144768"/>
            <a:ext cx="11475720" cy="4572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0" i="0">
                <a:solidFill>
                  <a:srgbClr val="000000"/>
                </a:solidFill>
                <a:latin typeface="Times New Roman"/>
                <a:ea typeface="Times New Roman"/>
                <a:cs typeface="Times New Roman"/>
                <a:sym typeface="Times New Roman"/>
              </a:rPr>
              <a:t>Muốn đọc đúng con số, trước hết phải hiểu </a:t>
            </a:r>
            <a:r>
              <a:rPr lang="vi-VN" sz="1800" b="1" i="0">
                <a:solidFill>
                  <a:srgbClr val="123A7A"/>
                </a:solidFill>
                <a:latin typeface="Times New Roman"/>
                <a:ea typeface="Times New Roman"/>
                <a:cs typeface="Times New Roman"/>
                <a:sym typeface="Times New Roman"/>
              </a:rPr>
              <a:t>con số được hình thành từ đâu</a:t>
            </a:r>
            <a:endParaRPr/>
          </a:p>
        </p:txBody>
      </p:sp>
      <p:sp>
        <p:nvSpPr>
          <p:cNvPr id="142" name="Google Shape;142;p15"/>
          <p:cNvSpPr/>
          <p:nvPr/>
        </p:nvSpPr>
        <p:spPr>
          <a:xfrm>
            <a:off x="365760" y="1417320"/>
            <a:ext cx="3200400" cy="3246120"/>
          </a:xfrm>
          <a:prstGeom prst="roundRect">
            <a:avLst>
              <a:gd name="adj" fmla="val 6000"/>
            </a:avLst>
          </a:prstGeom>
          <a:solidFill>
            <a:srgbClr val="FBE5D6"/>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p15"/>
          <p:cNvSpPr/>
          <p:nvPr/>
        </p:nvSpPr>
        <p:spPr>
          <a:xfrm>
            <a:off x="1463040" y="1554480"/>
            <a:ext cx="1005840" cy="100584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44" name="Google Shape;144;p15" descr="FaClock_w.png"/>
          <p:cNvPicPr preferRelativeResize="0"/>
          <p:nvPr/>
        </p:nvPicPr>
        <p:blipFill rotWithShape="1">
          <a:blip r:embed="rId4">
            <a:alphaModFix/>
          </a:blip>
          <a:srcRect/>
          <a:stretch/>
        </p:blipFill>
        <p:spPr>
          <a:xfrm>
            <a:off x="1691640" y="1783080"/>
            <a:ext cx="548640" cy="548640"/>
          </a:xfrm>
          <a:prstGeom prst="rect">
            <a:avLst/>
          </a:prstGeom>
          <a:noFill/>
          <a:ln>
            <a:noFill/>
          </a:ln>
        </p:spPr>
      </p:pic>
      <p:sp>
        <p:nvSpPr>
          <p:cNvPr id="145" name="Google Shape;145;p15"/>
          <p:cNvSpPr txBox="1"/>
          <p:nvPr/>
        </p:nvSpPr>
        <p:spPr>
          <a:xfrm>
            <a:off x="815588" y="2568575"/>
            <a:ext cx="2197500" cy="73140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800" b="0" i="0">
                <a:solidFill>
                  <a:srgbClr val="222222"/>
                </a:solidFill>
                <a:latin typeface="Times New Roman"/>
                <a:ea typeface="Times New Roman"/>
                <a:cs typeface="Times New Roman"/>
                <a:sym typeface="Times New Roman"/>
              </a:rPr>
              <a:t>Còn </a:t>
            </a:r>
            <a:r>
              <a:rPr lang="vi-VN" sz="1800" b="1" i="0">
                <a:solidFill>
                  <a:srgbClr val="222222"/>
                </a:solidFill>
                <a:latin typeface="Times New Roman"/>
                <a:ea typeface="Times New Roman"/>
                <a:cs typeface="Times New Roman"/>
                <a:sym typeface="Times New Roman"/>
              </a:rPr>
              <a:t>10 phút</a:t>
            </a:r>
            <a:r>
              <a:rPr lang="vi-VN" sz="1800" b="0" i="0">
                <a:solidFill>
                  <a:srgbClr val="222222"/>
                </a:solidFill>
                <a:latin typeface="Times New Roman"/>
                <a:ea typeface="Times New Roman"/>
                <a:cs typeface="Times New Roman"/>
                <a:sym typeface="Times New Roman"/>
              </a:rPr>
              <a:t> trước giờ giao ban</a:t>
            </a:r>
            <a:endParaRPr/>
          </a:p>
        </p:txBody>
      </p:sp>
      <p:pic>
        <p:nvPicPr>
          <p:cNvPr id="146" name="Google Shape;146;p15" descr="FaUserTie_n.png"/>
          <p:cNvPicPr preferRelativeResize="0"/>
          <p:nvPr/>
        </p:nvPicPr>
        <p:blipFill rotWithShape="1">
          <a:blip r:embed="rId5">
            <a:alphaModFix/>
          </a:blip>
          <a:srcRect/>
          <a:stretch/>
        </p:blipFill>
        <p:spPr>
          <a:xfrm>
            <a:off x="1548575" y="3314700"/>
            <a:ext cx="731520" cy="731520"/>
          </a:xfrm>
          <a:prstGeom prst="rect">
            <a:avLst/>
          </a:prstGeom>
          <a:noFill/>
          <a:ln>
            <a:noFill/>
          </a:ln>
        </p:spPr>
      </p:pic>
      <p:sp>
        <p:nvSpPr>
          <p:cNvPr id="147" name="Google Shape;147;p15"/>
          <p:cNvSpPr txBox="1"/>
          <p:nvPr/>
        </p:nvSpPr>
        <p:spPr>
          <a:xfrm>
            <a:off x="623624" y="4046225"/>
            <a:ext cx="2704800" cy="50280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00" b="0" i="0">
                <a:solidFill>
                  <a:srgbClr val="222222"/>
                </a:solidFill>
                <a:latin typeface="Times New Roman"/>
                <a:ea typeface="Times New Roman"/>
                <a:cs typeface="Times New Roman"/>
                <a:sym typeface="Times New Roman"/>
              </a:rPr>
              <a:t>Lãnh đạo Khối KHDN cần trả lời nhanh 3 câu hỏi</a:t>
            </a:r>
            <a:endParaRPr/>
          </a:p>
        </p:txBody>
      </p:sp>
      <p:sp>
        <p:nvSpPr>
          <p:cNvPr id="148" name="Google Shape;148;p15"/>
          <p:cNvSpPr/>
          <p:nvPr/>
        </p:nvSpPr>
        <p:spPr>
          <a:xfrm>
            <a:off x="3611880" y="2788920"/>
            <a:ext cx="320040" cy="411480"/>
          </a:xfrm>
          <a:prstGeom prst="rightArrow">
            <a:avLst>
              <a:gd name="adj1" fmla="val 50000"/>
              <a:gd name="adj2" fmla="val 5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15"/>
          <p:cNvSpPr/>
          <p:nvPr/>
        </p:nvSpPr>
        <p:spPr>
          <a:xfrm>
            <a:off x="3977639" y="1417320"/>
            <a:ext cx="4846320" cy="1005840"/>
          </a:xfrm>
          <a:prstGeom prst="roundRect">
            <a:avLst>
              <a:gd name="adj" fmla="val 10000"/>
            </a:avLst>
          </a:prstGeom>
          <a:solidFill>
            <a:srgbClr val="FFFFFF"/>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0" name="Google Shape;150;p15"/>
          <p:cNvSpPr/>
          <p:nvPr/>
        </p:nvSpPr>
        <p:spPr>
          <a:xfrm>
            <a:off x="4087368" y="1691640"/>
            <a:ext cx="457200" cy="45720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1</a:t>
            </a:r>
            <a:endParaRPr/>
          </a:p>
        </p:txBody>
      </p:sp>
      <p:pic>
        <p:nvPicPr>
          <p:cNvPr id="151" name="Google Shape;151;p15" descr="FaChartBar_g.png"/>
          <p:cNvPicPr preferRelativeResize="0"/>
          <p:nvPr/>
        </p:nvPicPr>
        <p:blipFill rotWithShape="1">
          <a:blip r:embed="rId6">
            <a:alphaModFix/>
          </a:blip>
          <a:srcRect/>
          <a:stretch/>
        </p:blipFill>
        <p:spPr>
          <a:xfrm>
            <a:off x="4663440" y="1645920"/>
            <a:ext cx="548640" cy="548640"/>
          </a:xfrm>
          <a:prstGeom prst="rect">
            <a:avLst/>
          </a:prstGeom>
          <a:noFill/>
          <a:ln>
            <a:noFill/>
          </a:ln>
        </p:spPr>
      </p:pic>
      <p:sp>
        <p:nvSpPr>
          <p:cNvPr id="152" name="Google Shape;152;p15"/>
          <p:cNvSpPr txBox="1"/>
          <p:nvPr/>
        </p:nvSpPr>
        <p:spPr>
          <a:xfrm>
            <a:off x="5303520" y="1463040"/>
            <a:ext cx="3474720" cy="914400"/>
          </a:xfrm>
          <a:prstGeom prst="rect">
            <a:avLst/>
          </a:prstGeom>
          <a:noFill/>
          <a:ln>
            <a:noFill/>
          </a:ln>
        </p:spPr>
        <p:txBody>
          <a:bodyPr spcFirstLastPara="1" wrap="square" lIns="45700" tIns="18275" rIns="45700" bIns="18275" anchor="ctr" anchorCtr="0">
            <a:noAutofit/>
          </a:bodyPr>
          <a:lstStyle/>
          <a:p>
            <a:pPr marL="0" marR="0" lvl="0" indent="0" algn="l" rtl="0">
              <a:spcBef>
                <a:spcPts val="0"/>
              </a:spcBef>
              <a:spcAft>
                <a:spcPts val="0"/>
              </a:spcAft>
              <a:buNone/>
            </a:pPr>
            <a:r>
              <a:rPr lang="vi-VN" sz="1200" b="1" i="0">
                <a:solidFill>
                  <a:srgbClr val="2E5B31"/>
                </a:solidFill>
                <a:latin typeface="Times New Roman"/>
                <a:ea typeface="Times New Roman"/>
                <a:cs typeface="Times New Roman"/>
                <a:sym typeface="Times New Roman"/>
              </a:rPr>
              <a:t>Quy mô</a:t>
            </a:r>
            <a:endParaRPr/>
          </a:p>
          <a:p>
            <a:pPr marL="0" marR="0" lvl="0" indent="0" algn="l" rtl="0">
              <a:spcBef>
                <a:spcPts val="0"/>
              </a:spcBef>
              <a:spcAft>
                <a:spcPts val="0"/>
              </a:spcAft>
              <a:buNone/>
            </a:pPr>
            <a:r>
              <a:rPr lang="vi-VN" sz="1450" b="0" i="0">
                <a:solidFill>
                  <a:srgbClr val="222222"/>
                </a:solidFill>
                <a:latin typeface="Times New Roman"/>
                <a:ea typeface="Times New Roman"/>
                <a:cs typeface="Times New Roman"/>
                <a:sym typeface="Times New Roman"/>
              </a:rPr>
              <a:t>Dư nợ hiện tại là bao nhiêu và biến động ra sao?</a:t>
            </a:r>
            <a:endParaRPr/>
          </a:p>
        </p:txBody>
      </p:sp>
      <p:sp>
        <p:nvSpPr>
          <p:cNvPr id="153" name="Google Shape;153;p15"/>
          <p:cNvSpPr/>
          <p:nvPr/>
        </p:nvSpPr>
        <p:spPr>
          <a:xfrm>
            <a:off x="3977639" y="2514600"/>
            <a:ext cx="4846320" cy="1005840"/>
          </a:xfrm>
          <a:prstGeom prst="roundRect">
            <a:avLst>
              <a:gd name="adj" fmla="val 10000"/>
            </a:avLst>
          </a:prstGeom>
          <a:solidFill>
            <a:srgbClr val="FFFFFF"/>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4" name="Google Shape;154;p15"/>
          <p:cNvSpPr/>
          <p:nvPr/>
        </p:nvSpPr>
        <p:spPr>
          <a:xfrm>
            <a:off x="4087368" y="2788920"/>
            <a:ext cx="457200" cy="45720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2</a:t>
            </a:r>
            <a:endParaRPr/>
          </a:p>
        </p:txBody>
      </p:sp>
      <p:pic>
        <p:nvPicPr>
          <p:cNvPr id="155" name="Google Shape;155;p15" descr="FaCoins_o.png"/>
          <p:cNvPicPr preferRelativeResize="0"/>
          <p:nvPr/>
        </p:nvPicPr>
        <p:blipFill rotWithShape="1">
          <a:blip r:embed="rId7">
            <a:alphaModFix/>
          </a:blip>
          <a:srcRect/>
          <a:stretch/>
        </p:blipFill>
        <p:spPr>
          <a:xfrm>
            <a:off x="4663440" y="2743200"/>
            <a:ext cx="548640" cy="548640"/>
          </a:xfrm>
          <a:prstGeom prst="rect">
            <a:avLst/>
          </a:prstGeom>
          <a:noFill/>
          <a:ln>
            <a:noFill/>
          </a:ln>
        </p:spPr>
      </p:pic>
      <p:sp>
        <p:nvSpPr>
          <p:cNvPr id="156" name="Google Shape;156;p15"/>
          <p:cNvSpPr txBox="1"/>
          <p:nvPr/>
        </p:nvSpPr>
        <p:spPr>
          <a:xfrm>
            <a:off x="5303520" y="2560320"/>
            <a:ext cx="3474720" cy="914400"/>
          </a:xfrm>
          <a:prstGeom prst="rect">
            <a:avLst/>
          </a:prstGeom>
          <a:noFill/>
          <a:ln>
            <a:noFill/>
          </a:ln>
        </p:spPr>
        <p:txBody>
          <a:bodyPr spcFirstLastPara="1" wrap="square" lIns="45700" tIns="18275" rIns="45700" bIns="18275" anchor="ctr" anchorCtr="0">
            <a:noAutofit/>
          </a:bodyPr>
          <a:lstStyle/>
          <a:p>
            <a:pPr marL="0" marR="0" lvl="0" indent="0" algn="l" rtl="0">
              <a:spcBef>
                <a:spcPts val="0"/>
              </a:spcBef>
              <a:spcAft>
                <a:spcPts val="0"/>
              </a:spcAft>
              <a:buNone/>
            </a:pPr>
            <a:r>
              <a:rPr lang="vi-VN" sz="1200" b="1" i="0">
                <a:solidFill>
                  <a:srgbClr val="C55A11"/>
                </a:solidFill>
                <a:latin typeface="Times New Roman"/>
                <a:ea typeface="Times New Roman"/>
                <a:cs typeface="Times New Roman"/>
                <a:sym typeface="Times New Roman"/>
              </a:rPr>
              <a:t>Sinh lời</a:t>
            </a:r>
            <a:endParaRPr/>
          </a:p>
          <a:p>
            <a:pPr marL="0" marR="0" lvl="0" indent="0" algn="l" rtl="0">
              <a:spcBef>
                <a:spcPts val="0"/>
              </a:spcBef>
              <a:spcAft>
                <a:spcPts val="0"/>
              </a:spcAft>
              <a:buNone/>
            </a:pPr>
            <a:r>
              <a:rPr lang="vi-VN" sz="1450" b="0" i="0">
                <a:solidFill>
                  <a:srgbClr val="222222"/>
                </a:solidFill>
                <a:latin typeface="Times New Roman"/>
                <a:ea typeface="Times New Roman"/>
                <a:cs typeface="Times New Roman"/>
                <a:sym typeface="Times New Roman"/>
              </a:rPr>
              <a:t>Danh mục cho vay tạo ra bao nhiêu thu nhập?</a:t>
            </a:r>
            <a:endParaRPr/>
          </a:p>
        </p:txBody>
      </p:sp>
      <p:sp>
        <p:nvSpPr>
          <p:cNvPr id="157" name="Google Shape;157;p15"/>
          <p:cNvSpPr/>
          <p:nvPr/>
        </p:nvSpPr>
        <p:spPr>
          <a:xfrm>
            <a:off x="3977639" y="3611880"/>
            <a:ext cx="4846320" cy="1005840"/>
          </a:xfrm>
          <a:prstGeom prst="roundRect">
            <a:avLst>
              <a:gd name="adj" fmla="val 10000"/>
            </a:avLst>
          </a:prstGeom>
          <a:solidFill>
            <a:srgbClr val="FFFFFF"/>
          </a:solidFill>
          <a:ln w="19050" cap="flat" cmpd="sng">
            <a:solidFill>
              <a:srgbClr val="C00000"/>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8" name="Google Shape;158;p15"/>
          <p:cNvSpPr/>
          <p:nvPr/>
        </p:nvSpPr>
        <p:spPr>
          <a:xfrm>
            <a:off x="4087368" y="3886200"/>
            <a:ext cx="457200" cy="457200"/>
          </a:xfrm>
          <a:prstGeom prst="ellipse">
            <a:avLst/>
          </a:prstGeom>
          <a:solidFill>
            <a:srgbClr val="C00000"/>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3</a:t>
            </a:r>
            <a:endParaRPr/>
          </a:p>
        </p:txBody>
      </p:sp>
      <p:pic>
        <p:nvPicPr>
          <p:cNvPr id="159" name="Google Shape;159;p15" descr="FaExclamationTriangle_r.png"/>
          <p:cNvPicPr preferRelativeResize="0"/>
          <p:nvPr/>
        </p:nvPicPr>
        <p:blipFill rotWithShape="1">
          <a:blip r:embed="rId8">
            <a:alphaModFix/>
          </a:blip>
          <a:srcRect/>
          <a:stretch/>
        </p:blipFill>
        <p:spPr>
          <a:xfrm>
            <a:off x="4663440" y="3840480"/>
            <a:ext cx="548640" cy="548640"/>
          </a:xfrm>
          <a:prstGeom prst="rect">
            <a:avLst/>
          </a:prstGeom>
          <a:noFill/>
          <a:ln>
            <a:noFill/>
          </a:ln>
        </p:spPr>
      </p:pic>
      <p:sp>
        <p:nvSpPr>
          <p:cNvPr id="160" name="Google Shape;160;p15"/>
          <p:cNvSpPr txBox="1"/>
          <p:nvPr/>
        </p:nvSpPr>
        <p:spPr>
          <a:xfrm>
            <a:off x="5303520" y="3657600"/>
            <a:ext cx="3474720" cy="914400"/>
          </a:xfrm>
          <a:prstGeom prst="rect">
            <a:avLst/>
          </a:prstGeom>
          <a:noFill/>
          <a:ln>
            <a:noFill/>
          </a:ln>
        </p:spPr>
        <p:txBody>
          <a:bodyPr spcFirstLastPara="1" wrap="square" lIns="45700" tIns="18275" rIns="45700" bIns="18275" anchor="ctr" anchorCtr="0">
            <a:noAutofit/>
          </a:bodyPr>
          <a:lstStyle/>
          <a:p>
            <a:pPr marL="0" marR="0" lvl="0" indent="0" algn="l" rtl="0">
              <a:spcBef>
                <a:spcPts val="0"/>
              </a:spcBef>
              <a:spcAft>
                <a:spcPts val="0"/>
              </a:spcAft>
              <a:buNone/>
            </a:pPr>
            <a:r>
              <a:rPr lang="vi-VN" sz="1200" b="1" i="0">
                <a:solidFill>
                  <a:srgbClr val="C00000"/>
                </a:solidFill>
                <a:latin typeface="Times New Roman"/>
                <a:ea typeface="Times New Roman"/>
                <a:cs typeface="Times New Roman"/>
                <a:sym typeface="Times New Roman"/>
              </a:rPr>
              <a:t>Rủi ro</a:t>
            </a:r>
            <a:endParaRPr/>
          </a:p>
          <a:p>
            <a:pPr marL="0" marR="0" lvl="0" indent="0" algn="l" rtl="0">
              <a:spcBef>
                <a:spcPts val="0"/>
              </a:spcBef>
              <a:spcAft>
                <a:spcPts val="0"/>
              </a:spcAft>
              <a:buNone/>
            </a:pPr>
            <a:r>
              <a:rPr lang="vi-VN" sz="1450" b="0" i="0">
                <a:solidFill>
                  <a:srgbClr val="222222"/>
                </a:solidFill>
                <a:latin typeface="Times New Roman"/>
                <a:ea typeface="Times New Roman"/>
                <a:cs typeface="Times New Roman"/>
                <a:sym typeface="Times New Roman"/>
              </a:rPr>
              <a:t>Khoản vay nào có dấu hiệu rủi ro, có nguy cơ không trả được nợ?</a:t>
            </a:r>
            <a:endParaRPr/>
          </a:p>
        </p:txBody>
      </p:sp>
      <p:sp>
        <p:nvSpPr>
          <p:cNvPr id="161" name="Google Shape;161;p15"/>
          <p:cNvSpPr/>
          <p:nvPr/>
        </p:nvSpPr>
        <p:spPr>
          <a:xfrm>
            <a:off x="8869680" y="2788920"/>
            <a:ext cx="320040" cy="411480"/>
          </a:xfrm>
          <a:prstGeom prst="rightArrow">
            <a:avLst>
              <a:gd name="adj1" fmla="val 50000"/>
              <a:gd name="adj2" fmla="val 50000"/>
            </a:avLst>
          </a:prstGeom>
          <a:solidFill>
            <a:srgbClr val="2E5B3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15"/>
          <p:cNvSpPr/>
          <p:nvPr/>
        </p:nvSpPr>
        <p:spPr>
          <a:xfrm>
            <a:off x="9235440" y="1417320"/>
            <a:ext cx="2587752" cy="3246120"/>
          </a:xfrm>
          <a:prstGeom prst="roundRect">
            <a:avLst>
              <a:gd name="adj" fmla="val 6000"/>
            </a:avLst>
          </a:prstGeom>
          <a:solidFill>
            <a:srgbClr val="E2F0D9"/>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3" name="Google Shape;163;p15"/>
          <p:cNvSpPr/>
          <p:nvPr/>
        </p:nvSpPr>
        <p:spPr>
          <a:xfrm>
            <a:off x="10030968" y="1554480"/>
            <a:ext cx="1005840" cy="100584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64" name="Google Shape;164;p15" descr="FaChartLine_w.png"/>
          <p:cNvPicPr preferRelativeResize="0"/>
          <p:nvPr/>
        </p:nvPicPr>
        <p:blipFill rotWithShape="1">
          <a:blip r:embed="rId9">
            <a:alphaModFix/>
          </a:blip>
          <a:srcRect/>
          <a:stretch/>
        </p:blipFill>
        <p:spPr>
          <a:xfrm>
            <a:off x="10259568" y="1783080"/>
            <a:ext cx="548640" cy="548640"/>
          </a:xfrm>
          <a:prstGeom prst="rect">
            <a:avLst/>
          </a:prstGeom>
          <a:noFill/>
          <a:ln>
            <a:noFill/>
          </a:ln>
        </p:spPr>
      </p:pic>
      <p:sp>
        <p:nvSpPr>
          <p:cNvPr id="165" name="Google Shape;165;p15"/>
          <p:cNvSpPr txBox="1"/>
          <p:nvPr/>
        </p:nvSpPr>
        <p:spPr>
          <a:xfrm>
            <a:off x="9326880" y="2651760"/>
            <a:ext cx="2404872" cy="73152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700" b="1" i="0">
                <a:solidFill>
                  <a:srgbClr val="222222"/>
                </a:solidFill>
                <a:latin typeface="Times New Roman"/>
                <a:ea typeface="Times New Roman"/>
                <a:cs typeface="Times New Roman"/>
                <a:sym typeface="Times New Roman"/>
              </a:rPr>
              <a:t>Data Analyst</a:t>
            </a:r>
            <a:r>
              <a:rPr lang="vi-VN" sz="1700" b="0" i="0">
                <a:solidFill>
                  <a:srgbClr val="222222"/>
                </a:solidFill>
                <a:latin typeface="Times New Roman"/>
                <a:ea typeface="Times New Roman"/>
                <a:cs typeface="Times New Roman"/>
                <a:sym typeface="Times New Roman"/>
              </a:rPr>
              <a:t> </a:t>
            </a:r>
            <a:endParaRPr sz="1700" b="0" i="0">
              <a:solidFill>
                <a:srgbClr val="222222"/>
              </a:solidFill>
              <a:latin typeface="Times New Roman"/>
              <a:ea typeface="Times New Roman"/>
              <a:cs typeface="Times New Roman"/>
              <a:sym typeface="Times New Roman"/>
            </a:endParaRPr>
          </a:p>
          <a:p>
            <a:pPr marL="0" marR="0" lvl="0" indent="0" algn="ctr" rtl="0">
              <a:spcBef>
                <a:spcPts val="0"/>
              </a:spcBef>
              <a:spcAft>
                <a:spcPts val="0"/>
              </a:spcAft>
              <a:buNone/>
            </a:pPr>
            <a:r>
              <a:rPr lang="vi-VN" sz="1700">
                <a:solidFill>
                  <a:srgbClr val="222222"/>
                </a:solidFill>
                <a:latin typeface="Times New Roman"/>
                <a:ea typeface="Times New Roman"/>
                <a:cs typeface="Times New Roman"/>
                <a:sym typeface="Times New Roman"/>
              </a:rPr>
              <a:t>trong ngân hàng</a:t>
            </a:r>
            <a:endParaRPr/>
          </a:p>
        </p:txBody>
      </p:sp>
      <p:sp>
        <p:nvSpPr>
          <p:cNvPr id="166" name="Google Shape;166;p15"/>
          <p:cNvSpPr txBox="1"/>
          <p:nvPr/>
        </p:nvSpPr>
        <p:spPr>
          <a:xfrm>
            <a:off x="9242641" y="3376400"/>
            <a:ext cx="2555400" cy="1280100"/>
          </a:xfrm>
          <a:prstGeom prst="rect">
            <a:avLst/>
          </a:prstGeom>
          <a:noFill/>
          <a:ln>
            <a:noFill/>
          </a:ln>
        </p:spPr>
        <p:txBody>
          <a:bodyPr spcFirstLastPara="1" wrap="square" lIns="73150" tIns="36575" rIns="73150" bIns="36575" anchor="t" anchorCtr="0">
            <a:noAutofit/>
          </a:bodyPr>
          <a:lstStyle/>
          <a:p>
            <a:pPr marL="0" marR="0" lvl="0" indent="0" algn="ctr" rtl="0">
              <a:spcBef>
                <a:spcPts val="0"/>
              </a:spcBef>
              <a:spcAft>
                <a:spcPts val="0"/>
              </a:spcAft>
              <a:buNone/>
            </a:pPr>
            <a:r>
              <a:rPr lang="vi-VN" sz="1350">
                <a:solidFill>
                  <a:srgbClr val="222222"/>
                </a:solidFill>
                <a:latin typeface="Times New Roman"/>
                <a:ea typeface="Times New Roman"/>
                <a:cs typeface="Times New Roman"/>
                <a:sym typeface="Times New Roman"/>
              </a:rPr>
              <a:t>Cần t</a:t>
            </a:r>
            <a:r>
              <a:rPr lang="vi-VN" sz="1350" b="0" i="0">
                <a:solidFill>
                  <a:srgbClr val="222222"/>
                </a:solidFill>
                <a:latin typeface="Times New Roman"/>
                <a:ea typeface="Times New Roman"/>
                <a:cs typeface="Times New Roman"/>
                <a:sym typeface="Times New Roman"/>
              </a:rPr>
              <a:t>rả lời 3 câu hỏi bằng dữ liệu</a:t>
            </a:r>
            <a:endParaRPr/>
          </a:p>
          <a:p>
            <a:pPr marL="0" marR="0" lvl="0" indent="0" algn="ctr" rtl="0">
              <a:spcBef>
                <a:spcPts val="600"/>
              </a:spcBef>
              <a:spcAft>
                <a:spcPts val="0"/>
              </a:spcAft>
              <a:buNone/>
            </a:pPr>
            <a:r>
              <a:rPr lang="vi-VN" sz="1350" b="0" i="1">
                <a:solidFill>
                  <a:srgbClr val="222222"/>
                </a:solidFill>
                <a:latin typeface="Times New Roman"/>
                <a:ea typeface="Times New Roman"/>
                <a:cs typeface="Times New Roman"/>
                <a:sym typeface="Times New Roman"/>
              </a:rPr>
              <a:t>Hiểu con số đến từ đâu → diễn giải </a:t>
            </a:r>
            <a:r>
              <a:rPr lang="vi-VN" sz="1350" i="1">
                <a:solidFill>
                  <a:srgbClr val="222222"/>
                </a:solidFill>
                <a:latin typeface="Times New Roman"/>
                <a:ea typeface="Times New Roman"/>
                <a:cs typeface="Times New Roman"/>
                <a:sym typeface="Times New Roman"/>
              </a:rPr>
              <a:t>và chuyển hóa thành insight có ý nghĩa</a:t>
            </a:r>
            <a:endParaRPr sz="1350" i="1">
              <a:solidFill>
                <a:srgbClr val="222222"/>
              </a:solidFill>
              <a:latin typeface="Times New Roman"/>
              <a:ea typeface="Times New Roman"/>
              <a:cs typeface="Times New Roman"/>
              <a:sym typeface="Times New Roman"/>
            </a:endParaRPr>
          </a:p>
        </p:txBody>
      </p:sp>
      <p:sp>
        <p:nvSpPr>
          <p:cNvPr id="167" name="Google Shape;167;p15"/>
          <p:cNvSpPr/>
          <p:nvPr/>
        </p:nvSpPr>
        <p:spPr>
          <a:xfrm>
            <a:off x="387883" y="5102352"/>
            <a:ext cx="2240400" cy="868800"/>
          </a:xfrm>
          <a:prstGeom prst="homePlate">
            <a:avLst>
              <a:gd name="adj" fmla="val 28000"/>
            </a:avLst>
          </a:prstGeom>
          <a:solidFill>
            <a:srgbClr val="2E5B31"/>
          </a:solidFill>
          <a:ln>
            <a:noFill/>
          </a:ln>
        </p:spPr>
        <p:txBody>
          <a:bodyPr spcFirstLastPara="1" wrap="square" lIns="91425" tIns="18275" rIns="274300" bIns="18275" anchor="ctr" anchorCtr="0">
            <a:noAutofit/>
          </a:bodyPr>
          <a:lstStyle/>
          <a:p>
            <a:pPr marL="0" marR="0" lvl="0" indent="0" algn="ctr" rtl="0">
              <a:spcBef>
                <a:spcPts val="0"/>
              </a:spcBef>
              <a:spcAft>
                <a:spcPts val="0"/>
              </a:spcAft>
              <a:buNone/>
            </a:pPr>
            <a:r>
              <a:rPr lang="vi-VN" sz="1400" b="1" i="0">
                <a:solidFill>
                  <a:srgbClr val="FFFFFF"/>
                </a:solidFill>
                <a:latin typeface="Times New Roman"/>
                <a:ea typeface="Times New Roman"/>
                <a:cs typeface="Times New Roman"/>
                <a:sym typeface="Times New Roman"/>
              </a:rPr>
              <a:t>Mô hình tạo thu nhập c</a:t>
            </a:r>
            <a:r>
              <a:rPr lang="vi-VN" b="1">
                <a:solidFill>
                  <a:srgbClr val="FFFFFF"/>
                </a:solidFill>
                <a:latin typeface="Times New Roman"/>
                <a:ea typeface="Times New Roman"/>
                <a:cs typeface="Times New Roman"/>
                <a:sym typeface="Times New Roman"/>
              </a:rPr>
              <a:t>ủa ngân hàng</a:t>
            </a:r>
            <a:endParaRPr/>
          </a:p>
        </p:txBody>
      </p:sp>
      <p:sp>
        <p:nvSpPr>
          <p:cNvPr id="168" name="Google Shape;168;p15"/>
          <p:cNvSpPr/>
          <p:nvPr/>
        </p:nvSpPr>
        <p:spPr>
          <a:xfrm>
            <a:off x="2673883" y="5102352"/>
            <a:ext cx="2240400" cy="868800"/>
          </a:xfrm>
          <a:prstGeom prst="homePlate">
            <a:avLst>
              <a:gd name="adj" fmla="val 28000"/>
            </a:avLst>
          </a:prstGeom>
          <a:solidFill>
            <a:srgbClr val="548235"/>
          </a:solidFill>
          <a:ln>
            <a:noFill/>
          </a:ln>
        </p:spPr>
        <p:txBody>
          <a:bodyPr spcFirstLastPara="1" wrap="square" lIns="91425" tIns="18275" rIns="274300" bIns="18275" anchor="ctr" anchorCtr="0">
            <a:noAutofit/>
          </a:bodyPr>
          <a:lstStyle/>
          <a:p>
            <a:pPr marL="0" marR="0" lvl="0" indent="0" algn="ctr" rtl="0">
              <a:spcBef>
                <a:spcPts val="0"/>
              </a:spcBef>
              <a:spcAft>
                <a:spcPts val="0"/>
              </a:spcAft>
              <a:buNone/>
            </a:pPr>
            <a:r>
              <a:rPr lang="vi-VN" sz="1400" b="1" i="0">
                <a:solidFill>
                  <a:srgbClr val="FFFFFF"/>
                </a:solidFill>
                <a:latin typeface="Times New Roman"/>
                <a:ea typeface="Times New Roman"/>
                <a:cs typeface="Times New Roman"/>
                <a:sym typeface="Times New Roman"/>
              </a:rPr>
              <a:t>Quy trình cho vay t</a:t>
            </a:r>
            <a:r>
              <a:rPr lang="vi-VN" b="1">
                <a:solidFill>
                  <a:srgbClr val="FFFFFF"/>
                </a:solidFill>
                <a:latin typeface="Times New Roman"/>
                <a:ea typeface="Times New Roman"/>
                <a:cs typeface="Times New Roman"/>
                <a:sym typeface="Times New Roman"/>
              </a:rPr>
              <a:t>ín dụng</a:t>
            </a:r>
            <a:r>
              <a:rPr lang="en-US" b="1">
                <a:solidFill>
                  <a:srgbClr val="FFFFFF"/>
                </a:solidFill>
                <a:latin typeface="Times New Roman"/>
                <a:ea typeface="Times New Roman"/>
                <a:cs typeface="Times New Roman"/>
                <a:sym typeface="Times New Roman"/>
              </a:rPr>
              <a:t> thực tế</a:t>
            </a:r>
            <a:endParaRPr/>
          </a:p>
        </p:txBody>
      </p:sp>
      <p:sp>
        <p:nvSpPr>
          <p:cNvPr id="169" name="Google Shape;169;p15"/>
          <p:cNvSpPr/>
          <p:nvPr/>
        </p:nvSpPr>
        <p:spPr>
          <a:xfrm>
            <a:off x="4959883" y="5102352"/>
            <a:ext cx="2240400" cy="868800"/>
          </a:xfrm>
          <a:prstGeom prst="homePlate">
            <a:avLst>
              <a:gd name="adj" fmla="val 28000"/>
            </a:avLst>
          </a:prstGeom>
          <a:solidFill>
            <a:srgbClr val="2E5B31"/>
          </a:solidFill>
          <a:ln>
            <a:noFill/>
          </a:ln>
        </p:spPr>
        <p:txBody>
          <a:bodyPr spcFirstLastPara="1" wrap="square" lIns="91425" tIns="18275" rIns="274300" bIns="18275" anchor="ctr" anchorCtr="0">
            <a:noAutofit/>
          </a:bodyPr>
          <a:lstStyle/>
          <a:p>
            <a:pPr marL="0" marR="0" lvl="0" indent="0" algn="ctr" rtl="0">
              <a:spcBef>
                <a:spcPts val="0"/>
              </a:spcBef>
              <a:spcAft>
                <a:spcPts val="0"/>
              </a:spcAft>
              <a:buNone/>
            </a:pPr>
            <a:r>
              <a:rPr lang="vi-VN" sz="1400" b="1" i="0">
                <a:solidFill>
                  <a:srgbClr val="FFFFFF"/>
                </a:solidFill>
                <a:latin typeface="Times New Roman"/>
                <a:ea typeface="Times New Roman"/>
                <a:cs typeface="Times New Roman"/>
                <a:sym typeface="Times New Roman"/>
              </a:rPr>
              <a:t>So s</a:t>
            </a:r>
            <a:r>
              <a:rPr lang="vi-VN" b="1">
                <a:solidFill>
                  <a:srgbClr val="FFFFFF"/>
                </a:solidFill>
                <a:latin typeface="Times New Roman"/>
                <a:ea typeface="Times New Roman"/>
                <a:cs typeface="Times New Roman"/>
                <a:sym typeface="Times New Roman"/>
              </a:rPr>
              <a:t>ánh sự khác biệt </a:t>
            </a:r>
            <a:r>
              <a:rPr lang="vi-VN" sz="1400" b="1" i="0">
                <a:solidFill>
                  <a:srgbClr val="FFFFFF"/>
                </a:solidFill>
                <a:latin typeface="Times New Roman"/>
                <a:ea typeface="Times New Roman"/>
                <a:cs typeface="Times New Roman"/>
                <a:sym typeface="Times New Roman"/>
              </a:rPr>
              <a:t>KHDN v</a:t>
            </a:r>
            <a:r>
              <a:rPr lang="vi-VN" b="1">
                <a:solidFill>
                  <a:srgbClr val="FFFFFF"/>
                </a:solidFill>
                <a:latin typeface="Times New Roman"/>
                <a:ea typeface="Times New Roman"/>
                <a:cs typeface="Times New Roman"/>
                <a:sym typeface="Times New Roman"/>
              </a:rPr>
              <a:t>à</a:t>
            </a:r>
            <a:r>
              <a:rPr lang="vi-VN" sz="1400" b="1" i="0">
                <a:solidFill>
                  <a:srgbClr val="FFFFFF"/>
                </a:solidFill>
                <a:latin typeface="Times New Roman"/>
                <a:ea typeface="Times New Roman"/>
                <a:cs typeface="Times New Roman"/>
                <a:sym typeface="Times New Roman"/>
              </a:rPr>
              <a:t> KHCN</a:t>
            </a:r>
            <a:endParaRPr/>
          </a:p>
        </p:txBody>
      </p:sp>
      <p:sp>
        <p:nvSpPr>
          <p:cNvPr id="170" name="Google Shape;170;p15"/>
          <p:cNvSpPr/>
          <p:nvPr/>
        </p:nvSpPr>
        <p:spPr>
          <a:xfrm>
            <a:off x="7245883" y="5102352"/>
            <a:ext cx="2240400" cy="868800"/>
          </a:xfrm>
          <a:prstGeom prst="homePlate">
            <a:avLst>
              <a:gd name="adj" fmla="val 28000"/>
            </a:avLst>
          </a:prstGeom>
          <a:solidFill>
            <a:srgbClr val="548235"/>
          </a:solidFill>
          <a:ln>
            <a:noFill/>
          </a:ln>
        </p:spPr>
        <p:txBody>
          <a:bodyPr spcFirstLastPara="1" wrap="square" lIns="91425" tIns="18275" rIns="274300" bIns="18275" anchor="ctr" anchorCtr="0">
            <a:noAutofit/>
          </a:bodyPr>
          <a:lstStyle/>
          <a:p>
            <a:pPr marL="0" marR="0" lvl="0" indent="0" algn="ctr" rtl="0">
              <a:spcBef>
                <a:spcPts val="0"/>
              </a:spcBef>
              <a:spcAft>
                <a:spcPts val="0"/>
              </a:spcAft>
              <a:buNone/>
            </a:pPr>
            <a:r>
              <a:rPr lang="vi-VN" sz="1300" b="1">
                <a:solidFill>
                  <a:srgbClr val="FFFFFF"/>
                </a:solidFill>
                <a:latin typeface="Times New Roman"/>
                <a:ea typeface="Times New Roman"/>
                <a:cs typeface="Times New Roman"/>
                <a:sym typeface="Times New Roman"/>
              </a:rPr>
              <a:t>Các vị trí phân </a:t>
            </a:r>
            <a:r>
              <a:rPr lang="vi-VN" b="1">
                <a:solidFill>
                  <a:srgbClr val="FFFFFF"/>
                </a:solidFill>
                <a:latin typeface="Times New Roman"/>
                <a:ea typeface="Times New Roman"/>
                <a:cs typeface="Times New Roman"/>
                <a:sym typeface="Times New Roman"/>
              </a:rPr>
              <a:t>tích</a:t>
            </a:r>
            <a:r>
              <a:rPr lang="vi-VN" sz="1300" b="1">
                <a:solidFill>
                  <a:srgbClr val="FFFFFF"/>
                </a:solidFill>
                <a:latin typeface="Times New Roman"/>
                <a:ea typeface="Times New Roman"/>
                <a:cs typeface="Times New Roman"/>
                <a:sym typeface="Times New Roman"/>
              </a:rPr>
              <a:t> dữ liệu trong ngân hàng</a:t>
            </a:r>
            <a:endParaRPr sz="1300"/>
          </a:p>
        </p:txBody>
      </p:sp>
      <p:sp>
        <p:nvSpPr>
          <p:cNvPr id="171" name="Google Shape;171;p15"/>
          <p:cNvSpPr/>
          <p:nvPr/>
        </p:nvSpPr>
        <p:spPr>
          <a:xfrm>
            <a:off x="9531883" y="5102352"/>
            <a:ext cx="2240400" cy="868800"/>
          </a:xfrm>
          <a:prstGeom prst="homePlate">
            <a:avLst>
              <a:gd name="adj" fmla="val 28000"/>
            </a:avLst>
          </a:prstGeom>
          <a:solidFill>
            <a:srgbClr val="2E5B31"/>
          </a:solidFill>
          <a:ln>
            <a:noFill/>
          </a:ln>
        </p:spPr>
        <p:txBody>
          <a:bodyPr spcFirstLastPara="1" wrap="square" lIns="91425" tIns="18275" rIns="274300" bIns="18275" anchor="ctr" anchorCtr="0">
            <a:noAutofit/>
          </a:bodyPr>
          <a:lstStyle/>
          <a:p>
            <a:pPr marL="0" marR="0" lvl="0" indent="0" algn="ctr" rtl="0">
              <a:spcBef>
                <a:spcPts val="0"/>
              </a:spcBef>
              <a:spcAft>
                <a:spcPts val="0"/>
              </a:spcAft>
              <a:buNone/>
            </a:pPr>
            <a:r>
              <a:rPr lang="vi-VN" b="1">
                <a:solidFill>
                  <a:srgbClr val="FFFFFF"/>
                </a:solidFill>
                <a:latin typeface="Times New Roman"/>
                <a:ea typeface="Times New Roman"/>
                <a:cs typeface="Times New Roman"/>
                <a:sym typeface="Times New Roman"/>
              </a:rPr>
              <a:t>Xây dựng dashboard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6"/>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178" name="Google Shape;178;p16"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179" name="Google Shape;179;p16"/>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4</a:t>
            </a:fld>
            <a:endParaRPr sz="1800">
              <a:solidFill>
                <a:srgbClr val="0C0C0C"/>
              </a:solidFill>
              <a:latin typeface="Algerian"/>
              <a:ea typeface="Algerian"/>
              <a:cs typeface="Algerian"/>
              <a:sym typeface="Algerian"/>
            </a:endParaRPr>
          </a:p>
        </p:txBody>
      </p:sp>
      <p:sp>
        <p:nvSpPr>
          <p:cNvPr id="180" name="Google Shape;180;p16"/>
          <p:cNvSpPr txBox="1"/>
          <p:nvPr/>
        </p:nvSpPr>
        <p:spPr>
          <a:xfrm>
            <a:off x="45720" y="896112"/>
            <a:ext cx="10058400" cy="402336"/>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vi-VN" sz="1500" b="1" i="0">
                <a:solidFill>
                  <a:srgbClr val="0070C0"/>
                </a:solidFill>
                <a:latin typeface="Times New Roman"/>
                <a:ea typeface="Times New Roman"/>
                <a:cs typeface="Times New Roman"/>
                <a:sym typeface="Times New Roman"/>
              </a:rPr>
              <a:t>Ngân hàng tạo thu nhập như thế nào?</a:t>
            </a:r>
            <a:endParaRPr/>
          </a:p>
        </p:txBody>
      </p:sp>
      <p:sp>
        <p:nvSpPr>
          <p:cNvPr id="181" name="Google Shape;181;p16"/>
          <p:cNvSpPr/>
          <p:nvPr/>
        </p:nvSpPr>
        <p:spPr>
          <a:xfrm>
            <a:off x="347472" y="6144768"/>
            <a:ext cx="11475720" cy="4572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0" i="0">
                <a:solidFill>
                  <a:srgbClr val="000000"/>
                </a:solidFill>
                <a:latin typeface="Times New Roman"/>
                <a:ea typeface="Times New Roman"/>
                <a:cs typeface="Times New Roman"/>
                <a:sym typeface="Times New Roman"/>
              </a:rPr>
              <a:t>Tăng trưởng dư nợ </a:t>
            </a:r>
            <a:r>
              <a:rPr lang="vi-VN" sz="1800" b="1" i="0">
                <a:solidFill>
                  <a:srgbClr val="C00000"/>
                </a:solidFill>
                <a:latin typeface="Times New Roman"/>
                <a:ea typeface="Times New Roman"/>
                <a:cs typeface="Times New Roman"/>
                <a:sym typeface="Times New Roman"/>
              </a:rPr>
              <a:t>≠</a:t>
            </a:r>
            <a:r>
              <a:rPr lang="vi-VN" sz="1800" b="0" i="0">
                <a:solidFill>
                  <a:srgbClr val="000000"/>
                </a:solidFill>
                <a:latin typeface="Times New Roman"/>
                <a:ea typeface="Times New Roman"/>
                <a:cs typeface="Times New Roman"/>
                <a:sym typeface="Times New Roman"/>
              </a:rPr>
              <a:t> </a:t>
            </a:r>
            <a:r>
              <a:rPr lang="vi-VN" sz="1800">
                <a:latin typeface="Times New Roman"/>
                <a:ea typeface="Times New Roman"/>
                <a:cs typeface="Times New Roman"/>
                <a:sym typeface="Times New Roman"/>
              </a:rPr>
              <a:t>lợi nhuận thu về</a:t>
            </a:r>
            <a:r>
              <a:rPr lang="vi-VN" sz="1800" b="0" i="0">
                <a:solidFill>
                  <a:srgbClr val="000000"/>
                </a:solidFill>
                <a:latin typeface="Times New Roman"/>
                <a:ea typeface="Times New Roman"/>
                <a:cs typeface="Times New Roman"/>
                <a:sym typeface="Times New Roman"/>
              </a:rPr>
              <a:t>: cần </a:t>
            </a:r>
            <a:r>
              <a:rPr lang="vi-VN" sz="1800">
                <a:latin typeface="Times New Roman"/>
                <a:ea typeface="Times New Roman"/>
                <a:cs typeface="Times New Roman"/>
                <a:sym typeface="Times New Roman"/>
              </a:rPr>
              <a:t>tập trung cả </a:t>
            </a:r>
            <a:r>
              <a:rPr lang="vi-VN" sz="1800" b="1" i="0">
                <a:solidFill>
                  <a:srgbClr val="123A7A"/>
                </a:solidFill>
                <a:latin typeface="Times New Roman"/>
                <a:ea typeface="Times New Roman"/>
                <a:cs typeface="Times New Roman"/>
                <a:sym typeface="Times New Roman"/>
              </a:rPr>
              <a:t>sinh lời</a:t>
            </a:r>
            <a:r>
              <a:rPr lang="vi-VN" sz="1800" b="0" i="0">
                <a:solidFill>
                  <a:srgbClr val="000000"/>
                </a:solidFill>
                <a:latin typeface="Times New Roman"/>
                <a:ea typeface="Times New Roman"/>
                <a:cs typeface="Times New Roman"/>
                <a:sym typeface="Times New Roman"/>
              </a:rPr>
              <a:t> và </a:t>
            </a:r>
            <a:r>
              <a:rPr lang="vi-VN" sz="1800" b="1" i="0">
                <a:solidFill>
                  <a:srgbClr val="123A7A"/>
                </a:solidFill>
                <a:latin typeface="Times New Roman"/>
                <a:ea typeface="Times New Roman"/>
                <a:cs typeface="Times New Roman"/>
                <a:sym typeface="Times New Roman"/>
              </a:rPr>
              <a:t>thu hồi được nợ</a:t>
            </a:r>
            <a:endParaRPr/>
          </a:p>
        </p:txBody>
      </p:sp>
      <p:sp>
        <p:nvSpPr>
          <p:cNvPr id="182" name="Google Shape;182;p16"/>
          <p:cNvSpPr/>
          <p:nvPr/>
        </p:nvSpPr>
        <p:spPr>
          <a:xfrm>
            <a:off x="365760" y="1417320"/>
            <a:ext cx="2468880" cy="1828800"/>
          </a:xfrm>
          <a:prstGeom prst="roundRect">
            <a:avLst>
              <a:gd name="adj" fmla="val 8000"/>
            </a:avLst>
          </a:prstGeom>
          <a:solidFill>
            <a:srgbClr val="F2F2F2"/>
          </a:solidFill>
          <a:ln w="12700" cap="flat" cmpd="sng">
            <a:solidFill>
              <a:srgbClr val="595959"/>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83" name="Google Shape;183;p16" descr="FaUsers_n.png"/>
          <p:cNvPicPr preferRelativeResize="0"/>
          <p:nvPr/>
        </p:nvPicPr>
        <p:blipFill rotWithShape="1">
          <a:blip r:embed="rId4">
            <a:alphaModFix/>
          </a:blip>
          <a:srcRect/>
          <a:stretch/>
        </p:blipFill>
        <p:spPr>
          <a:xfrm>
            <a:off x="1234440" y="1554480"/>
            <a:ext cx="731520" cy="731520"/>
          </a:xfrm>
          <a:prstGeom prst="rect">
            <a:avLst/>
          </a:prstGeom>
          <a:noFill/>
          <a:ln>
            <a:noFill/>
          </a:ln>
        </p:spPr>
      </p:pic>
      <p:sp>
        <p:nvSpPr>
          <p:cNvPr id="184" name="Google Shape;184;p16"/>
          <p:cNvSpPr txBox="1"/>
          <p:nvPr/>
        </p:nvSpPr>
        <p:spPr>
          <a:xfrm>
            <a:off x="411480" y="2377440"/>
            <a:ext cx="2377440" cy="6400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700" b="1" i="0">
                <a:solidFill>
                  <a:srgbClr val="222222"/>
                </a:solidFill>
                <a:latin typeface="Times New Roman"/>
                <a:ea typeface="Times New Roman"/>
                <a:cs typeface="Times New Roman"/>
                <a:sym typeface="Times New Roman"/>
              </a:rPr>
              <a:t>Người gửi tiền</a:t>
            </a:r>
            <a:endParaRPr/>
          </a:p>
        </p:txBody>
      </p:sp>
      <p:sp>
        <p:nvSpPr>
          <p:cNvPr id="185" name="Google Shape;185;p16"/>
          <p:cNvSpPr/>
          <p:nvPr/>
        </p:nvSpPr>
        <p:spPr>
          <a:xfrm>
            <a:off x="4572000" y="1371600"/>
            <a:ext cx="3017520" cy="1920240"/>
          </a:xfrm>
          <a:prstGeom prst="roundRect">
            <a:avLst>
              <a:gd name="adj" fmla="val 8000"/>
            </a:avLst>
          </a:prstGeom>
          <a:solidFill>
            <a:srgbClr val="1A365D"/>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86" name="Google Shape;186;p16" descr="FaUniversity_w.png"/>
          <p:cNvPicPr preferRelativeResize="0"/>
          <p:nvPr/>
        </p:nvPicPr>
        <p:blipFill rotWithShape="1">
          <a:blip r:embed="rId5">
            <a:alphaModFix/>
          </a:blip>
          <a:srcRect/>
          <a:stretch/>
        </p:blipFill>
        <p:spPr>
          <a:xfrm>
            <a:off x="5806440" y="1481328"/>
            <a:ext cx="548640" cy="548640"/>
          </a:xfrm>
          <a:prstGeom prst="rect">
            <a:avLst/>
          </a:prstGeom>
          <a:noFill/>
          <a:ln>
            <a:noFill/>
          </a:ln>
        </p:spPr>
      </p:pic>
      <p:sp>
        <p:nvSpPr>
          <p:cNvPr id="187" name="Google Shape;187;p16"/>
          <p:cNvSpPr txBox="1"/>
          <p:nvPr/>
        </p:nvSpPr>
        <p:spPr>
          <a:xfrm>
            <a:off x="4617720" y="2103120"/>
            <a:ext cx="2926080" cy="10972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2200" b="1" i="0">
                <a:solidFill>
                  <a:srgbClr val="FFFFFF"/>
                </a:solidFill>
                <a:latin typeface="Times New Roman"/>
                <a:ea typeface="Times New Roman"/>
                <a:cs typeface="Times New Roman"/>
                <a:sym typeface="Times New Roman"/>
              </a:rPr>
              <a:t>Ngân hàng</a:t>
            </a:r>
            <a:endParaRPr/>
          </a:p>
          <a:p>
            <a:pPr marL="0" marR="0" lvl="0" indent="0" algn="ctr" rtl="0">
              <a:spcBef>
                <a:spcPts val="0"/>
              </a:spcBef>
              <a:spcAft>
                <a:spcPts val="0"/>
              </a:spcAft>
              <a:buNone/>
            </a:pPr>
            <a:r>
              <a:rPr lang="vi-VN" sz="1400" b="0" i="0">
                <a:solidFill>
                  <a:srgbClr val="FFFFFF"/>
                </a:solidFill>
                <a:latin typeface="Times New Roman"/>
                <a:ea typeface="Times New Roman"/>
                <a:cs typeface="Times New Roman"/>
                <a:sym typeface="Times New Roman"/>
              </a:rPr>
              <a:t>Trung gian tài chính</a:t>
            </a:r>
            <a:endParaRPr/>
          </a:p>
        </p:txBody>
      </p:sp>
      <p:sp>
        <p:nvSpPr>
          <p:cNvPr id="188" name="Google Shape;188;p16"/>
          <p:cNvSpPr/>
          <p:nvPr/>
        </p:nvSpPr>
        <p:spPr>
          <a:xfrm>
            <a:off x="9354312" y="1417320"/>
            <a:ext cx="2468880" cy="1828800"/>
          </a:xfrm>
          <a:prstGeom prst="roundRect">
            <a:avLst>
              <a:gd name="adj" fmla="val 8000"/>
            </a:avLst>
          </a:prstGeom>
          <a:solidFill>
            <a:srgbClr val="F2F2F2"/>
          </a:solidFill>
          <a:ln w="12700" cap="flat" cmpd="sng">
            <a:solidFill>
              <a:srgbClr val="595959"/>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89" name="Google Shape;189;p16" descr="FaBuilding_n.png"/>
          <p:cNvPicPr preferRelativeResize="0"/>
          <p:nvPr/>
        </p:nvPicPr>
        <p:blipFill rotWithShape="1">
          <a:blip r:embed="rId6">
            <a:alphaModFix/>
          </a:blip>
          <a:srcRect/>
          <a:stretch/>
        </p:blipFill>
        <p:spPr>
          <a:xfrm>
            <a:off x="10222992" y="1554480"/>
            <a:ext cx="731520" cy="731520"/>
          </a:xfrm>
          <a:prstGeom prst="rect">
            <a:avLst/>
          </a:prstGeom>
          <a:noFill/>
          <a:ln>
            <a:noFill/>
          </a:ln>
        </p:spPr>
      </p:pic>
      <p:sp>
        <p:nvSpPr>
          <p:cNvPr id="190" name="Google Shape;190;p16"/>
          <p:cNvSpPr txBox="1"/>
          <p:nvPr/>
        </p:nvSpPr>
        <p:spPr>
          <a:xfrm>
            <a:off x="9400032" y="2377440"/>
            <a:ext cx="2377440" cy="6400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700" b="1" i="0">
                <a:solidFill>
                  <a:srgbClr val="222222"/>
                </a:solidFill>
                <a:latin typeface="Times New Roman"/>
                <a:ea typeface="Times New Roman"/>
                <a:cs typeface="Times New Roman"/>
                <a:sym typeface="Times New Roman"/>
              </a:rPr>
              <a:t>Doanh nghiệp </a:t>
            </a:r>
            <a:r>
              <a:rPr lang="vi-VN" sz="1700" b="1">
                <a:solidFill>
                  <a:srgbClr val="222222"/>
                </a:solidFill>
                <a:latin typeface="Times New Roman"/>
                <a:ea typeface="Times New Roman"/>
                <a:cs typeface="Times New Roman"/>
                <a:sym typeface="Times New Roman"/>
              </a:rPr>
              <a:t>đi </a:t>
            </a:r>
            <a:r>
              <a:rPr lang="vi-VN" sz="1700" b="1" i="0">
                <a:solidFill>
                  <a:srgbClr val="222222"/>
                </a:solidFill>
                <a:latin typeface="Times New Roman"/>
                <a:ea typeface="Times New Roman"/>
                <a:cs typeface="Times New Roman"/>
                <a:sym typeface="Times New Roman"/>
              </a:rPr>
              <a:t>vay</a:t>
            </a:r>
            <a:endParaRPr/>
          </a:p>
        </p:txBody>
      </p:sp>
      <p:sp>
        <p:nvSpPr>
          <p:cNvPr id="191" name="Google Shape;191;p16"/>
          <p:cNvSpPr txBox="1"/>
          <p:nvPr/>
        </p:nvSpPr>
        <p:spPr>
          <a:xfrm>
            <a:off x="2926079" y="1417320"/>
            <a:ext cx="1600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300" b="1" i="0">
                <a:solidFill>
                  <a:srgbClr val="595959"/>
                </a:solidFill>
                <a:latin typeface="Times New Roman"/>
                <a:ea typeface="Times New Roman"/>
                <a:cs typeface="Times New Roman"/>
                <a:sym typeface="Times New Roman"/>
              </a:rPr>
              <a:t>Tiền gửi</a:t>
            </a:r>
            <a:endParaRPr/>
          </a:p>
        </p:txBody>
      </p:sp>
      <p:sp>
        <p:nvSpPr>
          <p:cNvPr id="192" name="Google Shape;192;p16"/>
          <p:cNvSpPr/>
          <p:nvPr/>
        </p:nvSpPr>
        <p:spPr>
          <a:xfrm>
            <a:off x="2926079" y="1719072"/>
            <a:ext cx="1600200" cy="347472"/>
          </a:xfrm>
          <a:prstGeom prst="rightArrow">
            <a:avLst>
              <a:gd name="adj1" fmla="val 50000"/>
              <a:gd name="adj2" fmla="val 50000"/>
            </a:avLst>
          </a:prstGeom>
          <a:solidFill>
            <a:srgbClr val="7F7F7F"/>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3" name="Google Shape;193;p16"/>
          <p:cNvSpPr/>
          <p:nvPr/>
        </p:nvSpPr>
        <p:spPr>
          <a:xfrm>
            <a:off x="2926079" y="2487168"/>
            <a:ext cx="1600200" cy="347472"/>
          </a:xfrm>
          <a:prstGeom prst="leftArrow">
            <a:avLst>
              <a:gd name="adj1" fmla="val 50000"/>
              <a:gd name="adj2" fmla="val 50000"/>
            </a:avLst>
          </a:prstGeom>
          <a:solidFill>
            <a:srgbClr val="C00000"/>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4" name="Google Shape;194;p16"/>
          <p:cNvSpPr txBox="1"/>
          <p:nvPr/>
        </p:nvSpPr>
        <p:spPr>
          <a:xfrm>
            <a:off x="2834640" y="2852928"/>
            <a:ext cx="17830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250" b="1" i="0">
                <a:solidFill>
                  <a:srgbClr val="C00000"/>
                </a:solidFill>
                <a:latin typeface="Times New Roman"/>
                <a:ea typeface="Times New Roman"/>
                <a:cs typeface="Times New Roman"/>
                <a:sym typeface="Times New Roman"/>
              </a:rPr>
              <a:t>Lãi huy động = chi phí</a:t>
            </a:r>
            <a:endParaRPr/>
          </a:p>
        </p:txBody>
      </p:sp>
      <p:sp>
        <p:nvSpPr>
          <p:cNvPr id="195" name="Google Shape;195;p16"/>
          <p:cNvSpPr txBox="1"/>
          <p:nvPr/>
        </p:nvSpPr>
        <p:spPr>
          <a:xfrm>
            <a:off x="7680960" y="1417320"/>
            <a:ext cx="1600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300" b="1" i="0">
                <a:solidFill>
                  <a:srgbClr val="595959"/>
                </a:solidFill>
                <a:latin typeface="Times New Roman"/>
                <a:ea typeface="Times New Roman"/>
                <a:cs typeface="Times New Roman"/>
                <a:sym typeface="Times New Roman"/>
              </a:rPr>
              <a:t>Cho vay</a:t>
            </a:r>
            <a:endParaRPr/>
          </a:p>
        </p:txBody>
      </p:sp>
      <p:sp>
        <p:nvSpPr>
          <p:cNvPr id="196" name="Google Shape;196;p16"/>
          <p:cNvSpPr/>
          <p:nvPr/>
        </p:nvSpPr>
        <p:spPr>
          <a:xfrm>
            <a:off x="7680960" y="1719072"/>
            <a:ext cx="1600200" cy="347472"/>
          </a:xfrm>
          <a:prstGeom prst="rightArrow">
            <a:avLst>
              <a:gd name="adj1" fmla="val 50000"/>
              <a:gd name="adj2" fmla="val 50000"/>
            </a:avLst>
          </a:prstGeom>
          <a:solidFill>
            <a:srgbClr val="7F7F7F"/>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7" name="Google Shape;197;p16"/>
          <p:cNvSpPr/>
          <p:nvPr/>
        </p:nvSpPr>
        <p:spPr>
          <a:xfrm>
            <a:off x="7680960" y="2487168"/>
            <a:ext cx="1600200" cy="347472"/>
          </a:xfrm>
          <a:prstGeom prst="leftArrow">
            <a:avLst>
              <a:gd name="adj1" fmla="val 50000"/>
              <a:gd name="adj2" fmla="val 50000"/>
            </a:avLst>
          </a:prstGeom>
          <a:solidFill>
            <a:srgbClr val="2E5B3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16"/>
          <p:cNvSpPr txBox="1"/>
          <p:nvPr/>
        </p:nvSpPr>
        <p:spPr>
          <a:xfrm>
            <a:off x="7589519" y="2852928"/>
            <a:ext cx="17830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250" b="1" i="0">
                <a:solidFill>
                  <a:srgbClr val="2E5B31"/>
                </a:solidFill>
                <a:latin typeface="Times New Roman"/>
                <a:ea typeface="Times New Roman"/>
                <a:cs typeface="Times New Roman"/>
                <a:sym typeface="Times New Roman"/>
              </a:rPr>
              <a:t>Lãi cho vay = thu nhập</a:t>
            </a:r>
            <a:endParaRPr/>
          </a:p>
        </p:txBody>
      </p:sp>
      <p:sp>
        <p:nvSpPr>
          <p:cNvPr id="199" name="Google Shape;199;p16"/>
          <p:cNvSpPr/>
          <p:nvPr/>
        </p:nvSpPr>
        <p:spPr>
          <a:xfrm>
            <a:off x="365760" y="3474720"/>
            <a:ext cx="5669280" cy="1234440"/>
          </a:xfrm>
          <a:prstGeom prst="roundRect">
            <a:avLst>
              <a:gd name="adj" fmla="val 8000"/>
            </a:avLst>
          </a:prstGeom>
          <a:solidFill>
            <a:srgbClr val="FBE5D6"/>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0" name="Google Shape;200;p16"/>
          <p:cNvSpPr txBox="1"/>
          <p:nvPr/>
        </p:nvSpPr>
        <p:spPr>
          <a:xfrm>
            <a:off x="457200" y="3520440"/>
            <a:ext cx="5486400" cy="50292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400" b="1" i="0">
                <a:solidFill>
                  <a:srgbClr val="222222"/>
                </a:solidFill>
                <a:latin typeface="Times New Roman"/>
                <a:ea typeface="Times New Roman"/>
                <a:cs typeface="Times New Roman"/>
                <a:sym typeface="Times New Roman"/>
              </a:rPr>
              <a:t>Chênh lệch lãi</a:t>
            </a:r>
            <a:r>
              <a:rPr lang="vi-VN" sz="1400" b="0" i="0">
                <a:solidFill>
                  <a:srgbClr val="222222"/>
                </a:solidFill>
                <a:latin typeface="Times New Roman"/>
                <a:ea typeface="Times New Roman"/>
                <a:cs typeface="Times New Roman"/>
                <a:sym typeface="Times New Roman"/>
              </a:rPr>
              <a:t> = nguồn thu nhập chính, bù đắp 3 loại rủi ro:</a:t>
            </a:r>
            <a:endParaRPr/>
          </a:p>
        </p:txBody>
      </p:sp>
      <p:sp>
        <p:nvSpPr>
          <p:cNvPr id="201" name="Google Shape;201;p16"/>
          <p:cNvSpPr/>
          <p:nvPr/>
        </p:nvSpPr>
        <p:spPr>
          <a:xfrm>
            <a:off x="502920" y="4069080"/>
            <a:ext cx="1691640" cy="502920"/>
          </a:xfrm>
          <a:prstGeom prst="roundRect">
            <a:avLst>
              <a:gd name="adj" fmla="val 30000"/>
            </a:avLst>
          </a:prstGeom>
          <a:solidFill>
            <a:srgbClr val="FFFFFF"/>
          </a:solidFill>
          <a:ln w="12700" cap="flat" cmpd="sng">
            <a:solidFill>
              <a:srgbClr val="C55A11"/>
            </a:solidFill>
            <a:prstDash val="solid"/>
            <a:round/>
            <a:headEnd type="none" w="sm" len="sm"/>
            <a:tailEnd type="none" w="sm" len="sm"/>
          </a:ln>
        </p:spPr>
        <p:txBody>
          <a:bodyPr spcFirstLastPara="1" wrap="square" lIns="27425" tIns="18275" rIns="27425" bIns="18275" anchor="ctr" anchorCtr="0">
            <a:noAutofit/>
          </a:bodyPr>
          <a:lstStyle/>
          <a:p>
            <a:pPr marL="0" marR="0" lvl="0" indent="0" algn="ctr" rtl="0">
              <a:spcBef>
                <a:spcPts val="0"/>
              </a:spcBef>
              <a:spcAft>
                <a:spcPts val="0"/>
              </a:spcAft>
              <a:buNone/>
            </a:pPr>
            <a:r>
              <a:rPr lang="vi-VN" sz="1250" b="1" i="0">
                <a:solidFill>
                  <a:srgbClr val="C55A11"/>
                </a:solidFill>
                <a:latin typeface="Times New Roman"/>
                <a:ea typeface="Times New Roman"/>
                <a:cs typeface="Times New Roman"/>
                <a:sym typeface="Times New Roman"/>
              </a:rPr>
              <a:t>Rủi ro tín dụng</a:t>
            </a:r>
            <a:endParaRPr/>
          </a:p>
        </p:txBody>
      </p:sp>
      <p:sp>
        <p:nvSpPr>
          <p:cNvPr id="202" name="Google Shape;202;p16"/>
          <p:cNvSpPr/>
          <p:nvPr/>
        </p:nvSpPr>
        <p:spPr>
          <a:xfrm>
            <a:off x="2286000" y="4069080"/>
            <a:ext cx="1691640" cy="502920"/>
          </a:xfrm>
          <a:prstGeom prst="roundRect">
            <a:avLst>
              <a:gd name="adj" fmla="val 30000"/>
            </a:avLst>
          </a:prstGeom>
          <a:solidFill>
            <a:srgbClr val="FFFFFF"/>
          </a:solidFill>
          <a:ln w="12700" cap="flat" cmpd="sng">
            <a:solidFill>
              <a:srgbClr val="C55A11"/>
            </a:solidFill>
            <a:prstDash val="solid"/>
            <a:round/>
            <a:headEnd type="none" w="sm" len="sm"/>
            <a:tailEnd type="none" w="sm" len="sm"/>
          </a:ln>
        </p:spPr>
        <p:txBody>
          <a:bodyPr spcFirstLastPara="1" wrap="square" lIns="27425" tIns="18275" rIns="27425" bIns="18275" anchor="ctr" anchorCtr="0">
            <a:noAutofit/>
          </a:bodyPr>
          <a:lstStyle/>
          <a:p>
            <a:pPr marL="0" marR="0" lvl="0" indent="0" algn="ctr" rtl="0">
              <a:spcBef>
                <a:spcPts val="0"/>
              </a:spcBef>
              <a:spcAft>
                <a:spcPts val="0"/>
              </a:spcAft>
              <a:buNone/>
            </a:pPr>
            <a:r>
              <a:rPr lang="vi-VN" sz="1250" b="1" i="0">
                <a:solidFill>
                  <a:srgbClr val="C55A11"/>
                </a:solidFill>
                <a:latin typeface="Times New Roman"/>
                <a:ea typeface="Times New Roman"/>
                <a:cs typeface="Times New Roman"/>
                <a:sym typeface="Times New Roman"/>
              </a:rPr>
              <a:t>Rủi ro thanh khoản</a:t>
            </a:r>
            <a:endParaRPr/>
          </a:p>
        </p:txBody>
      </p:sp>
      <p:sp>
        <p:nvSpPr>
          <p:cNvPr id="203" name="Google Shape;203;p16"/>
          <p:cNvSpPr/>
          <p:nvPr/>
        </p:nvSpPr>
        <p:spPr>
          <a:xfrm>
            <a:off x="4069080" y="4069080"/>
            <a:ext cx="1691640" cy="502920"/>
          </a:xfrm>
          <a:prstGeom prst="roundRect">
            <a:avLst>
              <a:gd name="adj" fmla="val 30000"/>
            </a:avLst>
          </a:prstGeom>
          <a:solidFill>
            <a:srgbClr val="FFFFFF"/>
          </a:solidFill>
          <a:ln w="12700" cap="flat" cmpd="sng">
            <a:solidFill>
              <a:srgbClr val="C55A11"/>
            </a:solidFill>
            <a:prstDash val="solid"/>
            <a:round/>
            <a:headEnd type="none" w="sm" len="sm"/>
            <a:tailEnd type="none" w="sm" len="sm"/>
          </a:ln>
        </p:spPr>
        <p:txBody>
          <a:bodyPr spcFirstLastPara="1" wrap="square" lIns="27425" tIns="18275" rIns="27425" bIns="18275" anchor="ctr" anchorCtr="0">
            <a:noAutofit/>
          </a:bodyPr>
          <a:lstStyle/>
          <a:p>
            <a:pPr marL="0" marR="0" lvl="0" indent="0" algn="ctr" rtl="0">
              <a:spcBef>
                <a:spcPts val="0"/>
              </a:spcBef>
              <a:spcAft>
                <a:spcPts val="0"/>
              </a:spcAft>
              <a:buNone/>
            </a:pPr>
            <a:r>
              <a:rPr lang="vi-VN" sz="1250" b="1" i="0">
                <a:solidFill>
                  <a:srgbClr val="C55A11"/>
                </a:solidFill>
                <a:latin typeface="Times New Roman"/>
                <a:ea typeface="Times New Roman"/>
                <a:cs typeface="Times New Roman"/>
                <a:sym typeface="Times New Roman"/>
              </a:rPr>
              <a:t>Rủi ro lãi suất</a:t>
            </a:r>
            <a:endParaRPr/>
          </a:p>
        </p:txBody>
      </p:sp>
      <p:sp>
        <p:nvSpPr>
          <p:cNvPr id="204" name="Google Shape;204;p16"/>
          <p:cNvSpPr/>
          <p:nvPr/>
        </p:nvSpPr>
        <p:spPr>
          <a:xfrm>
            <a:off x="6217920" y="3474720"/>
            <a:ext cx="5605272" cy="1234440"/>
          </a:xfrm>
          <a:prstGeom prst="roundRect">
            <a:avLst>
              <a:gd name="adj" fmla="val 8000"/>
            </a:avLst>
          </a:prstGeom>
          <a:solidFill>
            <a:srgbClr val="DEEAF6"/>
          </a:solidFill>
          <a:ln w="19050" cap="flat" cmpd="sng">
            <a:solidFill>
              <a:srgbClr val="123A7A"/>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16"/>
          <p:cNvSpPr txBox="1"/>
          <p:nvPr/>
        </p:nvSpPr>
        <p:spPr>
          <a:xfrm>
            <a:off x="6309360" y="3520440"/>
            <a:ext cx="5440680" cy="11430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500" b="0" i="0">
                <a:solidFill>
                  <a:srgbClr val="222222"/>
                </a:solidFill>
                <a:latin typeface="Times New Roman"/>
                <a:ea typeface="Times New Roman"/>
                <a:cs typeface="Times New Roman"/>
                <a:sym typeface="Times New Roman"/>
              </a:rPr>
              <a:t>Tiền gửi → </a:t>
            </a:r>
            <a:r>
              <a:rPr lang="vi-VN" sz="1500" b="1" i="0">
                <a:solidFill>
                  <a:srgbClr val="222222"/>
                </a:solidFill>
                <a:latin typeface="Times New Roman"/>
                <a:ea typeface="Times New Roman"/>
                <a:cs typeface="Times New Roman"/>
                <a:sym typeface="Times New Roman"/>
              </a:rPr>
              <a:t>nghĩa vụ nợ</a:t>
            </a:r>
            <a:r>
              <a:rPr lang="vi-VN" sz="1500" b="0" i="0">
                <a:solidFill>
                  <a:srgbClr val="222222"/>
                </a:solidFill>
                <a:latin typeface="Times New Roman"/>
                <a:ea typeface="Times New Roman"/>
                <a:cs typeface="Times New Roman"/>
                <a:sym typeface="Times New Roman"/>
              </a:rPr>
              <a:t> (trả lãi = chi phí)</a:t>
            </a:r>
            <a:endParaRPr/>
          </a:p>
          <a:p>
            <a:pPr marL="0" marR="0" lvl="0" indent="0" algn="l" rtl="0">
              <a:spcBef>
                <a:spcPts val="800"/>
              </a:spcBef>
              <a:spcAft>
                <a:spcPts val="0"/>
              </a:spcAft>
              <a:buNone/>
            </a:pPr>
            <a:r>
              <a:rPr lang="vi-VN" sz="1500" b="0" i="0">
                <a:solidFill>
                  <a:srgbClr val="222222"/>
                </a:solidFill>
                <a:latin typeface="Times New Roman"/>
                <a:ea typeface="Times New Roman"/>
                <a:cs typeface="Times New Roman"/>
                <a:sym typeface="Times New Roman"/>
              </a:rPr>
              <a:t>Cho vay → </a:t>
            </a:r>
            <a:r>
              <a:rPr lang="vi-VN" sz="1500" b="1" i="0">
                <a:solidFill>
                  <a:srgbClr val="222222"/>
                </a:solidFill>
                <a:latin typeface="Times New Roman"/>
                <a:ea typeface="Times New Roman"/>
                <a:cs typeface="Times New Roman"/>
                <a:sym typeface="Times New Roman"/>
              </a:rPr>
              <a:t>tài sản sinh lời</a:t>
            </a:r>
            <a:r>
              <a:rPr lang="vi-VN" sz="1500" b="0" i="0">
                <a:solidFill>
                  <a:srgbClr val="222222"/>
                </a:solidFill>
                <a:latin typeface="Times New Roman"/>
                <a:ea typeface="Times New Roman"/>
                <a:cs typeface="Times New Roman"/>
                <a:sym typeface="Times New Roman"/>
              </a:rPr>
              <a:t> (thu lãi = thu nhập)</a:t>
            </a:r>
            <a:endParaRPr/>
          </a:p>
        </p:txBody>
      </p:sp>
      <p:sp>
        <p:nvSpPr>
          <p:cNvPr id="206" name="Google Shape;206;p16"/>
          <p:cNvSpPr/>
          <p:nvPr/>
        </p:nvSpPr>
        <p:spPr>
          <a:xfrm>
            <a:off x="365760" y="4846320"/>
            <a:ext cx="3749039" cy="1143000"/>
          </a:xfrm>
          <a:prstGeom prst="roundRect">
            <a:avLst>
              <a:gd name="adj" fmla="val 8000"/>
            </a:avLst>
          </a:prstGeom>
          <a:solidFill>
            <a:srgbClr val="E2F0D9"/>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16"/>
          <p:cNvSpPr txBox="1"/>
          <p:nvPr/>
        </p:nvSpPr>
        <p:spPr>
          <a:xfrm>
            <a:off x="457200" y="4937760"/>
            <a:ext cx="1097280" cy="96012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2800" b="1" i="0">
                <a:solidFill>
                  <a:srgbClr val="2E5B31"/>
                </a:solidFill>
                <a:latin typeface="Times New Roman"/>
                <a:ea typeface="Times New Roman"/>
                <a:cs typeface="Times New Roman"/>
                <a:sym typeface="Times New Roman"/>
              </a:rPr>
              <a:t>NII</a:t>
            </a:r>
            <a:endParaRPr/>
          </a:p>
        </p:txBody>
      </p:sp>
      <p:sp>
        <p:nvSpPr>
          <p:cNvPr id="208" name="Google Shape;208;p16"/>
          <p:cNvSpPr txBox="1"/>
          <p:nvPr/>
        </p:nvSpPr>
        <p:spPr>
          <a:xfrm>
            <a:off x="1554480" y="4892040"/>
            <a:ext cx="2514600" cy="10515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a:solidFill>
                  <a:srgbClr val="222222"/>
                </a:solidFill>
                <a:latin typeface="Times New Roman"/>
                <a:ea typeface="Times New Roman"/>
                <a:cs typeface="Times New Roman"/>
                <a:sym typeface="Times New Roman"/>
              </a:rPr>
              <a:t>Thu nhập từ lãi, lợi nhuận ngân hàng từ việc cho vay, sau khi trừ chi phí trả lãi huy động</a:t>
            </a:r>
            <a:endParaRPr/>
          </a:p>
        </p:txBody>
      </p:sp>
      <p:sp>
        <p:nvSpPr>
          <p:cNvPr id="209" name="Google Shape;209;p16"/>
          <p:cNvSpPr/>
          <p:nvPr/>
        </p:nvSpPr>
        <p:spPr>
          <a:xfrm>
            <a:off x="4219956" y="4846320"/>
            <a:ext cx="3749039" cy="1143000"/>
          </a:xfrm>
          <a:prstGeom prst="roundRect">
            <a:avLst>
              <a:gd name="adj" fmla="val 8000"/>
            </a:avLst>
          </a:prstGeom>
          <a:solidFill>
            <a:srgbClr val="DEEAF6"/>
          </a:solidFill>
          <a:ln w="19050" cap="flat" cmpd="sng">
            <a:solidFill>
              <a:srgbClr val="123A7A"/>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0" name="Google Shape;210;p16"/>
          <p:cNvSpPr txBox="1"/>
          <p:nvPr/>
        </p:nvSpPr>
        <p:spPr>
          <a:xfrm>
            <a:off x="4311396" y="4937760"/>
            <a:ext cx="1097280" cy="96012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2800" b="1" i="0">
                <a:solidFill>
                  <a:srgbClr val="123A7A"/>
                </a:solidFill>
                <a:latin typeface="Times New Roman"/>
                <a:ea typeface="Times New Roman"/>
                <a:cs typeface="Times New Roman"/>
                <a:sym typeface="Times New Roman"/>
              </a:rPr>
              <a:t>NFI</a:t>
            </a:r>
            <a:endParaRPr/>
          </a:p>
        </p:txBody>
      </p:sp>
      <p:sp>
        <p:nvSpPr>
          <p:cNvPr id="211" name="Google Shape;211;p16"/>
          <p:cNvSpPr txBox="1"/>
          <p:nvPr/>
        </p:nvSpPr>
        <p:spPr>
          <a:xfrm>
            <a:off x="5408676" y="4892040"/>
            <a:ext cx="2514600" cy="105156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a:solidFill>
                  <a:srgbClr val="222222"/>
                </a:solidFill>
                <a:latin typeface="Times New Roman"/>
                <a:ea typeface="Times New Roman"/>
                <a:cs typeface="Times New Roman"/>
                <a:sym typeface="Times New Roman"/>
              </a:rPr>
              <a:t>Thu nhập từ phí dịch vụ, lợi nhuận ngân hàng từ các dịch vụ như chuyển tiền, thẻ, bảo lãnh…</a:t>
            </a:r>
            <a:endParaRPr/>
          </a:p>
        </p:txBody>
      </p:sp>
      <p:sp>
        <p:nvSpPr>
          <p:cNvPr id="212" name="Google Shape;212;p16"/>
          <p:cNvSpPr/>
          <p:nvPr/>
        </p:nvSpPr>
        <p:spPr>
          <a:xfrm>
            <a:off x="8074152" y="4846320"/>
            <a:ext cx="3749039" cy="1143000"/>
          </a:xfrm>
          <a:prstGeom prst="roundRect">
            <a:avLst>
              <a:gd name="adj" fmla="val 8000"/>
            </a:avLst>
          </a:prstGeom>
          <a:solidFill>
            <a:srgbClr val="FBE5D6"/>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3" name="Google Shape;213;p16"/>
          <p:cNvSpPr txBox="1"/>
          <p:nvPr/>
        </p:nvSpPr>
        <p:spPr>
          <a:xfrm>
            <a:off x="8165592" y="4937760"/>
            <a:ext cx="1097280" cy="96012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2800" b="1" i="0">
                <a:solidFill>
                  <a:srgbClr val="C55A11"/>
                </a:solidFill>
                <a:latin typeface="Times New Roman"/>
                <a:ea typeface="Times New Roman"/>
                <a:cs typeface="Times New Roman"/>
                <a:sym typeface="Times New Roman"/>
              </a:rPr>
              <a:t>TOI</a:t>
            </a:r>
            <a:endParaRPr/>
          </a:p>
        </p:txBody>
      </p:sp>
      <p:sp>
        <p:nvSpPr>
          <p:cNvPr id="214" name="Google Shape;214;p16"/>
          <p:cNvSpPr txBox="1"/>
          <p:nvPr/>
        </p:nvSpPr>
        <p:spPr>
          <a:xfrm>
            <a:off x="9262875" y="4892050"/>
            <a:ext cx="2250600" cy="10515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b="0" i="0">
                <a:solidFill>
                  <a:srgbClr val="222222"/>
                </a:solidFill>
                <a:latin typeface="Times New Roman"/>
                <a:ea typeface="Times New Roman"/>
                <a:cs typeface="Times New Roman"/>
                <a:sym typeface="Times New Roman"/>
              </a:rPr>
              <a:t>= NII + NFI: </a:t>
            </a:r>
            <a:r>
              <a:rPr lang="vi-VN" sz="1350">
                <a:solidFill>
                  <a:srgbClr val="222222"/>
                </a:solidFill>
                <a:latin typeface="Times New Roman"/>
                <a:ea typeface="Times New Roman"/>
                <a:cs typeface="Times New Roman"/>
                <a:sym typeface="Times New Roman"/>
              </a:rPr>
              <a:t>Tổng thu nhập ngân hàng từ hoạt động kinh doanh chính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17"/>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221" name="Google Shape;221;p17"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222" name="Google Shape;222;p17"/>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5</a:t>
            </a:fld>
            <a:endParaRPr sz="1800">
              <a:solidFill>
                <a:srgbClr val="0C0C0C"/>
              </a:solidFill>
              <a:latin typeface="Algerian"/>
              <a:ea typeface="Algerian"/>
              <a:cs typeface="Algerian"/>
              <a:sym typeface="Algerian"/>
            </a:endParaRPr>
          </a:p>
        </p:txBody>
      </p:sp>
      <p:sp>
        <p:nvSpPr>
          <p:cNvPr id="223" name="Google Shape;223;p17"/>
          <p:cNvSpPr txBox="1"/>
          <p:nvPr/>
        </p:nvSpPr>
        <p:spPr>
          <a:xfrm>
            <a:off x="45720" y="896112"/>
            <a:ext cx="10058400" cy="323100"/>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vi-VN" sz="1500" b="1" i="0">
                <a:solidFill>
                  <a:srgbClr val="0070C0"/>
                </a:solidFill>
                <a:latin typeface="Times New Roman"/>
                <a:ea typeface="Times New Roman"/>
                <a:cs typeface="Times New Roman"/>
                <a:sym typeface="Times New Roman"/>
              </a:rPr>
              <a:t>Quy trình cho vay </a:t>
            </a:r>
            <a:r>
              <a:rPr lang="vi-VN" sz="1500" b="1">
                <a:solidFill>
                  <a:srgbClr val="0070C0"/>
                </a:solidFill>
                <a:latin typeface="Times New Roman"/>
                <a:ea typeface="Times New Roman"/>
                <a:cs typeface="Times New Roman"/>
                <a:sym typeface="Times New Roman"/>
              </a:rPr>
              <a:t>của ngân hàng</a:t>
            </a:r>
            <a:endParaRPr/>
          </a:p>
        </p:txBody>
      </p:sp>
      <p:sp>
        <p:nvSpPr>
          <p:cNvPr id="224" name="Google Shape;224;p17"/>
          <p:cNvSpPr/>
          <p:nvPr/>
        </p:nvSpPr>
        <p:spPr>
          <a:xfrm>
            <a:off x="347472" y="6144768"/>
            <a:ext cx="11475720" cy="4572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0" i="0">
                <a:solidFill>
                  <a:srgbClr val="000000"/>
                </a:solidFill>
                <a:latin typeface="Times New Roman"/>
                <a:ea typeface="Times New Roman"/>
                <a:cs typeface="Times New Roman"/>
                <a:sym typeface="Times New Roman"/>
              </a:rPr>
              <a:t>Dashboard dùng dữ liệu từ </a:t>
            </a:r>
            <a:r>
              <a:rPr lang="vi-VN" sz="1800" b="1">
                <a:solidFill>
                  <a:srgbClr val="C55A11"/>
                </a:solidFill>
                <a:latin typeface="Times New Roman"/>
                <a:ea typeface="Times New Roman"/>
                <a:cs typeface="Times New Roman"/>
                <a:sym typeface="Times New Roman"/>
              </a:rPr>
              <a:t>B</a:t>
            </a:r>
            <a:r>
              <a:rPr lang="vi-VN" sz="1800" b="1" i="0">
                <a:solidFill>
                  <a:srgbClr val="C55A11"/>
                </a:solidFill>
                <a:latin typeface="Times New Roman"/>
                <a:ea typeface="Times New Roman"/>
                <a:cs typeface="Times New Roman"/>
                <a:sym typeface="Times New Roman"/>
              </a:rPr>
              <a:t>ước 4 – Giải ngân</a:t>
            </a:r>
            <a:r>
              <a:rPr lang="vi-VN" sz="1800" b="0" i="0">
                <a:solidFill>
                  <a:srgbClr val="000000"/>
                </a:solidFill>
                <a:latin typeface="Times New Roman"/>
                <a:ea typeface="Times New Roman"/>
                <a:cs typeface="Times New Roman"/>
                <a:sym typeface="Times New Roman"/>
              </a:rPr>
              <a:t> trở đi</a:t>
            </a:r>
            <a:endParaRPr/>
          </a:p>
        </p:txBody>
      </p:sp>
      <p:sp>
        <p:nvSpPr>
          <p:cNvPr id="225" name="Google Shape;225;p17"/>
          <p:cNvSpPr/>
          <p:nvPr/>
        </p:nvSpPr>
        <p:spPr>
          <a:xfrm>
            <a:off x="6112792" y="1371600"/>
            <a:ext cx="5852100" cy="3246000"/>
          </a:xfrm>
          <a:prstGeom prst="roundRect">
            <a:avLst>
              <a:gd name="adj" fmla="val 4000"/>
            </a:avLst>
          </a:prstGeom>
          <a:solidFill>
            <a:srgbClr val="FFF4EC"/>
          </a:solidFill>
          <a:ln w="19050" cap="flat" cmpd="sng">
            <a:solidFill>
              <a:srgbClr val="C55A11"/>
            </a:solidFill>
            <a:prstDash val="dash"/>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17"/>
          <p:cNvSpPr txBox="1"/>
          <p:nvPr/>
        </p:nvSpPr>
        <p:spPr>
          <a:xfrm>
            <a:off x="6400800" y="1389888"/>
            <a:ext cx="5029200"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300" b="1" i="0">
                <a:solidFill>
                  <a:srgbClr val="C55A11"/>
                </a:solidFill>
                <a:latin typeface="Times New Roman"/>
                <a:ea typeface="Times New Roman"/>
                <a:cs typeface="Times New Roman"/>
                <a:sym typeface="Times New Roman"/>
              </a:rPr>
              <a:t>Dashboard dùng dữ liệu từ </a:t>
            </a:r>
            <a:r>
              <a:rPr lang="vi-VN" sz="1300" b="1">
                <a:solidFill>
                  <a:srgbClr val="C55A11"/>
                </a:solidFill>
                <a:latin typeface="Times New Roman"/>
                <a:ea typeface="Times New Roman"/>
                <a:cs typeface="Times New Roman"/>
                <a:sym typeface="Times New Roman"/>
              </a:rPr>
              <a:t>B</a:t>
            </a:r>
            <a:r>
              <a:rPr lang="vi-VN" sz="1300" b="1" i="0">
                <a:solidFill>
                  <a:srgbClr val="C55A11"/>
                </a:solidFill>
                <a:latin typeface="Times New Roman"/>
                <a:ea typeface="Times New Roman"/>
                <a:cs typeface="Times New Roman"/>
                <a:sym typeface="Times New Roman"/>
              </a:rPr>
              <a:t>ước 4 trở đi</a:t>
            </a:r>
            <a:endParaRPr/>
          </a:p>
        </p:txBody>
      </p:sp>
      <p:sp>
        <p:nvSpPr>
          <p:cNvPr id="227" name="Google Shape;227;p17"/>
          <p:cNvSpPr/>
          <p:nvPr/>
        </p:nvSpPr>
        <p:spPr>
          <a:xfrm>
            <a:off x="411480" y="1737360"/>
            <a:ext cx="1810512" cy="2788920"/>
          </a:xfrm>
          <a:prstGeom prst="roundRect">
            <a:avLst>
              <a:gd name="adj" fmla="val 6000"/>
            </a:avLst>
          </a:prstGeom>
          <a:solidFill>
            <a:srgbClr val="FFFFFF"/>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17"/>
          <p:cNvSpPr/>
          <p:nvPr/>
        </p:nvSpPr>
        <p:spPr>
          <a:xfrm>
            <a:off x="1088136" y="1810512"/>
            <a:ext cx="457200" cy="45720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1</a:t>
            </a:r>
            <a:endParaRPr/>
          </a:p>
        </p:txBody>
      </p:sp>
      <p:pic>
        <p:nvPicPr>
          <p:cNvPr id="229" name="Google Shape;229;p17" descr="FaHandshake_g.png"/>
          <p:cNvPicPr preferRelativeResize="0"/>
          <p:nvPr/>
        </p:nvPicPr>
        <p:blipFill rotWithShape="1">
          <a:blip r:embed="rId4">
            <a:alphaModFix/>
          </a:blip>
          <a:srcRect/>
          <a:stretch/>
        </p:blipFill>
        <p:spPr>
          <a:xfrm>
            <a:off x="1042415" y="2377440"/>
            <a:ext cx="548640" cy="548640"/>
          </a:xfrm>
          <a:prstGeom prst="rect">
            <a:avLst/>
          </a:prstGeom>
          <a:noFill/>
          <a:ln>
            <a:noFill/>
          </a:ln>
        </p:spPr>
      </p:pic>
      <p:sp>
        <p:nvSpPr>
          <p:cNvPr id="230" name="Google Shape;230;p17"/>
          <p:cNvSpPr txBox="1"/>
          <p:nvPr/>
        </p:nvSpPr>
        <p:spPr>
          <a:xfrm>
            <a:off x="448056" y="2971800"/>
            <a:ext cx="1737360" cy="548640"/>
          </a:xfrm>
          <a:prstGeom prst="rect">
            <a:avLst/>
          </a:prstGeom>
          <a:noFill/>
          <a:ln>
            <a:noFill/>
          </a:ln>
        </p:spPr>
        <p:txBody>
          <a:bodyPr spcFirstLastPara="1" wrap="square" lIns="18275" tIns="0" rIns="18275" bIns="0" anchor="ctr" anchorCtr="0">
            <a:noAutofit/>
          </a:bodyPr>
          <a:lstStyle/>
          <a:p>
            <a:pPr marL="0" marR="0" lvl="0" indent="0" algn="ctr" rtl="0">
              <a:spcBef>
                <a:spcPts val="0"/>
              </a:spcBef>
              <a:spcAft>
                <a:spcPts val="0"/>
              </a:spcAft>
              <a:buNone/>
            </a:pPr>
            <a:r>
              <a:rPr lang="vi-VN" sz="1450" b="1" i="0">
                <a:solidFill>
                  <a:srgbClr val="2E5B31"/>
                </a:solidFill>
                <a:latin typeface="Times New Roman"/>
                <a:ea typeface="Times New Roman"/>
                <a:cs typeface="Times New Roman"/>
                <a:sym typeface="Times New Roman"/>
              </a:rPr>
              <a:t>Tiếp cận khách hàng</a:t>
            </a:r>
            <a:endParaRPr/>
          </a:p>
        </p:txBody>
      </p:sp>
      <p:sp>
        <p:nvSpPr>
          <p:cNvPr id="231" name="Google Shape;231;p17"/>
          <p:cNvSpPr txBox="1"/>
          <p:nvPr/>
        </p:nvSpPr>
        <p:spPr>
          <a:xfrm>
            <a:off x="466344" y="3520440"/>
            <a:ext cx="1700784" cy="960120"/>
          </a:xfrm>
          <a:prstGeom prst="rect">
            <a:avLst/>
          </a:prstGeom>
          <a:noFill/>
          <a:ln>
            <a:noFill/>
          </a:ln>
        </p:spPr>
        <p:txBody>
          <a:bodyPr spcFirstLastPara="1" wrap="square" lIns="27425" tIns="0" rIns="27425" bIns="0" anchor="t" anchorCtr="0">
            <a:noAutofit/>
          </a:bodyPr>
          <a:lstStyle/>
          <a:p>
            <a:pPr marL="0" marR="0" lvl="0" indent="0" algn="ctr" rtl="0">
              <a:spcBef>
                <a:spcPts val="0"/>
              </a:spcBef>
              <a:spcAft>
                <a:spcPts val="0"/>
              </a:spcAft>
              <a:buNone/>
            </a:pPr>
            <a:r>
              <a:rPr lang="vi-VN" sz="1350" b="0" i="0">
                <a:solidFill>
                  <a:srgbClr val="222222"/>
                </a:solidFill>
                <a:latin typeface="Times New Roman"/>
                <a:ea typeface="Times New Roman"/>
                <a:cs typeface="Times New Roman"/>
                <a:sym typeface="Times New Roman"/>
              </a:rPr>
              <a:t>Thông tin khách hàng, phân khúc</a:t>
            </a:r>
            <a:endParaRPr/>
          </a:p>
        </p:txBody>
      </p:sp>
      <p:sp>
        <p:nvSpPr>
          <p:cNvPr id="232" name="Google Shape;232;p17"/>
          <p:cNvSpPr/>
          <p:nvPr/>
        </p:nvSpPr>
        <p:spPr>
          <a:xfrm>
            <a:off x="2331720" y="1737360"/>
            <a:ext cx="1810512" cy="2788920"/>
          </a:xfrm>
          <a:prstGeom prst="roundRect">
            <a:avLst>
              <a:gd name="adj" fmla="val 6000"/>
            </a:avLst>
          </a:prstGeom>
          <a:solidFill>
            <a:srgbClr val="FFFFFF"/>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3" name="Google Shape;233;p17"/>
          <p:cNvSpPr/>
          <p:nvPr/>
        </p:nvSpPr>
        <p:spPr>
          <a:xfrm>
            <a:off x="3008376" y="1810512"/>
            <a:ext cx="457200" cy="45720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2</a:t>
            </a:r>
            <a:endParaRPr/>
          </a:p>
        </p:txBody>
      </p:sp>
      <p:pic>
        <p:nvPicPr>
          <p:cNvPr id="234" name="Google Shape;234;p17" descr="FaSearch_g.png"/>
          <p:cNvPicPr preferRelativeResize="0"/>
          <p:nvPr/>
        </p:nvPicPr>
        <p:blipFill rotWithShape="1">
          <a:blip r:embed="rId5">
            <a:alphaModFix/>
          </a:blip>
          <a:srcRect/>
          <a:stretch/>
        </p:blipFill>
        <p:spPr>
          <a:xfrm>
            <a:off x="2962656" y="2377440"/>
            <a:ext cx="548640" cy="548640"/>
          </a:xfrm>
          <a:prstGeom prst="rect">
            <a:avLst/>
          </a:prstGeom>
          <a:noFill/>
          <a:ln>
            <a:noFill/>
          </a:ln>
        </p:spPr>
      </p:pic>
      <p:sp>
        <p:nvSpPr>
          <p:cNvPr id="235" name="Google Shape;235;p17"/>
          <p:cNvSpPr txBox="1"/>
          <p:nvPr/>
        </p:nvSpPr>
        <p:spPr>
          <a:xfrm>
            <a:off x="2368296" y="2971800"/>
            <a:ext cx="1737360" cy="548640"/>
          </a:xfrm>
          <a:prstGeom prst="rect">
            <a:avLst/>
          </a:prstGeom>
          <a:noFill/>
          <a:ln>
            <a:noFill/>
          </a:ln>
        </p:spPr>
        <p:txBody>
          <a:bodyPr spcFirstLastPara="1" wrap="square" lIns="18275" tIns="0" rIns="18275" bIns="0" anchor="ctr" anchorCtr="0">
            <a:noAutofit/>
          </a:bodyPr>
          <a:lstStyle/>
          <a:p>
            <a:pPr marL="0" marR="0" lvl="0" indent="0" algn="ctr" rtl="0">
              <a:spcBef>
                <a:spcPts val="0"/>
              </a:spcBef>
              <a:spcAft>
                <a:spcPts val="0"/>
              </a:spcAft>
              <a:buNone/>
            </a:pPr>
            <a:r>
              <a:rPr lang="vi-VN" sz="1450" b="1" i="0">
                <a:solidFill>
                  <a:srgbClr val="2E5B31"/>
                </a:solidFill>
                <a:latin typeface="Times New Roman"/>
                <a:ea typeface="Times New Roman"/>
                <a:cs typeface="Times New Roman"/>
                <a:sym typeface="Times New Roman"/>
              </a:rPr>
              <a:t>Thẩm định</a:t>
            </a:r>
            <a:endParaRPr/>
          </a:p>
        </p:txBody>
      </p:sp>
      <p:sp>
        <p:nvSpPr>
          <p:cNvPr id="236" name="Google Shape;236;p17"/>
          <p:cNvSpPr txBox="1"/>
          <p:nvPr/>
        </p:nvSpPr>
        <p:spPr>
          <a:xfrm>
            <a:off x="2386584" y="3520440"/>
            <a:ext cx="1700784" cy="960120"/>
          </a:xfrm>
          <a:prstGeom prst="rect">
            <a:avLst/>
          </a:prstGeom>
          <a:noFill/>
          <a:ln>
            <a:noFill/>
          </a:ln>
        </p:spPr>
        <p:txBody>
          <a:bodyPr spcFirstLastPara="1" wrap="square" lIns="27425" tIns="0" rIns="27425" bIns="0" anchor="t" anchorCtr="0">
            <a:noAutofit/>
          </a:bodyPr>
          <a:lstStyle/>
          <a:p>
            <a:pPr marL="0" marR="0" lvl="0" indent="0" algn="ctr" rtl="0">
              <a:spcBef>
                <a:spcPts val="0"/>
              </a:spcBef>
              <a:spcAft>
                <a:spcPts val="0"/>
              </a:spcAft>
              <a:buNone/>
            </a:pPr>
            <a:r>
              <a:rPr lang="vi-VN" sz="1350" b="0" i="0">
                <a:solidFill>
                  <a:srgbClr val="222222"/>
                </a:solidFill>
                <a:latin typeface="Times New Roman"/>
                <a:ea typeface="Times New Roman"/>
                <a:cs typeface="Times New Roman"/>
                <a:sym typeface="Times New Roman"/>
              </a:rPr>
              <a:t>BCTC, tài sản bảo đảm, điểm / xếp hạng tín dụng</a:t>
            </a:r>
            <a:endParaRPr/>
          </a:p>
        </p:txBody>
      </p:sp>
      <p:sp>
        <p:nvSpPr>
          <p:cNvPr id="237" name="Google Shape;237;p17"/>
          <p:cNvSpPr/>
          <p:nvPr/>
        </p:nvSpPr>
        <p:spPr>
          <a:xfrm>
            <a:off x="4251960" y="1737360"/>
            <a:ext cx="1810512" cy="2788920"/>
          </a:xfrm>
          <a:prstGeom prst="roundRect">
            <a:avLst>
              <a:gd name="adj" fmla="val 6000"/>
            </a:avLst>
          </a:prstGeom>
          <a:solidFill>
            <a:srgbClr val="FFFFFF"/>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8" name="Google Shape;238;p17"/>
          <p:cNvSpPr/>
          <p:nvPr/>
        </p:nvSpPr>
        <p:spPr>
          <a:xfrm>
            <a:off x="4928616" y="1810512"/>
            <a:ext cx="457200" cy="45720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3</a:t>
            </a:r>
            <a:endParaRPr/>
          </a:p>
        </p:txBody>
      </p:sp>
      <p:pic>
        <p:nvPicPr>
          <p:cNvPr id="239" name="Google Shape;239;p17" descr="FaClipboardCheck_g.png"/>
          <p:cNvPicPr preferRelativeResize="0"/>
          <p:nvPr/>
        </p:nvPicPr>
        <p:blipFill rotWithShape="1">
          <a:blip r:embed="rId6">
            <a:alphaModFix/>
          </a:blip>
          <a:srcRect/>
          <a:stretch/>
        </p:blipFill>
        <p:spPr>
          <a:xfrm>
            <a:off x="4882896" y="2377440"/>
            <a:ext cx="548640" cy="548640"/>
          </a:xfrm>
          <a:prstGeom prst="rect">
            <a:avLst/>
          </a:prstGeom>
          <a:noFill/>
          <a:ln>
            <a:noFill/>
          </a:ln>
        </p:spPr>
      </p:pic>
      <p:sp>
        <p:nvSpPr>
          <p:cNvPr id="240" name="Google Shape;240;p17"/>
          <p:cNvSpPr txBox="1"/>
          <p:nvPr/>
        </p:nvSpPr>
        <p:spPr>
          <a:xfrm>
            <a:off x="4288536" y="2971800"/>
            <a:ext cx="1737360" cy="548640"/>
          </a:xfrm>
          <a:prstGeom prst="rect">
            <a:avLst/>
          </a:prstGeom>
          <a:noFill/>
          <a:ln>
            <a:noFill/>
          </a:ln>
        </p:spPr>
        <p:txBody>
          <a:bodyPr spcFirstLastPara="1" wrap="square" lIns="18275" tIns="0" rIns="18275" bIns="0" anchor="ctr" anchorCtr="0">
            <a:noAutofit/>
          </a:bodyPr>
          <a:lstStyle/>
          <a:p>
            <a:pPr marL="0" marR="0" lvl="0" indent="0" algn="ctr" rtl="0">
              <a:spcBef>
                <a:spcPts val="0"/>
              </a:spcBef>
              <a:spcAft>
                <a:spcPts val="0"/>
              </a:spcAft>
              <a:buNone/>
            </a:pPr>
            <a:r>
              <a:rPr lang="vi-VN" sz="1450" b="1" i="0">
                <a:solidFill>
                  <a:srgbClr val="2E5B31"/>
                </a:solidFill>
                <a:latin typeface="Times New Roman"/>
                <a:ea typeface="Times New Roman"/>
                <a:cs typeface="Times New Roman"/>
                <a:sym typeface="Times New Roman"/>
              </a:rPr>
              <a:t>Phê duyệt</a:t>
            </a:r>
            <a:endParaRPr/>
          </a:p>
        </p:txBody>
      </p:sp>
      <p:sp>
        <p:nvSpPr>
          <p:cNvPr id="241" name="Google Shape;241;p17"/>
          <p:cNvSpPr txBox="1"/>
          <p:nvPr/>
        </p:nvSpPr>
        <p:spPr>
          <a:xfrm>
            <a:off x="4306824" y="3520440"/>
            <a:ext cx="1700784" cy="960120"/>
          </a:xfrm>
          <a:prstGeom prst="rect">
            <a:avLst/>
          </a:prstGeom>
          <a:noFill/>
          <a:ln>
            <a:noFill/>
          </a:ln>
        </p:spPr>
        <p:txBody>
          <a:bodyPr spcFirstLastPara="1" wrap="square" lIns="27425" tIns="0" rIns="27425" bIns="0" anchor="t" anchorCtr="0">
            <a:noAutofit/>
          </a:bodyPr>
          <a:lstStyle/>
          <a:p>
            <a:pPr marL="0" marR="0" lvl="0" indent="0" algn="ctr" rtl="0">
              <a:spcBef>
                <a:spcPts val="0"/>
              </a:spcBef>
              <a:spcAft>
                <a:spcPts val="0"/>
              </a:spcAft>
              <a:buNone/>
            </a:pPr>
            <a:r>
              <a:rPr lang="vi-VN" sz="1350" b="0" i="0">
                <a:solidFill>
                  <a:srgbClr val="222222"/>
                </a:solidFill>
                <a:latin typeface="Times New Roman"/>
                <a:ea typeface="Times New Roman"/>
                <a:cs typeface="Times New Roman"/>
                <a:sym typeface="Times New Roman"/>
              </a:rPr>
              <a:t>Hạn mức, lãi suất, chương trình ưu đãi</a:t>
            </a:r>
            <a:endParaRPr/>
          </a:p>
        </p:txBody>
      </p:sp>
      <p:sp>
        <p:nvSpPr>
          <p:cNvPr id="242" name="Google Shape;242;p17"/>
          <p:cNvSpPr/>
          <p:nvPr/>
        </p:nvSpPr>
        <p:spPr>
          <a:xfrm>
            <a:off x="6172200" y="1737360"/>
            <a:ext cx="1810512" cy="2788920"/>
          </a:xfrm>
          <a:prstGeom prst="roundRect">
            <a:avLst>
              <a:gd name="adj" fmla="val 6000"/>
            </a:avLst>
          </a:prstGeom>
          <a:solidFill>
            <a:srgbClr val="FFFFFF"/>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3" name="Google Shape;243;p17"/>
          <p:cNvSpPr/>
          <p:nvPr/>
        </p:nvSpPr>
        <p:spPr>
          <a:xfrm>
            <a:off x="6848856" y="1810512"/>
            <a:ext cx="457200" cy="45720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4</a:t>
            </a:r>
            <a:endParaRPr/>
          </a:p>
        </p:txBody>
      </p:sp>
      <p:pic>
        <p:nvPicPr>
          <p:cNvPr id="244" name="Google Shape;244;p17" descr="FaMoneyBillWave_o.png"/>
          <p:cNvPicPr preferRelativeResize="0"/>
          <p:nvPr/>
        </p:nvPicPr>
        <p:blipFill rotWithShape="1">
          <a:blip r:embed="rId7">
            <a:alphaModFix/>
          </a:blip>
          <a:srcRect/>
          <a:stretch/>
        </p:blipFill>
        <p:spPr>
          <a:xfrm>
            <a:off x="6803136" y="2377440"/>
            <a:ext cx="548640" cy="548640"/>
          </a:xfrm>
          <a:prstGeom prst="rect">
            <a:avLst/>
          </a:prstGeom>
          <a:noFill/>
          <a:ln>
            <a:noFill/>
          </a:ln>
        </p:spPr>
      </p:pic>
      <p:sp>
        <p:nvSpPr>
          <p:cNvPr id="245" name="Google Shape;245;p17"/>
          <p:cNvSpPr txBox="1"/>
          <p:nvPr/>
        </p:nvSpPr>
        <p:spPr>
          <a:xfrm>
            <a:off x="6208776" y="2971800"/>
            <a:ext cx="1737360" cy="548640"/>
          </a:xfrm>
          <a:prstGeom prst="rect">
            <a:avLst/>
          </a:prstGeom>
          <a:noFill/>
          <a:ln>
            <a:noFill/>
          </a:ln>
        </p:spPr>
        <p:txBody>
          <a:bodyPr spcFirstLastPara="1" wrap="square" lIns="18275" tIns="0" rIns="18275" bIns="0" anchor="ctr" anchorCtr="0">
            <a:noAutofit/>
          </a:bodyPr>
          <a:lstStyle/>
          <a:p>
            <a:pPr marL="0" marR="0" lvl="0" indent="0" algn="ctr" rtl="0">
              <a:spcBef>
                <a:spcPts val="0"/>
              </a:spcBef>
              <a:spcAft>
                <a:spcPts val="0"/>
              </a:spcAft>
              <a:buNone/>
            </a:pPr>
            <a:r>
              <a:rPr lang="vi-VN" sz="1450" b="1" i="0">
                <a:solidFill>
                  <a:srgbClr val="C55A11"/>
                </a:solidFill>
                <a:latin typeface="Times New Roman"/>
                <a:ea typeface="Times New Roman"/>
                <a:cs typeface="Times New Roman"/>
                <a:sym typeface="Times New Roman"/>
              </a:rPr>
              <a:t>Giải ngân</a:t>
            </a:r>
            <a:endParaRPr/>
          </a:p>
        </p:txBody>
      </p:sp>
      <p:sp>
        <p:nvSpPr>
          <p:cNvPr id="246" name="Google Shape;246;p17"/>
          <p:cNvSpPr txBox="1"/>
          <p:nvPr/>
        </p:nvSpPr>
        <p:spPr>
          <a:xfrm>
            <a:off x="6227064" y="3520440"/>
            <a:ext cx="1700784" cy="960120"/>
          </a:xfrm>
          <a:prstGeom prst="rect">
            <a:avLst/>
          </a:prstGeom>
          <a:noFill/>
          <a:ln>
            <a:noFill/>
          </a:ln>
        </p:spPr>
        <p:txBody>
          <a:bodyPr spcFirstLastPara="1" wrap="square" lIns="27425" tIns="0" rIns="27425" bIns="0" anchor="t" anchorCtr="0">
            <a:noAutofit/>
          </a:bodyPr>
          <a:lstStyle/>
          <a:p>
            <a:pPr marL="0" marR="0" lvl="0" indent="0" algn="ctr" rtl="0">
              <a:spcBef>
                <a:spcPts val="0"/>
              </a:spcBef>
              <a:spcAft>
                <a:spcPts val="0"/>
              </a:spcAft>
              <a:buNone/>
            </a:pPr>
            <a:r>
              <a:rPr lang="vi-VN" sz="1350" b="0" i="0">
                <a:solidFill>
                  <a:srgbClr val="222222"/>
                </a:solidFill>
                <a:latin typeface="Times New Roman"/>
                <a:ea typeface="Times New Roman"/>
                <a:cs typeface="Times New Roman"/>
                <a:sym typeface="Times New Roman"/>
              </a:rPr>
              <a:t>Số tiền vay (dư nợ), kỳ hạn</a:t>
            </a:r>
            <a:endParaRPr/>
          </a:p>
        </p:txBody>
      </p:sp>
      <p:sp>
        <p:nvSpPr>
          <p:cNvPr id="247" name="Google Shape;247;p17"/>
          <p:cNvSpPr/>
          <p:nvPr/>
        </p:nvSpPr>
        <p:spPr>
          <a:xfrm>
            <a:off x="8092440" y="1737360"/>
            <a:ext cx="1810512" cy="2788920"/>
          </a:xfrm>
          <a:prstGeom prst="roundRect">
            <a:avLst>
              <a:gd name="adj" fmla="val 6000"/>
            </a:avLst>
          </a:prstGeom>
          <a:solidFill>
            <a:srgbClr val="FFFFFF"/>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17"/>
          <p:cNvSpPr/>
          <p:nvPr/>
        </p:nvSpPr>
        <p:spPr>
          <a:xfrm>
            <a:off x="8769096" y="1810512"/>
            <a:ext cx="457200" cy="45720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5</a:t>
            </a:r>
            <a:endParaRPr/>
          </a:p>
        </p:txBody>
      </p:sp>
      <p:pic>
        <p:nvPicPr>
          <p:cNvPr id="249" name="Google Shape;249;p17" descr="FaEye_o.png"/>
          <p:cNvPicPr preferRelativeResize="0"/>
          <p:nvPr/>
        </p:nvPicPr>
        <p:blipFill rotWithShape="1">
          <a:blip r:embed="rId8">
            <a:alphaModFix/>
          </a:blip>
          <a:srcRect/>
          <a:stretch/>
        </p:blipFill>
        <p:spPr>
          <a:xfrm>
            <a:off x="8723376" y="2377440"/>
            <a:ext cx="548640" cy="548640"/>
          </a:xfrm>
          <a:prstGeom prst="rect">
            <a:avLst/>
          </a:prstGeom>
          <a:noFill/>
          <a:ln>
            <a:noFill/>
          </a:ln>
        </p:spPr>
      </p:pic>
      <p:sp>
        <p:nvSpPr>
          <p:cNvPr id="250" name="Google Shape;250;p17"/>
          <p:cNvSpPr txBox="1"/>
          <p:nvPr/>
        </p:nvSpPr>
        <p:spPr>
          <a:xfrm>
            <a:off x="8129015" y="2971800"/>
            <a:ext cx="1737360" cy="548640"/>
          </a:xfrm>
          <a:prstGeom prst="rect">
            <a:avLst/>
          </a:prstGeom>
          <a:noFill/>
          <a:ln>
            <a:noFill/>
          </a:ln>
        </p:spPr>
        <p:txBody>
          <a:bodyPr spcFirstLastPara="1" wrap="square" lIns="18275" tIns="0" rIns="18275" bIns="0" anchor="ctr" anchorCtr="0">
            <a:noAutofit/>
          </a:bodyPr>
          <a:lstStyle/>
          <a:p>
            <a:pPr marL="0" marR="0" lvl="0" indent="0" algn="ctr" rtl="0">
              <a:spcBef>
                <a:spcPts val="0"/>
              </a:spcBef>
              <a:spcAft>
                <a:spcPts val="0"/>
              </a:spcAft>
              <a:buNone/>
            </a:pPr>
            <a:r>
              <a:rPr lang="vi-VN" sz="1450" b="1" i="0">
                <a:solidFill>
                  <a:srgbClr val="C55A11"/>
                </a:solidFill>
                <a:latin typeface="Times New Roman"/>
                <a:ea typeface="Times New Roman"/>
                <a:cs typeface="Times New Roman"/>
                <a:sym typeface="Times New Roman"/>
              </a:rPr>
              <a:t>Theo dõi sau vay</a:t>
            </a:r>
            <a:endParaRPr/>
          </a:p>
        </p:txBody>
      </p:sp>
      <p:sp>
        <p:nvSpPr>
          <p:cNvPr id="251" name="Google Shape;251;p17"/>
          <p:cNvSpPr txBox="1"/>
          <p:nvPr/>
        </p:nvSpPr>
        <p:spPr>
          <a:xfrm>
            <a:off x="8147304" y="3520440"/>
            <a:ext cx="1700784" cy="960120"/>
          </a:xfrm>
          <a:prstGeom prst="rect">
            <a:avLst/>
          </a:prstGeom>
          <a:noFill/>
          <a:ln>
            <a:noFill/>
          </a:ln>
        </p:spPr>
        <p:txBody>
          <a:bodyPr spcFirstLastPara="1" wrap="square" lIns="27425" tIns="0" rIns="27425" bIns="0" anchor="t" anchorCtr="0">
            <a:noAutofit/>
          </a:bodyPr>
          <a:lstStyle/>
          <a:p>
            <a:pPr marL="0" marR="0" lvl="0" indent="0" algn="ctr" rtl="0">
              <a:spcBef>
                <a:spcPts val="0"/>
              </a:spcBef>
              <a:spcAft>
                <a:spcPts val="0"/>
              </a:spcAft>
              <a:buNone/>
            </a:pPr>
            <a:r>
              <a:rPr lang="vi-VN" sz="1350" b="0" i="0">
                <a:solidFill>
                  <a:srgbClr val="222222"/>
                </a:solidFill>
                <a:latin typeface="Times New Roman"/>
                <a:ea typeface="Times New Roman"/>
                <a:cs typeface="Times New Roman"/>
                <a:sym typeface="Times New Roman"/>
              </a:rPr>
              <a:t>Tình trạng trả nợ, số ngày quá hạn, khoản sắp đến hạn</a:t>
            </a:r>
            <a:endParaRPr/>
          </a:p>
        </p:txBody>
      </p:sp>
      <p:sp>
        <p:nvSpPr>
          <p:cNvPr id="252" name="Google Shape;252;p17"/>
          <p:cNvSpPr/>
          <p:nvPr/>
        </p:nvSpPr>
        <p:spPr>
          <a:xfrm>
            <a:off x="10012680" y="1737360"/>
            <a:ext cx="1810512" cy="2788920"/>
          </a:xfrm>
          <a:prstGeom prst="roundRect">
            <a:avLst>
              <a:gd name="adj" fmla="val 6000"/>
            </a:avLst>
          </a:prstGeom>
          <a:solidFill>
            <a:srgbClr val="FFFFFF"/>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3" name="Google Shape;253;p17"/>
          <p:cNvSpPr/>
          <p:nvPr/>
        </p:nvSpPr>
        <p:spPr>
          <a:xfrm>
            <a:off x="10689336" y="1810512"/>
            <a:ext cx="457200" cy="45720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vi-VN" sz="1600" b="1" i="0">
                <a:solidFill>
                  <a:srgbClr val="FFFFFF"/>
                </a:solidFill>
                <a:latin typeface="Times New Roman"/>
                <a:ea typeface="Times New Roman"/>
                <a:cs typeface="Times New Roman"/>
                <a:sym typeface="Times New Roman"/>
              </a:rPr>
              <a:t>6</a:t>
            </a:r>
            <a:endParaRPr/>
          </a:p>
        </p:txBody>
      </p:sp>
      <p:pic>
        <p:nvPicPr>
          <p:cNvPr id="254" name="Google Shape;254;p17" descr="FaCheckCircle_o.png"/>
          <p:cNvPicPr preferRelativeResize="0"/>
          <p:nvPr/>
        </p:nvPicPr>
        <p:blipFill rotWithShape="1">
          <a:blip r:embed="rId9">
            <a:alphaModFix/>
          </a:blip>
          <a:srcRect/>
          <a:stretch/>
        </p:blipFill>
        <p:spPr>
          <a:xfrm>
            <a:off x="10643615" y="2377440"/>
            <a:ext cx="548640" cy="548640"/>
          </a:xfrm>
          <a:prstGeom prst="rect">
            <a:avLst/>
          </a:prstGeom>
          <a:noFill/>
          <a:ln>
            <a:noFill/>
          </a:ln>
        </p:spPr>
      </p:pic>
      <p:sp>
        <p:nvSpPr>
          <p:cNvPr id="255" name="Google Shape;255;p17"/>
          <p:cNvSpPr txBox="1"/>
          <p:nvPr/>
        </p:nvSpPr>
        <p:spPr>
          <a:xfrm>
            <a:off x="10049255" y="2971800"/>
            <a:ext cx="1737360" cy="548640"/>
          </a:xfrm>
          <a:prstGeom prst="rect">
            <a:avLst/>
          </a:prstGeom>
          <a:noFill/>
          <a:ln>
            <a:noFill/>
          </a:ln>
        </p:spPr>
        <p:txBody>
          <a:bodyPr spcFirstLastPara="1" wrap="square" lIns="18275" tIns="0" rIns="18275" bIns="0" anchor="ctr" anchorCtr="0">
            <a:noAutofit/>
          </a:bodyPr>
          <a:lstStyle/>
          <a:p>
            <a:pPr marL="0" marR="0" lvl="0" indent="0" algn="ctr" rtl="0">
              <a:spcBef>
                <a:spcPts val="0"/>
              </a:spcBef>
              <a:spcAft>
                <a:spcPts val="0"/>
              </a:spcAft>
              <a:buNone/>
            </a:pPr>
            <a:r>
              <a:rPr lang="vi-VN" sz="1450" b="1" i="0">
                <a:solidFill>
                  <a:srgbClr val="C55A11"/>
                </a:solidFill>
                <a:latin typeface="Times New Roman"/>
                <a:ea typeface="Times New Roman"/>
                <a:cs typeface="Times New Roman"/>
                <a:sym typeface="Times New Roman"/>
              </a:rPr>
              <a:t>Thu nợ / Tất toán</a:t>
            </a:r>
            <a:endParaRPr/>
          </a:p>
        </p:txBody>
      </p:sp>
      <p:sp>
        <p:nvSpPr>
          <p:cNvPr id="256" name="Google Shape;256;p17"/>
          <p:cNvSpPr txBox="1"/>
          <p:nvPr/>
        </p:nvSpPr>
        <p:spPr>
          <a:xfrm>
            <a:off x="10067544" y="3520440"/>
            <a:ext cx="1700784" cy="960120"/>
          </a:xfrm>
          <a:prstGeom prst="rect">
            <a:avLst/>
          </a:prstGeom>
          <a:noFill/>
          <a:ln>
            <a:noFill/>
          </a:ln>
        </p:spPr>
        <p:txBody>
          <a:bodyPr spcFirstLastPara="1" wrap="square" lIns="27425" tIns="0" rIns="27425" bIns="0" anchor="t" anchorCtr="0">
            <a:noAutofit/>
          </a:bodyPr>
          <a:lstStyle/>
          <a:p>
            <a:pPr marL="0" marR="0" lvl="0" indent="0" algn="ctr" rtl="0">
              <a:spcBef>
                <a:spcPts val="0"/>
              </a:spcBef>
              <a:spcAft>
                <a:spcPts val="0"/>
              </a:spcAft>
              <a:buNone/>
            </a:pPr>
            <a:r>
              <a:rPr lang="vi-VN" sz="1350" b="0" i="0">
                <a:solidFill>
                  <a:srgbClr val="222222"/>
                </a:solidFill>
                <a:latin typeface="Times New Roman"/>
                <a:ea typeface="Times New Roman"/>
                <a:cs typeface="Times New Roman"/>
                <a:sym typeface="Times New Roman"/>
              </a:rPr>
              <a:t>Kết thúc khi hoàn thành nghĩa vụ</a:t>
            </a:r>
            <a:r>
              <a:rPr lang="vi-VN" sz="1350">
                <a:solidFill>
                  <a:srgbClr val="222222"/>
                </a:solidFill>
                <a:latin typeface="Times New Roman"/>
                <a:ea typeface="Times New Roman"/>
                <a:cs typeface="Times New Roman"/>
                <a:sym typeface="Times New Roman"/>
              </a:rPr>
              <a:t>,</a:t>
            </a:r>
            <a:r>
              <a:rPr lang="vi-VN" sz="1350" b="0" i="0">
                <a:solidFill>
                  <a:srgbClr val="222222"/>
                </a:solidFill>
                <a:latin typeface="Times New Roman"/>
                <a:ea typeface="Times New Roman"/>
                <a:cs typeface="Times New Roman"/>
                <a:sym typeface="Times New Roman"/>
              </a:rPr>
              <a:t> không trả được → xử lý nợ</a:t>
            </a:r>
            <a:endParaRPr/>
          </a:p>
        </p:txBody>
      </p:sp>
      <p:sp>
        <p:nvSpPr>
          <p:cNvPr id="257" name="Google Shape;257;p17"/>
          <p:cNvSpPr/>
          <p:nvPr/>
        </p:nvSpPr>
        <p:spPr>
          <a:xfrm>
            <a:off x="365760" y="4754880"/>
            <a:ext cx="3749039" cy="1234440"/>
          </a:xfrm>
          <a:prstGeom prst="roundRect">
            <a:avLst>
              <a:gd name="adj" fmla="val 8000"/>
            </a:avLst>
          </a:prstGeom>
          <a:solidFill>
            <a:srgbClr val="F2F2F2"/>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17"/>
          <p:cNvSpPr/>
          <p:nvPr/>
        </p:nvSpPr>
        <p:spPr>
          <a:xfrm>
            <a:off x="502920" y="5120640"/>
            <a:ext cx="640080" cy="64008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59" name="Google Shape;259;p17" descr="FaBriefcase_w.png"/>
          <p:cNvPicPr preferRelativeResize="0"/>
          <p:nvPr/>
        </p:nvPicPr>
        <p:blipFill rotWithShape="1">
          <a:blip r:embed="rId10">
            <a:alphaModFix/>
          </a:blip>
          <a:srcRect/>
          <a:stretch/>
        </p:blipFill>
        <p:spPr>
          <a:xfrm>
            <a:off x="649224" y="5266944"/>
            <a:ext cx="347472" cy="347472"/>
          </a:xfrm>
          <a:prstGeom prst="rect">
            <a:avLst/>
          </a:prstGeom>
          <a:noFill/>
          <a:ln>
            <a:noFill/>
          </a:ln>
        </p:spPr>
      </p:pic>
      <p:sp>
        <p:nvSpPr>
          <p:cNvPr id="260" name="Google Shape;260;p17"/>
          <p:cNvSpPr txBox="1"/>
          <p:nvPr/>
        </p:nvSpPr>
        <p:spPr>
          <a:xfrm>
            <a:off x="1234440" y="4800600"/>
            <a:ext cx="2834640" cy="11430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450" b="1" i="0">
                <a:solidFill>
                  <a:srgbClr val="2E5B31"/>
                </a:solidFill>
                <a:latin typeface="Times New Roman"/>
                <a:ea typeface="Times New Roman"/>
                <a:cs typeface="Times New Roman"/>
                <a:sym typeface="Times New Roman"/>
              </a:rPr>
              <a:t>Kinh doanh (</a:t>
            </a:r>
            <a:r>
              <a:rPr lang="vi-VN" sz="1450" b="1">
                <a:solidFill>
                  <a:srgbClr val="2E5B31"/>
                </a:solidFill>
                <a:latin typeface="Times New Roman"/>
                <a:ea typeface="Times New Roman"/>
                <a:cs typeface="Times New Roman"/>
                <a:sym typeface="Times New Roman"/>
              </a:rPr>
              <a:t>Đơn vị kinh doanh</a:t>
            </a:r>
            <a:r>
              <a:rPr lang="vi-VN" sz="1450" b="1" i="0">
                <a:solidFill>
                  <a:srgbClr val="2E5B31"/>
                </a:solidFill>
                <a:latin typeface="Times New Roman"/>
                <a:ea typeface="Times New Roman"/>
                <a:cs typeface="Times New Roman"/>
                <a:sym typeface="Times New Roman"/>
              </a:rPr>
              <a:t>, </a:t>
            </a:r>
            <a:r>
              <a:rPr lang="vi-VN" sz="1450" b="1">
                <a:solidFill>
                  <a:srgbClr val="2E5B31"/>
                </a:solidFill>
                <a:latin typeface="Times New Roman"/>
                <a:ea typeface="Times New Roman"/>
                <a:cs typeface="Times New Roman"/>
                <a:sym typeface="Times New Roman"/>
              </a:rPr>
              <a:t>Chuyên viên Quản lý KH</a:t>
            </a:r>
            <a:r>
              <a:rPr lang="vi-VN" sz="1450" b="1" i="0">
                <a:solidFill>
                  <a:srgbClr val="2E5B31"/>
                </a:solidFill>
                <a:latin typeface="Times New Roman"/>
                <a:ea typeface="Times New Roman"/>
                <a:cs typeface="Times New Roman"/>
                <a:sym typeface="Times New Roman"/>
              </a:rPr>
              <a:t>)</a:t>
            </a:r>
            <a:endParaRPr/>
          </a:p>
          <a:p>
            <a:pPr marL="0" marR="0" lvl="0" indent="0" algn="l" rtl="0">
              <a:spcBef>
                <a:spcPts val="0"/>
              </a:spcBef>
              <a:spcAft>
                <a:spcPts val="0"/>
              </a:spcAft>
              <a:buNone/>
            </a:pPr>
            <a:r>
              <a:rPr lang="vi-VN" sz="1350" b="0" i="0">
                <a:solidFill>
                  <a:srgbClr val="222222"/>
                </a:solidFill>
                <a:latin typeface="Times New Roman"/>
                <a:ea typeface="Times New Roman"/>
                <a:cs typeface="Times New Roman"/>
                <a:sym typeface="Times New Roman"/>
              </a:rPr>
              <a:t>Tìm khách hàng, thực hiện chỉ tiêu</a:t>
            </a:r>
            <a:endParaRPr/>
          </a:p>
        </p:txBody>
      </p:sp>
      <p:sp>
        <p:nvSpPr>
          <p:cNvPr id="261" name="Google Shape;261;p17"/>
          <p:cNvSpPr/>
          <p:nvPr/>
        </p:nvSpPr>
        <p:spPr>
          <a:xfrm>
            <a:off x="4219956" y="4754880"/>
            <a:ext cx="3749039" cy="1234440"/>
          </a:xfrm>
          <a:prstGeom prst="roundRect">
            <a:avLst>
              <a:gd name="adj" fmla="val 8000"/>
            </a:avLst>
          </a:prstGeom>
          <a:solidFill>
            <a:srgbClr val="F2F2F2"/>
          </a:solidFill>
          <a:ln w="19050" cap="flat" cmpd="sng">
            <a:solidFill>
              <a:srgbClr val="123A7A"/>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2" name="Google Shape;262;p17"/>
          <p:cNvSpPr/>
          <p:nvPr/>
        </p:nvSpPr>
        <p:spPr>
          <a:xfrm>
            <a:off x="4357116" y="5120640"/>
            <a:ext cx="640080" cy="640080"/>
          </a:xfrm>
          <a:prstGeom prst="ellipse">
            <a:avLst/>
          </a:prstGeom>
          <a:solidFill>
            <a:srgbClr val="123A7A"/>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63" name="Google Shape;263;p17" descr="FaUserShield_w.png"/>
          <p:cNvPicPr preferRelativeResize="0"/>
          <p:nvPr/>
        </p:nvPicPr>
        <p:blipFill rotWithShape="1">
          <a:blip r:embed="rId11">
            <a:alphaModFix/>
          </a:blip>
          <a:srcRect/>
          <a:stretch/>
        </p:blipFill>
        <p:spPr>
          <a:xfrm>
            <a:off x="4503420" y="5266944"/>
            <a:ext cx="347472" cy="347472"/>
          </a:xfrm>
          <a:prstGeom prst="rect">
            <a:avLst/>
          </a:prstGeom>
          <a:noFill/>
          <a:ln>
            <a:noFill/>
          </a:ln>
        </p:spPr>
      </p:pic>
      <p:sp>
        <p:nvSpPr>
          <p:cNvPr id="264" name="Google Shape;264;p17"/>
          <p:cNvSpPr txBox="1"/>
          <p:nvPr/>
        </p:nvSpPr>
        <p:spPr>
          <a:xfrm>
            <a:off x="5088636" y="4800600"/>
            <a:ext cx="2834640" cy="11430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450" b="1" i="0">
                <a:solidFill>
                  <a:srgbClr val="123A7A"/>
                </a:solidFill>
                <a:latin typeface="Times New Roman"/>
                <a:ea typeface="Times New Roman"/>
                <a:cs typeface="Times New Roman"/>
                <a:sym typeface="Times New Roman"/>
              </a:rPr>
              <a:t>Thẩm định &amp; Quản lý rủi ro</a:t>
            </a:r>
            <a:endParaRPr/>
          </a:p>
          <a:p>
            <a:pPr marL="0" marR="0" lvl="0" indent="0" algn="l" rtl="0">
              <a:spcBef>
                <a:spcPts val="0"/>
              </a:spcBef>
              <a:spcAft>
                <a:spcPts val="0"/>
              </a:spcAft>
              <a:buNone/>
            </a:pPr>
            <a:r>
              <a:rPr lang="vi-VN" sz="1350" b="0" i="0">
                <a:solidFill>
                  <a:srgbClr val="222222"/>
                </a:solidFill>
                <a:latin typeface="Times New Roman"/>
                <a:ea typeface="Times New Roman"/>
                <a:cs typeface="Times New Roman"/>
                <a:sym typeface="Times New Roman"/>
              </a:rPr>
              <a:t>Đánh giá mức độ an toàn của khoản vay</a:t>
            </a:r>
            <a:endParaRPr/>
          </a:p>
        </p:txBody>
      </p:sp>
      <p:sp>
        <p:nvSpPr>
          <p:cNvPr id="265" name="Google Shape;265;p17"/>
          <p:cNvSpPr/>
          <p:nvPr/>
        </p:nvSpPr>
        <p:spPr>
          <a:xfrm>
            <a:off x="8074152" y="4754880"/>
            <a:ext cx="3749039" cy="1234440"/>
          </a:xfrm>
          <a:prstGeom prst="roundRect">
            <a:avLst>
              <a:gd name="adj" fmla="val 8000"/>
            </a:avLst>
          </a:prstGeom>
          <a:solidFill>
            <a:srgbClr val="F2F2F2"/>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66" name="Google Shape;266;p17"/>
          <p:cNvSpPr/>
          <p:nvPr/>
        </p:nvSpPr>
        <p:spPr>
          <a:xfrm>
            <a:off x="8211312" y="5120640"/>
            <a:ext cx="640080" cy="64008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67" name="Google Shape;267;p17" descr="FaCogs_w.png"/>
          <p:cNvPicPr preferRelativeResize="0"/>
          <p:nvPr/>
        </p:nvPicPr>
        <p:blipFill rotWithShape="1">
          <a:blip r:embed="rId12">
            <a:alphaModFix/>
          </a:blip>
          <a:srcRect/>
          <a:stretch/>
        </p:blipFill>
        <p:spPr>
          <a:xfrm>
            <a:off x="8357616" y="5266944"/>
            <a:ext cx="347472" cy="347472"/>
          </a:xfrm>
          <a:prstGeom prst="rect">
            <a:avLst/>
          </a:prstGeom>
          <a:noFill/>
          <a:ln>
            <a:noFill/>
          </a:ln>
        </p:spPr>
      </p:pic>
      <p:sp>
        <p:nvSpPr>
          <p:cNvPr id="268" name="Google Shape;268;p17"/>
          <p:cNvSpPr txBox="1"/>
          <p:nvPr/>
        </p:nvSpPr>
        <p:spPr>
          <a:xfrm>
            <a:off x="8942832" y="4800600"/>
            <a:ext cx="2834640" cy="11430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450" b="1" i="0">
                <a:solidFill>
                  <a:srgbClr val="C55A11"/>
                </a:solidFill>
                <a:latin typeface="Times New Roman"/>
                <a:ea typeface="Times New Roman"/>
                <a:cs typeface="Times New Roman"/>
                <a:sym typeface="Times New Roman"/>
              </a:rPr>
              <a:t>Vận hành</a:t>
            </a:r>
            <a:endParaRPr/>
          </a:p>
          <a:p>
            <a:pPr marL="0" marR="0" lvl="0" indent="0" algn="l" rtl="0">
              <a:spcBef>
                <a:spcPts val="0"/>
              </a:spcBef>
              <a:spcAft>
                <a:spcPts val="0"/>
              </a:spcAft>
              <a:buNone/>
            </a:pPr>
            <a:r>
              <a:rPr lang="vi-VN" sz="1350" b="0" i="0">
                <a:solidFill>
                  <a:srgbClr val="222222"/>
                </a:solidFill>
                <a:latin typeface="Times New Roman"/>
                <a:ea typeface="Times New Roman"/>
                <a:cs typeface="Times New Roman"/>
                <a:sym typeface="Times New Roman"/>
              </a:rPr>
              <a:t>Giải ngân, hỗ trợ theo dõi khoản vay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8"/>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275" name="Google Shape;275;p18"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276" name="Google Shape;276;p18"/>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6</a:t>
            </a:fld>
            <a:endParaRPr sz="1800">
              <a:solidFill>
                <a:srgbClr val="0C0C0C"/>
              </a:solidFill>
              <a:latin typeface="Algerian"/>
              <a:ea typeface="Algerian"/>
              <a:cs typeface="Algerian"/>
              <a:sym typeface="Algerian"/>
            </a:endParaRPr>
          </a:p>
        </p:txBody>
      </p:sp>
      <p:sp>
        <p:nvSpPr>
          <p:cNvPr id="277" name="Google Shape;277;p18"/>
          <p:cNvSpPr txBox="1"/>
          <p:nvPr/>
        </p:nvSpPr>
        <p:spPr>
          <a:xfrm>
            <a:off x="45720" y="896112"/>
            <a:ext cx="10058400" cy="323100"/>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vi-VN" sz="1500" b="1">
                <a:solidFill>
                  <a:srgbClr val="0070C0"/>
                </a:solidFill>
                <a:latin typeface="Times New Roman"/>
                <a:ea typeface="Times New Roman"/>
                <a:cs typeface="Times New Roman"/>
                <a:sym typeface="Times New Roman"/>
              </a:rPr>
              <a:t>Phân biệt cho vay t</a:t>
            </a:r>
            <a:r>
              <a:rPr lang="vi-VN" sz="1500" b="1" i="0">
                <a:solidFill>
                  <a:srgbClr val="0070C0"/>
                </a:solidFill>
                <a:latin typeface="Times New Roman"/>
                <a:ea typeface="Times New Roman"/>
                <a:cs typeface="Times New Roman"/>
                <a:sym typeface="Times New Roman"/>
              </a:rPr>
              <a:t>ín dụng KHDN </a:t>
            </a:r>
            <a:r>
              <a:rPr lang="vi-VN" sz="1500" b="1">
                <a:solidFill>
                  <a:srgbClr val="0070C0"/>
                </a:solidFill>
                <a:latin typeface="Times New Roman"/>
                <a:ea typeface="Times New Roman"/>
                <a:cs typeface="Times New Roman"/>
                <a:sym typeface="Times New Roman"/>
              </a:rPr>
              <a:t>và</a:t>
            </a:r>
            <a:r>
              <a:rPr lang="vi-VN" sz="1500" b="1" i="0">
                <a:solidFill>
                  <a:srgbClr val="0070C0"/>
                </a:solidFill>
                <a:latin typeface="Times New Roman"/>
                <a:ea typeface="Times New Roman"/>
                <a:cs typeface="Times New Roman"/>
                <a:sym typeface="Times New Roman"/>
              </a:rPr>
              <a:t> KHCN kh</a:t>
            </a:r>
            <a:r>
              <a:rPr lang="vi-VN" sz="1500" b="1">
                <a:solidFill>
                  <a:srgbClr val="0070C0"/>
                </a:solidFill>
                <a:latin typeface="Times New Roman"/>
                <a:ea typeface="Times New Roman"/>
                <a:cs typeface="Times New Roman"/>
                <a:sym typeface="Times New Roman"/>
              </a:rPr>
              <a:t>ác nhau</a:t>
            </a:r>
            <a:r>
              <a:rPr lang="vi-VN" sz="1500" b="1" i="0">
                <a:solidFill>
                  <a:srgbClr val="0070C0"/>
                </a:solidFill>
                <a:latin typeface="Times New Roman"/>
                <a:ea typeface="Times New Roman"/>
                <a:cs typeface="Times New Roman"/>
                <a:sym typeface="Times New Roman"/>
              </a:rPr>
              <a:t> như thế nào?</a:t>
            </a:r>
            <a:endParaRPr/>
          </a:p>
        </p:txBody>
      </p:sp>
      <p:sp>
        <p:nvSpPr>
          <p:cNvPr id="278" name="Google Shape;278;p18"/>
          <p:cNvSpPr/>
          <p:nvPr/>
        </p:nvSpPr>
        <p:spPr>
          <a:xfrm>
            <a:off x="347475" y="6071725"/>
            <a:ext cx="11475600" cy="6585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1">
                <a:solidFill>
                  <a:srgbClr val="FF0000"/>
                </a:solidFill>
                <a:latin typeface="Times New Roman"/>
                <a:ea typeface="Times New Roman"/>
                <a:cs typeface="Times New Roman"/>
                <a:sym typeface="Times New Roman"/>
              </a:rPr>
              <a:t>Điểm cần nhớ: </a:t>
            </a:r>
            <a:r>
              <a:rPr lang="vi-VN" sz="1800">
                <a:latin typeface="Times New Roman"/>
                <a:ea typeface="Times New Roman"/>
                <a:cs typeface="Times New Roman"/>
                <a:sym typeface="Times New Roman"/>
              </a:rPr>
              <a:t>Cho vay doanh nghiệp có khoản vay lớn, rủi ro dễ tập trung → cần phân tích chi tiết đến từng khách hàng và khoản vay. </a:t>
            </a:r>
            <a:endParaRPr/>
          </a:p>
        </p:txBody>
      </p:sp>
      <p:sp>
        <p:nvSpPr>
          <p:cNvPr id="279" name="Google Shape;279;p18"/>
          <p:cNvSpPr/>
          <p:nvPr/>
        </p:nvSpPr>
        <p:spPr>
          <a:xfrm>
            <a:off x="2560320" y="1371600"/>
            <a:ext cx="4572000" cy="457200"/>
          </a:xfrm>
          <a:prstGeom prst="roundRect">
            <a:avLst>
              <a:gd name="adj" fmla="val 15000"/>
            </a:avLst>
          </a:prstGeom>
          <a:solidFill>
            <a:srgbClr val="2E5B3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600" b="1">
                <a:solidFill>
                  <a:srgbClr val="FFFFFF"/>
                </a:solidFill>
                <a:latin typeface="Times New Roman"/>
                <a:ea typeface="Times New Roman"/>
                <a:cs typeface="Times New Roman"/>
                <a:sym typeface="Times New Roman"/>
              </a:rPr>
              <a:t>Khách hàng doanh nghiệp (KHDN) </a:t>
            </a:r>
            <a:endParaRPr/>
          </a:p>
        </p:txBody>
      </p:sp>
      <p:sp>
        <p:nvSpPr>
          <p:cNvPr id="280" name="Google Shape;280;p18"/>
          <p:cNvSpPr/>
          <p:nvPr/>
        </p:nvSpPr>
        <p:spPr>
          <a:xfrm>
            <a:off x="7251192" y="1371600"/>
            <a:ext cx="4572000" cy="457200"/>
          </a:xfrm>
          <a:prstGeom prst="roundRect">
            <a:avLst>
              <a:gd name="adj" fmla="val 15000"/>
            </a:avLst>
          </a:prstGeom>
          <a:solidFill>
            <a:srgbClr val="123A7A"/>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600" b="1">
                <a:solidFill>
                  <a:srgbClr val="FFFFFF"/>
                </a:solidFill>
                <a:latin typeface="Times New Roman"/>
                <a:ea typeface="Times New Roman"/>
                <a:cs typeface="Times New Roman"/>
                <a:sym typeface="Times New Roman"/>
              </a:rPr>
              <a:t>Khách hàng cá nhân (KHCN) </a:t>
            </a:r>
            <a:endParaRPr/>
          </a:p>
        </p:txBody>
      </p:sp>
      <p:sp>
        <p:nvSpPr>
          <p:cNvPr id="281" name="Google Shape;281;p18"/>
          <p:cNvSpPr/>
          <p:nvPr/>
        </p:nvSpPr>
        <p:spPr>
          <a:xfrm>
            <a:off x="365760" y="1892807"/>
            <a:ext cx="2103120" cy="804672"/>
          </a:xfrm>
          <a:prstGeom prst="roundRect">
            <a:avLst>
              <a:gd name="adj" fmla="val 10000"/>
            </a:avLst>
          </a:prstGeom>
          <a:solidFill>
            <a:srgbClr val="F2F2F2"/>
          </a:solidFill>
          <a:ln w="12700" cap="flat" cmpd="sng">
            <a:solidFill>
              <a:srgbClr val="595959"/>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82" name="Google Shape;282;p18" descr="FaUsers_n.png"/>
          <p:cNvPicPr preferRelativeResize="0"/>
          <p:nvPr/>
        </p:nvPicPr>
        <p:blipFill rotWithShape="1">
          <a:blip r:embed="rId4">
            <a:alphaModFix/>
          </a:blip>
          <a:srcRect/>
          <a:stretch/>
        </p:blipFill>
        <p:spPr>
          <a:xfrm>
            <a:off x="457200" y="2093976"/>
            <a:ext cx="384048" cy="384048"/>
          </a:xfrm>
          <a:prstGeom prst="rect">
            <a:avLst/>
          </a:prstGeom>
          <a:noFill/>
          <a:ln>
            <a:noFill/>
          </a:ln>
        </p:spPr>
      </p:pic>
      <p:sp>
        <p:nvSpPr>
          <p:cNvPr id="283" name="Google Shape;283;p18"/>
          <p:cNvSpPr txBox="1"/>
          <p:nvPr/>
        </p:nvSpPr>
        <p:spPr>
          <a:xfrm>
            <a:off x="896112" y="1892807"/>
            <a:ext cx="1554480" cy="804672"/>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b="1" i="0">
                <a:solidFill>
                  <a:srgbClr val="1A365D"/>
                </a:solidFill>
                <a:latin typeface="Times New Roman"/>
                <a:ea typeface="Times New Roman"/>
                <a:cs typeface="Times New Roman"/>
                <a:sym typeface="Times New Roman"/>
              </a:rPr>
              <a:t>Khách hàng </a:t>
            </a:r>
            <a:r>
              <a:rPr lang="vi-VN" sz="1350" b="1">
                <a:solidFill>
                  <a:srgbClr val="1A365D"/>
                </a:solidFill>
                <a:latin typeface="Times New Roman"/>
                <a:ea typeface="Times New Roman"/>
                <a:cs typeface="Times New Roman"/>
                <a:sym typeface="Times New Roman"/>
              </a:rPr>
              <a:t>và</a:t>
            </a:r>
            <a:r>
              <a:rPr lang="vi-VN" sz="1350" b="1" i="0">
                <a:solidFill>
                  <a:srgbClr val="1A365D"/>
                </a:solidFill>
                <a:latin typeface="Times New Roman"/>
                <a:ea typeface="Times New Roman"/>
                <a:cs typeface="Times New Roman"/>
                <a:sym typeface="Times New Roman"/>
              </a:rPr>
              <a:t> khoản vay</a:t>
            </a:r>
            <a:endParaRPr/>
          </a:p>
        </p:txBody>
      </p:sp>
      <p:sp>
        <p:nvSpPr>
          <p:cNvPr id="284" name="Google Shape;284;p18"/>
          <p:cNvSpPr/>
          <p:nvPr/>
        </p:nvSpPr>
        <p:spPr>
          <a:xfrm>
            <a:off x="2560320" y="1892807"/>
            <a:ext cx="4572000" cy="804672"/>
          </a:xfrm>
          <a:prstGeom prst="roundRect">
            <a:avLst>
              <a:gd name="adj" fmla="val 10000"/>
            </a:avLst>
          </a:prstGeom>
          <a:solidFill>
            <a:srgbClr val="E2F0D9"/>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Số lượng khách hàng thường ít hơn, nhưng giá trị mỗi khoản vay lớn và nhu cầu vay đa dạng. </a:t>
            </a:r>
            <a:endParaRPr/>
          </a:p>
        </p:txBody>
      </p:sp>
      <p:sp>
        <p:nvSpPr>
          <p:cNvPr id="285" name="Google Shape;285;p18"/>
          <p:cNvSpPr/>
          <p:nvPr/>
        </p:nvSpPr>
        <p:spPr>
          <a:xfrm>
            <a:off x="7251192" y="1892807"/>
            <a:ext cx="4572000" cy="804672"/>
          </a:xfrm>
          <a:prstGeom prst="roundRect">
            <a:avLst>
              <a:gd name="adj" fmla="val 10000"/>
            </a:avLst>
          </a:prstGeom>
          <a:solidFill>
            <a:srgbClr val="DEEAF6"/>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Số lượng khách hàng lớn, giá trị mỗi khoản vay thường nhỏ hơn và sản phẩm tương đối thống nhất. </a:t>
            </a:r>
            <a:endParaRPr/>
          </a:p>
        </p:txBody>
      </p:sp>
      <p:sp>
        <p:nvSpPr>
          <p:cNvPr id="286" name="Google Shape;286;p18"/>
          <p:cNvSpPr/>
          <p:nvPr/>
        </p:nvSpPr>
        <p:spPr>
          <a:xfrm>
            <a:off x="365760" y="2743200"/>
            <a:ext cx="2103120" cy="804672"/>
          </a:xfrm>
          <a:prstGeom prst="roundRect">
            <a:avLst>
              <a:gd name="adj" fmla="val 10000"/>
            </a:avLst>
          </a:prstGeom>
          <a:solidFill>
            <a:srgbClr val="F2F2F2"/>
          </a:solidFill>
          <a:ln w="12700" cap="flat" cmpd="sng">
            <a:solidFill>
              <a:srgbClr val="595959"/>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87" name="Google Shape;287;p18" descr="FaSearch_n.png"/>
          <p:cNvPicPr preferRelativeResize="0"/>
          <p:nvPr/>
        </p:nvPicPr>
        <p:blipFill rotWithShape="1">
          <a:blip r:embed="rId5">
            <a:alphaModFix/>
          </a:blip>
          <a:srcRect/>
          <a:stretch/>
        </p:blipFill>
        <p:spPr>
          <a:xfrm>
            <a:off x="457200" y="2944368"/>
            <a:ext cx="384048" cy="384048"/>
          </a:xfrm>
          <a:prstGeom prst="rect">
            <a:avLst/>
          </a:prstGeom>
          <a:noFill/>
          <a:ln>
            <a:noFill/>
          </a:ln>
        </p:spPr>
      </p:pic>
      <p:sp>
        <p:nvSpPr>
          <p:cNvPr id="288" name="Google Shape;288;p18"/>
          <p:cNvSpPr txBox="1"/>
          <p:nvPr/>
        </p:nvSpPr>
        <p:spPr>
          <a:xfrm>
            <a:off x="896112" y="2743200"/>
            <a:ext cx="1554480" cy="804672"/>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b="1" i="0">
                <a:solidFill>
                  <a:srgbClr val="1A365D"/>
                </a:solidFill>
                <a:latin typeface="Times New Roman"/>
                <a:ea typeface="Times New Roman"/>
                <a:cs typeface="Times New Roman"/>
                <a:sym typeface="Times New Roman"/>
              </a:rPr>
              <a:t>Thẩm định</a:t>
            </a:r>
            <a:endParaRPr/>
          </a:p>
        </p:txBody>
      </p:sp>
      <p:sp>
        <p:nvSpPr>
          <p:cNvPr id="289" name="Google Shape;289;p18"/>
          <p:cNvSpPr/>
          <p:nvPr/>
        </p:nvSpPr>
        <p:spPr>
          <a:xfrm>
            <a:off x="2560320" y="2743200"/>
            <a:ext cx="4572000" cy="804672"/>
          </a:xfrm>
          <a:prstGeom prst="roundRect">
            <a:avLst>
              <a:gd name="adj" fmla="val 10000"/>
            </a:avLst>
          </a:prstGeom>
          <a:solidFill>
            <a:srgbClr val="E2F0D9"/>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Xem xét báo cáo tài chính, tình hình kinh doanh, khả năng trả nợ và tài sản bảo đảm. </a:t>
            </a:r>
            <a:endParaRPr/>
          </a:p>
        </p:txBody>
      </p:sp>
      <p:sp>
        <p:nvSpPr>
          <p:cNvPr id="290" name="Google Shape;290;p18"/>
          <p:cNvSpPr/>
          <p:nvPr/>
        </p:nvSpPr>
        <p:spPr>
          <a:xfrm>
            <a:off x="7251192" y="2743200"/>
            <a:ext cx="4572000" cy="804672"/>
          </a:xfrm>
          <a:prstGeom prst="roundRect">
            <a:avLst>
              <a:gd name="adj" fmla="val 10000"/>
            </a:avLst>
          </a:prstGeom>
          <a:solidFill>
            <a:srgbClr val="DEEAF6"/>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Chủ yếu dựa vào thu nhập, lịch sử tín dụng và khả năng trả nợ; có thể sử dụng hệ thống chấm điểm tự động. </a:t>
            </a:r>
            <a:endParaRPr/>
          </a:p>
        </p:txBody>
      </p:sp>
      <p:sp>
        <p:nvSpPr>
          <p:cNvPr id="291" name="Google Shape;291;p18"/>
          <p:cNvSpPr/>
          <p:nvPr/>
        </p:nvSpPr>
        <p:spPr>
          <a:xfrm>
            <a:off x="365760" y="3593591"/>
            <a:ext cx="2103120" cy="804672"/>
          </a:xfrm>
          <a:prstGeom prst="roundRect">
            <a:avLst>
              <a:gd name="adj" fmla="val 10000"/>
            </a:avLst>
          </a:prstGeom>
          <a:solidFill>
            <a:srgbClr val="F2F2F2"/>
          </a:solidFill>
          <a:ln w="12700" cap="flat" cmpd="sng">
            <a:solidFill>
              <a:srgbClr val="595959"/>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92" name="Google Shape;292;p18" descr="FaLayerGroup_n.png"/>
          <p:cNvPicPr preferRelativeResize="0"/>
          <p:nvPr/>
        </p:nvPicPr>
        <p:blipFill rotWithShape="1">
          <a:blip r:embed="rId6">
            <a:alphaModFix/>
          </a:blip>
          <a:srcRect/>
          <a:stretch/>
        </p:blipFill>
        <p:spPr>
          <a:xfrm>
            <a:off x="457200" y="3794759"/>
            <a:ext cx="384048" cy="384048"/>
          </a:xfrm>
          <a:prstGeom prst="rect">
            <a:avLst/>
          </a:prstGeom>
          <a:noFill/>
          <a:ln>
            <a:noFill/>
          </a:ln>
        </p:spPr>
      </p:pic>
      <p:sp>
        <p:nvSpPr>
          <p:cNvPr id="293" name="Google Shape;293;p18"/>
          <p:cNvSpPr txBox="1"/>
          <p:nvPr/>
        </p:nvSpPr>
        <p:spPr>
          <a:xfrm>
            <a:off x="896112" y="3593591"/>
            <a:ext cx="1554480" cy="804672"/>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b="1" i="0">
                <a:solidFill>
                  <a:srgbClr val="1A365D"/>
                </a:solidFill>
                <a:latin typeface="Times New Roman"/>
                <a:ea typeface="Times New Roman"/>
                <a:cs typeface="Times New Roman"/>
                <a:sym typeface="Times New Roman"/>
              </a:rPr>
              <a:t>Sản phẩm &amp; phân khúc</a:t>
            </a:r>
            <a:endParaRPr/>
          </a:p>
        </p:txBody>
      </p:sp>
      <p:sp>
        <p:nvSpPr>
          <p:cNvPr id="294" name="Google Shape;294;p18"/>
          <p:cNvSpPr/>
          <p:nvPr/>
        </p:nvSpPr>
        <p:spPr>
          <a:xfrm>
            <a:off x="2560320" y="3593591"/>
            <a:ext cx="4572000" cy="804672"/>
          </a:xfrm>
          <a:prstGeom prst="roundRect">
            <a:avLst>
              <a:gd name="adj" fmla="val 10000"/>
            </a:avLst>
          </a:prstGeom>
          <a:solidFill>
            <a:srgbClr val="E2F0D9"/>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Vay bổ sung vốn kinh doanh, vay đầu tư, bảo lãnh ngân hàng. Phân nhóm theo quy mô doanh nghiệp. </a:t>
            </a:r>
            <a:endParaRPr/>
          </a:p>
        </p:txBody>
      </p:sp>
      <p:sp>
        <p:nvSpPr>
          <p:cNvPr id="295" name="Google Shape;295;p18"/>
          <p:cNvSpPr/>
          <p:nvPr/>
        </p:nvSpPr>
        <p:spPr>
          <a:xfrm>
            <a:off x="7251192" y="3593591"/>
            <a:ext cx="4572000" cy="804672"/>
          </a:xfrm>
          <a:prstGeom prst="roundRect">
            <a:avLst>
              <a:gd name="adj" fmla="val 10000"/>
            </a:avLst>
          </a:prstGeom>
          <a:solidFill>
            <a:srgbClr val="DEEAF6"/>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Vay mua nhà, mua xe, vay tiêu dùng, thẻ tín dụng. Phân nhóm theo thu nhập, độ tuổi và nhu cầu vay. </a:t>
            </a:r>
            <a:endParaRPr/>
          </a:p>
        </p:txBody>
      </p:sp>
      <p:sp>
        <p:nvSpPr>
          <p:cNvPr id="296" name="Google Shape;296;p18"/>
          <p:cNvSpPr/>
          <p:nvPr/>
        </p:nvSpPr>
        <p:spPr>
          <a:xfrm>
            <a:off x="365760" y="4443983"/>
            <a:ext cx="2103120" cy="804672"/>
          </a:xfrm>
          <a:prstGeom prst="roundRect">
            <a:avLst>
              <a:gd name="adj" fmla="val 10000"/>
            </a:avLst>
          </a:prstGeom>
          <a:solidFill>
            <a:srgbClr val="F2F2F2"/>
          </a:solidFill>
          <a:ln w="12700" cap="flat" cmpd="sng">
            <a:solidFill>
              <a:srgbClr val="595959"/>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97" name="Google Shape;297;p18" descr="FaBalanceScale_n.png"/>
          <p:cNvPicPr preferRelativeResize="0"/>
          <p:nvPr/>
        </p:nvPicPr>
        <p:blipFill rotWithShape="1">
          <a:blip r:embed="rId7">
            <a:alphaModFix/>
          </a:blip>
          <a:srcRect/>
          <a:stretch/>
        </p:blipFill>
        <p:spPr>
          <a:xfrm>
            <a:off x="457200" y="4645151"/>
            <a:ext cx="384048" cy="384048"/>
          </a:xfrm>
          <a:prstGeom prst="rect">
            <a:avLst/>
          </a:prstGeom>
          <a:noFill/>
          <a:ln>
            <a:noFill/>
          </a:ln>
        </p:spPr>
      </p:pic>
      <p:sp>
        <p:nvSpPr>
          <p:cNvPr id="298" name="Google Shape;298;p18"/>
          <p:cNvSpPr txBox="1"/>
          <p:nvPr/>
        </p:nvSpPr>
        <p:spPr>
          <a:xfrm>
            <a:off x="896112" y="4443983"/>
            <a:ext cx="1554480" cy="804672"/>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350" b="1" i="0">
                <a:solidFill>
                  <a:srgbClr val="1A365D"/>
                </a:solidFill>
                <a:latin typeface="Times New Roman"/>
                <a:ea typeface="Times New Roman"/>
                <a:cs typeface="Times New Roman"/>
                <a:sym typeface="Times New Roman"/>
              </a:rPr>
              <a:t>Rủi ro &amp; cách phân tích</a:t>
            </a:r>
            <a:endParaRPr/>
          </a:p>
        </p:txBody>
      </p:sp>
      <p:sp>
        <p:nvSpPr>
          <p:cNvPr id="299" name="Google Shape;299;p18"/>
          <p:cNvSpPr/>
          <p:nvPr/>
        </p:nvSpPr>
        <p:spPr>
          <a:xfrm>
            <a:off x="2560320" y="4443983"/>
            <a:ext cx="4572000" cy="804672"/>
          </a:xfrm>
          <a:prstGeom prst="roundRect">
            <a:avLst>
              <a:gd name="adj" fmla="val 10000"/>
            </a:avLst>
          </a:prstGeom>
          <a:solidFill>
            <a:srgbClr val="E2F0D9"/>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Rủi ro có thể tập trung vào một số khoản vay lớn. Cần theo dõi từng khách hàng và từng khoản vay. </a:t>
            </a:r>
            <a:endParaRPr/>
          </a:p>
        </p:txBody>
      </p:sp>
      <p:sp>
        <p:nvSpPr>
          <p:cNvPr id="300" name="Google Shape;300;p18"/>
          <p:cNvSpPr/>
          <p:nvPr/>
        </p:nvSpPr>
        <p:spPr>
          <a:xfrm>
            <a:off x="7251192" y="4443983"/>
            <a:ext cx="4572000" cy="804672"/>
          </a:xfrm>
          <a:prstGeom prst="roundRect">
            <a:avLst>
              <a:gd name="adj" fmla="val 10000"/>
            </a:avLst>
          </a:prstGeom>
          <a:solidFill>
            <a:srgbClr val="DEEAF6"/>
          </a:solidFill>
          <a:ln>
            <a:noFill/>
          </a:ln>
        </p:spPr>
        <p:txBody>
          <a:bodyPr spcFirstLastPara="1" wrap="square" lIns="109725" tIns="27425" rIns="91425" bIns="27425" anchor="ctr" anchorCtr="0">
            <a:noAutofit/>
          </a:bodyPr>
          <a:lstStyle/>
          <a:p>
            <a:pPr marL="0" marR="0" lvl="0" indent="0" algn="l" rtl="0">
              <a:spcBef>
                <a:spcPts val="0"/>
              </a:spcBef>
              <a:spcAft>
                <a:spcPts val="0"/>
              </a:spcAft>
              <a:buNone/>
            </a:pPr>
            <a:r>
              <a:rPr lang="vi-VN" sz="1450">
                <a:solidFill>
                  <a:srgbClr val="222222"/>
                </a:solidFill>
                <a:latin typeface="Times New Roman"/>
                <a:ea typeface="Times New Roman"/>
                <a:cs typeface="Times New Roman"/>
                <a:sym typeface="Times New Roman"/>
              </a:rPr>
              <a:t>Rủi ro phân tán trên nhiều khoản vay nhỏ. Thường phân tích theo nhóm khách hàng, sản phẩm và thời gian. </a:t>
            </a:r>
            <a:endParaRPr/>
          </a:p>
        </p:txBody>
      </p:sp>
      <p:sp>
        <p:nvSpPr>
          <p:cNvPr id="301" name="Google Shape;301;p18"/>
          <p:cNvSpPr/>
          <p:nvPr/>
        </p:nvSpPr>
        <p:spPr>
          <a:xfrm>
            <a:off x="365760" y="5349240"/>
            <a:ext cx="11457432" cy="658368"/>
          </a:xfrm>
          <a:prstGeom prst="roundRect">
            <a:avLst>
              <a:gd name="adj" fmla="val 15000"/>
            </a:avLst>
          </a:prstGeom>
          <a:solidFill>
            <a:srgbClr val="FBE5D6"/>
          </a:solidFill>
          <a:ln w="12700" cap="flat" cmpd="sng">
            <a:solidFill>
              <a:srgbClr val="C55A11"/>
            </a:solidFill>
            <a:prstDash val="solid"/>
            <a:round/>
            <a:headEnd type="none" w="sm" len="sm"/>
            <a:tailEnd type="none" w="sm" len="sm"/>
          </a:ln>
        </p:spPr>
        <p:txBody>
          <a:bodyPr spcFirstLastPara="1" wrap="square" lIns="137150" tIns="27425" rIns="137150" bIns="27425" anchor="ctr" anchorCtr="0">
            <a:noAutofit/>
          </a:bodyPr>
          <a:lstStyle/>
          <a:p>
            <a:pPr marL="0" marR="0" lvl="0" indent="0" algn="l" rtl="0">
              <a:spcBef>
                <a:spcPts val="0"/>
              </a:spcBef>
              <a:spcAft>
                <a:spcPts val="0"/>
              </a:spcAft>
              <a:buNone/>
            </a:pPr>
            <a:r>
              <a:rPr lang="vi-VN" b="1">
                <a:solidFill>
                  <a:srgbClr val="222222"/>
                </a:solidFill>
                <a:latin typeface="Times New Roman"/>
                <a:ea typeface="Times New Roman"/>
                <a:cs typeface="Times New Roman"/>
                <a:sym typeface="Times New Roman"/>
              </a:rPr>
              <a:t>Khi tỷ lệ nợ quá hạn của danh mục cho vay doanh nghiệp tăng, người phân tích cần xác định khách hàng hoặc khoản vay nào đóng góp nhiều nhất vào mức tăng đó, thay vì chỉ xem chỉ số tổng hợp.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9"/>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308" name="Google Shape;308;p19"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309" name="Google Shape;309;p19"/>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7</a:t>
            </a:fld>
            <a:endParaRPr sz="1800">
              <a:solidFill>
                <a:srgbClr val="0C0C0C"/>
              </a:solidFill>
              <a:latin typeface="Algerian"/>
              <a:ea typeface="Algerian"/>
              <a:cs typeface="Algerian"/>
              <a:sym typeface="Algerian"/>
            </a:endParaRPr>
          </a:p>
        </p:txBody>
      </p:sp>
      <p:sp>
        <p:nvSpPr>
          <p:cNvPr id="310" name="Google Shape;310;p19"/>
          <p:cNvSpPr txBox="1"/>
          <p:nvPr/>
        </p:nvSpPr>
        <p:spPr>
          <a:xfrm>
            <a:off x="45720" y="896112"/>
            <a:ext cx="10058400" cy="323100"/>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vi-VN" sz="1500" b="1">
                <a:solidFill>
                  <a:srgbClr val="0070C0"/>
                </a:solidFill>
                <a:latin typeface="Times New Roman"/>
                <a:ea typeface="Times New Roman"/>
                <a:cs typeface="Times New Roman"/>
                <a:sym typeface="Times New Roman"/>
              </a:rPr>
              <a:t>Các vị trí </a:t>
            </a:r>
            <a:r>
              <a:rPr lang="vi-VN" sz="1500" b="1" i="0">
                <a:solidFill>
                  <a:srgbClr val="0070C0"/>
                </a:solidFill>
                <a:latin typeface="Times New Roman"/>
                <a:ea typeface="Times New Roman"/>
                <a:cs typeface="Times New Roman"/>
                <a:sym typeface="Times New Roman"/>
              </a:rPr>
              <a:t>phân tích dữ liệu trong ngân hàng</a:t>
            </a:r>
            <a:endParaRPr/>
          </a:p>
        </p:txBody>
      </p:sp>
      <p:sp>
        <p:nvSpPr>
          <p:cNvPr id="311" name="Google Shape;311;p19"/>
          <p:cNvSpPr/>
          <p:nvPr/>
        </p:nvSpPr>
        <p:spPr>
          <a:xfrm>
            <a:off x="347472" y="6144768"/>
            <a:ext cx="11475720" cy="4572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0" i="0">
                <a:solidFill>
                  <a:srgbClr val="000000"/>
                </a:solidFill>
                <a:latin typeface="Times New Roman"/>
                <a:ea typeface="Times New Roman"/>
                <a:cs typeface="Times New Roman"/>
                <a:sym typeface="Times New Roman"/>
              </a:rPr>
              <a:t>4 vị trí – mỗi vị trí nhìn dữ liệu tín dụng từ </a:t>
            </a:r>
            <a:r>
              <a:rPr lang="vi-VN" sz="1800" b="1" i="0">
                <a:solidFill>
                  <a:srgbClr val="123A7A"/>
                </a:solidFill>
                <a:latin typeface="Times New Roman"/>
                <a:ea typeface="Times New Roman"/>
                <a:cs typeface="Times New Roman"/>
                <a:sym typeface="Times New Roman"/>
              </a:rPr>
              <a:t>một góc khác nhau</a:t>
            </a:r>
            <a:endParaRPr/>
          </a:p>
        </p:txBody>
      </p:sp>
      <p:sp>
        <p:nvSpPr>
          <p:cNvPr id="312" name="Google Shape;312;p19"/>
          <p:cNvSpPr/>
          <p:nvPr/>
        </p:nvSpPr>
        <p:spPr>
          <a:xfrm>
            <a:off x="365760" y="1417320"/>
            <a:ext cx="2788920" cy="2926080"/>
          </a:xfrm>
          <a:prstGeom prst="roundRect">
            <a:avLst>
              <a:gd name="adj" fmla="val 6000"/>
            </a:avLst>
          </a:prstGeom>
          <a:solidFill>
            <a:srgbClr val="FFFFFF"/>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19"/>
          <p:cNvSpPr/>
          <p:nvPr/>
        </p:nvSpPr>
        <p:spPr>
          <a:xfrm>
            <a:off x="1371600" y="1527048"/>
            <a:ext cx="777240" cy="777240"/>
          </a:xfrm>
          <a:prstGeom prst="ellipse">
            <a:avLst/>
          </a:prstGeom>
          <a:solidFill>
            <a:srgbClr val="2E5B3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14" name="Google Shape;314;p19" descr="FaChartBar_w.png"/>
          <p:cNvPicPr preferRelativeResize="0"/>
          <p:nvPr/>
        </p:nvPicPr>
        <p:blipFill rotWithShape="1">
          <a:blip r:embed="rId4">
            <a:alphaModFix/>
          </a:blip>
          <a:srcRect/>
          <a:stretch/>
        </p:blipFill>
        <p:spPr>
          <a:xfrm>
            <a:off x="1554480" y="1709928"/>
            <a:ext cx="411480" cy="411480"/>
          </a:xfrm>
          <a:prstGeom prst="rect">
            <a:avLst/>
          </a:prstGeom>
          <a:noFill/>
          <a:ln>
            <a:noFill/>
          </a:ln>
        </p:spPr>
      </p:pic>
      <p:sp>
        <p:nvSpPr>
          <p:cNvPr id="315" name="Google Shape;315;p19"/>
          <p:cNvSpPr txBox="1"/>
          <p:nvPr/>
        </p:nvSpPr>
        <p:spPr>
          <a:xfrm>
            <a:off x="438912" y="2359152"/>
            <a:ext cx="2642616" cy="6400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50" b="1" i="0">
                <a:solidFill>
                  <a:srgbClr val="2E5B31"/>
                </a:solidFill>
                <a:latin typeface="Times New Roman"/>
                <a:ea typeface="Times New Roman"/>
                <a:cs typeface="Times New Roman"/>
                <a:sym typeface="Times New Roman"/>
              </a:rPr>
              <a:t>Chuyên viên MIS / Phân tích kinh doanh</a:t>
            </a:r>
            <a:endParaRPr/>
          </a:p>
        </p:txBody>
      </p:sp>
      <p:sp>
        <p:nvSpPr>
          <p:cNvPr id="316" name="Google Shape;316;p19"/>
          <p:cNvSpPr/>
          <p:nvPr/>
        </p:nvSpPr>
        <p:spPr>
          <a:xfrm>
            <a:off x="685800" y="3017520"/>
            <a:ext cx="2148840" cy="310896"/>
          </a:xfrm>
          <a:prstGeom prst="roundRect">
            <a:avLst>
              <a:gd name="adj" fmla="val 40000"/>
            </a:avLst>
          </a:prstGeom>
          <a:solidFill>
            <a:srgbClr val="F2F2F2"/>
          </a:solidFill>
          <a:ln>
            <a:noFill/>
          </a:ln>
        </p:spPr>
        <p:txBody>
          <a:bodyPr spcFirstLastPara="1" wrap="square" lIns="27425" tIns="0" rIns="27425" bIns="0" anchor="ctr" anchorCtr="0">
            <a:noAutofit/>
          </a:bodyPr>
          <a:lstStyle/>
          <a:p>
            <a:pPr marL="0" marR="0" lvl="0" indent="0" algn="ctr" rtl="0">
              <a:spcBef>
                <a:spcPts val="0"/>
              </a:spcBef>
              <a:spcAft>
                <a:spcPts val="0"/>
              </a:spcAft>
              <a:buNone/>
            </a:pPr>
            <a:r>
              <a:rPr lang="vi-VN" sz="1200" b="0" i="1">
                <a:solidFill>
                  <a:srgbClr val="595959"/>
                </a:solidFill>
                <a:latin typeface="Times New Roman"/>
                <a:ea typeface="Times New Roman"/>
                <a:cs typeface="Times New Roman"/>
                <a:sym typeface="Times New Roman"/>
              </a:rPr>
              <a:t>Khối KHDN, Kế hoạch</a:t>
            </a:r>
            <a:endParaRPr/>
          </a:p>
        </p:txBody>
      </p:sp>
      <p:sp>
        <p:nvSpPr>
          <p:cNvPr id="317" name="Google Shape;317;p19"/>
          <p:cNvSpPr txBox="1"/>
          <p:nvPr/>
        </p:nvSpPr>
        <p:spPr>
          <a:xfrm>
            <a:off x="457200" y="3401568"/>
            <a:ext cx="2606040" cy="896112"/>
          </a:xfrm>
          <a:prstGeom prst="rect">
            <a:avLst/>
          </a:prstGeom>
          <a:noFill/>
          <a:ln>
            <a:noFill/>
          </a:ln>
        </p:spPr>
        <p:txBody>
          <a:bodyPr spcFirstLastPara="1" wrap="square" lIns="73150" tIns="36575" rIns="73150" bIns="36575" anchor="t" anchorCtr="0">
            <a:noAutofit/>
          </a:bodyPr>
          <a:lstStyle/>
          <a:p>
            <a:pPr marL="0" marR="0" lvl="0" indent="0" algn="ctr" rtl="0">
              <a:spcBef>
                <a:spcPts val="0"/>
              </a:spcBef>
              <a:spcAft>
                <a:spcPts val="0"/>
              </a:spcAft>
              <a:buNone/>
            </a:pPr>
            <a:r>
              <a:rPr lang="vi-VN" sz="1450">
                <a:solidFill>
                  <a:srgbClr val="222222"/>
                </a:solidFill>
                <a:latin typeface="Times New Roman"/>
                <a:ea typeface="Times New Roman"/>
                <a:cs typeface="Times New Roman"/>
                <a:sym typeface="Times New Roman"/>
              </a:rPr>
              <a:t>Theo dõi dư nợ, doanh thu và kết quả kinh doanh theo từng đơn vị, sản phẩm.</a:t>
            </a:r>
            <a:endParaRPr/>
          </a:p>
        </p:txBody>
      </p:sp>
      <p:sp>
        <p:nvSpPr>
          <p:cNvPr id="318" name="Google Shape;318;p19"/>
          <p:cNvSpPr/>
          <p:nvPr/>
        </p:nvSpPr>
        <p:spPr>
          <a:xfrm>
            <a:off x="3264408" y="1417320"/>
            <a:ext cx="2788920" cy="2926080"/>
          </a:xfrm>
          <a:prstGeom prst="roundRect">
            <a:avLst>
              <a:gd name="adj" fmla="val 6000"/>
            </a:avLst>
          </a:prstGeom>
          <a:solidFill>
            <a:srgbClr val="FFFFFF"/>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19"/>
          <p:cNvSpPr/>
          <p:nvPr/>
        </p:nvSpPr>
        <p:spPr>
          <a:xfrm>
            <a:off x="4270248" y="1527048"/>
            <a:ext cx="777240" cy="777240"/>
          </a:xfrm>
          <a:prstGeom prst="ellipse">
            <a:avLst/>
          </a:prstGeom>
          <a:solidFill>
            <a:srgbClr val="C55A11"/>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20" name="Google Shape;320;p19" descr="FaExclamationTriangle_w.png"/>
          <p:cNvPicPr preferRelativeResize="0"/>
          <p:nvPr/>
        </p:nvPicPr>
        <p:blipFill rotWithShape="1">
          <a:blip r:embed="rId5">
            <a:alphaModFix/>
          </a:blip>
          <a:srcRect/>
          <a:stretch/>
        </p:blipFill>
        <p:spPr>
          <a:xfrm>
            <a:off x="4453128" y="1709928"/>
            <a:ext cx="411480" cy="411480"/>
          </a:xfrm>
          <a:prstGeom prst="rect">
            <a:avLst/>
          </a:prstGeom>
          <a:noFill/>
          <a:ln>
            <a:noFill/>
          </a:ln>
        </p:spPr>
      </p:pic>
      <p:sp>
        <p:nvSpPr>
          <p:cNvPr id="321" name="Google Shape;321;p19"/>
          <p:cNvSpPr txBox="1"/>
          <p:nvPr/>
        </p:nvSpPr>
        <p:spPr>
          <a:xfrm>
            <a:off x="3337560" y="2359152"/>
            <a:ext cx="2642616" cy="6400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50" b="1" i="0">
                <a:solidFill>
                  <a:srgbClr val="C55A11"/>
                </a:solidFill>
                <a:latin typeface="Times New Roman"/>
                <a:ea typeface="Times New Roman"/>
                <a:cs typeface="Times New Roman"/>
                <a:sym typeface="Times New Roman"/>
              </a:rPr>
              <a:t>Phân tích danh mục / Rủi ro tín dụng</a:t>
            </a:r>
            <a:endParaRPr/>
          </a:p>
        </p:txBody>
      </p:sp>
      <p:sp>
        <p:nvSpPr>
          <p:cNvPr id="322" name="Google Shape;322;p19"/>
          <p:cNvSpPr/>
          <p:nvPr/>
        </p:nvSpPr>
        <p:spPr>
          <a:xfrm>
            <a:off x="3584448" y="3017520"/>
            <a:ext cx="2148840" cy="310896"/>
          </a:xfrm>
          <a:prstGeom prst="roundRect">
            <a:avLst>
              <a:gd name="adj" fmla="val 40000"/>
            </a:avLst>
          </a:prstGeom>
          <a:solidFill>
            <a:srgbClr val="F2F2F2"/>
          </a:solidFill>
          <a:ln>
            <a:noFill/>
          </a:ln>
        </p:spPr>
        <p:txBody>
          <a:bodyPr spcFirstLastPara="1" wrap="square" lIns="27425" tIns="0" rIns="27425" bIns="0" anchor="ctr" anchorCtr="0">
            <a:noAutofit/>
          </a:bodyPr>
          <a:lstStyle/>
          <a:p>
            <a:pPr marL="0" marR="0" lvl="0" indent="0" algn="ctr" rtl="0">
              <a:spcBef>
                <a:spcPts val="0"/>
              </a:spcBef>
              <a:spcAft>
                <a:spcPts val="0"/>
              </a:spcAft>
              <a:buNone/>
            </a:pPr>
            <a:r>
              <a:rPr lang="vi-VN" sz="1200" b="0" i="1">
                <a:solidFill>
                  <a:srgbClr val="595959"/>
                </a:solidFill>
                <a:latin typeface="Times New Roman"/>
                <a:ea typeface="Times New Roman"/>
                <a:cs typeface="Times New Roman"/>
                <a:sym typeface="Times New Roman"/>
              </a:rPr>
              <a:t>Quản lý rủi ro</a:t>
            </a:r>
            <a:endParaRPr/>
          </a:p>
        </p:txBody>
      </p:sp>
      <p:sp>
        <p:nvSpPr>
          <p:cNvPr id="323" name="Google Shape;323;p19"/>
          <p:cNvSpPr txBox="1"/>
          <p:nvPr/>
        </p:nvSpPr>
        <p:spPr>
          <a:xfrm>
            <a:off x="3355848" y="3401568"/>
            <a:ext cx="2606040" cy="896112"/>
          </a:xfrm>
          <a:prstGeom prst="rect">
            <a:avLst/>
          </a:prstGeom>
          <a:noFill/>
          <a:ln>
            <a:noFill/>
          </a:ln>
        </p:spPr>
        <p:txBody>
          <a:bodyPr spcFirstLastPara="1" wrap="square" lIns="73150" tIns="36575" rIns="73150" bIns="36575" anchor="t" anchorCtr="0">
            <a:noAutofit/>
          </a:bodyPr>
          <a:lstStyle/>
          <a:p>
            <a:pPr marL="0" marR="0" lvl="0" indent="0" algn="ctr" rtl="0">
              <a:spcBef>
                <a:spcPts val="0"/>
              </a:spcBef>
              <a:spcAft>
                <a:spcPts val="0"/>
              </a:spcAft>
              <a:buNone/>
            </a:pPr>
            <a:r>
              <a:rPr lang="vi-VN" sz="1450">
                <a:solidFill>
                  <a:srgbClr val="222222"/>
                </a:solidFill>
                <a:latin typeface="Times New Roman"/>
                <a:ea typeface="Times New Roman"/>
                <a:cs typeface="Times New Roman"/>
                <a:sym typeface="Times New Roman"/>
              </a:rPr>
              <a:t>Theo dõi nợ quá hạn, nợ xấu và phát hiện sớm các khoản vay có dấu hiệu rủi ro. </a:t>
            </a:r>
            <a:endParaRPr/>
          </a:p>
        </p:txBody>
      </p:sp>
      <p:sp>
        <p:nvSpPr>
          <p:cNvPr id="324" name="Google Shape;324;p19"/>
          <p:cNvSpPr/>
          <p:nvPr/>
        </p:nvSpPr>
        <p:spPr>
          <a:xfrm>
            <a:off x="6163056" y="1417320"/>
            <a:ext cx="2788920" cy="2926080"/>
          </a:xfrm>
          <a:prstGeom prst="roundRect">
            <a:avLst>
              <a:gd name="adj" fmla="val 6000"/>
            </a:avLst>
          </a:prstGeom>
          <a:solidFill>
            <a:srgbClr val="FFFFFF"/>
          </a:solidFill>
          <a:ln w="19050" cap="flat" cmpd="sng">
            <a:solidFill>
              <a:srgbClr val="123A7A"/>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19"/>
          <p:cNvSpPr/>
          <p:nvPr/>
        </p:nvSpPr>
        <p:spPr>
          <a:xfrm>
            <a:off x="7168896" y="1527048"/>
            <a:ext cx="777240" cy="777240"/>
          </a:xfrm>
          <a:prstGeom prst="ellipse">
            <a:avLst/>
          </a:prstGeom>
          <a:solidFill>
            <a:srgbClr val="123A7A"/>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26" name="Google Shape;326;p19" descr="FaCalculator_w.png"/>
          <p:cNvPicPr preferRelativeResize="0"/>
          <p:nvPr/>
        </p:nvPicPr>
        <p:blipFill rotWithShape="1">
          <a:blip r:embed="rId6">
            <a:alphaModFix/>
          </a:blip>
          <a:srcRect/>
          <a:stretch/>
        </p:blipFill>
        <p:spPr>
          <a:xfrm>
            <a:off x="7351775" y="1709928"/>
            <a:ext cx="411480" cy="411480"/>
          </a:xfrm>
          <a:prstGeom prst="rect">
            <a:avLst/>
          </a:prstGeom>
          <a:noFill/>
          <a:ln>
            <a:noFill/>
          </a:ln>
        </p:spPr>
      </p:pic>
      <p:sp>
        <p:nvSpPr>
          <p:cNvPr id="327" name="Google Shape;327;p19"/>
          <p:cNvSpPr txBox="1"/>
          <p:nvPr/>
        </p:nvSpPr>
        <p:spPr>
          <a:xfrm>
            <a:off x="6236208" y="2359152"/>
            <a:ext cx="2642616" cy="6400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50" b="1" i="0">
                <a:solidFill>
                  <a:srgbClr val="123A7A"/>
                </a:solidFill>
                <a:latin typeface="Times New Roman"/>
                <a:ea typeface="Times New Roman"/>
                <a:cs typeface="Times New Roman"/>
                <a:sym typeface="Times New Roman"/>
              </a:rPr>
              <a:t>Chuyên viên mô hình rủi ro</a:t>
            </a:r>
            <a:endParaRPr/>
          </a:p>
        </p:txBody>
      </p:sp>
      <p:sp>
        <p:nvSpPr>
          <p:cNvPr id="328" name="Google Shape;328;p19"/>
          <p:cNvSpPr/>
          <p:nvPr/>
        </p:nvSpPr>
        <p:spPr>
          <a:xfrm>
            <a:off x="6483096" y="3017520"/>
            <a:ext cx="2148840" cy="310896"/>
          </a:xfrm>
          <a:prstGeom prst="roundRect">
            <a:avLst>
              <a:gd name="adj" fmla="val 40000"/>
            </a:avLst>
          </a:prstGeom>
          <a:solidFill>
            <a:srgbClr val="F2F2F2"/>
          </a:solidFill>
          <a:ln>
            <a:noFill/>
          </a:ln>
        </p:spPr>
        <p:txBody>
          <a:bodyPr spcFirstLastPara="1" wrap="square" lIns="27425" tIns="0" rIns="27425" bIns="0" anchor="ctr" anchorCtr="0">
            <a:noAutofit/>
          </a:bodyPr>
          <a:lstStyle/>
          <a:p>
            <a:pPr marL="0" marR="0" lvl="0" indent="0" algn="ctr" rtl="0">
              <a:spcBef>
                <a:spcPts val="0"/>
              </a:spcBef>
              <a:spcAft>
                <a:spcPts val="0"/>
              </a:spcAft>
              <a:buNone/>
            </a:pPr>
            <a:r>
              <a:rPr lang="vi-VN" sz="1200" b="0" i="1">
                <a:solidFill>
                  <a:srgbClr val="595959"/>
                </a:solidFill>
                <a:latin typeface="Times New Roman"/>
                <a:ea typeface="Times New Roman"/>
                <a:cs typeface="Times New Roman"/>
                <a:sym typeface="Times New Roman"/>
              </a:rPr>
              <a:t>Quản lý rủi ro</a:t>
            </a:r>
            <a:endParaRPr/>
          </a:p>
        </p:txBody>
      </p:sp>
      <p:sp>
        <p:nvSpPr>
          <p:cNvPr id="329" name="Google Shape;329;p19"/>
          <p:cNvSpPr txBox="1"/>
          <p:nvPr/>
        </p:nvSpPr>
        <p:spPr>
          <a:xfrm>
            <a:off x="6254496" y="3401568"/>
            <a:ext cx="2606040" cy="896112"/>
          </a:xfrm>
          <a:prstGeom prst="rect">
            <a:avLst/>
          </a:prstGeom>
          <a:noFill/>
          <a:ln>
            <a:noFill/>
          </a:ln>
        </p:spPr>
        <p:txBody>
          <a:bodyPr spcFirstLastPara="1" wrap="square" lIns="73150" tIns="36575" rIns="73150" bIns="36575" anchor="t" anchorCtr="0">
            <a:noAutofit/>
          </a:bodyPr>
          <a:lstStyle/>
          <a:p>
            <a:pPr marL="0" marR="0" lvl="0" indent="0" algn="ctr" rtl="0">
              <a:spcBef>
                <a:spcPts val="0"/>
              </a:spcBef>
              <a:spcAft>
                <a:spcPts val="0"/>
              </a:spcAft>
              <a:buNone/>
            </a:pPr>
            <a:r>
              <a:rPr lang="vi-VN" sz="1450">
                <a:solidFill>
                  <a:srgbClr val="222222"/>
                </a:solidFill>
                <a:latin typeface="Times New Roman"/>
                <a:ea typeface="Times New Roman"/>
                <a:cs typeface="Times New Roman"/>
                <a:sym typeface="Times New Roman"/>
              </a:rPr>
              <a:t>Xây dựng và đánh giá mô hình dự báo khả năng khách hàng không trả được nợ. </a:t>
            </a:r>
            <a:endParaRPr/>
          </a:p>
        </p:txBody>
      </p:sp>
      <p:sp>
        <p:nvSpPr>
          <p:cNvPr id="330" name="Google Shape;330;p19"/>
          <p:cNvSpPr/>
          <p:nvPr/>
        </p:nvSpPr>
        <p:spPr>
          <a:xfrm>
            <a:off x="9061704" y="1417320"/>
            <a:ext cx="2788920" cy="2926080"/>
          </a:xfrm>
          <a:prstGeom prst="roundRect">
            <a:avLst>
              <a:gd name="adj" fmla="val 6000"/>
            </a:avLst>
          </a:prstGeom>
          <a:solidFill>
            <a:srgbClr val="FFFFFF"/>
          </a:solidFill>
          <a:ln w="19050" cap="flat" cmpd="sng">
            <a:solidFill>
              <a:srgbClr val="1B7F6E"/>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19"/>
          <p:cNvSpPr/>
          <p:nvPr/>
        </p:nvSpPr>
        <p:spPr>
          <a:xfrm>
            <a:off x="10067544" y="1527048"/>
            <a:ext cx="777240" cy="777240"/>
          </a:xfrm>
          <a:prstGeom prst="ellipse">
            <a:avLst/>
          </a:prstGeom>
          <a:solidFill>
            <a:srgbClr val="1B7F6E"/>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32" name="Google Shape;332;p19" descr="FaDatabase_w.png"/>
          <p:cNvPicPr preferRelativeResize="0"/>
          <p:nvPr/>
        </p:nvPicPr>
        <p:blipFill rotWithShape="1">
          <a:blip r:embed="rId7">
            <a:alphaModFix/>
          </a:blip>
          <a:srcRect/>
          <a:stretch/>
        </p:blipFill>
        <p:spPr>
          <a:xfrm>
            <a:off x="10250424" y="1709928"/>
            <a:ext cx="411480" cy="411480"/>
          </a:xfrm>
          <a:prstGeom prst="rect">
            <a:avLst/>
          </a:prstGeom>
          <a:noFill/>
          <a:ln>
            <a:noFill/>
          </a:ln>
        </p:spPr>
      </p:pic>
      <p:sp>
        <p:nvSpPr>
          <p:cNvPr id="333" name="Google Shape;333;p19"/>
          <p:cNvSpPr txBox="1"/>
          <p:nvPr/>
        </p:nvSpPr>
        <p:spPr>
          <a:xfrm>
            <a:off x="9134856" y="2359152"/>
            <a:ext cx="2642616" cy="640080"/>
          </a:xfrm>
          <a:prstGeom prst="rect">
            <a:avLst/>
          </a:prstGeom>
          <a:no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50" b="1" i="0">
                <a:solidFill>
                  <a:srgbClr val="1B7F6E"/>
                </a:solidFill>
                <a:latin typeface="Times New Roman"/>
                <a:ea typeface="Times New Roman"/>
                <a:cs typeface="Times New Roman"/>
                <a:sym typeface="Times New Roman"/>
              </a:rPr>
              <a:t>Data Analyst / BI Developer</a:t>
            </a:r>
            <a:endParaRPr/>
          </a:p>
        </p:txBody>
      </p:sp>
      <p:sp>
        <p:nvSpPr>
          <p:cNvPr id="334" name="Google Shape;334;p19"/>
          <p:cNvSpPr/>
          <p:nvPr/>
        </p:nvSpPr>
        <p:spPr>
          <a:xfrm>
            <a:off x="9381744" y="3017520"/>
            <a:ext cx="2148840" cy="310896"/>
          </a:xfrm>
          <a:prstGeom prst="roundRect">
            <a:avLst>
              <a:gd name="adj" fmla="val 40000"/>
            </a:avLst>
          </a:prstGeom>
          <a:solidFill>
            <a:srgbClr val="F2F2F2"/>
          </a:solidFill>
          <a:ln>
            <a:noFill/>
          </a:ln>
        </p:spPr>
        <p:txBody>
          <a:bodyPr spcFirstLastPara="1" wrap="square" lIns="27425" tIns="0" rIns="27425" bIns="0" anchor="ctr" anchorCtr="0">
            <a:noAutofit/>
          </a:bodyPr>
          <a:lstStyle/>
          <a:p>
            <a:pPr marL="0" marR="0" lvl="0" indent="0" algn="ctr" rtl="0">
              <a:spcBef>
                <a:spcPts val="0"/>
              </a:spcBef>
              <a:spcAft>
                <a:spcPts val="0"/>
              </a:spcAft>
              <a:buNone/>
            </a:pPr>
            <a:r>
              <a:rPr lang="vi-VN" sz="1200" b="0" i="1">
                <a:solidFill>
                  <a:srgbClr val="595959"/>
                </a:solidFill>
                <a:latin typeface="Times New Roman"/>
                <a:ea typeface="Times New Roman"/>
                <a:cs typeface="Times New Roman"/>
                <a:sym typeface="Times New Roman"/>
              </a:rPr>
              <a:t>Khối Dữ liệu, CNTT</a:t>
            </a:r>
            <a:endParaRPr/>
          </a:p>
        </p:txBody>
      </p:sp>
      <p:sp>
        <p:nvSpPr>
          <p:cNvPr id="335" name="Google Shape;335;p19"/>
          <p:cNvSpPr txBox="1"/>
          <p:nvPr/>
        </p:nvSpPr>
        <p:spPr>
          <a:xfrm>
            <a:off x="9153144" y="3401568"/>
            <a:ext cx="2606040" cy="896112"/>
          </a:xfrm>
          <a:prstGeom prst="rect">
            <a:avLst/>
          </a:prstGeom>
          <a:noFill/>
          <a:ln>
            <a:noFill/>
          </a:ln>
        </p:spPr>
        <p:txBody>
          <a:bodyPr spcFirstLastPara="1" wrap="square" lIns="73150" tIns="36575" rIns="73150" bIns="36575" anchor="t" anchorCtr="0">
            <a:noAutofit/>
          </a:bodyPr>
          <a:lstStyle/>
          <a:p>
            <a:pPr marL="0" marR="0" lvl="0" indent="0" algn="ctr" rtl="0">
              <a:spcBef>
                <a:spcPts val="0"/>
              </a:spcBef>
              <a:spcAft>
                <a:spcPts val="0"/>
              </a:spcAft>
              <a:buNone/>
            </a:pPr>
            <a:r>
              <a:rPr lang="vi-VN" sz="1450">
                <a:solidFill>
                  <a:srgbClr val="222222"/>
                </a:solidFill>
                <a:latin typeface="Times New Roman"/>
                <a:ea typeface="Times New Roman"/>
                <a:cs typeface="Times New Roman"/>
                <a:sym typeface="Times New Roman"/>
              </a:rPr>
              <a:t>Xử lý dữ liệu, xây dựng báo cáo và dashboard, tự động hóa việc cập nhật số liệu. </a:t>
            </a:r>
            <a:endParaRPr/>
          </a:p>
        </p:txBody>
      </p:sp>
      <p:sp>
        <p:nvSpPr>
          <p:cNvPr id="336" name="Google Shape;336;p19"/>
          <p:cNvSpPr/>
          <p:nvPr/>
        </p:nvSpPr>
        <p:spPr>
          <a:xfrm>
            <a:off x="365760" y="4526280"/>
            <a:ext cx="3291840" cy="365760"/>
          </a:xfrm>
          <a:prstGeom prst="roundRect">
            <a:avLst>
              <a:gd name="adj" fmla="val 15000"/>
            </a:avLst>
          </a:prstGeom>
          <a:solidFill>
            <a:srgbClr val="1A365D"/>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00" b="1" i="0">
                <a:solidFill>
                  <a:srgbClr val="FFFFFF"/>
                </a:solidFill>
                <a:latin typeface="Times New Roman"/>
                <a:ea typeface="Times New Roman"/>
                <a:cs typeface="Times New Roman"/>
                <a:sym typeface="Times New Roman"/>
              </a:rPr>
              <a:t>Một ngày làm việc điển hình</a:t>
            </a:r>
            <a:endParaRPr/>
          </a:p>
        </p:txBody>
      </p:sp>
      <p:sp>
        <p:nvSpPr>
          <p:cNvPr id="337" name="Google Shape;337;p19"/>
          <p:cNvSpPr/>
          <p:nvPr/>
        </p:nvSpPr>
        <p:spPr>
          <a:xfrm>
            <a:off x="365760" y="4956048"/>
            <a:ext cx="2240280" cy="1033271"/>
          </a:xfrm>
          <a:prstGeom prst="homePlate">
            <a:avLst>
              <a:gd name="adj" fmla="val 28000"/>
            </a:avLst>
          </a:prstGeom>
          <a:solidFill>
            <a:srgbClr val="E2F0D9"/>
          </a:solidFill>
          <a:ln>
            <a:noFill/>
          </a:ln>
        </p:spPr>
        <p:txBody>
          <a:bodyPr spcFirstLastPara="1" wrap="square" lIns="109725" tIns="18275" rIns="292600" bIns="18275" anchor="ctr" anchorCtr="0">
            <a:noAutofit/>
          </a:bodyPr>
          <a:lstStyle/>
          <a:p>
            <a:pPr marL="0" marR="0" lvl="0" indent="0" algn="ctr" rtl="0">
              <a:spcBef>
                <a:spcPts val="0"/>
              </a:spcBef>
              <a:spcAft>
                <a:spcPts val="0"/>
              </a:spcAft>
              <a:buNone/>
            </a:pPr>
            <a:endParaRPr sz="1250">
              <a:solidFill>
                <a:srgbClr val="222222"/>
              </a:solidFill>
              <a:latin typeface="Times New Roman"/>
              <a:ea typeface="Times New Roman"/>
              <a:cs typeface="Times New Roman"/>
              <a:sym typeface="Times New Roman"/>
            </a:endParaRPr>
          </a:p>
          <a:p>
            <a:pPr marL="0" marR="0" lvl="0" indent="0" algn="ctr" rtl="0">
              <a:spcBef>
                <a:spcPts val="0"/>
              </a:spcBef>
              <a:spcAft>
                <a:spcPts val="0"/>
              </a:spcAft>
              <a:buNone/>
            </a:pPr>
            <a:r>
              <a:rPr lang="vi-VN" sz="1250" b="0" i="0">
                <a:solidFill>
                  <a:srgbClr val="222222"/>
                </a:solidFill>
                <a:latin typeface="Times New Roman"/>
                <a:ea typeface="Times New Roman"/>
                <a:cs typeface="Times New Roman"/>
                <a:sym typeface="Times New Roman"/>
              </a:rPr>
              <a:t>Dữ liệu chốt ngày được cập nhật</a:t>
            </a:r>
            <a:endParaRPr/>
          </a:p>
        </p:txBody>
      </p:sp>
      <p:sp>
        <p:nvSpPr>
          <p:cNvPr id="338" name="Google Shape;338;p19"/>
          <p:cNvSpPr/>
          <p:nvPr/>
        </p:nvSpPr>
        <p:spPr>
          <a:xfrm>
            <a:off x="2651760" y="4956048"/>
            <a:ext cx="2240280" cy="1033271"/>
          </a:xfrm>
          <a:prstGeom prst="homePlate">
            <a:avLst>
              <a:gd name="adj" fmla="val 28000"/>
            </a:avLst>
          </a:prstGeom>
          <a:solidFill>
            <a:srgbClr val="E2F0D9"/>
          </a:solidFill>
          <a:ln>
            <a:noFill/>
          </a:ln>
        </p:spPr>
        <p:txBody>
          <a:bodyPr spcFirstLastPara="1" wrap="square" lIns="109725" tIns="18275" rIns="292600" bIns="18275" anchor="ctr" anchorCtr="0">
            <a:noAutofit/>
          </a:bodyPr>
          <a:lstStyle/>
          <a:p>
            <a:pPr marL="0" marR="0" lvl="0" indent="0" algn="ctr" rtl="0">
              <a:spcBef>
                <a:spcPts val="0"/>
              </a:spcBef>
              <a:spcAft>
                <a:spcPts val="0"/>
              </a:spcAft>
              <a:buNone/>
            </a:pPr>
            <a:r>
              <a:rPr lang="vi-VN" sz="1250" b="0" i="0">
                <a:solidFill>
                  <a:srgbClr val="222222"/>
                </a:solidFill>
                <a:latin typeface="Times New Roman"/>
                <a:ea typeface="Times New Roman"/>
                <a:cs typeface="Times New Roman"/>
                <a:sym typeface="Times New Roman"/>
              </a:rPr>
              <a:t>Đối chiếu số liệu với core banking</a:t>
            </a:r>
            <a:endParaRPr/>
          </a:p>
        </p:txBody>
      </p:sp>
      <p:sp>
        <p:nvSpPr>
          <p:cNvPr id="339" name="Google Shape;339;p19"/>
          <p:cNvSpPr/>
          <p:nvPr/>
        </p:nvSpPr>
        <p:spPr>
          <a:xfrm>
            <a:off x="4937760" y="4956048"/>
            <a:ext cx="2240280" cy="1033271"/>
          </a:xfrm>
          <a:prstGeom prst="homePlate">
            <a:avLst>
              <a:gd name="adj" fmla="val 28000"/>
            </a:avLst>
          </a:prstGeom>
          <a:solidFill>
            <a:srgbClr val="E2F0D9"/>
          </a:solidFill>
          <a:ln>
            <a:noFill/>
          </a:ln>
        </p:spPr>
        <p:txBody>
          <a:bodyPr spcFirstLastPara="1" wrap="square" lIns="109725" tIns="18275" rIns="292600" bIns="18275" anchor="ctr" anchorCtr="0">
            <a:noAutofit/>
          </a:bodyPr>
          <a:lstStyle/>
          <a:p>
            <a:pPr marL="0" marR="0" lvl="0" indent="0" algn="ctr" rtl="0">
              <a:spcBef>
                <a:spcPts val="0"/>
              </a:spcBef>
              <a:spcAft>
                <a:spcPts val="0"/>
              </a:spcAft>
              <a:buNone/>
            </a:pPr>
            <a:r>
              <a:rPr lang="vi-VN" sz="1250" b="0" i="0">
                <a:solidFill>
                  <a:srgbClr val="222222"/>
                </a:solidFill>
                <a:latin typeface="Times New Roman"/>
                <a:ea typeface="Times New Roman"/>
                <a:cs typeface="Times New Roman"/>
                <a:sym typeface="Times New Roman"/>
              </a:rPr>
              <a:t>Refresh dashboard</a:t>
            </a:r>
            <a:endParaRPr/>
          </a:p>
        </p:txBody>
      </p:sp>
      <p:sp>
        <p:nvSpPr>
          <p:cNvPr id="340" name="Google Shape;340;p19"/>
          <p:cNvSpPr/>
          <p:nvPr/>
        </p:nvSpPr>
        <p:spPr>
          <a:xfrm>
            <a:off x="7223760" y="4956048"/>
            <a:ext cx="2240280" cy="1033271"/>
          </a:xfrm>
          <a:prstGeom prst="homePlate">
            <a:avLst>
              <a:gd name="adj" fmla="val 28000"/>
            </a:avLst>
          </a:prstGeom>
          <a:solidFill>
            <a:srgbClr val="E2F0D9"/>
          </a:solidFill>
          <a:ln>
            <a:noFill/>
          </a:ln>
        </p:spPr>
        <p:txBody>
          <a:bodyPr spcFirstLastPara="1" wrap="square" lIns="109725" tIns="18275" rIns="292600" bIns="18275" anchor="ctr" anchorCtr="0">
            <a:noAutofit/>
          </a:bodyPr>
          <a:lstStyle/>
          <a:p>
            <a:pPr marL="0" marR="0" lvl="0" indent="0" algn="ctr" rtl="0">
              <a:spcBef>
                <a:spcPts val="0"/>
              </a:spcBef>
              <a:spcAft>
                <a:spcPts val="0"/>
              </a:spcAft>
              <a:buNone/>
            </a:pPr>
            <a:r>
              <a:rPr lang="vi-VN" sz="1250" b="0" i="0">
                <a:solidFill>
                  <a:srgbClr val="222222"/>
                </a:solidFill>
                <a:latin typeface="Times New Roman"/>
                <a:ea typeface="Times New Roman"/>
                <a:cs typeface="Times New Roman"/>
                <a:sym typeface="Times New Roman"/>
              </a:rPr>
              <a:t>Tổng hợp 3–5 nhận định chính gửi lãnh đạo trước giao ban</a:t>
            </a:r>
            <a:endParaRPr/>
          </a:p>
        </p:txBody>
      </p:sp>
      <p:sp>
        <p:nvSpPr>
          <p:cNvPr id="341" name="Google Shape;341;p19"/>
          <p:cNvSpPr/>
          <p:nvPr/>
        </p:nvSpPr>
        <p:spPr>
          <a:xfrm>
            <a:off x="9509760" y="4956048"/>
            <a:ext cx="2240280" cy="1033271"/>
          </a:xfrm>
          <a:prstGeom prst="homePlate">
            <a:avLst>
              <a:gd name="adj" fmla="val 28000"/>
            </a:avLst>
          </a:prstGeom>
          <a:solidFill>
            <a:srgbClr val="FBE5D6"/>
          </a:solidFill>
          <a:ln>
            <a:noFill/>
          </a:ln>
        </p:spPr>
        <p:txBody>
          <a:bodyPr spcFirstLastPara="1" wrap="square" lIns="109725" tIns="18275" rIns="292600" bIns="18275" anchor="ctr" anchorCtr="0">
            <a:noAutofit/>
          </a:bodyPr>
          <a:lstStyle/>
          <a:p>
            <a:pPr marL="0" marR="0" lvl="0" indent="0" algn="ctr" rtl="0">
              <a:spcBef>
                <a:spcPts val="0"/>
              </a:spcBef>
              <a:spcAft>
                <a:spcPts val="0"/>
              </a:spcAft>
              <a:buNone/>
            </a:pPr>
            <a:r>
              <a:rPr lang="vi-VN" sz="1250" b="0" i="0">
                <a:solidFill>
                  <a:srgbClr val="222222"/>
                </a:solidFill>
                <a:latin typeface="Times New Roman"/>
                <a:ea typeface="Times New Roman"/>
                <a:cs typeface="Times New Roman"/>
                <a:sym typeface="Times New Roman"/>
              </a:rPr>
              <a:t>Trả lời câu hỏi phát sinh, VD: “Vì sao dư nợ ĐVKD X giảm?”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0"/>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348" name="Google Shape;348;p20"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349" name="Google Shape;349;p20"/>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8</a:t>
            </a:fld>
            <a:endParaRPr sz="1800">
              <a:solidFill>
                <a:srgbClr val="0C0C0C"/>
              </a:solidFill>
              <a:latin typeface="Algerian"/>
              <a:ea typeface="Algerian"/>
              <a:cs typeface="Algerian"/>
              <a:sym typeface="Algerian"/>
            </a:endParaRPr>
          </a:p>
        </p:txBody>
      </p:sp>
      <p:sp>
        <p:nvSpPr>
          <p:cNvPr id="350" name="Google Shape;350;p20"/>
          <p:cNvSpPr txBox="1"/>
          <p:nvPr/>
        </p:nvSpPr>
        <p:spPr>
          <a:xfrm>
            <a:off x="45720" y="896112"/>
            <a:ext cx="10058400" cy="402336"/>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vi-VN" sz="1500" b="1" i="0">
                <a:solidFill>
                  <a:srgbClr val="0070C0"/>
                </a:solidFill>
                <a:latin typeface="Times New Roman"/>
                <a:ea typeface="Times New Roman"/>
                <a:cs typeface="Times New Roman"/>
                <a:sym typeface="Times New Roman"/>
              </a:rPr>
              <a:t>Giải mã JD: từ yêu cầu tuyển dụng đến đầu việc thực tế</a:t>
            </a:r>
            <a:endParaRPr/>
          </a:p>
        </p:txBody>
      </p:sp>
      <p:sp>
        <p:nvSpPr>
          <p:cNvPr id="351" name="Google Shape;351;p20"/>
          <p:cNvSpPr/>
          <p:nvPr/>
        </p:nvSpPr>
        <p:spPr>
          <a:xfrm>
            <a:off x="347472" y="6144768"/>
            <a:ext cx="11475720" cy="4572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0" i="0">
                <a:solidFill>
                  <a:srgbClr val="000000"/>
                </a:solidFill>
                <a:latin typeface="Times New Roman"/>
                <a:ea typeface="Times New Roman"/>
                <a:cs typeface="Times New Roman"/>
                <a:sym typeface="Times New Roman"/>
              </a:rPr>
              <a:t>Mỗi yêu cầu trong JD quy về </a:t>
            </a:r>
            <a:r>
              <a:rPr lang="vi-VN" sz="1800" b="1" i="0">
                <a:solidFill>
                  <a:srgbClr val="123A7A"/>
                </a:solidFill>
                <a:latin typeface="Times New Roman"/>
                <a:ea typeface="Times New Roman"/>
                <a:cs typeface="Times New Roman"/>
                <a:sym typeface="Times New Roman"/>
              </a:rPr>
              <a:t>một đầu việc phân tích cụ thể</a:t>
            </a:r>
            <a:endParaRPr/>
          </a:p>
        </p:txBody>
      </p:sp>
      <p:sp>
        <p:nvSpPr>
          <p:cNvPr id="352" name="Google Shape;352;p20"/>
          <p:cNvSpPr/>
          <p:nvPr/>
        </p:nvSpPr>
        <p:spPr>
          <a:xfrm>
            <a:off x="365760" y="1371600"/>
            <a:ext cx="4206240" cy="411480"/>
          </a:xfrm>
          <a:prstGeom prst="roundRect">
            <a:avLst>
              <a:gd name="adj" fmla="val 15000"/>
            </a:avLst>
          </a:prstGeom>
          <a:solidFill>
            <a:srgbClr val="1A365D"/>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00" b="1" i="0">
                <a:solidFill>
                  <a:srgbClr val="FFFFFF"/>
                </a:solidFill>
                <a:latin typeface="Times New Roman"/>
                <a:ea typeface="Times New Roman"/>
                <a:cs typeface="Times New Roman"/>
                <a:sym typeface="Times New Roman"/>
              </a:rPr>
              <a:t>Yêu cầu trong JD (ẩn tên ngân hàng)</a:t>
            </a:r>
            <a:endParaRPr/>
          </a:p>
        </p:txBody>
      </p:sp>
      <p:sp>
        <p:nvSpPr>
          <p:cNvPr id="353" name="Google Shape;353;p20"/>
          <p:cNvSpPr/>
          <p:nvPr/>
        </p:nvSpPr>
        <p:spPr>
          <a:xfrm>
            <a:off x="5166360" y="1371600"/>
            <a:ext cx="6656832" cy="411480"/>
          </a:xfrm>
          <a:prstGeom prst="roundRect">
            <a:avLst>
              <a:gd name="adj" fmla="val 15000"/>
            </a:avLst>
          </a:prstGeom>
          <a:solidFill>
            <a:srgbClr val="2E5B3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400" b="1" i="0">
                <a:solidFill>
                  <a:srgbClr val="FFFFFF"/>
                </a:solidFill>
                <a:latin typeface="Times New Roman"/>
                <a:ea typeface="Times New Roman"/>
                <a:cs typeface="Times New Roman"/>
                <a:sym typeface="Times New Roman"/>
              </a:rPr>
              <a:t>Đầu việc cụ thể</a:t>
            </a:r>
            <a:endParaRPr/>
          </a:p>
        </p:txBody>
      </p:sp>
      <p:sp>
        <p:nvSpPr>
          <p:cNvPr id="354" name="Google Shape;354;p20"/>
          <p:cNvSpPr/>
          <p:nvPr/>
        </p:nvSpPr>
        <p:spPr>
          <a:xfrm>
            <a:off x="365760" y="1856231"/>
            <a:ext cx="4206240" cy="768096"/>
          </a:xfrm>
          <a:prstGeom prst="roundRect">
            <a:avLst>
              <a:gd name="adj" fmla="val 12000"/>
            </a:avLst>
          </a:prstGeom>
          <a:solidFill>
            <a:srgbClr val="F2F2F2"/>
          </a:solidFill>
          <a:ln w="12700" cap="flat" cmpd="sng">
            <a:solidFill>
              <a:srgbClr val="595959"/>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1">
                <a:solidFill>
                  <a:srgbClr val="222222"/>
                </a:solidFill>
                <a:latin typeface="Times New Roman"/>
                <a:ea typeface="Times New Roman"/>
                <a:cs typeface="Times New Roman"/>
                <a:sym typeface="Times New Roman"/>
              </a:rPr>
              <a:t>“Xây dựng hệ thống báo cáo quản trị định kỳ”</a:t>
            </a:r>
            <a:endParaRPr/>
          </a:p>
        </p:txBody>
      </p:sp>
      <p:sp>
        <p:nvSpPr>
          <p:cNvPr id="355" name="Google Shape;355;p20"/>
          <p:cNvSpPr/>
          <p:nvPr/>
        </p:nvSpPr>
        <p:spPr>
          <a:xfrm>
            <a:off x="4617720" y="2011679"/>
            <a:ext cx="457200" cy="457200"/>
          </a:xfrm>
          <a:prstGeom prst="rightArrow">
            <a:avLst>
              <a:gd name="adj1" fmla="val 50000"/>
              <a:gd name="adj2" fmla="val 5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6" name="Google Shape;356;p20"/>
          <p:cNvSpPr/>
          <p:nvPr/>
        </p:nvSpPr>
        <p:spPr>
          <a:xfrm>
            <a:off x="5166360" y="1856231"/>
            <a:ext cx="6656832" cy="768096"/>
          </a:xfrm>
          <a:prstGeom prst="roundRect">
            <a:avLst>
              <a:gd name="adj" fmla="val 12000"/>
            </a:avLst>
          </a:prstGeom>
          <a:solidFill>
            <a:srgbClr val="E2F0D9"/>
          </a:solidFill>
          <a:ln w="12700" cap="flat" cmpd="sng">
            <a:solidFill>
              <a:srgbClr val="2E5B31"/>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0">
                <a:solidFill>
                  <a:srgbClr val="222222"/>
                </a:solidFill>
                <a:latin typeface="Times New Roman"/>
                <a:ea typeface="Times New Roman"/>
                <a:cs typeface="Times New Roman"/>
                <a:sym typeface="Times New Roman"/>
              </a:rPr>
              <a:t>Báo cáo dư nợ, NII theo ngày / tuần / tháng cho lãnh đạo khối → </a:t>
            </a:r>
            <a:r>
              <a:rPr lang="vi-VN" sz="1400" b="1" i="0">
                <a:solidFill>
                  <a:srgbClr val="222222"/>
                </a:solidFill>
                <a:latin typeface="Times New Roman"/>
                <a:ea typeface="Times New Roman"/>
                <a:cs typeface="Times New Roman"/>
                <a:sym typeface="Times New Roman"/>
              </a:rPr>
              <a:t>chính là dạng dashboard thực hành trong khóa</a:t>
            </a:r>
            <a:endParaRPr/>
          </a:p>
        </p:txBody>
      </p:sp>
      <p:sp>
        <p:nvSpPr>
          <p:cNvPr id="357" name="Google Shape;357;p20"/>
          <p:cNvSpPr/>
          <p:nvPr/>
        </p:nvSpPr>
        <p:spPr>
          <a:xfrm>
            <a:off x="365760" y="2679191"/>
            <a:ext cx="4206240" cy="768096"/>
          </a:xfrm>
          <a:prstGeom prst="roundRect">
            <a:avLst>
              <a:gd name="adj" fmla="val 12000"/>
            </a:avLst>
          </a:prstGeom>
          <a:solidFill>
            <a:srgbClr val="F2F2F2"/>
          </a:solidFill>
          <a:ln w="12700" cap="flat" cmpd="sng">
            <a:solidFill>
              <a:srgbClr val="595959"/>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1">
                <a:solidFill>
                  <a:srgbClr val="222222"/>
                </a:solidFill>
                <a:latin typeface="Times New Roman"/>
                <a:ea typeface="Times New Roman"/>
                <a:cs typeface="Times New Roman"/>
                <a:sym typeface="Times New Roman"/>
              </a:rPr>
              <a:t>“Phân tích, cảnh báo chất lượng danh mục”</a:t>
            </a:r>
            <a:endParaRPr/>
          </a:p>
        </p:txBody>
      </p:sp>
      <p:sp>
        <p:nvSpPr>
          <p:cNvPr id="358" name="Google Shape;358;p20"/>
          <p:cNvSpPr/>
          <p:nvPr/>
        </p:nvSpPr>
        <p:spPr>
          <a:xfrm>
            <a:off x="4617720" y="2834639"/>
            <a:ext cx="457200" cy="457200"/>
          </a:xfrm>
          <a:prstGeom prst="rightArrow">
            <a:avLst>
              <a:gd name="adj1" fmla="val 50000"/>
              <a:gd name="adj2" fmla="val 5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59" name="Google Shape;359;p20"/>
          <p:cNvSpPr/>
          <p:nvPr/>
        </p:nvSpPr>
        <p:spPr>
          <a:xfrm>
            <a:off x="5166360" y="2679191"/>
            <a:ext cx="6656832" cy="768096"/>
          </a:xfrm>
          <a:prstGeom prst="roundRect">
            <a:avLst>
              <a:gd name="adj" fmla="val 12000"/>
            </a:avLst>
          </a:prstGeom>
          <a:solidFill>
            <a:srgbClr val="E2F0D9"/>
          </a:solidFill>
          <a:ln w="12700" cap="flat" cmpd="sng">
            <a:solidFill>
              <a:srgbClr val="2E5B31"/>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0">
                <a:solidFill>
                  <a:srgbClr val="222222"/>
                </a:solidFill>
                <a:latin typeface="Times New Roman"/>
                <a:ea typeface="Times New Roman"/>
                <a:cs typeface="Times New Roman"/>
                <a:sym typeface="Times New Roman"/>
              </a:rPr>
              <a:t>Theo dõi tỷ lệ </a:t>
            </a:r>
            <a:r>
              <a:rPr lang="vi-VN" sz="1400" b="1" i="0">
                <a:solidFill>
                  <a:srgbClr val="222222"/>
                </a:solidFill>
                <a:latin typeface="Times New Roman"/>
                <a:ea typeface="Times New Roman"/>
                <a:cs typeface="Times New Roman"/>
                <a:sym typeface="Times New Roman"/>
              </a:rPr>
              <a:t>OD2, OD3-5</a:t>
            </a:r>
            <a:r>
              <a:rPr lang="vi-VN" sz="1400" b="0" i="0">
                <a:solidFill>
                  <a:srgbClr val="222222"/>
                </a:solidFill>
                <a:latin typeface="Times New Roman"/>
                <a:ea typeface="Times New Roman"/>
                <a:cs typeface="Times New Roman"/>
                <a:sym typeface="Times New Roman"/>
              </a:rPr>
              <a:t> theo ĐVKD để cảnh báo sớm</a:t>
            </a:r>
            <a:endParaRPr/>
          </a:p>
        </p:txBody>
      </p:sp>
      <p:sp>
        <p:nvSpPr>
          <p:cNvPr id="360" name="Google Shape;360;p20"/>
          <p:cNvSpPr/>
          <p:nvPr/>
        </p:nvSpPr>
        <p:spPr>
          <a:xfrm>
            <a:off x="365760" y="3502152"/>
            <a:ext cx="4206240" cy="768096"/>
          </a:xfrm>
          <a:prstGeom prst="roundRect">
            <a:avLst>
              <a:gd name="adj" fmla="val 12000"/>
            </a:avLst>
          </a:prstGeom>
          <a:solidFill>
            <a:srgbClr val="F2F2F2"/>
          </a:solidFill>
          <a:ln w="12700" cap="flat" cmpd="sng">
            <a:solidFill>
              <a:srgbClr val="595959"/>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1">
                <a:solidFill>
                  <a:srgbClr val="222222"/>
                </a:solidFill>
                <a:latin typeface="Times New Roman"/>
                <a:ea typeface="Times New Roman"/>
                <a:cs typeface="Times New Roman"/>
                <a:sym typeface="Times New Roman"/>
              </a:rPr>
              <a:t>“Đề xuất giải pháp dựa trên dữ liệu”</a:t>
            </a:r>
            <a:endParaRPr/>
          </a:p>
        </p:txBody>
      </p:sp>
      <p:sp>
        <p:nvSpPr>
          <p:cNvPr id="361" name="Google Shape;361;p20"/>
          <p:cNvSpPr/>
          <p:nvPr/>
        </p:nvSpPr>
        <p:spPr>
          <a:xfrm>
            <a:off x="4617720" y="3657600"/>
            <a:ext cx="457200" cy="457200"/>
          </a:xfrm>
          <a:prstGeom prst="rightArrow">
            <a:avLst>
              <a:gd name="adj1" fmla="val 50000"/>
              <a:gd name="adj2" fmla="val 5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2" name="Google Shape;362;p20"/>
          <p:cNvSpPr/>
          <p:nvPr/>
        </p:nvSpPr>
        <p:spPr>
          <a:xfrm>
            <a:off x="5166360" y="3502152"/>
            <a:ext cx="6656832" cy="768096"/>
          </a:xfrm>
          <a:prstGeom prst="roundRect">
            <a:avLst>
              <a:gd name="adj" fmla="val 12000"/>
            </a:avLst>
          </a:prstGeom>
          <a:solidFill>
            <a:srgbClr val="E2F0D9"/>
          </a:solidFill>
          <a:ln w="12700" cap="flat" cmpd="sng">
            <a:solidFill>
              <a:srgbClr val="2E5B31"/>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0">
                <a:solidFill>
                  <a:srgbClr val="222222"/>
                </a:solidFill>
                <a:latin typeface="Times New Roman"/>
                <a:ea typeface="Times New Roman"/>
                <a:cs typeface="Times New Roman"/>
                <a:sym typeface="Times New Roman"/>
              </a:rPr>
              <a:t>Chuyển kết quả thành </a:t>
            </a:r>
            <a:r>
              <a:rPr lang="vi-VN" sz="1400" b="1" i="0">
                <a:solidFill>
                  <a:srgbClr val="222222"/>
                </a:solidFill>
                <a:latin typeface="Times New Roman"/>
                <a:ea typeface="Times New Roman"/>
                <a:cs typeface="Times New Roman"/>
                <a:sym typeface="Times New Roman"/>
              </a:rPr>
              <a:t>Finding → Insight → Recommendation</a:t>
            </a:r>
            <a:r>
              <a:rPr lang="vi-VN" sz="1400" b="0" i="0">
                <a:solidFill>
                  <a:srgbClr val="222222"/>
                </a:solidFill>
                <a:latin typeface="Times New Roman"/>
                <a:ea typeface="Times New Roman"/>
                <a:cs typeface="Times New Roman"/>
                <a:sym typeface="Times New Roman"/>
              </a:rPr>
              <a:t> (Phần 7)</a:t>
            </a:r>
            <a:endParaRPr/>
          </a:p>
        </p:txBody>
      </p:sp>
      <p:sp>
        <p:nvSpPr>
          <p:cNvPr id="363" name="Google Shape;363;p20"/>
          <p:cNvSpPr/>
          <p:nvPr/>
        </p:nvSpPr>
        <p:spPr>
          <a:xfrm>
            <a:off x="365760" y="4325112"/>
            <a:ext cx="4206240" cy="768096"/>
          </a:xfrm>
          <a:prstGeom prst="roundRect">
            <a:avLst>
              <a:gd name="adj" fmla="val 12000"/>
            </a:avLst>
          </a:prstGeom>
          <a:solidFill>
            <a:srgbClr val="F2F2F2"/>
          </a:solidFill>
          <a:ln w="12700" cap="flat" cmpd="sng">
            <a:solidFill>
              <a:srgbClr val="595959"/>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1">
                <a:solidFill>
                  <a:srgbClr val="222222"/>
                </a:solidFill>
                <a:latin typeface="Times New Roman"/>
                <a:ea typeface="Times New Roman"/>
                <a:cs typeface="Times New Roman"/>
                <a:sym typeface="Times New Roman"/>
              </a:rPr>
              <a:t>“Thành thạo SQL, Power BI/Tableau, Excel”</a:t>
            </a:r>
            <a:endParaRPr/>
          </a:p>
        </p:txBody>
      </p:sp>
      <p:sp>
        <p:nvSpPr>
          <p:cNvPr id="364" name="Google Shape;364;p20"/>
          <p:cNvSpPr/>
          <p:nvPr/>
        </p:nvSpPr>
        <p:spPr>
          <a:xfrm>
            <a:off x="4617720" y="4480560"/>
            <a:ext cx="457200" cy="457200"/>
          </a:xfrm>
          <a:prstGeom prst="rightArrow">
            <a:avLst>
              <a:gd name="adj1" fmla="val 50000"/>
              <a:gd name="adj2" fmla="val 5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5" name="Google Shape;365;p20"/>
          <p:cNvSpPr/>
          <p:nvPr/>
        </p:nvSpPr>
        <p:spPr>
          <a:xfrm>
            <a:off x="5166360" y="4325112"/>
            <a:ext cx="6656832" cy="768096"/>
          </a:xfrm>
          <a:prstGeom prst="roundRect">
            <a:avLst>
              <a:gd name="adj" fmla="val 12000"/>
            </a:avLst>
          </a:prstGeom>
          <a:solidFill>
            <a:srgbClr val="E2F0D9"/>
          </a:solidFill>
          <a:ln w="12700" cap="flat" cmpd="sng">
            <a:solidFill>
              <a:srgbClr val="2E5B31"/>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1" i="0">
                <a:solidFill>
                  <a:srgbClr val="222222"/>
                </a:solidFill>
                <a:latin typeface="Times New Roman"/>
                <a:ea typeface="Times New Roman"/>
                <a:cs typeface="Times New Roman"/>
                <a:sym typeface="Times New Roman"/>
              </a:rPr>
              <a:t>SQL</a:t>
            </a:r>
            <a:r>
              <a:rPr lang="vi-VN" sz="1400" b="0" i="0">
                <a:solidFill>
                  <a:srgbClr val="222222"/>
                </a:solidFill>
                <a:latin typeface="Times New Roman"/>
                <a:ea typeface="Times New Roman"/>
                <a:cs typeface="Times New Roman"/>
                <a:sym typeface="Times New Roman"/>
              </a:rPr>
              <a:t> truy xuất dữ liệu · </a:t>
            </a:r>
            <a:r>
              <a:rPr lang="vi-VN" sz="1400" b="1" i="0">
                <a:solidFill>
                  <a:srgbClr val="222222"/>
                </a:solidFill>
                <a:latin typeface="Times New Roman"/>
                <a:ea typeface="Times New Roman"/>
                <a:cs typeface="Times New Roman"/>
                <a:sym typeface="Times New Roman"/>
              </a:rPr>
              <a:t>DAX</a:t>
            </a:r>
            <a:r>
              <a:rPr lang="vi-VN" sz="1400" b="0" i="0">
                <a:solidFill>
                  <a:srgbClr val="222222"/>
                </a:solidFill>
                <a:latin typeface="Times New Roman"/>
                <a:ea typeface="Times New Roman"/>
                <a:cs typeface="Times New Roman"/>
                <a:sym typeface="Times New Roman"/>
              </a:rPr>
              <a:t> xây dựng chỉ tiêu · </a:t>
            </a:r>
            <a:r>
              <a:rPr lang="vi-VN" sz="1400" b="1" i="0">
                <a:solidFill>
                  <a:srgbClr val="222222"/>
                </a:solidFill>
                <a:latin typeface="Times New Roman"/>
                <a:ea typeface="Times New Roman"/>
                <a:cs typeface="Times New Roman"/>
                <a:sym typeface="Times New Roman"/>
              </a:rPr>
              <a:t>Excel</a:t>
            </a:r>
            <a:r>
              <a:rPr lang="vi-VN" sz="1400" b="0" i="0">
                <a:solidFill>
                  <a:srgbClr val="222222"/>
                </a:solidFill>
                <a:latin typeface="Times New Roman"/>
                <a:ea typeface="Times New Roman"/>
                <a:cs typeface="Times New Roman"/>
                <a:sym typeface="Times New Roman"/>
              </a:rPr>
              <a:t> đối chiếu, kiểm tra số liệu</a:t>
            </a:r>
            <a:endParaRPr/>
          </a:p>
        </p:txBody>
      </p:sp>
      <p:sp>
        <p:nvSpPr>
          <p:cNvPr id="366" name="Google Shape;366;p20"/>
          <p:cNvSpPr/>
          <p:nvPr/>
        </p:nvSpPr>
        <p:spPr>
          <a:xfrm>
            <a:off x="365760" y="5148072"/>
            <a:ext cx="4206240" cy="768096"/>
          </a:xfrm>
          <a:prstGeom prst="roundRect">
            <a:avLst>
              <a:gd name="adj" fmla="val 12000"/>
            </a:avLst>
          </a:prstGeom>
          <a:solidFill>
            <a:srgbClr val="F2F2F2"/>
          </a:solidFill>
          <a:ln w="12700" cap="flat" cmpd="sng">
            <a:solidFill>
              <a:srgbClr val="595959"/>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1">
                <a:solidFill>
                  <a:srgbClr val="222222"/>
                </a:solidFill>
                <a:latin typeface="Times New Roman"/>
                <a:ea typeface="Times New Roman"/>
                <a:cs typeface="Times New Roman"/>
                <a:sym typeface="Times New Roman"/>
              </a:rPr>
              <a:t>“Hiểu nghiệp vụ tín dụng là lợi thế”</a:t>
            </a:r>
            <a:endParaRPr/>
          </a:p>
        </p:txBody>
      </p:sp>
      <p:sp>
        <p:nvSpPr>
          <p:cNvPr id="367" name="Google Shape;367;p20"/>
          <p:cNvSpPr/>
          <p:nvPr/>
        </p:nvSpPr>
        <p:spPr>
          <a:xfrm>
            <a:off x="4617720" y="5303520"/>
            <a:ext cx="457200" cy="457200"/>
          </a:xfrm>
          <a:prstGeom prst="rightArrow">
            <a:avLst>
              <a:gd name="adj1" fmla="val 50000"/>
              <a:gd name="adj2" fmla="val 5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8" name="Google Shape;368;p20"/>
          <p:cNvSpPr/>
          <p:nvPr/>
        </p:nvSpPr>
        <p:spPr>
          <a:xfrm>
            <a:off x="5166360" y="5148072"/>
            <a:ext cx="6656832" cy="768096"/>
          </a:xfrm>
          <a:prstGeom prst="roundRect">
            <a:avLst>
              <a:gd name="adj" fmla="val 12000"/>
            </a:avLst>
          </a:prstGeom>
          <a:solidFill>
            <a:srgbClr val="E2F0D9"/>
          </a:solidFill>
          <a:ln w="12700" cap="flat" cmpd="sng">
            <a:solidFill>
              <a:srgbClr val="2E5B31"/>
            </a:solidFill>
            <a:prstDash val="solid"/>
            <a:round/>
            <a:headEnd type="none" w="sm" len="sm"/>
            <a:tailEnd type="none" w="sm" len="sm"/>
          </a:ln>
        </p:spPr>
        <p:txBody>
          <a:bodyPr spcFirstLastPara="1" wrap="square" lIns="137150" tIns="27425" rIns="91425" bIns="27425" anchor="ctr" anchorCtr="0">
            <a:noAutofit/>
          </a:bodyPr>
          <a:lstStyle/>
          <a:p>
            <a:pPr marL="0" marR="0" lvl="0" indent="0" algn="l" rtl="0">
              <a:spcBef>
                <a:spcPts val="0"/>
              </a:spcBef>
              <a:spcAft>
                <a:spcPts val="0"/>
              </a:spcAft>
              <a:buNone/>
            </a:pPr>
            <a:r>
              <a:rPr lang="vi-VN" sz="1400" b="0" i="0">
                <a:solidFill>
                  <a:srgbClr val="222222"/>
                </a:solidFill>
                <a:latin typeface="Times New Roman"/>
                <a:ea typeface="Times New Roman"/>
                <a:cs typeface="Times New Roman"/>
                <a:sym typeface="Times New Roman"/>
              </a:rPr>
              <a:t>Nền tảng để phân tích đúng: nhầm số dư với phát sinh → </a:t>
            </a:r>
            <a:r>
              <a:rPr lang="vi-VN" sz="1400" b="1" i="0">
                <a:solidFill>
                  <a:srgbClr val="222222"/>
                </a:solidFill>
                <a:latin typeface="Times New Roman"/>
                <a:ea typeface="Times New Roman"/>
                <a:cs typeface="Times New Roman"/>
                <a:sym typeface="Times New Roman"/>
              </a:rPr>
              <a:t>cộng dồn dư nợ sai bản chất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1"/>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Bối cảnh về ngân hàng</a:t>
            </a:r>
            <a:endParaRPr sz="4400" b="1">
              <a:solidFill>
                <a:srgbClr val="00B050"/>
              </a:solidFill>
              <a:latin typeface="Times New Roman"/>
              <a:ea typeface="Times New Roman"/>
              <a:cs typeface="Times New Roman"/>
              <a:sym typeface="Times New Roman"/>
            </a:endParaRPr>
          </a:p>
        </p:txBody>
      </p:sp>
      <p:pic>
        <p:nvPicPr>
          <p:cNvPr id="375" name="Google Shape;375;p21"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376" name="Google Shape;376;p21"/>
          <p:cNvSpPr txBox="1">
            <a:spLocks noGrp="1"/>
          </p:cNvSpPr>
          <p:nvPr>
            <p:ph type="sldNum" idx="12"/>
          </p:nvPr>
        </p:nvSpPr>
        <p:spPr>
          <a:xfrm>
            <a:off x="11732288" y="1"/>
            <a:ext cx="457200" cy="738390"/>
          </a:xfrm>
          <a:prstGeom prst="rect">
            <a:avLst/>
          </a:prstGeom>
          <a:solidFill>
            <a:srgbClr val="92D050"/>
          </a:solidFill>
          <a:ln>
            <a:noFill/>
          </a:ln>
        </p:spPr>
        <p:txBody>
          <a:bodyPr spcFirstLastPara="1" wrap="square" lIns="0" tIns="45700" rIns="0" bIns="45700" anchor="ctr" anchorCtr="0">
            <a:noAutofit/>
          </a:bodyPr>
          <a:lstStyle/>
          <a:p>
            <a:pPr marL="0" lvl="0" indent="0" algn="ctr" rtl="0">
              <a:spcBef>
                <a:spcPts val="0"/>
              </a:spcBef>
              <a:spcAft>
                <a:spcPts val="0"/>
              </a:spcAft>
              <a:buNone/>
            </a:pPr>
            <a:fld id="{00000000-1234-1234-1234-123412341234}" type="slidenum">
              <a:rPr lang="vi-VN" sz="1800">
                <a:solidFill>
                  <a:srgbClr val="0C0C0C"/>
                </a:solidFill>
                <a:latin typeface="Algerian"/>
                <a:ea typeface="Algerian"/>
                <a:cs typeface="Algerian"/>
                <a:sym typeface="Algerian"/>
              </a:rPr>
              <a:t>9</a:t>
            </a:fld>
            <a:endParaRPr sz="1800">
              <a:solidFill>
                <a:srgbClr val="0C0C0C"/>
              </a:solidFill>
              <a:latin typeface="Algerian"/>
              <a:ea typeface="Algerian"/>
              <a:cs typeface="Algerian"/>
              <a:sym typeface="Algerian"/>
            </a:endParaRPr>
          </a:p>
        </p:txBody>
      </p:sp>
      <p:sp>
        <p:nvSpPr>
          <p:cNvPr id="377" name="Google Shape;377;p21"/>
          <p:cNvSpPr txBox="1"/>
          <p:nvPr/>
        </p:nvSpPr>
        <p:spPr>
          <a:xfrm>
            <a:off x="45720" y="896112"/>
            <a:ext cx="10058400" cy="323100"/>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rgbClr val="0070C0"/>
              </a:buClr>
              <a:buSzPts val="1500"/>
              <a:buFont typeface="Noto Sans Symbols"/>
              <a:buChar char="❖"/>
            </a:pPr>
            <a:r>
              <a:rPr lang="vi-VN" sz="1500" b="1" i="0">
                <a:solidFill>
                  <a:srgbClr val="0070C0"/>
                </a:solidFill>
                <a:latin typeface="Times New Roman"/>
                <a:ea typeface="Times New Roman"/>
                <a:cs typeface="Times New Roman"/>
                <a:sym typeface="Times New Roman"/>
              </a:rPr>
              <a:t>Từ </a:t>
            </a:r>
            <a:r>
              <a:rPr lang="vi-VN" sz="1500" b="1">
                <a:solidFill>
                  <a:srgbClr val="0070C0"/>
                </a:solidFill>
                <a:latin typeface="Times New Roman"/>
                <a:ea typeface="Times New Roman"/>
                <a:cs typeface="Times New Roman"/>
                <a:sym typeface="Times New Roman"/>
              </a:rPr>
              <a:t>câu hỏi nghiệp vụ </a:t>
            </a:r>
            <a:r>
              <a:rPr lang="vi-VN" sz="1500" b="1" i="0">
                <a:solidFill>
                  <a:srgbClr val="0070C0"/>
                </a:solidFill>
                <a:latin typeface="Times New Roman"/>
                <a:ea typeface="Times New Roman"/>
                <a:cs typeface="Times New Roman"/>
                <a:sym typeface="Times New Roman"/>
              </a:rPr>
              <a:t>đến dashboard chi ti</a:t>
            </a:r>
            <a:r>
              <a:rPr lang="vi-VN" sz="1500" b="1">
                <a:solidFill>
                  <a:srgbClr val="0070C0"/>
                </a:solidFill>
                <a:latin typeface="Times New Roman"/>
                <a:ea typeface="Times New Roman"/>
                <a:cs typeface="Times New Roman"/>
                <a:sym typeface="Times New Roman"/>
              </a:rPr>
              <a:t>ết</a:t>
            </a:r>
            <a:endParaRPr/>
          </a:p>
        </p:txBody>
      </p:sp>
      <p:sp>
        <p:nvSpPr>
          <p:cNvPr id="378" name="Google Shape;378;p21"/>
          <p:cNvSpPr/>
          <p:nvPr/>
        </p:nvSpPr>
        <p:spPr>
          <a:xfrm>
            <a:off x="347472" y="6144768"/>
            <a:ext cx="11475720" cy="457200"/>
          </a:xfrm>
          <a:prstGeom prst="rect">
            <a:avLst/>
          </a:prstGeom>
          <a:solidFill>
            <a:srgbClr val="E2F0D9"/>
          </a:solidFill>
          <a:ln>
            <a:noFill/>
          </a:ln>
        </p:spPr>
        <p:txBody>
          <a:bodyPr spcFirstLastPara="1" wrap="square" lIns="91425" tIns="18275" rIns="91425" bIns="18275" anchor="ctr" anchorCtr="0">
            <a:noAutofit/>
          </a:bodyPr>
          <a:lstStyle/>
          <a:p>
            <a:pPr marL="0" marR="0" lvl="0" indent="0" algn="ctr" rtl="0">
              <a:spcBef>
                <a:spcPts val="0"/>
              </a:spcBef>
              <a:spcAft>
                <a:spcPts val="0"/>
              </a:spcAft>
              <a:buNone/>
            </a:pPr>
            <a:r>
              <a:rPr lang="vi-VN" sz="1800" b="1" i="0">
                <a:solidFill>
                  <a:srgbClr val="C55A11"/>
                </a:solidFill>
                <a:latin typeface="Times New Roman"/>
                <a:ea typeface="Times New Roman"/>
                <a:cs typeface="Times New Roman"/>
                <a:sym typeface="Times New Roman"/>
              </a:rPr>
              <a:t>Đây chính là sản phẩm bạn sẽ xây dựng</a:t>
            </a:r>
            <a:r>
              <a:rPr lang="vi-VN" sz="1800" b="0" i="0">
                <a:solidFill>
                  <a:srgbClr val="000000"/>
                </a:solidFill>
                <a:latin typeface="Times New Roman"/>
                <a:ea typeface="Times New Roman"/>
                <a:cs typeface="Times New Roman"/>
                <a:sym typeface="Times New Roman"/>
              </a:rPr>
              <a:t> – một phần công việc hằng ngày của MIS tín dụng</a:t>
            </a:r>
            <a:endParaRPr/>
          </a:p>
        </p:txBody>
      </p:sp>
      <p:sp>
        <p:nvSpPr>
          <p:cNvPr id="379" name="Google Shape;379;p21"/>
          <p:cNvSpPr/>
          <p:nvPr/>
        </p:nvSpPr>
        <p:spPr>
          <a:xfrm>
            <a:off x="365760" y="1417320"/>
            <a:ext cx="3749039" cy="2743200"/>
          </a:xfrm>
          <a:prstGeom prst="roundRect">
            <a:avLst>
              <a:gd name="adj" fmla="val 5000"/>
            </a:avLst>
          </a:prstGeom>
          <a:solidFill>
            <a:srgbClr val="FFFFFF"/>
          </a:solidFill>
          <a:ln w="19050" cap="flat" cmpd="sng">
            <a:solidFill>
              <a:srgbClr val="2E5B3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80" name="Google Shape;380;p21"/>
          <p:cNvSpPr/>
          <p:nvPr/>
        </p:nvSpPr>
        <p:spPr>
          <a:xfrm>
            <a:off x="365760" y="1417320"/>
            <a:ext cx="3749039" cy="685800"/>
          </a:xfrm>
          <a:prstGeom prst="roundRect">
            <a:avLst>
              <a:gd name="adj" fmla="val 20000"/>
            </a:avLst>
          </a:prstGeom>
          <a:solidFill>
            <a:srgbClr val="2E5B3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81" name="Google Shape;381;p21" descr="FaChartBar_w.png"/>
          <p:cNvPicPr preferRelativeResize="0"/>
          <p:nvPr/>
        </p:nvPicPr>
        <p:blipFill rotWithShape="1">
          <a:blip r:embed="rId4">
            <a:alphaModFix/>
          </a:blip>
          <a:srcRect/>
          <a:stretch/>
        </p:blipFill>
        <p:spPr>
          <a:xfrm>
            <a:off x="502920" y="1554480"/>
            <a:ext cx="411480" cy="411480"/>
          </a:xfrm>
          <a:prstGeom prst="rect">
            <a:avLst/>
          </a:prstGeom>
          <a:noFill/>
          <a:ln>
            <a:noFill/>
          </a:ln>
        </p:spPr>
      </p:pic>
      <p:sp>
        <p:nvSpPr>
          <p:cNvPr id="382" name="Google Shape;382;p21"/>
          <p:cNvSpPr txBox="1"/>
          <p:nvPr/>
        </p:nvSpPr>
        <p:spPr>
          <a:xfrm>
            <a:off x="1005840" y="1417320"/>
            <a:ext cx="3017520" cy="6858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600" b="1" i="0">
                <a:solidFill>
                  <a:srgbClr val="FFFFFF"/>
                </a:solidFill>
                <a:latin typeface="Times New Roman"/>
                <a:ea typeface="Times New Roman"/>
                <a:cs typeface="Times New Roman"/>
                <a:sym typeface="Times New Roman"/>
              </a:rPr>
              <a:t>Trang Dư nợ</a:t>
            </a:r>
            <a:endParaRPr/>
          </a:p>
          <a:p>
            <a:pPr marL="0" marR="0" lvl="0" indent="0" algn="l" rtl="0">
              <a:spcBef>
                <a:spcPts val="0"/>
              </a:spcBef>
              <a:spcAft>
                <a:spcPts val="0"/>
              </a:spcAft>
              <a:buNone/>
            </a:pPr>
            <a:r>
              <a:rPr lang="vi-VN" sz="1250" b="0" i="0">
                <a:solidFill>
                  <a:srgbClr val="FFFFFF"/>
                </a:solidFill>
                <a:latin typeface="Times New Roman"/>
                <a:ea typeface="Times New Roman"/>
                <a:cs typeface="Times New Roman"/>
                <a:sym typeface="Times New Roman"/>
              </a:rPr>
              <a:t>Quy mô dư nợ</a:t>
            </a:r>
            <a:endParaRPr/>
          </a:p>
        </p:txBody>
      </p:sp>
      <p:sp>
        <p:nvSpPr>
          <p:cNvPr id="383" name="Google Shape;383;p21"/>
          <p:cNvSpPr/>
          <p:nvPr/>
        </p:nvSpPr>
        <p:spPr>
          <a:xfrm>
            <a:off x="475488" y="2194560"/>
            <a:ext cx="3529584" cy="457200"/>
          </a:xfrm>
          <a:prstGeom prst="roundRect">
            <a:avLst>
              <a:gd name="adj" fmla="val 30000"/>
            </a:avLst>
          </a:prstGeom>
          <a:solidFill>
            <a:srgbClr val="F2F2F2"/>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500" b="1" i="1">
                <a:solidFill>
                  <a:srgbClr val="2E5B31"/>
                </a:solidFill>
                <a:latin typeface="Times New Roman"/>
                <a:ea typeface="Times New Roman"/>
                <a:cs typeface="Times New Roman"/>
                <a:sym typeface="Times New Roman"/>
              </a:rPr>
              <a:t>Dư nợ hiện tại và biến động?</a:t>
            </a:r>
            <a:endParaRPr/>
          </a:p>
        </p:txBody>
      </p:sp>
      <p:sp>
        <p:nvSpPr>
          <p:cNvPr id="384" name="Google Shape;384;p21"/>
          <p:cNvSpPr txBox="1"/>
          <p:nvPr/>
        </p:nvSpPr>
        <p:spPr>
          <a:xfrm>
            <a:off x="457200" y="2743200"/>
            <a:ext cx="3566160" cy="1371600"/>
          </a:xfrm>
          <a:prstGeom prst="rect">
            <a:avLst/>
          </a:prstGeom>
          <a:noFill/>
          <a:ln>
            <a:noFill/>
          </a:ln>
        </p:spPr>
        <p:txBody>
          <a:bodyPr spcFirstLastPara="1" wrap="square" lIns="73150" tIns="36575" rIns="73150" bIns="36575" anchor="t" anchorCtr="0">
            <a:noAutofit/>
          </a:bodyPr>
          <a:lstStyle/>
          <a:p>
            <a:pPr marL="0" marR="0" lvl="0" indent="0" algn="l" rtl="0">
              <a:spcBef>
                <a:spcPts val="0"/>
              </a:spcBef>
              <a:spcAft>
                <a:spcPts val="0"/>
              </a:spcAft>
              <a:buNone/>
            </a:pPr>
            <a:r>
              <a:rPr lang="vi-VN" sz="1750" b="1" i="0">
                <a:solidFill>
                  <a:srgbClr val="222222"/>
                </a:solidFill>
                <a:latin typeface="Times New Roman"/>
                <a:ea typeface="Times New Roman"/>
                <a:cs typeface="Times New Roman"/>
                <a:sym typeface="Times New Roman"/>
              </a:rPr>
              <a:t>Phục vụ:</a:t>
            </a:r>
            <a:r>
              <a:rPr lang="vi-VN" sz="1750" b="0" i="0">
                <a:solidFill>
                  <a:srgbClr val="222222"/>
                </a:solidFill>
                <a:latin typeface="Times New Roman"/>
                <a:ea typeface="Times New Roman"/>
                <a:cs typeface="Times New Roman"/>
                <a:sym typeface="Times New Roman"/>
              </a:rPr>
              <a:t> Lãnh đạo Khối</a:t>
            </a:r>
            <a:endParaRPr/>
          </a:p>
          <a:p>
            <a:pPr marL="0" marR="0" lvl="0" indent="0" algn="l" rtl="0">
              <a:spcBef>
                <a:spcPts val="600"/>
              </a:spcBef>
              <a:spcAft>
                <a:spcPts val="0"/>
              </a:spcAft>
              <a:buNone/>
            </a:pPr>
            <a:r>
              <a:rPr lang="vi-VN" sz="1750" b="1" i="0">
                <a:solidFill>
                  <a:srgbClr val="222222"/>
                </a:solidFill>
                <a:latin typeface="Times New Roman"/>
                <a:ea typeface="Times New Roman"/>
                <a:cs typeface="Times New Roman"/>
                <a:sym typeface="Times New Roman"/>
              </a:rPr>
              <a:t>Quyết định:</a:t>
            </a:r>
            <a:r>
              <a:rPr lang="vi-VN" sz="1750" b="0" i="0">
                <a:solidFill>
                  <a:srgbClr val="222222"/>
                </a:solidFill>
                <a:latin typeface="Times New Roman"/>
                <a:ea typeface="Times New Roman"/>
                <a:cs typeface="Times New Roman"/>
                <a:sym typeface="Times New Roman"/>
              </a:rPr>
              <a:t> Theo dõi quy mô, cơ cấu theo kỳ hạn, phân khúc, ngành, sản phẩm, ĐVKD</a:t>
            </a:r>
            <a:endParaRPr/>
          </a:p>
        </p:txBody>
      </p:sp>
      <p:sp>
        <p:nvSpPr>
          <p:cNvPr id="385" name="Google Shape;385;p21"/>
          <p:cNvSpPr/>
          <p:nvPr/>
        </p:nvSpPr>
        <p:spPr>
          <a:xfrm>
            <a:off x="4219956" y="1417320"/>
            <a:ext cx="3749039" cy="2743200"/>
          </a:xfrm>
          <a:prstGeom prst="roundRect">
            <a:avLst>
              <a:gd name="adj" fmla="val 5000"/>
            </a:avLst>
          </a:prstGeom>
          <a:solidFill>
            <a:srgbClr val="FFFFFF"/>
          </a:solidFill>
          <a:ln w="19050" cap="flat" cmpd="sng">
            <a:solidFill>
              <a:srgbClr val="C55A11"/>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86" name="Google Shape;386;p21"/>
          <p:cNvSpPr/>
          <p:nvPr/>
        </p:nvSpPr>
        <p:spPr>
          <a:xfrm>
            <a:off x="4219956" y="1417320"/>
            <a:ext cx="3749039" cy="685800"/>
          </a:xfrm>
          <a:prstGeom prst="roundRect">
            <a:avLst>
              <a:gd name="adj" fmla="val 20000"/>
            </a:avLst>
          </a:prstGeom>
          <a:solidFill>
            <a:srgbClr val="C55A11"/>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87" name="Google Shape;387;p21" descr="FaCoins_w.png"/>
          <p:cNvPicPr preferRelativeResize="0"/>
          <p:nvPr/>
        </p:nvPicPr>
        <p:blipFill rotWithShape="1">
          <a:blip r:embed="rId5">
            <a:alphaModFix/>
          </a:blip>
          <a:srcRect/>
          <a:stretch/>
        </p:blipFill>
        <p:spPr>
          <a:xfrm>
            <a:off x="4357116" y="1554480"/>
            <a:ext cx="411480" cy="411480"/>
          </a:xfrm>
          <a:prstGeom prst="rect">
            <a:avLst/>
          </a:prstGeom>
          <a:noFill/>
          <a:ln>
            <a:noFill/>
          </a:ln>
        </p:spPr>
      </p:pic>
      <p:sp>
        <p:nvSpPr>
          <p:cNvPr id="388" name="Google Shape;388;p21"/>
          <p:cNvSpPr txBox="1"/>
          <p:nvPr/>
        </p:nvSpPr>
        <p:spPr>
          <a:xfrm>
            <a:off x="4860036" y="1417320"/>
            <a:ext cx="3017520" cy="6858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600" b="1" i="0">
                <a:solidFill>
                  <a:srgbClr val="FFFFFF"/>
                </a:solidFill>
                <a:latin typeface="Times New Roman"/>
                <a:ea typeface="Times New Roman"/>
                <a:cs typeface="Times New Roman"/>
                <a:sym typeface="Times New Roman"/>
              </a:rPr>
              <a:t>Trang NII/TOI</a:t>
            </a:r>
            <a:endParaRPr/>
          </a:p>
          <a:p>
            <a:pPr marL="0" marR="0" lvl="0" indent="0" algn="l" rtl="0">
              <a:spcBef>
                <a:spcPts val="0"/>
              </a:spcBef>
              <a:spcAft>
                <a:spcPts val="0"/>
              </a:spcAft>
              <a:buNone/>
            </a:pPr>
            <a:r>
              <a:rPr lang="vi-VN" sz="1250" b="0" i="0">
                <a:solidFill>
                  <a:srgbClr val="FFFFFF"/>
                </a:solidFill>
                <a:latin typeface="Times New Roman"/>
                <a:ea typeface="Times New Roman"/>
                <a:cs typeface="Times New Roman"/>
                <a:sym typeface="Times New Roman"/>
              </a:rPr>
              <a:t>Hiệu quả sinh lời</a:t>
            </a:r>
            <a:endParaRPr/>
          </a:p>
        </p:txBody>
      </p:sp>
      <p:sp>
        <p:nvSpPr>
          <p:cNvPr id="389" name="Google Shape;389;p21"/>
          <p:cNvSpPr/>
          <p:nvPr/>
        </p:nvSpPr>
        <p:spPr>
          <a:xfrm>
            <a:off x="4329684" y="2194560"/>
            <a:ext cx="3529584" cy="457200"/>
          </a:xfrm>
          <a:prstGeom prst="roundRect">
            <a:avLst>
              <a:gd name="adj" fmla="val 30000"/>
            </a:avLst>
          </a:prstGeom>
          <a:solidFill>
            <a:srgbClr val="F2F2F2"/>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500" b="1" i="1">
                <a:solidFill>
                  <a:srgbClr val="C55A11"/>
                </a:solidFill>
                <a:latin typeface="Times New Roman"/>
                <a:ea typeface="Times New Roman"/>
                <a:cs typeface="Times New Roman"/>
                <a:sym typeface="Times New Roman"/>
              </a:rPr>
              <a:t>Danh mục tạo ra bao nhiêu thu nhập?</a:t>
            </a:r>
            <a:endParaRPr/>
          </a:p>
        </p:txBody>
      </p:sp>
      <p:sp>
        <p:nvSpPr>
          <p:cNvPr id="390" name="Google Shape;390;p21"/>
          <p:cNvSpPr txBox="1"/>
          <p:nvPr/>
        </p:nvSpPr>
        <p:spPr>
          <a:xfrm>
            <a:off x="4311396" y="2651750"/>
            <a:ext cx="3566100" cy="1371600"/>
          </a:xfrm>
          <a:prstGeom prst="rect">
            <a:avLst/>
          </a:prstGeom>
          <a:noFill/>
          <a:ln>
            <a:noFill/>
          </a:ln>
        </p:spPr>
        <p:txBody>
          <a:bodyPr spcFirstLastPara="1" wrap="square" lIns="73150" tIns="36575" rIns="73150" bIns="36575" anchor="t" anchorCtr="0">
            <a:noAutofit/>
          </a:bodyPr>
          <a:lstStyle/>
          <a:p>
            <a:pPr marL="0" marR="0" lvl="0" indent="0" algn="l" rtl="0">
              <a:spcBef>
                <a:spcPts val="0"/>
              </a:spcBef>
              <a:spcAft>
                <a:spcPts val="0"/>
              </a:spcAft>
              <a:buNone/>
            </a:pPr>
            <a:r>
              <a:rPr lang="vi-VN" sz="1750" b="1" i="0">
                <a:solidFill>
                  <a:srgbClr val="222222"/>
                </a:solidFill>
                <a:latin typeface="Times New Roman"/>
                <a:ea typeface="Times New Roman"/>
                <a:cs typeface="Times New Roman"/>
                <a:sym typeface="Times New Roman"/>
              </a:rPr>
              <a:t>Phục vụ:</a:t>
            </a:r>
            <a:r>
              <a:rPr lang="vi-VN" sz="1750" b="0" i="0">
                <a:solidFill>
                  <a:srgbClr val="222222"/>
                </a:solidFill>
                <a:latin typeface="Times New Roman"/>
                <a:ea typeface="Times New Roman"/>
                <a:cs typeface="Times New Roman"/>
                <a:sym typeface="Times New Roman"/>
              </a:rPr>
              <a:t> Lãnh đạo Khối, Giám đốc ĐVKD</a:t>
            </a:r>
            <a:endParaRPr/>
          </a:p>
          <a:p>
            <a:pPr marL="0" marR="0" lvl="0" indent="0" algn="l" rtl="0">
              <a:spcBef>
                <a:spcPts val="600"/>
              </a:spcBef>
              <a:spcAft>
                <a:spcPts val="0"/>
              </a:spcAft>
              <a:buNone/>
            </a:pPr>
            <a:r>
              <a:rPr lang="vi-VN" sz="1750" b="1" i="0">
                <a:solidFill>
                  <a:srgbClr val="222222"/>
                </a:solidFill>
                <a:latin typeface="Times New Roman"/>
                <a:ea typeface="Times New Roman"/>
                <a:cs typeface="Times New Roman"/>
                <a:sym typeface="Times New Roman"/>
              </a:rPr>
              <a:t>Quyết định:</a:t>
            </a:r>
            <a:r>
              <a:rPr lang="vi-VN" sz="1750" b="0" i="0">
                <a:solidFill>
                  <a:srgbClr val="222222"/>
                </a:solidFill>
                <a:latin typeface="Times New Roman"/>
                <a:ea typeface="Times New Roman"/>
                <a:cs typeface="Times New Roman"/>
                <a:sym typeface="Times New Roman"/>
              </a:rPr>
              <a:t> </a:t>
            </a:r>
            <a:r>
              <a:rPr lang="vi-VN" sz="1750">
                <a:solidFill>
                  <a:srgbClr val="222222"/>
                </a:solidFill>
                <a:latin typeface="Times New Roman"/>
                <a:ea typeface="Times New Roman"/>
                <a:cs typeface="Times New Roman"/>
                <a:sym typeface="Times New Roman"/>
              </a:rPr>
              <a:t>Đánh giá nguồn thu, so sánh đóng góp giữa các nhóm khách hàng, sản phẩm và đơn vị. </a:t>
            </a:r>
            <a:endParaRPr/>
          </a:p>
        </p:txBody>
      </p:sp>
      <p:sp>
        <p:nvSpPr>
          <p:cNvPr id="391" name="Google Shape;391;p21"/>
          <p:cNvSpPr/>
          <p:nvPr/>
        </p:nvSpPr>
        <p:spPr>
          <a:xfrm>
            <a:off x="8074152" y="1417320"/>
            <a:ext cx="3749039" cy="2743200"/>
          </a:xfrm>
          <a:prstGeom prst="roundRect">
            <a:avLst>
              <a:gd name="adj" fmla="val 5000"/>
            </a:avLst>
          </a:prstGeom>
          <a:solidFill>
            <a:srgbClr val="FFFFFF"/>
          </a:solidFill>
          <a:ln w="19050" cap="flat" cmpd="sng">
            <a:solidFill>
              <a:srgbClr val="123A7A"/>
            </a:solidFill>
            <a:prstDash val="solid"/>
            <a:round/>
            <a:headEnd type="none" w="sm" len="sm"/>
            <a:tailEnd type="none" w="sm" len="sm"/>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92" name="Google Shape;392;p21"/>
          <p:cNvSpPr/>
          <p:nvPr/>
        </p:nvSpPr>
        <p:spPr>
          <a:xfrm>
            <a:off x="8074152" y="1417320"/>
            <a:ext cx="3749039" cy="685800"/>
          </a:xfrm>
          <a:prstGeom prst="roundRect">
            <a:avLst>
              <a:gd name="adj" fmla="val 20000"/>
            </a:avLst>
          </a:prstGeom>
          <a:solidFill>
            <a:srgbClr val="123A7A"/>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93" name="Google Shape;393;p21" descr="FaExclamationTriangle_w.png"/>
          <p:cNvPicPr preferRelativeResize="0"/>
          <p:nvPr/>
        </p:nvPicPr>
        <p:blipFill rotWithShape="1">
          <a:blip r:embed="rId6">
            <a:alphaModFix/>
          </a:blip>
          <a:srcRect/>
          <a:stretch/>
        </p:blipFill>
        <p:spPr>
          <a:xfrm>
            <a:off x="8211312" y="1554480"/>
            <a:ext cx="411480" cy="411480"/>
          </a:xfrm>
          <a:prstGeom prst="rect">
            <a:avLst/>
          </a:prstGeom>
          <a:noFill/>
          <a:ln>
            <a:noFill/>
          </a:ln>
        </p:spPr>
      </p:pic>
      <p:sp>
        <p:nvSpPr>
          <p:cNvPr id="394" name="Google Shape;394;p21"/>
          <p:cNvSpPr txBox="1"/>
          <p:nvPr/>
        </p:nvSpPr>
        <p:spPr>
          <a:xfrm>
            <a:off x="8714232" y="1417320"/>
            <a:ext cx="3017520" cy="68580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1600" b="1">
                <a:solidFill>
                  <a:srgbClr val="FFFFFF"/>
                </a:solidFill>
                <a:latin typeface="Times New Roman"/>
                <a:ea typeface="Times New Roman"/>
                <a:cs typeface="Times New Roman"/>
                <a:sym typeface="Times New Roman"/>
              </a:rPr>
              <a:t>Chất lượng tín dụng</a:t>
            </a:r>
            <a:endParaRPr/>
          </a:p>
          <a:p>
            <a:pPr marL="0" marR="0" lvl="0" indent="0" algn="l" rtl="0">
              <a:spcBef>
                <a:spcPts val="0"/>
              </a:spcBef>
              <a:spcAft>
                <a:spcPts val="0"/>
              </a:spcAft>
              <a:buNone/>
            </a:pPr>
            <a:r>
              <a:rPr lang="vi-VN" sz="1250">
                <a:solidFill>
                  <a:srgbClr val="FFFFFF"/>
                </a:solidFill>
                <a:latin typeface="Times New Roman"/>
                <a:ea typeface="Times New Roman"/>
                <a:cs typeface="Times New Roman"/>
                <a:sym typeface="Times New Roman"/>
              </a:rPr>
              <a:t>Theo dõi nợ quá hạn và nợ xấu </a:t>
            </a:r>
            <a:endParaRPr/>
          </a:p>
        </p:txBody>
      </p:sp>
      <p:sp>
        <p:nvSpPr>
          <p:cNvPr id="395" name="Google Shape;395;p21"/>
          <p:cNvSpPr/>
          <p:nvPr/>
        </p:nvSpPr>
        <p:spPr>
          <a:xfrm>
            <a:off x="8183879" y="2194560"/>
            <a:ext cx="3529584" cy="457200"/>
          </a:xfrm>
          <a:prstGeom prst="roundRect">
            <a:avLst>
              <a:gd name="adj" fmla="val 30000"/>
            </a:avLst>
          </a:prstGeom>
          <a:solidFill>
            <a:srgbClr val="F2F2F2"/>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r>
              <a:rPr lang="vi-VN" sz="1500" b="1" i="1">
                <a:solidFill>
                  <a:srgbClr val="123A7A"/>
                </a:solidFill>
                <a:latin typeface="Times New Roman"/>
                <a:ea typeface="Times New Roman"/>
                <a:cs typeface="Times New Roman"/>
                <a:sym typeface="Times New Roman"/>
              </a:rPr>
              <a:t>Khoản vay nào có dấu hiệu rủi ro?</a:t>
            </a:r>
            <a:endParaRPr/>
          </a:p>
        </p:txBody>
      </p:sp>
      <p:sp>
        <p:nvSpPr>
          <p:cNvPr id="396" name="Google Shape;396;p21"/>
          <p:cNvSpPr txBox="1"/>
          <p:nvPr/>
        </p:nvSpPr>
        <p:spPr>
          <a:xfrm>
            <a:off x="8165592" y="2743200"/>
            <a:ext cx="3566160" cy="1371600"/>
          </a:xfrm>
          <a:prstGeom prst="rect">
            <a:avLst/>
          </a:prstGeom>
          <a:noFill/>
          <a:ln>
            <a:noFill/>
          </a:ln>
        </p:spPr>
        <p:txBody>
          <a:bodyPr spcFirstLastPara="1" wrap="square" lIns="73150" tIns="36575" rIns="73150" bIns="36575" anchor="t" anchorCtr="0">
            <a:noAutofit/>
          </a:bodyPr>
          <a:lstStyle/>
          <a:p>
            <a:pPr marL="0" marR="0" lvl="0" indent="0" algn="l" rtl="0">
              <a:spcBef>
                <a:spcPts val="0"/>
              </a:spcBef>
              <a:spcAft>
                <a:spcPts val="0"/>
              </a:spcAft>
              <a:buNone/>
            </a:pPr>
            <a:r>
              <a:rPr lang="vi-VN" sz="1750" b="1" i="0">
                <a:solidFill>
                  <a:srgbClr val="222222"/>
                </a:solidFill>
                <a:latin typeface="Times New Roman"/>
                <a:ea typeface="Times New Roman"/>
                <a:cs typeface="Times New Roman"/>
                <a:sym typeface="Times New Roman"/>
              </a:rPr>
              <a:t>Phục vụ:</a:t>
            </a:r>
            <a:r>
              <a:rPr lang="vi-VN" sz="1750" b="0" i="0">
                <a:solidFill>
                  <a:srgbClr val="222222"/>
                </a:solidFill>
                <a:latin typeface="Times New Roman"/>
                <a:ea typeface="Times New Roman"/>
                <a:cs typeface="Times New Roman"/>
                <a:sym typeface="Times New Roman"/>
              </a:rPr>
              <a:t> Bộ phận quản lý rủi ro</a:t>
            </a:r>
            <a:endParaRPr/>
          </a:p>
          <a:p>
            <a:pPr marL="0" marR="0" lvl="0" indent="0" algn="l" rtl="0">
              <a:spcBef>
                <a:spcPts val="600"/>
              </a:spcBef>
              <a:spcAft>
                <a:spcPts val="0"/>
              </a:spcAft>
              <a:buNone/>
            </a:pPr>
            <a:r>
              <a:rPr lang="vi-VN" sz="1750" b="1" i="0">
                <a:solidFill>
                  <a:srgbClr val="222222"/>
                </a:solidFill>
                <a:latin typeface="Times New Roman"/>
                <a:ea typeface="Times New Roman"/>
                <a:cs typeface="Times New Roman"/>
                <a:sym typeface="Times New Roman"/>
              </a:rPr>
              <a:t>Quyết định:</a:t>
            </a:r>
            <a:r>
              <a:rPr lang="vi-VN" sz="1750" b="0" i="0">
                <a:solidFill>
                  <a:srgbClr val="222222"/>
                </a:solidFill>
                <a:latin typeface="Times New Roman"/>
                <a:ea typeface="Times New Roman"/>
                <a:cs typeface="Times New Roman"/>
                <a:sym typeface="Times New Roman"/>
              </a:rPr>
              <a:t> </a:t>
            </a:r>
            <a:r>
              <a:rPr lang="vi-VN" sz="1750">
                <a:solidFill>
                  <a:srgbClr val="222222"/>
                </a:solidFill>
                <a:latin typeface="Times New Roman"/>
                <a:ea typeface="Times New Roman"/>
                <a:cs typeface="Times New Roman"/>
                <a:sym typeface="Times New Roman"/>
              </a:rPr>
              <a:t>Phát hiện nợ quá hạn, theo dõi nợ xấu và xác định khoản vay cần được chú ý. </a:t>
            </a:r>
            <a:endParaRPr/>
          </a:p>
        </p:txBody>
      </p:sp>
      <p:sp>
        <p:nvSpPr>
          <p:cNvPr id="397" name="Google Shape;397;p21"/>
          <p:cNvSpPr/>
          <p:nvPr/>
        </p:nvSpPr>
        <p:spPr>
          <a:xfrm>
            <a:off x="365760" y="4389120"/>
            <a:ext cx="11457432" cy="1554480"/>
          </a:xfrm>
          <a:prstGeom prst="roundRect">
            <a:avLst>
              <a:gd name="adj" fmla="val 12000"/>
            </a:avLst>
          </a:prstGeom>
          <a:solidFill>
            <a:srgbClr val="1A365D"/>
          </a:solidFill>
          <a:ln>
            <a:noFill/>
          </a:ln>
        </p:spPr>
        <p:txBody>
          <a:bodyPr spcFirstLastPara="1" wrap="square" lIns="73150" tIns="36575" rIns="73150" bIns="36575"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398" name="Google Shape;398;p21" descr="FaTh_w.png"/>
          <p:cNvPicPr preferRelativeResize="0"/>
          <p:nvPr/>
        </p:nvPicPr>
        <p:blipFill rotWithShape="1">
          <a:blip r:embed="rId7">
            <a:alphaModFix/>
          </a:blip>
          <a:srcRect/>
          <a:stretch/>
        </p:blipFill>
        <p:spPr>
          <a:xfrm>
            <a:off x="640080" y="4892040"/>
            <a:ext cx="640080" cy="640080"/>
          </a:xfrm>
          <a:prstGeom prst="rect">
            <a:avLst/>
          </a:prstGeom>
          <a:noFill/>
          <a:ln>
            <a:noFill/>
          </a:ln>
        </p:spPr>
      </p:pic>
      <p:sp>
        <p:nvSpPr>
          <p:cNvPr id="399" name="Google Shape;399;p21"/>
          <p:cNvSpPr txBox="1"/>
          <p:nvPr/>
        </p:nvSpPr>
        <p:spPr>
          <a:xfrm>
            <a:off x="1554480" y="4389120"/>
            <a:ext cx="10149840" cy="1554480"/>
          </a:xfrm>
          <a:prstGeom prst="rect">
            <a:avLst/>
          </a:prstGeom>
          <a:noFill/>
          <a:ln>
            <a:noFill/>
          </a:ln>
        </p:spPr>
        <p:txBody>
          <a:bodyPr spcFirstLastPara="1" wrap="square" lIns="73150" tIns="36575" rIns="73150" bIns="36575" anchor="ctr" anchorCtr="0">
            <a:noAutofit/>
          </a:bodyPr>
          <a:lstStyle/>
          <a:p>
            <a:pPr marL="0" marR="0" lvl="0" indent="0" algn="l" rtl="0">
              <a:spcBef>
                <a:spcPts val="0"/>
              </a:spcBef>
              <a:spcAft>
                <a:spcPts val="0"/>
              </a:spcAft>
              <a:buNone/>
            </a:pPr>
            <a:r>
              <a:rPr lang="vi-VN" sz="2400" b="1" i="0">
                <a:solidFill>
                  <a:srgbClr val="FCE6B5"/>
                </a:solidFill>
                <a:latin typeface="Times New Roman"/>
                <a:ea typeface="Times New Roman"/>
                <a:cs typeface="Times New Roman"/>
                <a:sym typeface="Times New Roman"/>
              </a:rPr>
              <a:t>Trang Tổng quan</a:t>
            </a:r>
            <a:endParaRPr/>
          </a:p>
          <a:p>
            <a:pPr marL="0" marR="0" lvl="0" indent="0" algn="l" rtl="0">
              <a:spcBef>
                <a:spcPts val="0"/>
              </a:spcBef>
              <a:spcAft>
                <a:spcPts val="0"/>
              </a:spcAft>
              <a:buNone/>
            </a:pPr>
            <a:r>
              <a:rPr lang="vi-VN" sz="1800">
                <a:solidFill>
                  <a:srgbClr val="FFFFFF"/>
                </a:solidFill>
                <a:latin typeface="Times New Roman"/>
                <a:ea typeface="Times New Roman"/>
                <a:cs typeface="Times New Roman"/>
                <a:sym typeface="Times New Roman"/>
              </a:rPr>
              <a:t>Kết hợp các chỉ số quan trọng về dư nợ, thu nhập và chất lượng tín dụng, giúp lãnh đạo có cái nhìn tổng thể về danh mục cho vay.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2"/>
          <p:cNvSpPr/>
          <p:nvPr/>
        </p:nvSpPr>
        <p:spPr>
          <a:xfrm>
            <a:off x="0" y="0"/>
            <a:ext cx="12192000" cy="1134258"/>
          </a:xfrm>
          <a:prstGeom prst="rect">
            <a:avLst/>
          </a:prstGeom>
          <a:solidFill>
            <a:srgbClr val="A8D08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vi-VN" sz="4000" b="1" i="0">
                <a:solidFill>
                  <a:srgbClr val="000000"/>
                </a:solidFill>
                <a:latin typeface="Times New Roman"/>
                <a:ea typeface="Times New Roman"/>
                <a:cs typeface="Times New Roman"/>
                <a:sym typeface="Times New Roman"/>
              </a:rPr>
              <a:t>Đề bài xây dựng dashboard</a:t>
            </a:r>
            <a:endParaRPr/>
          </a:p>
        </p:txBody>
      </p:sp>
      <p:pic>
        <p:nvPicPr>
          <p:cNvPr id="406" name="Google Shape;406;p22" descr="Logo"/>
          <p:cNvPicPr preferRelativeResize="0"/>
          <p:nvPr/>
        </p:nvPicPr>
        <p:blipFill rotWithShape="1">
          <a:blip r:embed="rId3">
            <a:alphaModFix/>
          </a:blip>
          <a:srcRect/>
          <a:stretch/>
        </p:blipFill>
        <p:spPr>
          <a:xfrm>
            <a:off x="309235" y="73262"/>
            <a:ext cx="2479685" cy="981542"/>
          </a:xfrm>
          <a:prstGeom prst="rect">
            <a:avLst/>
          </a:prstGeom>
          <a:noFill/>
          <a:ln>
            <a:noFill/>
          </a:ln>
        </p:spPr>
      </p:pic>
      <p:sp>
        <p:nvSpPr>
          <p:cNvPr id="407" name="Rounded Rectangle 406"/>
          <p:cNvSpPr/>
          <p:nvPr/>
        </p:nvSpPr>
        <p:spPr>
          <a:xfrm>
            <a:off x="365760" y="1280160"/>
            <a:ext cx="5669280" cy="731520"/>
          </a:xfrm>
          <a:prstGeom prst="roundRect">
            <a:avLst>
              <a:gd name="adj" fmla="val 20000"/>
            </a:avLst>
          </a:prstGeom>
          <a:solidFill>
            <a:srgbClr val="E2F0D9"/>
          </a:solidFill>
          <a:ln w="19050">
            <a:solidFill>
              <a:srgbClr val="2E5B31"/>
            </a:solidFill>
          </a:ln>
        </p:spPr>
        <p:txBody>
          <a:bodyPr wrap="square" lIns="685800" tIns="27432" bIns="27432" rtlCol="0" anchor="ctr"/>
          <a:lstStyle/>
          <a:p>
            <a:pPr algn="l"/>
            <a:r>
              <a:rPr lang="vi-VN" sz="1700" b="1" i="0">
                <a:solidFill>
                  <a:srgbClr val="222222"/>
                </a:solidFill>
                <a:latin typeface="Times New Roman"/>
                <a:cs typeface="Times New Roman"/>
              </a:rPr>
              <a:t>1  File Power BI</a:t>
            </a:r>
            <a:r>
              <a:rPr lang="vi-VN" sz="1700" b="0" i="0">
                <a:solidFill>
                  <a:srgbClr val="222222"/>
                </a:solidFill>
                <a:latin typeface="Times New Roman"/>
                <a:cs typeface="Times New Roman"/>
              </a:rPr>
              <a:t> – dashboard gồm 4 trang</a:t>
            </a:r>
          </a:p>
        </p:txBody>
      </p:sp>
      <p:pic>
        <p:nvPicPr>
          <p:cNvPr id="408" name="Picture 407" descr="image.png"/>
          <p:cNvPicPr>
            <a:picLocks noChangeAspect="1"/>
          </p:cNvPicPr>
          <p:nvPr/>
        </p:nvPicPr>
        <p:blipFill>
          <a:blip r:embed="rId4"/>
          <a:stretch>
            <a:fillRect/>
          </a:stretch>
        </p:blipFill>
        <p:spPr>
          <a:xfrm>
            <a:off x="502920" y="1435608"/>
            <a:ext cx="411480" cy="411480"/>
          </a:xfrm>
          <a:prstGeom prst="rect">
            <a:avLst/>
          </a:prstGeom>
        </p:spPr>
      </p:pic>
      <p:sp>
        <p:nvSpPr>
          <p:cNvPr id="409" name="Rounded Rectangle 408"/>
          <p:cNvSpPr/>
          <p:nvPr/>
        </p:nvSpPr>
        <p:spPr>
          <a:xfrm>
            <a:off x="6153912" y="1280160"/>
            <a:ext cx="5669280" cy="731520"/>
          </a:xfrm>
          <a:prstGeom prst="roundRect">
            <a:avLst>
              <a:gd name="adj" fmla="val 20000"/>
            </a:avLst>
          </a:prstGeom>
          <a:solidFill>
            <a:srgbClr val="FBE5D6"/>
          </a:solidFill>
          <a:ln w="19050">
            <a:solidFill>
              <a:srgbClr val="C55A11"/>
            </a:solidFill>
          </a:ln>
        </p:spPr>
        <p:txBody>
          <a:bodyPr wrap="square" lIns="685800" tIns="27432" bIns="27432" rtlCol="0" anchor="ctr"/>
          <a:lstStyle/>
          <a:p>
            <a:pPr algn="l"/>
            <a:r>
              <a:rPr lang="vi-VN" sz="1700" b="1" i="0">
                <a:solidFill>
                  <a:srgbClr val="222222"/>
                </a:solidFill>
                <a:latin typeface="Times New Roman"/>
                <a:cs typeface="Times New Roman"/>
              </a:rPr>
              <a:t>2  Báo cáo phân tích</a:t>
            </a:r>
            <a:r>
              <a:rPr lang="vi-VN" sz="1700" b="0" i="0">
                <a:solidFill>
                  <a:srgbClr val="222222"/>
                </a:solidFill>
                <a:latin typeface="Times New Roman"/>
                <a:cs typeface="Times New Roman"/>
              </a:rPr>
              <a:t> – gồm 8 phần</a:t>
            </a:r>
          </a:p>
        </p:txBody>
      </p:sp>
      <p:pic>
        <p:nvPicPr>
          <p:cNvPr id="410" name="Picture 409" descr="image.png"/>
          <p:cNvPicPr>
            <a:picLocks noChangeAspect="1"/>
          </p:cNvPicPr>
          <p:nvPr/>
        </p:nvPicPr>
        <p:blipFill>
          <a:blip r:embed="rId5"/>
          <a:stretch>
            <a:fillRect/>
          </a:stretch>
        </p:blipFill>
        <p:spPr>
          <a:xfrm>
            <a:off x="6291072" y="1435608"/>
            <a:ext cx="411480" cy="411480"/>
          </a:xfrm>
          <a:prstGeom prst="rect">
            <a:avLst/>
          </a:prstGeom>
        </p:spPr>
      </p:pic>
      <p:sp>
        <p:nvSpPr>
          <p:cNvPr id="411" name="TextBox 410"/>
          <p:cNvSpPr txBox="1"/>
          <p:nvPr/>
        </p:nvSpPr>
        <p:spPr>
          <a:xfrm>
            <a:off x="365760" y="2148840"/>
            <a:ext cx="11457432" cy="365760"/>
          </a:xfrm>
          <a:prstGeom prst="rect">
            <a:avLst/>
          </a:prstGeom>
          <a:noFill/>
        </p:spPr>
        <p:txBody>
          <a:bodyPr wrap="square" lIns="0" tIns="0" rIns="0" bIns="0" anchor="ctr"/>
          <a:lstStyle/>
          <a:p>
            <a:pPr algn="l"/>
            <a:r>
              <a:rPr lang="vi-VN" sz="1600" b="1" i="0">
                <a:solidFill>
                  <a:srgbClr val="1A365D"/>
                </a:solidFill>
                <a:latin typeface="Times New Roman"/>
                <a:cs typeface="Times New Roman"/>
              </a:rPr>
              <a:t>Bộ lọc dùng chung cho cả 4 trang</a:t>
            </a:r>
          </a:p>
        </p:txBody>
      </p:sp>
      <p:sp>
        <p:nvSpPr>
          <p:cNvPr id="412" name="Rounded Rectangle 411"/>
          <p:cNvSpPr/>
          <p:nvPr/>
        </p:nvSpPr>
        <p:spPr>
          <a:xfrm>
            <a:off x="365760" y="2560320"/>
            <a:ext cx="3749039" cy="960120"/>
          </a:xfrm>
          <a:prstGeom prst="roundRect">
            <a:avLst>
              <a:gd name="adj" fmla="val 8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13" name="Picture 412" descr="FaCalendarAlt_g.png"/>
          <p:cNvPicPr>
            <a:picLocks noChangeAspect="1"/>
          </p:cNvPicPr>
          <p:nvPr/>
        </p:nvPicPr>
        <p:blipFill>
          <a:blip r:embed="rId6"/>
          <a:stretch>
            <a:fillRect/>
          </a:stretch>
        </p:blipFill>
        <p:spPr>
          <a:xfrm>
            <a:off x="457200" y="2848356"/>
            <a:ext cx="384048" cy="384048"/>
          </a:xfrm>
          <a:prstGeom prst="rect">
            <a:avLst/>
          </a:prstGeom>
        </p:spPr>
      </p:pic>
      <p:sp>
        <p:nvSpPr>
          <p:cNvPr id="414" name="TextBox 413"/>
          <p:cNvSpPr txBox="1"/>
          <p:nvPr/>
        </p:nvSpPr>
        <p:spPr>
          <a:xfrm>
            <a:off x="886968" y="2578608"/>
            <a:ext cx="3182111" cy="923544"/>
          </a:xfrm>
          <a:prstGeom prst="rect">
            <a:avLst/>
          </a:prstGeom>
          <a:noFill/>
        </p:spPr>
        <p:txBody>
          <a:bodyPr wrap="square" lIns="18288" tIns="18288" rIns="36576" bIns="18288" anchor="ctr"/>
          <a:lstStyle/>
          <a:p>
            <a:pPr algn="l"/>
            <a:r>
              <a:rPr lang="vi-VN" sz="1500" b="1" i="0">
                <a:solidFill>
                  <a:srgbClr val="2E5B31"/>
                </a:solidFill>
                <a:latin typeface="Times New Roman"/>
                <a:cs typeface="Times New Roman"/>
              </a:rPr>
              <a:t>Tháng báo cáo</a:t>
            </a:r>
          </a:p>
          <a:p>
            <a:pPr algn="l"/>
            <a:r>
              <a:rPr lang="vi-VN" sz="1400" b="0" i="0">
                <a:solidFill>
                  <a:srgbClr val="222222"/>
                </a:solidFill>
                <a:latin typeface="Times New Roman"/>
                <a:cs typeface="Times New Roman"/>
              </a:rPr>
              <a:t>Chọn một · mặc định là tháng mới nhất</a:t>
            </a:r>
          </a:p>
        </p:txBody>
      </p:sp>
      <p:sp>
        <p:nvSpPr>
          <p:cNvPr id="415" name="Rounded Rectangle 414"/>
          <p:cNvSpPr/>
          <p:nvPr/>
        </p:nvSpPr>
        <p:spPr>
          <a:xfrm>
            <a:off x="4219956" y="2560320"/>
            <a:ext cx="3749039" cy="960120"/>
          </a:xfrm>
          <a:prstGeom prst="roundRect">
            <a:avLst>
              <a:gd name="adj" fmla="val 8000"/>
            </a:avLst>
          </a:prstGeom>
          <a:solidFill>
            <a:srgbClr val="FFFFFF"/>
          </a:solidFill>
          <a:ln w="19050">
            <a:solidFill>
              <a:srgbClr val="C55A11"/>
            </a:solidFill>
          </a:ln>
        </p:spPr>
        <p:txBody>
          <a:bodyPr wrap="square" lIns="73152" tIns="36576" rIns="73152" bIns="36576" rtlCol="0" anchor="ctr"/>
          <a:lstStyle/>
          <a:p>
            <a:pPr algn="ctr"/>
            <a:endParaRPr/>
          </a:p>
        </p:txBody>
      </p:sp>
      <p:pic>
        <p:nvPicPr>
          <p:cNvPr id="416" name="Picture 415" descr="FaLayerGroup_o.png"/>
          <p:cNvPicPr>
            <a:picLocks noChangeAspect="1"/>
          </p:cNvPicPr>
          <p:nvPr/>
        </p:nvPicPr>
        <p:blipFill>
          <a:blip r:embed="rId7"/>
          <a:stretch>
            <a:fillRect/>
          </a:stretch>
        </p:blipFill>
        <p:spPr>
          <a:xfrm>
            <a:off x="4311396" y="2848356"/>
            <a:ext cx="384048" cy="384048"/>
          </a:xfrm>
          <a:prstGeom prst="rect">
            <a:avLst/>
          </a:prstGeom>
        </p:spPr>
      </p:pic>
      <p:sp>
        <p:nvSpPr>
          <p:cNvPr id="417" name="TextBox 416"/>
          <p:cNvSpPr txBox="1"/>
          <p:nvPr/>
        </p:nvSpPr>
        <p:spPr>
          <a:xfrm>
            <a:off x="4741164" y="2578608"/>
            <a:ext cx="3182111" cy="923544"/>
          </a:xfrm>
          <a:prstGeom prst="rect">
            <a:avLst/>
          </a:prstGeom>
          <a:noFill/>
        </p:spPr>
        <p:txBody>
          <a:bodyPr wrap="square" lIns="18288" tIns="18288" rIns="36576" bIns="18288" anchor="ctr"/>
          <a:lstStyle/>
          <a:p>
            <a:pPr algn="l"/>
            <a:r>
              <a:rPr lang="vi-VN" sz="1500" b="1" i="0">
                <a:solidFill>
                  <a:srgbClr val="C55A11"/>
                </a:solidFill>
                <a:latin typeface="Times New Roman"/>
                <a:cs typeface="Times New Roman"/>
              </a:rPr>
              <a:t>Phân khúc</a:t>
            </a:r>
          </a:p>
          <a:p>
            <a:pPr algn="l"/>
            <a:r>
              <a:rPr lang="vi-VN" sz="1400" b="0" i="0">
                <a:solidFill>
                  <a:srgbClr val="222222"/>
                </a:solidFill>
                <a:latin typeface="Times New Roman"/>
                <a:cs typeface="Times New Roman"/>
              </a:rPr>
              <a:t>Chọn nhiều · mặc định Tất cả</a:t>
            </a:r>
          </a:p>
        </p:txBody>
      </p:sp>
      <p:sp>
        <p:nvSpPr>
          <p:cNvPr id="418" name="Rounded Rectangle 417"/>
          <p:cNvSpPr/>
          <p:nvPr/>
        </p:nvSpPr>
        <p:spPr>
          <a:xfrm>
            <a:off x="8074152" y="2560320"/>
            <a:ext cx="3749039" cy="960120"/>
          </a:xfrm>
          <a:prstGeom prst="roundRect">
            <a:avLst>
              <a:gd name="adj" fmla="val 8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419" name="Picture 418" descr="FaBriefcase_n.png"/>
          <p:cNvPicPr>
            <a:picLocks noChangeAspect="1"/>
          </p:cNvPicPr>
          <p:nvPr/>
        </p:nvPicPr>
        <p:blipFill>
          <a:blip r:embed="rId8"/>
          <a:stretch>
            <a:fillRect/>
          </a:stretch>
        </p:blipFill>
        <p:spPr>
          <a:xfrm>
            <a:off x="8165592" y="2848356"/>
            <a:ext cx="384048" cy="384048"/>
          </a:xfrm>
          <a:prstGeom prst="rect">
            <a:avLst/>
          </a:prstGeom>
        </p:spPr>
      </p:pic>
      <p:sp>
        <p:nvSpPr>
          <p:cNvPr id="420" name="TextBox 419"/>
          <p:cNvSpPr txBox="1"/>
          <p:nvPr/>
        </p:nvSpPr>
        <p:spPr>
          <a:xfrm>
            <a:off x="8595360" y="2578608"/>
            <a:ext cx="3182111" cy="923544"/>
          </a:xfrm>
          <a:prstGeom prst="rect">
            <a:avLst/>
          </a:prstGeom>
          <a:noFill/>
        </p:spPr>
        <p:txBody>
          <a:bodyPr wrap="square" lIns="18288" tIns="18288" rIns="36576" bIns="18288" anchor="ctr"/>
          <a:lstStyle/>
          <a:p>
            <a:pPr algn="l"/>
            <a:r>
              <a:rPr lang="vi-VN" sz="1500" b="1" i="0">
                <a:solidFill>
                  <a:srgbClr val="123A7A"/>
                </a:solidFill>
                <a:latin typeface="Times New Roman"/>
                <a:cs typeface="Times New Roman"/>
              </a:rPr>
              <a:t>Sản phẩm</a:t>
            </a:r>
          </a:p>
          <a:p>
            <a:pPr algn="l"/>
            <a:r>
              <a:rPr lang="vi-VN" sz="1400" b="0" i="0">
                <a:solidFill>
                  <a:srgbClr val="222222"/>
                </a:solidFill>
                <a:latin typeface="Times New Roman"/>
                <a:cs typeface="Times New Roman"/>
              </a:rPr>
              <a:t>Chọn một · CV thường, UPAS thường, UPAS X</a:t>
            </a:r>
          </a:p>
        </p:txBody>
      </p:sp>
      <p:sp>
        <p:nvSpPr>
          <p:cNvPr id="421" name="TextBox 420"/>
          <p:cNvSpPr txBox="1"/>
          <p:nvPr/>
        </p:nvSpPr>
        <p:spPr>
          <a:xfrm>
            <a:off x="365760" y="3703320"/>
            <a:ext cx="11457432" cy="365760"/>
          </a:xfrm>
          <a:prstGeom prst="rect">
            <a:avLst/>
          </a:prstGeom>
          <a:noFill/>
        </p:spPr>
        <p:txBody>
          <a:bodyPr wrap="square" lIns="0" tIns="0" rIns="0" bIns="0" anchor="ctr"/>
          <a:lstStyle/>
          <a:p>
            <a:pPr algn="l"/>
            <a:r>
              <a:rPr lang="vi-VN" sz="1600" b="1" i="0">
                <a:solidFill>
                  <a:srgbClr val="1A365D"/>
                </a:solidFill>
                <a:latin typeface="Times New Roman"/>
                <a:cs typeface="Times New Roman"/>
              </a:rPr>
              <a:t>Bốn trang dashboard</a:t>
            </a:r>
          </a:p>
        </p:txBody>
      </p:sp>
      <p:sp>
        <p:nvSpPr>
          <p:cNvPr id="422" name="Rounded Rectangle 421"/>
          <p:cNvSpPr/>
          <p:nvPr/>
        </p:nvSpPr>
        <p:spPr>
          <a:xfrm>
            <a:off x="365760" y="4114800"/>
            <a:ext cx="2788920" cy="182880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23" name="Oval 422"/>
          <p:cNvSpPr/>
          <p:nvPr/>
        </p:nvSpPr>
        <p:spPr>
          <a:xfrm>
            <a:off x="1371600" y="4206240"/>
            <a:ext cx="731520" cy="731520"/>
          </a:xfrm>
          <a:prstGeom prst="ellipse">
            <a:avLst/>
          </a:prstGeom>
          <a:solidFill>
            <a:srgbClr val="2E5B31"/>
          </a:solidFill>
          <a:ln>
            <a:noFill/>
          </a:ln>
        </p:spPr>
        <p:txBody>
          <a:bodyPr wrap="square" lIns="0" tIns="0" rIns="0" bIns="0" rtlCol="0" anchor="ctr"/>
          <a:lstStyle/>
          <a:p>
            <a:pPr algn="ctr"/>
            <a:endParaRPr/>
          </a:p>
        </p:txBody>
      </p:sp>
      <p:pic>
        <p:nvPicPr>
          <p:cNvPr id="424" name="Picture 423" descr="image.png"/>
          <p:cNvPicPr>
            <a:picLocks noChangeAspect="1"/>
          </p:cNvPicPr>
          <p:nvPr/>
        </p:nvPicPr>
        <p:blipFill>
          <a:blip r:embed="rId9"/>
          <a:stretch>
            <a:fillRect/>
          </a:stretch>
        </p:blipFill>
        <p:spPr>
          <a:xfrm>
            <a:off x="1545336" y="4379976"/>
            <a:ext cx="384048" cy="384048"/>
          </a:xfrm>
          <a:prstGeom prst="rect">
            <a:avLst/>
          </a:prstGeom>
        </p:spPr>
      </p:pic>
      <p:sp>
        <p:nvSpPr>
          <p:cNvPr id="425" name="TextBox 424"/>
          <p:cNvSpPr txBox="1"/>
          <p:nvPr/>
        </p:nvSpPr>
        <p:spPr>
          <a:xfrm>
            <a:off x="457200" y="4937760"/>
            <a:ext cx="2606040" cy="960120"/>
          </a:xfrm>
          <a:prstGeom prst="rect">
            <a:avLst/>
          </a:prstGeom>
          <a:noFill/>
        </p:spPr>
        <p:txBody>
          <a:bodyPr wrap="square" lIns="73152" tIns="36576" rIns="73152" bIns="36576" anchor="t"/>
          <a:lstStyle/>
          <a:p>
            <a:pPr algn="ctr"/>
            <a:r>
              <a:rPr lang="vi-VN" sz="1700" b="1" i="0">
                <a:solidFill>
                  <a:srgbClr val="2E5B31"/>
                </a:solidFill>
                <a:latin typeface="Times New Roman"/>
                <a:cs typeface="Times New Roman"/>
              </a:rPr>
              <a:t>Tổng quan</a:t>
            </a:r>
          </a:p>
          <a:p>
            <a:pPr algn="ctr"/>
            <a:r>
              <a:rPr lang="vi-VN" sz="1350" b="0" i="0">
                <a:solidFill>
                  <a:srgbClr val="222222"/>
                </a:solidFill>
                <a:latin typeface="Times New Roman"/>
                <a:cs typeface="Times New Roman"/>
              </a:rPr>
              <a:t>6 thẻ KPI + 3 line chart xu hướng</a:t>
            </a:r>
          </a:p>
        </p:txBody>
      </p:sp>
      <p:sp>
        <p:nvSpPr>
          <p:cNvPr id="426" name="Rounded Rectangle 425"/>
          <p:cNvSpPr/>
          <p:nvPr/>
        </p:nvSpPr>
        <p:spPr>
          <a:xfrm>
            <a:off x="3264408" y="4114800"/>
            <a:ext cx="2788920" cy="1828800"/>
          </a:xfrm>
          <a:prstGeom prst="roundRect">
            <a:avLst>
              <a:gd name="adj" fmla="val 6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27" name="Oval 426"/>
          <p:cNvSpPr/>
          <p:nvPr/>
        </p:nvSpPr>
        <p:spPr>
          <a:xfrm>
            <a:off x="4270248" y="4206240"/>
            <a:ext cx="731520" cy="731520"/>
          </a:xfrm>
          <a:prstGeom prst="ellipse">
            <a:avLst/>
          </a:prstGeom>
          <a:solidFill>
            <a:srgbClr val="C55A11"/>
          </a:solidFill>
          <a:ln>
            <a:noFill/>
          </a:ln>
        </p:spPr>
        <p:txBody>
          <a:bodyPr wrap="square" lIns="0" tIns="0" rIns="0" bIns="0" rtlCol="0" anchor="ctr"/>
          <a:lstStyle/>
          <a:p>
            <a:pPr algn="ctr"/>
            <a:endParaRPr/>
          </a:p>
        </p:txBody>
      </p:sp>
      <p:pic>
        <p:nvPicPr>
          <p:cNvPr id="428" name="Picture 427" descr="image.png"/>
          <p:cNvPicPr>
            <a:picLocks noChangeAspect="1"/>
          </p:cNvPicPr>
          <p:nvPr/>
        </p:nvPicPr>
        <p:blipFill>
          <a:blip r:embed="rId10"/>
          <a:stretch>
            <a:fillRect/>
          </a:stretch>
        </p:blipFill>
        <p:spPr>
          <a:xfrm>
            <a:off x="4443984" y="4379976"/>
            <a:ext cx="384048" cy="384048"/>
          </a:xfrm>
          <a:prstGeom prst="rect">
            <a:avLst/>
          </a:prstGeom>
        </p:spPr>
      </p:pic>
      <p:sp>
        <p:nvSpPr>
          <p:cNvPr id="429" name="TextBox 428"/>
          <p:cNvSpPr txBox="1"/>
          <p:nvPr/>
        </p:nvSpPr>
        <p:spPr>
          <a:xfrm>
            <a:off x="3355848" y="4937760"/>
            <a:ext cx="2606040" cy="960120"/>
          </a:xfrm>
          <a:prstGeom prst="rect">
            <a:avLst/>
          </a:prstGeom>
          <a:noFill/>
        </p:spPr>
        <p:txBody>
          <a:bodyPr wrap="square" lIns="73152" tIns="36576" rIns="73152" bIns="36576" anchor="t"/>
          <a:lstStyle/>
          <a:p>
            <a:pPr algn="ctr"/>
            <a:r>
              <a:rPr lang="vi-VN" sz="1700" b="1" i="0">
                <a:solidFill>
                  <a:srgbClr val="C55A11"/>
                </a:solidFill>
                <a:latin typeface="Times New Roman"/>
                <a:cs typeface="Times New Roman"/>
              </a:rPr>
              <a:t>Dư nợ</a:t>
            </a:r>
          </a:p>
          <a:p>
            <a:pPr algn="ctr"/>
            <a:r>
              <a:rPr lang="vi-VN" sz="1350" b="0" i="0">
                <a:solidFill>
                  <a:srgbClr val="222222"/>
                </a:solidFill>
                <a:latin typeface="Times New Roman"/>
                <a:cs typeface="Times New Roman"/>
              </a:rPr>
              <a:t>Thẻ KPI, bảng kỳ hạn, pie, treemap, bar, Top 10 ĐVKD</a:t>
            </a:r>
          </a:p>
        </p:txBody>
      </p:sp>
      <p:sp>
        <p:nvSpPr>
          <p:cNvPr id="430" name="Rounded Rectangle 429"/>
          <p:cNvSpPr/>
          <p:nvPr/>
        </p:nvSpPr>
        <p:spPr>
          <a:xfrm>
            <a:off x="6163056" y="4114800"/>
            <a:ext cx="2788920" cy="182880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31" name="Oval 430"/>
          <p:cNvSpPr/>
          <p:nvPr/>
        </p:nvSpPr>
        <p:spPr>
          <a:xfrm>
            <a:off x="7168896" y="4206240"/>
            <a:ext cx="731520" cy="731520"/>
          </a:xfrm>
          <a:prstGeom prst="ellipse">
            <a:avLst/>
          </a:prstGeom>
          <a:solidFill>
            <a:srgbClr val="123A7A"/>
          </a:solidFill>
          <a:ln>
            <a:noFill/>
          </a:ln>
        </p:spPr>
        <p:txBody>
          <a:bodyPr wrap="square" lIns="0" tIns="0" rIns="0" bIns="0" rtlCol="0" anchor="ctr"/>
          <a:lstStyle/>
          <a:p>
            <a:pPr algn="ctr"/>
            <a:endParaRPr/>
          </a:p>
        </p:txBody>
      </p:sp>
      <p:pic>
        <p:nvPicPr>
          <p:cNvPr id="432" name="Picture 431" descr="image.png"/>
          <p:cNvPicPr>
            <a:picLocks noChangeAspect="1"/>
          </p:cNvPicPr>
          <p:nvPr/>
        </p:nvPicPr>
        <p:blipFill>
          <a:blip r:embed="rId11"/>
          <a:stretch>
            <a:fillRect/>
          </a:stretch>
        </p:blipFill>
        <p:spPr>
          <a:xfrm>
            <a:off x="7342631" y="4379976"/>
            <a:ext cx="384048" cy="384048"/>
          </a:xfrm>
          <a:prstGeom prst="rect">
            <a:avLst/>
          </a:prstGeom>
        </p:spPr>
      </p:pic>
      <p:sp>
        <p:nvSpPr>
          <p:cNvPr id="433" name="TextBox 432"/>
          <p:cNvSpPr txBox="1"/>
          <p:nvPr/>
        </p:nvSpPr>
        <p:spPr>
          <a:xfrm>
            <a:off x="6254496" y="4937760"/>
            <a:ext cx="2606040" cy="960120"/>
          </a:xfrm>
          <a:prstGeom prst="rect">
            <a:avLst/>
          </a:prstGeom>
          <a:noFill/>
        </p:spPr>
        <p:txBody>
          <a:bodyPr wrap="square" lIns="73152" tIns="36576" rIns="73152" bIns="36576" anchor="t"/>
          <a:lstStyle/>
          <a:p>
            <a:pPr algn="ctr"/>
            <a:r>
              <a:rPr lang="vi-VN" sz="1700" b="1" i="0">
                <a:solidFill>
                  <a:srgbClr val="123A7A"/>
                </a:solidFill>
                <a:latin typeface="Times New Roman"/>
                <a:cs typeface="Times New Roman"/>
              </a:rPr>
              <a:t>NII/TOI</a:t>
            </a:r>
          </a:p>
          <a:p>
            <a:pPr algn="ctr"/>
            <a:r>
              <a:rPr lang="vi-VN" sz="1350" b="0" i="0">
                <a:solidFill>
                  <a:srgbClr val="222222"/>
                </a:solidFill>
                <a:latin typeface="Times New Roman"/>
                <a:cs typeface="Times New Roman"/>
              </a:rPr>
              <a:t>Nửa trên NII, nửa dưới TOI (cùng bố cục)</a:t>
            </a:r>
          </a:p>
        </p:txBody>
      </p:sp>
      <p:sp>
        <p:nvSpPr>
          <p:cNvPr id="434" name="Rounded Rectangle 433"/>
          <p:cNvSpPr/>
          <p:nvPr/>
        </p:nvSpPr>
        <p:spPr>
          <a:xfrm>
            <a:off x="9061704" y="4114800"/>
            <a:ext cx="2788920" cy="1828800"/>
          </a:xfrm>
          <a:prstGeom prst="roundRect">
            <a:avLst>
              <a:gd name="adj" fmla="val 6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435" name="Oval 434"/>
          <p:cNvSpPr/>
          <p:nvPr/>
        </p:nvSpPr>
        <p:spPr>
          <a:xfrm>
            <a:off x="10067544" y="4206240"/>
            <a:ext cx="731520" cy="731520"/>
          </a:xfrm>
          <a:prstGeom prst="ellipse">
            <a:avLst/>
          </a:prstGeom>
          <a:solidFill>
            <a:srgbClr val="C00000"/>
          </a:solidFill>
          <a:ln>
            <a:noFill/>
          </a:ln>
        </p:spPr>
        <p:txBody>
          <a:bodyPr wrap="square" lIns="0" tIns="0" rIns="0" bIns="0" rtlCol="0" anchor="ctr"/>
          <a:lstStyle/>
          <a:p>
            <a:pPr algn="ctr"/>
            <a:endParaRPr/>
          </a:p>
        </p:txBody>
      </p:sp>
      <p:pic>
        <p:nvPicPr>
          <p:cNvPr id="436" name="Picture 435" descr="image.png"/>
          <p:cNvPicPr>
            <a:picLocks noChangeAspect="1"/>
          </p:cNvPicPr>
          <p:nvPr/>
        </p:nvPicPr>
        <p:blipFill>
          <a:blip r:embed="rId12"/>
          <a:stretch>
            <a:fillRect/>
          </a:stretch>
        </p:blipFill>
        <p:spPr>
          <a:xfrm>
            <a:off x="10241280" y="4379976"/>
            <a:ext cx="384048" cy="384048"/>
          </a:xfrm>
          <a:prstGeom prst="rect">
            <a:avLst/>
          </a:prstGeom>
        </p:spPr>
      </p:pic>
      <p:sp>
        <p:nvSpPr>
          <p:cNvPr id="437" name="TextBox 436"/>
          <p:cNvSpPr txBox="1"/>
          <p:nvPr/>
        </p:nvSpPr>
        <p:spPr>
          <a:xfrm>
            <a:off x="9153144" y="4937760"/>
            <a:ext cx="2606040" cy="960120"/>
          </a:xfrm>
          <a:prstGeom prst="rect">
            <a:avLst/>
          </a:prstGeom>
          <a:noFill/>
        </p:spPr>
        <p:txBody>
          <a:bodyPr wrap="square" lIns="73152" tIns="36576" rIns="73152" bIns="36576" anchor="t"/>
          <a:lstStyle/>
          <a:p>
            <a:pPr algn="ctr"/>
            <a:r>
              <a:rPr lang="vi-VN" sz="1700" b="1" i="0">
                <a:solidFill>
                  <a:srgbClr val="C00000"/>
                </a:solidFill>
                <a:latin typeface="Times New Roman"/>
                <a:cs typeface="Times New Roman"/>
              </a:rPr>
              <a:t>CLTD</a:t>
            </a:r>
          </a:p>
          <a:p>
            <a:pPr algn="ctr"/>
            <a:r>
              <a:rPr lang="vi-VN" sz="1350" b="0" i="0">
                <a:solidFill>
                  <a:srgbClr val="222222"/>
                </a:solidFill>
                <a:latin typeface="Times New Roman"/>
                <a:cs typeface="Times New Roman"/>
              </a:rPr>
              <a:t>Thẻ OD, stacked bar, bảng OD theo ĐVKD, 2 line chart</a:t>
            </a:r>
          </a:p>
        </p:txBody>
      </p:sp>
      <p:sp>
        <p:nvSpPr>
          <p:cNvPr id="438" name="Rectangle 437"/>
          <p:cNvSpPr/>
          <p:nvPr/>
        </p:nvSpPr>
        <p:spPr>
          <a:xfrm>
            <a:off x="347472" y="6144768"/>
            <a:ext cx="11475720" cy="457200"/>
          </a:xfrm>
          <a:prstGeom prst="rect">
            <a:avLst/>
          </a:prstGeom>
          <a:solidFill>
            <a:srgbClr val="E2F0D9"/>
          </a:solidFill>
          <a:ln>
            <a:noFill/>
          </a:ln>
        </p:spPr>
        <p:txBody>
          <a:bodyPr wrap="square" lIns="73152" tIns="36576" rIns="73152" bIns="36576" rtlCol="0" anchor="ctr"/>
          <a:lstStyle/>
          <a:p>
            <a:pPr algn="ctr"/>
            <a:r>
              <a:rPr lang="vi-VN" sz="1800" b="0" i="0">
                <a:solidFill>
                  <a:srgbClr val="000000"/>
                </a:solidFill>
                <a:latin typeface="Times New Roman"/>
                <a:cs typeface="Times New Roman"/>
              </a:rPr>
              <a:t>Mỗi trang có </a:t>
            </a:r>
            <a:r>
              <a:rPr lang="vi-VN" sz="1800" b="1" i="0">
                <a:solidFill>
                  <a:srgbClr val="C00000"/>
                </a:solidFill>
                <a:latin typeface="Times New Roman"/>
                <a:cs typeface="Times New Roman"/>
              </a:rPr>
              <a:t>yêu cầu tối thiểu</a:t>
            </a:r>
            <a:r>
              <a:rPr lang="vi-VN" sz="1800" b="0" i="0">
                <a:solidFill>
                  <a:srgbClr val="000000"/>
                </a:solidFill>
                <a:latin typeface="Times New Roman"/>
                <a:cs typeface="Times New Roman"/>
              </a:rPr>
              <a:t> và </a:t>
            </a:r>
            <a:r>
              <a:rPr lang="vi-VN" sz="1800" b="1" i="0">
                <a:solidFill>
                  <a:srgbClr val="123A7A"/>
                </a:solidFill>
                <a:latin typeface="Times New Roman"/>
                <a:cs typeface="Times New Roman"/>
              </a:rPr>
              <a:t>gợi ý mở rộng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Đề bài xây dựng dashboard</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11</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Trang Tổng quan: 6 thẻ KPI và 3 biểu đồ xu hướng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Tổng quan: </a:t>
            </a:r>
            <a:r>
              <a:rPr lang="vi-VN" sz="1800" b="1" i="0">
                <a:solidFill>
                  <a:srgbClr val="123A7A"/>
                </a:solidFill>
                <a:latin typeface="Times New Roman"/>
                <a:cs typeface="Times New Roman"/>
              </a:rPr>
              <a:t>6 thẻ KPI</a:t>
            </a:r>
            <a:r>
              <a:rPr lang="vi-VN" sz="1800" b="0" i="0">
                <a:solidFill>
                  <a:srgbClr val="000000"/>
                </a:solidFill>
                <a:latin typeface="Times New Roman"/>
                <a:cs typeface="Times New Roman"/>
              </a:rPr>
              <a:t> ở trên, </a:t>
            </a:r>
            <a:r>
              <a:rPr lang="vi-VN" sz="1800" b="1" i="0">
                <a:solidFill>
                  <a:srgbClr val="C55A11"/>
                </a:solidFill>
                <a:latin typeface="Times New Roman"/>
                <a:cs typeface="Times New Roman"/>
              </a:rPr>
              <a:t>3 line chart</a:t>
            </a:r>
            <a:r>
              <a:rPr lang="vi-VN" sz="1800" b="0" i="0">
                <a:solidFill>
                  <a:srgbClr val="000000"/>
                </a:solidFill>
                <a:latin typeface="Times New Roman"/>
                <a:cs typeface="Times New Roman"/>
              </a:rPr>
              <a:t> ở dưới</a:t>
            </a:r>
          </a:p>
        </p:txBody>
      </p:sp>
      <p:sp>
        <p:nvSpPr>
          <p:cNvPr id="474" name="Rounded Rectangle 473"/>
          <p:cNvSpPr/>
          <p:nvPr/>
        </p:nvSpPr>
        <p:spPr>
          <a:xfrm>
            <a:off x="365760" y="1417320"/>
            <a:ext cx="1828800" cy="160020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75" name="Rectangle 474"/>
          <p:cNvSpPr/>
          <p:nvPr/>
        </p:nvSpPr>
        <p:spPr>
          <a:xfrm>
            <a:off x="365760" y="1490472"/>
            <a:ext cx="64008" cy="1453896"/>
          </a:xfrm>
          <a:prstGeom prst="rect">
            <a:avLst/>
          </a:prstGeom>
          <a:solidFill>
            <a:srgbClr val="2E5B31"/>
          </a:solidFill>
          <a:ln>
            <a:noFill/>
          </a:ln>
        </p:spPr>
        <p:txBody>
          <a:bodyPr wrap="square" lIns="73152" tIns="36576" rIns="73152" bIns="36576" rtlCol="0" anchor="ctr"/>
          <a:lstStyle/>
          <a:p>
            <a:pPr algn="ctr"/>
            <a:endParaRPr/>
          </a:p>
        </p:txBody>
      </p:sp>
      <p:sp>
        <p:nvSpPr>
          <p:cNvPr id="476" name="TextBox 475"/>
          <p:cNvSpPr txBox="1"/>
          <p:nvPr/>
        </p:nvSpPr>
        <p:spPr>
          <a:xfrm>
            <a:off x="475488" y="1453896"/>
            <a:ext cx="1682496" cy="152704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Dư nợ hiện tại</a:t>
            </a:r>
          </a:p>
          <a:p>
            <a:pPr algn="l"/>
            <a:r>
              <a:rPr lang="vi-VN" sz="1200" b="1" i="0">
                <a:solidFill>
                  <a:srgbClr val="2E5B31"/>
                </a:solidFill>
                <a:latin typeface="Times New Roman"/>
                <a:cs typeface="Times New Roman"/>
              </a:rPr>
              <a:t>số cuối tháng báo cáo</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77" name="Rounded Rectangle 476"/>
          <p:cNvSpPr/>
          <p:nvPr/>
        </p:nvSpPr>
        <p:spPr>
          <a:xfrm>
            <a:off x="2286000" y="1417320"/>
            <a:ext cx="1828800" cy="160020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78" name="Rectangle 477"/>
          <p:cNvSpPr/>
          <p:nvPr/>
        </p:nvSpPr>
        <p:spPr>
          <a:xfrm>
            <a:off x="2286000" y="1490472"/>
            <a:ext cx="64008" cy="1453896"/>
          </a:xfrm>
          <a:prstGeom prst="rect">
            <a:avLst/>
          </a:prstGeom>
          <a:solidFill>
            <a:srgbClr val="2E5B31"/>
          </a:solidFill>
          <a:ln>
            <a:noFill/>
          </a:ln>
        </p:spPr>
        <p:txBody>
          <a:bodyPr wrap="square" lIns="73152" tIns="36576" rIns="73152" bIns="36576" rtlCol="0" anchor="ctr"/>
          <a:lstStyle/>
          <a:p>
            <a:pPr algn="ctr"/>
            <a:endParaRPr/>
          </a:p>
        </p:txBody>
      </p:sp>
      <p:sp>
        <p:nvSpPr>
          <p:cNvPr id="479" name="TextBox 478"/>
          <p:cNvSpPr txBox="1"/>
          <p:nvPr/>
        </p:nvSpPr>
        <p:spPr>
          <a:xfrm>
            <a:off x="2395728" y="1453896"/>
            <a:ext cx="1682496" cy="152704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DNBQ YTD (optional)</a:t>
            </a:r>
          </a:p>
          <a:p>
            <a:pPr algn="l"/>
            <a:r>
              <a:rPr lang="vi-VN" sz="1200" b="1" i="0">
                <a:solidFill>
                  <a:srgbClr val="2E5B31"/>
                </a:solidFill>
                <a:latin typeface="Times New Roman"/>
                <a:cs typeface="Times New Roman"/>
              </a:rPr>
              <a:t>bình quân lũy kế năm</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0" name="Rounded Rectangle 479"/>
          <p:cNvSpPr/>
          <p:nvPr/>
        </p:nvSpPr>
        <p:spPr>
          <a:xfrm>
            <a:off x="4206240" y="1417320"/>
            <a:ext cx="1828800" cy="160020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81" name="Rectangle 480"/>
          <p:cNvSpPr/>
          <p:nvPr/>
        </p:nvSpPr>
        <p:spPr>
          <a:xfrm>
            <a:off x="4206240" y="1490472"/>
            <a:ext cx="64008" cy="1453896"/>
          </a:xfrm>
          <a:prstGeom prst="rect">
            <a:avLst/>
          </a:prstGeom>
          <a:solidFill>
            <a:srgbClr val="2E5B31"/>
          </a:solidFill>
          <a:ln>
            <a:noFill/>
          </a:ln>
        </p:spPr>
        <p:txBody>
          <a:bodyPr wrap="square" lIns="73152" tIns="36576" rIns="73152" bIns="36576" rtlCol="0" anchor="ctr"/>
          <a:lstStyle/>
          <a:p>
            <a:pPr algn="ctr"/>
            <a:endParaRPr/>
          </a:p>
        </p:txBody>
      </p:sp>
      <p:sp>
        <p:nvSpPr>
          <p:cNvPr id="482" name="TextBox 481"/>
          <p:cNvSpPr txBox="1"/>
          <p:nvPr/>
        </p:nvSpPr>
        <p:spPr>
          <a:xfrm>
            <a:off x="4315968" y="1453896"/>
            <a:ext cx="1682496" cy="152704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NII YTD</a:t>
            </a:r>
          </a:p>
          <a:p>
            <a:pPr algn="l"/>
            <a:r>
              <a:rPr lang="vi-VN" sz="1200" b="1" i="0">
                <a:solidFill>
                  <a:srgbClr val="2E5B31"/>
                </a:solidFill>
                <a:latin typeface="Times New Roman"/>
                <a:cs typeface="Times New Roman"/>
              </a:rPr>
              <a:t>lũy kế từ đầu năm</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3" name="Rounded Rectangle 482"/>
          <p:cNvSpPr/>
          <p:nvPr/>
        </p:nvSpPr>
        <p:spPr>
          <a:xfrm>
            <a:off x="6126480" y="1417320"/>
            <a:ext cx="1828800" cy="160020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84" name="Rectangle 483"/>
          <p:cNvSpPr/>
          <p:nvPr/>
        </p:nvSpPr>
        <p:spPr>
          <a:xfrm>
            <a:off x="6126480" y="1490472"/>
            <a:ext cx="64008" cy="1453896"/>
          </a:xfrm>
          <a:prstGeom prst="rect">
            <a:avLst/>
          </a:prstGeom>
          <a:solidFill>
            <a:srgbClr val="123A7A"/>
          </a:solidFill>
          <a:ln>
            <a:noFill/>
          </a:ln>
        </p:spPr>
        <p:txBody>
          <a:bodyPr wrap="square" lIns="73152" tIns="36576" rIns="73152" bIns="36576" rtlCol="0" anchor="ctr"/>
          <a:lstStyle/>
          <a:p>
            <a:pPr algn="ctr"/>
            <a:endParaRPr/>
          </a:p>
        </p:txBody>
      </p:sp>
      <p:sp>
        <p:nvSpPr>
          <p:cNvPr id="485" name="TextBox 484"/>
          <p:cNvSpPr txBox="1"/>
          <p:nvPr/>
        </p:nvSpPr>
        <p:spPr>
          <a:xfrm>
            <a:off x="6236208" y="1453896"/>
            <a:ext cx="1682496" cy="152704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TOI YTD</a:t>
            </a:r>
          </a:p>
          <a:p>
            <a:pPr algn="l"/>
            <a:r>
              <a:rPr lang="vi-VN" sz="1200" b="1" i="0">
                <a:solidFill>
                  <a:srgbClr val="123A7A"/>
                </a:solidFill>
                <a:latin typeface="Times New Roman"/>
                <a:cs typeface="Times New Roman"/>
              </a:rPr>
              <a:t>lũy kế từ đầu năm</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6" name="Rounded Rectangle 485"/>
          <p:cNvSpPr/>
          <p:nvPr/>
        </p:nvSpPr>
        <p:spPr>
          <a:xfrm>
            <a:off x="8046720" y="1417320"/>
            <a:ext cx="1828800" cy="160020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87" name="Rectangle 486"/>
          <p:cNvSpPr/>
          <p:nvPr/>
        </p:nvSpPr>
        <p:spPr>
          <a:xfrm>
            <a:off x="8046720" y="1490472"/>
            <a:ext cx="64008" cy="1453896"/>
          </a:xfrm>
          <a:prstGeom prst="rect">
            <a:avLst/>
          </a:prstGeom>
          <a:solidFill>
            <a:srgbClr val="123A7A"/>
          </a:solidFill>
          <a:ln>
            <a:noFill/>
          </a:ln>
        </p:spPr>
        <p:txBody>
          <a:bodyPr wrap="square" lIns="73152" tIns="36576" rIns="73152" bIns="36576" rtlCol="0" anchor="ctr"/>
          <a:lstStyle/>
          <a:p>
            <a:pPr algn="ctr"/>
            <a:endParaRPr/>
          </a:p>
        </p:txBody>
      </p:sp>
      <p:sp>
        <p:nvSpPr>
          <p:cNvPr id="488" name="TextBox 487"/>
          <p:cNvSpPr txBox="1"/>
          <p:nvPr/>
        </p:nvSpPr>
        <p:spPr>
          <a:xfrm>
            <a:off x="8156448" y="1453896"/>
            <a:ext cx="1682496" cy="152704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Tỷ lệ OD2</a:t>
            </a:r>
          </a:p>
          <a:p>
            <a:pPr algn="l"/>
            <a:r>
              <a:rPr lang="vi-VN" sz="1200" b="1" i="0">
                <a:solidFill>
                  <a:srgbClr val="123A7A"/>
                </a:solidFill>
                <a:latin typeface="Times New Roman"/>
                <a:cs typeface="Times New Roman"/>
              </a:rPr>
              <a:t>hiện tại</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9" name="Rounded Rectangle 488"/>
          <p:cNvSpPr/>
          <p:nvPr/>
        </p:nvSpPr>
        <p:spPr>
          <a:xfrm>
            <a:off x="9966960" y="1417320"/>
            <a:ext cx="1828800" cy="160020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90" name="Rectangle 489"/>
          <p:cNvSpPr/>
          <p:nvPr/>
        </p:nvSpPr>
        <p:spPr>
          <a:xfrm>
            <a:off x="9966960" y="1490472"/>
            <a:ext cx="64008" cy="1453896"/>
          </a:xfrm>
          <a:prstGeom prst="rect">
            <a:avLst/>
          </a:prstGeom>
          <a:solidFill>
            <a:srgbClr val="C00000"/>
          </a:solidFill>
          <a:ln>
            <a:noFill/>
          </a:ln>
        </p:spPr>
        <p:txBody>
          <a:bodyPr wrap="square" lIns="73152" tIns="36576" rIns="73152" bIns="36576" rtlCol="0" anchor="ctr"/>
          <a:lstStyle/>
          <a:p>
            <a:pPr algn="ctr"/>
            <a:endParaRPr/>
          </a:p>
        </p:txBody>
      </p:sp>
      <p:sp>
        <p:nvSpPr>
          <p:cNvPr id="491" name="TextBox 490"/>
          <p:cNvSpPr txBox="1"/>
          <p:nvPr/>
        </p:nvSpPr>
        <p:spPr>
          <a:xfrm>
            <a:off x="10076688" y="1453896"/>
            <a:ext cx="1682496" cy="152704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Tỷ lệ OD3-5</a:t>
            </a:r>
          </a:p>
          <a:p>
            <a:pPr algn="l"/>
            <a:r>
              <a:rPr lang="vi-VN" sz="1200" b="1" i="0">
                <a:solidFill>
                  <a:srgbClr val="C00000"/>
                </a:solidFill>
                <a:latin typeface="Times New Roman"/>
                <a:cs typeface="Times New Roman"/>
              </a:rPr>
              <a:t>hiện tại</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92" name="TextBox 491"/>
          <p:cNvSpPr txBox="1"/>
          <p:nvPr/>
        </p:nvSpPr>
        <p:spPr>
          <a:xfrm>
            <a:off x="365760" y="3090672"/>
            <a:ext cx="11457432" cy="457200"/>
          </a:xfrm>
          <a:prstGeom prst="rect">
            <a:avLst/>
          </a:prstGeom>
          <a:noFill/>
        </p:spPr>
        <p:txBody>
          <a:bodyPr wrap="square" lIns="0" tIns="0" rIns="0" bIns="0" anchor="ctr"/>
          <a:lstStyle/>
          <a:p>
            <a:pPr algn="l"/>
            <a:r>
              <a:rPr lang="vi-VN" sz="1250" b="0" i="1">
                <a:solidFill>
                  <a:srgbClr val="595959"/>
                </a:solidFill>
                <a:latin typeface="Times New Roman"/>
                <a:cs typeface="Times New Roman"/>
              </a:rPr>
              <a:t>Mỗi thẻ gồm: chỉ số hiện tại · so với cuối tháng trước (Last Month) · so với cùng tháng năm trước (Last Year). Riêng NII YTD, TOI YTD (và DNBQ YTD) so với YTD đến cuối tháng trước và YTD cùng kỳ năm trước.</a:t>
            </a:r>
          </a:p>
        </p:txBody>
      </p:sp>
      <p:sp>
        <p:nvSpPr>
          <p:cNvPr id="493" name="Rounded Rectangle 492"/>
          <p:cNvSpPr/>
          <p:nvPr/>
        </p:nvSpPr>
        <p:spPr>
          <a:xfrm>
            <a:off x="365760" y="3703320"/>
            <a:ext cx="3749039" cy="228600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94" name="Rounded Rectangle 493"/>
          <p:cNvSpPr/>
          <p:nvPr/>
        </p:nvSpPr>
        <p:spPr>
          <a:xfrm>
            <a:off x="365760" y="3703320"/>
            <a:ext cx="3749039" cy="411480"/>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Xu hướng dư nợ theo tháng</a:t>
            </a:r>
          </a:p>
        </p:txBody>
      </p:sp>
      <p:pic>
        <p:nvPicPr>
          <p:cNvPr id="495" name="Picture 494" descr="FaChartLine_g.png"/>
          <p:cNvPicPr>
            <a:picLocks noChangeAspect="1"/>
          </p:cNvPicPr>
          <p:nvPr/>
        </p:nvPicPr>
        <p:blipFill>
          <a:blip r:embed="rId4"/>
          <a:stretch>
            <a:fillRect/>
          </a:stretch>
        </p:blipFill>
        <p:spPr>
          <a:xfrm>
            <a:off x="1828800" y="4434840"/>
            <a:ext cx="822960" cy="822960"/>
          </a:xfrm>
          <a:prstGeom prst="rect">
            <a:avLst/>
          </a:prstGeom>
        </p:spPr>
      </p:pic>
      <p:sp>
        <p:nvSpPr>
          <p:cNvPr id="496" name="TextBox 495"/>
          <p:cNvSpPr txBox="1"/>
          <p:nvPr/>
        </p:nvSpPr>
        <p:spPr>
          <a:xfrm>
            <a:off x="457200" y="5303520"/>
            <a:ext cx="3566160" cy="640080"/>
          </a:xfrm>
          <a:prstGeom prst="rect">
            <a:avLst/>
          </a:prstGeom>
          <a:noFill/>
        </p:spPr>
        <p:txBody>
          <a:bodyPr wrap="square" lIns="73152" tIns="36576" rIns="73152" bIns="36576" anchor="ctr"/>
          <a:lstStyle/>
          <a:p>
            <a:pPr algn="ctr"/>
            <a:r>
              <a:rPr lang="vi-VN" sz="1250" b="0" i="1">
                <a:solidFill>
                  <a:srgbClr val="595959"/>
                </a:solidFill>
                <a:latin typeface="Times New Roman"/>
                <a:cs typeface="Times New Roman"/>
              </a:rPr>
              <a:t>Line chart theo tháng, 18 tháng từ 01/2025 đến 06/2026</a:t>
            </a:r>
          </a:p>
        </p:txBody>
      </p:sp>
      <p:sp>
        <p:nvSpPr>
          <p:cNvPr id="497" name="Rounded Rectangle 496"/>
          <p:cNvSpPr/>
          <p:nvPr/>
        </p:nvSpPr>
        <p:spPr>
          <a:xfrm>
            <a:off x="4219956" y="3703320"/>
            <a:ext cx="3749039" cy="228600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98" name="Rounded Rectangle 497"/>
          <p:cNvSpPr/>
          <p:nvPr/>
        </p:nvSpPr>
        <p:spPr>
          <a:xfrm>
            <a:off x="4219956" y="3703320"/>
            <a:ext cx="3749039" cy="411480"/>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Xu hướng NII, TOI theo tháng</a:t>
            </a:r>
          </a:p>
        </p:txBody>
      </p:sp>
      <p:pic>
        <p:nvPicPr>
          <p:cNvPr id="499" name="Picture 498" descr="FaChartLine_n.png"/>
          <p:cNvPicPr>
            <a:picLocks noChangeAspect="1"/>
          </p:cNvPicPr>
          <p:nvPr/>
        </p:nvPicPr>
        <p:blipFill>
          <a:blip r:embed="rId5"/>
          <a:stretch>
            <a:fillRect/>
          </a:stretch>
        </p:blipFill>
        <p:spPr>
          <a:xfrm>
            <a:off x="5682996" y="4434840"/>
            <a:ext cx="822960" cy="822960"/>
          </a:xfrm>
          <a:prstGeom prst="rect">
            <a:avLst/>
          </a:prstGeom>
        </p:spPr>
      </p:pic>
      <p:sp>
        <p:nvSpPr>
          <p:cNvPr id="500" name="TextBox 499"/>
          <p:cNvSpPr txBox="1"/>
          <p:nvPr/>
        </p:nvSpPr>
        <p:spPr>
          <a:xfrm>
            <a:off x="4311396" y="5303520"/>
            <a:ext cx="3566160" cy="640080"/>
          </a:xfrm>
          <a:prstGeom prst="rect">
            <a:avLst/>
          </a:prstGeom>
          <a:noFill/>
        </p:spPr>
        <p:txBody>
          <a:bodyPr wrap="square" lIns="73152" tIns="36576" rIns="73152" bIns="36576" anchor="ctr"/>
          <a:lstStyle/>
          <a:p>
            <a:pPr algn="ctr"/>
            <a:r>
              <a:rPr lang="vi-VN" sz="1250" b="0" i="1">
                <a:solidFill>
                  <a:srgbClr val="595959"/>
                </a:solidFill>
                <a:latin typeface="Times New Roman"/>
                <a:cs typeface="Times New Roman"/>
              </a:rPr>
              <a:t>Line chart theo tháng, 18 tháng từ 01/2025 đến 06/2026</a:t>
            </a:r>
          </a:p>
        </p:txBody>
      </p:sp>
      <p:sp>
        <p:nvSpPr>
          <p:cNvPr id="501" name="Rounded Rectangle 500"/>
          <p:cNvSpPr/>
          <p:nvPr/>
        </p:nvSpPr>
        <p:spPr>
          <a:xfrm>
            <a:off x="8074152" y="3703320"/>
            <a:ext cx="3749039" cy="2286000"/>
          </a:xfrm>
          <a:prstGeom prst="roundRect">
            <a:avLst>
              <a:gd name="adj" fmla="val 4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502" name="Rounded Rectangle 501"/>
          <p:cNvSpPr/>
          <p:nvPr/>
        </p:nvSpPr>
        <p:spPr>
          <a:xfrm>
            <a:off x="8074152" y="3703320"/>
            <a:ext cx="3749039" cy="411480"/>
          </a:xfrm>
          <a:prstGeom prst="roundRect">
            <a:avLst>
              <a:gd name="adj" fmla="val 25000"/>
            </a:avLst>
          </a:prstGeom>
          <a:solidFill>
            <a:srgbClr val="C00000"/>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Xu hướng tỷ lệ OD2, OD3-5 theo tháng</a:t>
            </a:r>
          </a:p>
        </p:txBody>
      </p:sp>
      <p:pic>
        <p:nvPicPr>
          <p:cNvPr id="503" name="Picture 502" descr="FaChartLine_r.png"/>
          <p:cNvPicPr>
            <a:picLocks noChangeAspect="1"/>
          </p:cNvPicPr>
          <p:nvPr/>
        </p:nvPicPr>
        <p:blipFill>
          <a:blip r:embed="rId6"/>
          <a:stretch>
            <a:fillRect/>
          </a:stretch>
        </p:blipFill>
        <p:spPr>
          <a:xfrm>
            <a:off x="9537192" y="4434840"/>
            <a:ext cx="822960" cy="822960"/>
          </a:xfrm>
          <a:prstGeom prst="rect">
            <a:avLst/>
          </a:prstGeom>
        </p:spPr>
      </p:pic>
      <p:sp>
        <p:nvSpPr>
          <p:cNvPr id="504" name="TextBox 503"/>
          <p:cNvSpPr txBox="1"/>
          <p:nvPr/>
        </p:nvSpPr>
        <p:spPr>
          <a:xfrm>
            <a:off x="8165592" y="5303520"/>
            <a:ext cx="3566160" cy="640080"/>
          </a:xfrm>
          <a:prstGeom prst="rect">
            <a:avLst/>
          </a:prstGeom>
          <a:noFill/>
        </p:spPr>
        <p:txBody>
          <a:bodyPr wrap="square" lIns="73152" tIns="36576" rIns="73152" bIns="36576" anchor="ctr"/>
          <a:lstStyle/>
          <a:p>
            <a:pPr algn="ctr"/>
            <a:r>
              <a:rPr lang="vi-VN" sz="1250" b="0" i="1">
                <a:solidFill>
                  <a:srgbClr val="595959"/>
                </a:solidFill>
                <a:latin typeface="Times New Roman"/>
                <a:cs typeface="Times New Roman"/>
              </a:rPr>
              <a:t>Line chart theo tháng, 18 tháng từ 01/2025 đến 06/2026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Đề bài xây dựng dashboard</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12</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Trang Dư nợ: quy mô và cơ cấu dư nợ ở đâu?</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Dư nợ: thẻ KPI, bảng kỳ hạn, 3 biểu đồ cơ cấu và </a:t>
            </a:r>
            <a:r>
              <a:rPr lang="vi-VN" sz="1800" b="1" i="0">
                <a:solidFill>
                  <a:srgbClr val="123A7A"/>
                </a:solidFill>
                <a:latin typeface="Times New Roman"/>
                <a:cs typeface="Times New Roman"/>
              </a:rPr>
              <a:t>Top 10 ĐVKD</a:t>
            </a:r>
          </a:p>
        </p:txBody>
      </p:sp>
      <p:sp>
        <p:nvSpPr>
          <p:cNvPr id="474" name="Rounded Rectangle 473"/>
          <p:cNvSpPr/>
          <p:nvPr/>
        </p:nvSpPr>
        <p:spPr>
          <a:xfrm>
            <a:off x="365760" y="1417320"/>
            <a:ext cx="2194560" cy="132588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75" name="Rectangle 474"/>
          <p:cNvSpPr/>
          <p:nvPr/>
        </p:nvSpPr>
        <p:spPr>
          <a:xfrm>
            <a:off x="365760" y="1490472"/>
            <a:ext cx="64008" cy="1179576"/>
          </a:xfrm>
          <a:prstGeom prst="rect">
            <a:avLst/>
          </a:prstGeom>
          <a:solidFill>
            <a:srgbClr val="2E5B31"/>
          </a:solidFill>
          <a:ln>
            <a:noFill/>
          </a:ln>
        </p:spPr>
        <p:txBody>
          <a:bodyPr wrap="square" lIns="73152" tIns="36576" rIns="73152" bIns="36576" rtlCol="0" anchor="ctr"/>
          <a:lstStyle/>
          <a:p>
            <a:pPr algn="ctr"/>
            <a:endParaRPr/>
          </a:p>
        </p:txBody>
      </p:sp>
      <p:sp>
        <p:nvSpPr>
          <p:cNvPr id="476" name="TextBox 475"/>
          <p:cNvSpPr txBox="1"/>
          <p:nvPr/>
        </p:nvSpPr>
        <p:spPr>
          <a:xfrm>
            <a:off x="475488" y="1453896"/>
            <a:ext cx="2048255" cy="125272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Dư nợ hiện tại</a:t>
            </a:r>
          </a:p>
          <a:p>
            <a:pPr algn="l"/>
            <a:r>
              <a:rPr lang="vi-VN" sz="1200" b="1" i="0">
                <a:solidFill>
                  <a:srgbClr val="2E5B31"/>
                </a:solidFill>
                <a:latin typeface="Times New Roman"/>
                <a:cs typeface="Times New Roman"/>
              </a:rPr>
              <a:t>tỷ đồng</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77" name="Rounded Rectangle 476"/>
          <p:cNvSpPr/>
          <p:nvPr/>
        </p:nvSpPr>
        <p:spPr>
          <a:xfrm>
            <a:off x="2651760" y="1417320"/>
            <a:ext cx="2194560" cy="132588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78" name="Rectangle 477"/>
          <p:cNvSpPr/>
          <p:nvPr/>
        </p:nvSpPr>
        <p:spPr>
          <a:xfrm>
            <a:off x="2651760" y="1490472"/>
            <a:ext cx="64008" cy="1179576"/>
          </a:xfrm>
          <a:prstGeom prst="rect">
            <a:avLst/>
          </a:prstGeom>
          <a:solidFill>
            <a:srgbClr val="2E5B31"/>
          </a:solidFill>
          <a:ln>
            <a:noFill/>
          </a:ln>
        </p:spPr>
        <p:txBody>
          <a:bodyPr wrap="square" lIns="73152" tIns="36576" rIns="73152" bIns="36576" rtlCol="0" anchor="ctr"/>
          <a:lstStyle/>
          <a:p>
            <a:pPr algn="ctr"/>
            <a:endParaRPr/>
          </a:p>
        </p:txBody>
      </p:sp>
      <p:sp>
        <p:nvSpPr>
          <p:cNvPr id="479" name="TextBox 478"/>
          <p:cNvSpPr txBox="1"/>
          <p:nvPr/>
        </p:nvSpPr>
        <p:spPr>
          <a:xfrm>
            <a:off x="2761488" y="1453896"/>
            <a:ext cx="2048255" cy="125272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DNBQ YTD (optional)</a:t>
            </a:r>
          </a:p>
          <a:p>
            <a:pPr algn="l"/>
            <a:r>
              <a:rPr lang="vi-VN" sz="1200" b="1" i="0">
                <a:solidFill>
                  <a:srgbClr val="2E5B31"/>
                </a:solidFill>
                <a:latin typeface="Times New Roman"/>
                <a:cs typeface="Times New Roman"/>
              </a:rPr>
              <a:t>tỷ đồng</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0" name="Rounded Rectangle 479"/>
          <p:cNvSpPr/>
          <p:nvPr/>
        </p:nvSpPr>
        <p:spPr>
          <a:xfrm>
            <a:off x="4937760" y="1417320"/>
            <a:ext cx="6885432" cy="1325880"/>
          </a:xfrm>
          <a:prstGeom prst="roundRect">
            <a:avLst>
              <a:gd name="adj" fmla="val 8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81" name="Picture 480" descr="FaTable_g.png"/>
          <p:cNvPicPr>
            <a:picLocks noChangeAspect="1"/>
          </p:cNvPicPr>
          <p:nvPr/>
        </p:nvPicPr>
        <p:blipFill>
          <a:blip r:embed="rId4"/>
          <a:stretch>
            <a:fillRect/>
          </a:stretch>
        </p:blipFill>
        <p:spPr>
          <a:xfrm>
            <a:off x="5029200" y="1851660"/>
            <a:ext cx="457200" cy="457200"/>
          </a:xfrm>
          <a:prstGeom prst="rect">
            <a:avLst/>
          </a:prstGeom>
        </p:spPr>
      </p:pic>
      <p:sp>
        <p:nvSpPr>
          <p:cNvPr id="482" name="TextBox 481"/>
          <p:cNvSpPr txBox="1"/>
          <p:nvPr/>
        </p:nvSpPr>
        <p:spPr>
          <a:xfrm>
            <a:off x="5532120" y="1435608"/>
            <a:ext cx="6245352" cy="1289304"/>
          </a:xfrm>
          <a:prstGeom prst="rect">
            <a:avLst/>
          </a:prstGeom>
          <a:noFill/>
        </p:spPr>
        <p:txBody>
          <a:bodyPr wrap="square" lIns="18288" tIns="18288" rIns="36576" bIns="18288" anchor="ctr"/>
          <a:lstStyle/>
          <a:p>
            <a:pPr algn="l"/>
            <a:r>
              <a:rPr lang="vi-VN" sz="1400" b="1" i="0">
                <a:solidFill>
                  <a:srgbClr val="2E5B31"/>
                </a:solidFill>
                <a:latin typeface="Times New Roman"/>
                <a:cs typeface="Times New Roman"/>
              </a:rPr>
              <a:t>Bảng dư nợ theo kỳ hạn</a:t>
            </a:r>
          </a:p>
          <a:p>
            <a:pPr algn="l"/>
            <a:r>
              <a:rPr lang="vi-VN" sz="1300" b="0" i="0">
                <a:solidFill>
                  <a:srgbClr val="222222"/>
                </a:solidFill>
                <a:latin typeface="Times New Roman"/>
                <a:cs typeface="Times New Roman"/>
              </a:rPr>
              <a:t>Cột: dư nợ · cuối tháng trước · cùng tháng năm trước · thay đổi (▲/▼, xanh/đỏ như thẻ KPI)</a:t>
            </a:r>
          </a:p>
        </p:txBody>
      </p:sp>
      <p:sp>
        <p:nvSpPr>
          <p:cNvPr id="483" name="Rounded Rectangle 482"/>
          <p:cNvSpPr/>
          <p:nvPr/>
        </p:nvSpPr>
        <p:spPr>
          <a:xfrm>
            <a:off x="365760" y="2852928"/>
            <a:ext cx="4114800" cy="1508760"/>
          </a:xfrm>
          <a:prstGeom prst="roundRect">
            <a:avLst>
              <a:gd name="adj" fmla="val 8000"/>
            </a:avLst>
          </a:prstGeom>
          <a:solidFill>
            <a:srgbClr val="FFFFFF"/>
          </a:solidFill>
          <a:ln w="19050">
            <a:solidFill>
              <a:srgbClr val="C55A11"/>
            </a:solidFill>
          </a:ln>
        </p:spPr>
        <p:txBody>
          <a:bodyPr wrap="square" lIns="73152" tIns="36576" rIns="73152" bIns="36576" rtlCol="0" anchor="ctr"/>
          <a:lstStyle/>
          <a:p>
            <a:pPr algn="ctr"/>
            <a:endParaRPr/>
          </a:p>
        </p:txBody>
      </p:sp>
      <p:pic>
        <p:nvPicPr>
          <p:cNvPr id="484" name="Picture 483" descr="FaChartPie_o.png"/>
          <p:cNvPicPr>
            <a:picLocks noChangeAspect="1"/>
          </p:cNvPicPr>
          <p:nvPr/>
        </p:nvPicPr>
        <p:blipFill>
          <a:blip r:embed="rId5"/>
          <a:stretch>
            <a:fillRect/>
          </a:stretch>
        </p:blipFill>
        <p:spPr>
          <a:xfrm>
            <a:off x="457200" y="3378708"/>
            <a:ext cx="457200" cy="457200"/>
          </a:xfrm>
          <a:prstGeom prst="rect">
            <a:avLst/>
          </a:prstGeom>
        </p:spPr>
      </p:pic>
      <p:sp>
        <p:nvSpPr>
          <p:cNvPr id="485" name="TextBox 484"/>
          <p:cNvSpPr txBox="1"/>
          <p:nvPr/>
        </p:nvSpPr>
        <p:spPr>
          <a:xfrm>
            <a:off x="960120" y="2871216"/>
            <a:ext cx="3474720" cy="1472184"/>
          </a:xfrm>
          <a:prstGeom prst="rect">
            <a:avLst/>
          </a:prstGeom>
          <a:noFill/>
        </p:spPr>
        <p:txBody>
          <a:bodyPr wrap="square" lIns="18288" tIns="18288" rIns="36576" bIns="18288" anchor="ctr"/>
          <a:lstStyle/>
          <a:p>
            <a:pPr algn="l"/>
            <a:r>
              <a:rPr lang="vi-VN" sz="1500" b="1" i="0">
                <a:solidFill>
                  <a:srgbClr val="C55A11"/>
                </a:solidFill>
                <a:latin typeface="Times New Roman"/>
                <a:cs typeface="Times New Roman"/>
              </a:rPr>
              <a:t>Pie chart</a:t>
            </a:r>
          </a:p>
          <a:p>
            <a:pPr algn="l"/>
            <a:r>
              <a:rPr lang="vi-VN" sz="1400" b="0" i="0">
                <a:solidFill>
                  <a:srgbClr val="222222"/>
                </a:solidFill>
                <a:latin typeface="Times New Roman"/>
                <a:cs typeface="Times New Roman"/>
              </a:rPr>
              <a:t>Dư nợ theo phân khúc</a:t>
            </a:r>
          </a:p>
        </p:txBody>
      </p:sp>
      <p:sp>
        <p:nvSpPr>
          <p:cNvPr id="486" name="Rounded Rectangle 485"/>
          <p:cNvSpPr/>
          <p:nvPr/>
        </p:nvSpPr>
        <p:spPr>
          <a:xfrm>
            <a:off x="4572000" y="2852928"/>
            <a:ext cx="4114800" cy="1508760"/>
          </a:xfrm>
          <a:prstGeom prst="roundRect">
            <a:avLst>
              <a:gd name="adj" fmla="val 8000"/>
            </a:avLst>
          </a:prstGeom>
          <a:solidFill>
            <a:srgbClr val="FFFFFF"/>
          </a:solidFill>
          <a:ln w="19050">
            <a:solidFill>
              <a:srgbClr val="1B7F6E"/>
            </a:solidFill>
          </a:ln>
        </p:spPr>
        <p:txBody>
          <a:bodyPr wrap="square" lIns="73152" tIns="36576" rIns="73152" bIns="36576" rtlCol="0" anchor="ctr"/>
          <a:lstStyle/>
          <a:p>
            <a:pPr algn="ctr"/>
            <a:endParaRPr/>
          </a:p>
        </p:txBody>
      </p:sp>
      <p:pic>
        <p:nvPicPr>
          <p:cNvPr id="487" name="Picture 486" descr="FaThLarge_t.png"/>
          <p:cNvPicPr>
            <a:picLocks noChangeAspect="1"/>
          </p:cNvPicPr>
          <p:nvPr/>
        </p:nvPicPr>
        <p:blipFill>
          <a:blip r:embed="rId6"/>
          <a:stretch>
            <a:fillRect/>
          </a:stretch>
        </p:blipFill>
        <p:spPr>
          <a:xfrm>
            <a:off x="4663440" y="3378708"/>
            <a:ext cx="457200" cy="457200"/>
          </a:xfrm>
          <a:prstGeom prst="rect">
            <a:avLst/>
          </a:prstGeom>
        </p:spPr>
      </p:pic>
      <p:sp>
        <p:nvSpPr>
          <p:cNvPr id="488" name="TextBox 487"/>
          <p:cNvSpPr txBox="1"/>
          <p:nvPr/>
        </p:nvSpPr>
        <p:spPr>
          <a:xfrm>
            <a:off x="5166360" y="2871216"/>
            <a:ext cx="3474720" cy="1472184"/>
          </a:xfrm>
          <a:prstGeom prst="rect">
            <a:avLst/>
          </a:prstGeom>
          <a:noFill/>
        </p:spPr>
        <p:txBody>
          <a:bodyPr wrap="square" lIns="18288" tIns="18288" rIns="36576" bIns="18288" anchor="ctr"/>
          <a:lstStyle/>
          <a:p>
            <a:pPr algn="l"/>
            <a:r>
              <a:rPr lang="vi-VN" sz="1500" b="1" i="0">
                <a:solidFill>
                  <a:srgbClr val="1B7F6E"/>
                </a:solidFill>
                <a:latin typeface="Times New Roman"/>
                <a:cs typeface="Times New Roman"/>
              </a:rPr>
              <a:t>Treemap</a:t>
            </a:r>
          </a:p>
          <a:p>
            <a:pPr algn="l"/>
            <a:r>
              <a:rPr lang="vi-VN" sz="1400" b="0" i="0">
                <a:solidFill>
                  <a:srgbClr val="222222"/>
                </a:solidFill>
                <a:latin typeface="Times New Roman"/>
                <a:cs typeface="Times New Roman"/>
              </a:rPr>
              <a:t>Dư nợ theo ngành</a:t>
            </a:r>
          </a:p>
        </p:txBody>
      </p:sp>
      <p:sp>
        <p:nvSpPr>
          <p:cNvPr id="489" name="Rounded Rectangle 488"/>
          <p:cNvSpPr/>
          <p:nvPr/>
        </p:nvSpPr>
        <p:spPr>
          <a:xfrm>
            <a:off x="8778240" y="2852928"/>
            <a:ext cx="3044952" cy="1508760"/>
          </a:xfrm>
          <a:prstGeom prst="roundRect">
            <a:avLst>
              <a:gd name="adj" fmla="val 8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490" name="Picture 489" descr="FaChartBar_n.png"/>
          <p:cNvPicPr>
            <a:picLocks noChangeAspect="1"/>
          </p:cNvPicPr>
          <p:nvPr/>
        </p:nvPicPr>
        <p:blipFill>
          <a:blip r:embed="rId7"/>
          <a:stretch>
            <a:fillRect/>
          </a:stretch>
        </p:blipFill>
        <p:spPr>
          <a:xfrm>
            <a:off x="8869680" y="3378708"/>
            <a:ext cx="457200" cy="457200"/>
          </a:xfrm>
          <a:prstGeom prst="rect">
            <a:avLst/>
          </a:prstGeom>
        </p:spPr>
      </p:pic>
      <p:sp>
        <p:nvSpPr>
          <p:cNvPr id="491" name="TextBox 490"/>
          <p:cNvSpPr txBox="1"/>
          <p:nvPr/>
        </p:nvSpPr>
        <p:spPr>
          <a:xfrm>
            <a:off x="9372600" y="2871216"/>
            <a:ext cx="2404872" cy="1472184"/>
          </a:xfrm>
          <a:prstGeom prst="rect">
            <a:avLst/>
          </a:prstGeom>
          <a:noFill/>
        </p:spPr>
        <p:txBody>
          <a:bodyPr wrap="square" lIns="18288" tIns="18288" rIns="36576" bIns="18288" anchor="ctr"/>
          <a:lstStyle/>
          <a:p>
            <a:pPr algn="l"/>
            <a:r>
              <a:rPr lang="vi-VN" sz="1500" b="1" i="0">
                <a:solidFill>
                  <a:srgbClr val="123A7A"/>
                </a:solidFill>
                <a:latin typeface="Times New Roman"/>
                <a:cs typeface="Times New Roman"/>
              </a:rPr>
              <a:t>Bar chart</a:t>
            </a:r>
          </a:p>
          <a:p>
            <a:pPr algn="l"/>
            <a:r>
              <a:rPr lang="vi-VN" sz="1400" b="0" i="0">
                <a:solidFill>
                  <a:srgbClr val="222222"/>
                </a:solidFill>
                <a:latin typeface="Times New Roman"/>
                <a:cs typeface="Times New Roman"/>
              </a:rPr>
              <a:t>Dư nợ theo sản phẩm</a:t>
            </a:r>
          </a:p>
        </p:txBody>
      </p:sp>
      <p:sp>
        <p:nvSpPr>
          <p:cNvPr id="492" name="Rounded Rectangle 491"/>
          <p:cNvSpPr/>
          <p:nvPr/>
        </p:nvSpPr>
        <p:spPr>
          <a:xfrm>
            <a:off x="365760" y="4480560"/>
            <a:ext cx="11457432" cy="1508760"/>
          </a:xfrm>
          <a:prstGeom prst="roundRect">
            <a:avLst>
              <a:gd name="adj" fmla="val 8000"/>
            </a:avLst>
          </a:prstGeom>
          <a:solidFill>
            <a:srgbClr val="FFFFFF"/>
          </a:solidFill>
          <a:ln w="19050">
            <a:solidFill>
              <a:srgbClr val="C00000"/>
            </a:solidFill>
          </a:ln>
        </p:spPr>
        <p:txBody>
          <a:bodyPr wrap="square" lIns="73152" tIns="36576" rIns="73152" bIns="36576" rtlCol="0" anchor="ctr"/>
          <a:lstStyle/>
          <a:p>
            <a:pPr algn="ctr"/>
            <a:endParaRPr/>
          </a:p>
        </p:txBody>
      </p:sp>
      <p:pic>
        <p:nvPicPr>
          <p:cNvPr id="493" name="Picture 492" descr="FaTable_r.png"/>
          <p:cNvPicPr>
            <a:picLocks noChangeAspect="1"/>
          </p:cNvPicPr>
          <p:nvPr/>
        </p:nvPicPr>
        <p:blipFill>
          <a:blip r:embed="rId8"/>
          <a:stretch>
            <a:fillRect/>
          </a:stretch>
        </p:blipFill>
        <p:spPr>
          <a:xfrm>
            <a:off x="457200" y="5006340"/>
            <a:ext cx="457200" cy="457200"/>
          </a:xfrm>
          <a:prstGeom prst="rect">
            <a:avLst/>
          </a:prstGeom>
        </p:spPr>
      </p:pic>
      <p:sp>
        <p:nvSpPr>
          <p:cNvPr id="494" name="TextBox 493"/>
          <p:cNvSpPr txBox="1"/>
          <p:nvPr/>
        </p:nvSpPr>
        <p:spPr>
          <a:xfrm>
            <a:off x="960120" y="4498848"/>
            <a:ext cx="10817352" cy="1472184"/>
          </a:xfrm>
          <a:prstGeom prst="rect">
            <a:avLst/>
          </a:prstGeom>
          <a:noFill/>
        </p:spPr>
        <p:txBody>
          <a:bodyPr wrap="square" lIns="18288" tIns="18288" rIns="36576" bIns="18288" anchor="ctr"/>
          <a:lstStyle/>
          <a:p>
            <a:pPr algn="l"/>
            <a:r>
              <a:rPr lang="vi-VN" sz="1500" b="1" i="0">
                <a:solidFill>
                  <a:srgbClr val="C00000"/>
                </a:solidFill>
                <a:latin typeface="Times New Roman"/>
                <a:cs typeface="Times New Roman"/>
              </a:rPr>
              <a:t>Bảng Top 10 ĐVKD có quy mô dư nợ cao nhất</a:t>
            </a:r>
          </a:p>
          <a:p>
            <a:pPr algn="l"/>
            <a:r>
              <a:rPr lang="vi-VN" sz="1400" b="0" i="0">
                <a:solidFill>
                  <a:srgbClr val="222222"/>
                </a:solidFill>
                <a:latin typeface="Times New Roman"/>
                <a:cs typeface="Times New Roman"/>
              </a:rPr>
              <a:t>Thêm cột so sánh cuối tháng trước, cùng tháng năm trước và cột thay đổi (hiển thị ▲/▼ và màu xanh/đỏ như thẻ KPI)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Đề bài xây dựng dashboard</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13</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Trang NII/TOI: nửa trên NII, nửa dưới TOI cùng một bố cục</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NII/TOI: hai nửa dùng chung bố cục – </a:t>
            </a:r>
            <a:r>
              <a:rPr lang="vi-VN" sz="1800" b="1" i="0">
                <a:solidFill>
                  <a:srgbClr val="123A7A"/>
                </a:solidFill>
                <a:latin typeface="Times New Roman"/>
                <a:cs typeface="Times New Roman"/>
              </a:rPr>
              <a:t>thẻ YTD, pie, line, Top 10 KH, Top 10 ĐVKD</a:t>
            </a:r>
          </a:p>
        </p:txBody>
      </p:sp>
      <p:sp>
        <p:nvSpPr>
          <p:cNvPr id="474" name="Rounded Rectangle 473"/>
          <p:cNvSpPr/>
          <p:nvPr/>
        </p:nvSpPr>
        <p:spPr>
          <a:xfrm>
            <a:off x="365760" y="1417320"/>
            <a:ext cx="822960" cy="2194560"/>
          </a:xfrm>
          <a:prstGeom prst="roundRect">
            <a:avLst>
              <a:gd name="adj" fmla="val 10000"/>
            </a:avLst>
          </a:prstGeom>
          <a:solidFill>
            <a:srgbClr val="2E5B31"/>
          </a:solidFill>
          <a:ln>
            <a:noFill/>
          </a:ln>
        </p:spPr>
        <p:txBody>
          <a:bodyPr wrap="square" lIns="73152" tIns="36576" rIns="73152" bIns="36576" rtlCol="0" anchor="ctr"/>
          <a:lstStyle/>
          <a:p>
            <a:pPr algn="ctr"/>
            <a:r>
              <a:rPr lang="vi-VN" sz="2200" b="1" i="0">
                <a:solidFill>
                  <a:srgbClr val="FFFFFF"/>
                </a:solidFill>
                <a:latin typeface="Times New Roman"/>
                <a:cs typeface="Times New Roman"/>
              </a:rPr>
              <a:t>NII</a:t>
            </a:r>
          </a:p>
        </p:txBody>
      </p:sp>
      <p:sp>
        <p:nvSpPr>
          <p:cNvPr id="475" name="Rounded Rectangle 474"/>
          <p:cNvSpPr/>
          <p:nvPr/>
        </p:nvSpPr>
        <p:spPr>
          <a:xfrm>
            <a:off x="1280160" y="1417320"/>
            <a:ext cx="2029968" cy="219456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76" name="Picture 475" descr="FaTachometerAlt_g.png"/>
          <p:cNvPicPr>
            <a:picLocks noChangeAspect="1"/>
          </p:cNvPicPr>
          <p:nvPr/>
        </p:nvPicPr>
        <p:blipFill>
          <a:blip r:embed="rId4"/>
          <a:stretch>
            <a:fillRect/>
          </a:stretch>
        </p:blipFill>
        <p:spPr>
          <a:xfrm>
            <a:off x="1975104" y="1554480"/>
            <a:ext cx="640080" cy="640080"/>
          </a:xfrm>
          <a:prstGeom prst="rect">
            <a:avLst/>
          </a:prstGeom>
        </p:spPr>
      </p:pic>
      <p:sp>
        <p:nvSpPr>
          <p:cNvPr id="477" name="TextBox 476"/>
          <p:cNvSpPr txBox="1"/>
          <p:nvPr/>
        </p:nvSpPr>
        <p:spPr>
          <a:xfrm>
            <a:off x="1325880" y="2286000"/>
            <a:ext cx="1938528" cy="1280160"/>
          </a:xfrm>
          <a:prstGeom prst="rect">
            <a:avLst/>
          </a:prstGeom>
          <a:noFill/>
        </p:spPr>
        <p:txBody>
          <a:bodyPr wrap="square" lIns="73152" tIns="36576" rIns="73152" bIns="36576" anchor="t"/>
          <a:lstStyle/>
          <a:p>
            <a:pPr algn="ctr"/>
            <a:r>
              <a:rPr lang="vi-VN" sz="1400" b="1" i="0">
                <a:solidFill>
                  <a:srgbClr val="2E5B31"/>
                </a:solidFill>
                <a:latin typeface="Times New Roman"/>
                <a:cs typeface="Times New Roman"/>
              </a:rPr>
              <a:t>Thẻ NII YTD</a:t>
            </a:r>
          </a:p>
          <a:p>
            <a:pPr algn="ctr"/>
            <a:r>
              <a:rPr lang="vi-VN" sz="1250" b="0" i="0">
                <a:solidFill>
                  <a:srgbClr val="222222"/>
                </a:solidFill>
                <a:latin typeface="Times New Roman"/>
                <a:cs typeface="Times New Roman"/>
              </a:rPr>
              <a:t>hiện tại · YTD đến cuối tháng trước · YTD cùng kỳ năm trước</a:t>
            </a:r>
          </a:p>
        </p:txBody>
      </p:sp>
      <p:sp>
        <p:nvSpPr>
          <p:cNvPr id="478" name="Rounded Rectangle 477"/>
          <p:cNvSpPr/>
          <p:nvPr/>
        </p:nvSpPr>
        <p:spPr>
          <a:xfrm>
            <a:off x="3392424" y="1417320"/>
            <a:ext cx="2029968" cy="219456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79" name="Picture 478" descr="image.png"/>
          <p:cNvPicPr>
            <a:picLocks noChangeAspect="1"/>
          </p:cNvPicPr>
          <p:nvPr/>
        </p:nvPicPr>
        <p:blipFill>
          <a:blip r:embed="rId5"/>
          <a:stretch>
            <a:fillRect/>
          </a:stretch>
        </p:blipFill>
        <p:spPr>
          <a:xfrm>
            <a:off x="4087368" y="1554480"/>
            <a:ext cx="640080" cy="640080"/>
          </a:xfrm>
          <a:prstGeom prst="rect">
            <a:avLst/>
          </a:prstGeom>
        </p:spPr>
      </p:pic>
      <p:sp>
        <p:nvSpPr>
          <p:cNvPr id="480" name="TextBox 479"/>
          <p:cNvSpPr txBox="1"/>
          <p:nvPr/>
        </p:nvSpPr>
        <p:spPr>
          <a:xfrm>
            <a:off x="3438144" y="2286000"/>
            <a:ext cx="1938528" cy="1280160"/>
          </a:xfrm>
          <a:prstGeom prst="rect">
            <a:avLst/>
          </a:prstGeom>
          <a:noFill/>
        </p:spPr>
        <p:txBody>
          <a:bodyPr wrap="square" lIns="73152" tIns="36576" rIns="73152" bIns="36576" anchor="t"/>
          <a:lstStyle/>
          <a:p>
            <a:pPr algn="ctr"/>
            <a:r>
              <a:rPr lang="vi-VN" sz="1400" b="1" i="0">
                <a:solidFill>
                  <a:srgbClr val="2E5B31"/>
                </a:solidFill>
                <a:latin typeface="Times New Roman"/>
                <a:cs typeface="Times New Roman"/>
              </a:rPr>
              <a:t>Pie chart</a:t>
            </a:r>
          </a:p>
          <a:p>
            <a:pPr algn="ctr"/>
            <a:r>
              <a:rPr lang="vi-VN" sz="1250" b="0" i="0">
                <a:solidFill>
                  <a:srgbClr val="222222"/>
                </a:solidFill>
                <a:latin typeface="Times New Roman"/>
                <a:cs typeface="Times New Roman"/>
              </a:rPr>
              <a:t>NII YTD theo phân khúc</a:t>
            </a:r>
          </a:p>
        </p:txBody>
      </p:sp>
      <p:sp>
        <p:nvSpPr>
          <p:cNvPr id="481" name="Rounded Rectangle 480"/>
          <p:cNvSpPr/>
          <p:nvPr/>
        </p:nvSpPr>
        <p:spPr>
          <a:xfrm>
            <a:off x="5504688" y="1417320"/>
            <a:ext cx="2029968" cy="219456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82" name="Picture 481" descr="FaChartLine_g.png"/>
          <p:cNvPicPr>
            <a:picLocks noChangeAspect="1"/>
          </p:cNvPicPr>
          <p:nvPr/>
        </p:nvPicPr>
        <p:blipFill>
          <a:blip r:embed="rId6"/>
          <a:stretch>
            <a:fillRect/>
          </a:stretch>
        </p:blipFill>
        <p:spPr>
          <a:xfrm>
            <a:off x="6199631" y="1554480"/>
            <a:ext cx="640080" cy="640080"/>
          </a:xfrm>
          <a:prstGeom prst="rect">
            <a:avLst/>
          </a:prstGeom>
        </p:spPr>
      </p:pic>
      <p:sp>
        <p:nvSpPr>
          <p:cNvPr id="483" name="TextBox 482"/>
          <p:cNvSpPr txBox="1"/>
          <p:nvPr/>
        </p:nvSpPr>
        <p:spPr>
          <a:xfrm>
            <a:off x="5550407" y="2286000"/>
            <a:ext cx="1938528" cy="1280160"/>
          </a:xfrm>
          <a:prstGeom prst="rect">
            <a:avLst/>
          </a:prstGeom>
          <a:noFill/>
        </p:spPr>
        <p:txBody>
          <a:bodyPr wrap="square" lIns="73152" tIns="36576" rIns="73152" bIns="36576" anchor="t"/>
          <a:lstStyle/>
          <a:p>
            <a:pPr algn="ctr"/>
            <a:r>
              <a:rPr lang="vi-VN" sz="1400" b="1" i="0">
                <a:solidFill>
                  <a:srgbClr val="2E5B31"/>
                </a:solidFill>
                <a:latin typeface="Times New Roman"/>
                <a:cs typeface="Times New Roman"/>
              </a:rPr>
              <a:t>Line chart</a:t>
            </a:r>
          </a:p>
          <a:p>
            <a:pPr algn="ctr"/>
            <a:r>
              <a:rPr lang="vi-VN" sz="1250" b="0" i="0">
                <a:solidFill>
                  <a:srgbClr val="222222"/>
                </a:solidFill>
                <a:latin typeface="Times New Roman"/>
                <a:cs typeface="Times New Roman"/>
              </a:rPr>
              <a:t>NII YTD xu hướng theo tháng</a:t>
            </a:r>
          </a:p>
        </p:txBody>
      </p:sp>
      <p:sp>
        <p:nvSpPr>
          <p:cNvPr id="484" name="Rounded Rectangle 483"/>
          <p:cNvSpPr/>
          <p:nvPr/>
        </p:nvSpPr>
        <p:spPr>
          <a:xfrm>
            <a:off x="7616952" y="1417320"/>
            <a:ext cx="2029968" cy="219456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85" name="Picture 484" descr="FaTable_g.png"/>
          <p:cNvPicPr>
            <a:picLocks noChangeAspect="1"/>
          </p:cNvPicPr>
          <p:nvPr/>
        </p:nvPicPr>
        <p:blipFill>
          <a:blip r:embed="rId7"/>
          <a:stretch>
            <a:fillRect/>
          </a:stretch>
        </p:blipFill>
        <p:spPr>
          <a:xfrm>
            <a:off x="8311896" y="1554480"/>
            <a:ext cx="640080" cy="640080"/>
          </a:xfrm>
          <a:prstGeom prst="rect">
            <a:avLst/>
          </a:prstGeom>
        </p:spPr>
      </p:pic>
      <p:sp>
        <p:nvSpPr>
          <p:cNvPr id="486" name="TextBox 485"/>
          <p:cNvSpPr txBox="1"/>
          <p:nvPr/>
        </p:nvSpPr>
        <p:spPr>
          <a:xfrm>
            <a:off x="7662672" y="2286000"/>
            <a:ext cx="1938528" cy="1280160"/>
          </a:xfrm>
          <a:prstGeom prst="rect">
            <a:avLst/>
          </a:prstGeom>
          <a:noFill/>
        </p:spPr>
        <p:txBody>
          <a:bodyPr wrap="square" lIns="73152" tIns="36576" rIns="73152" bIns="36576" anchor="t"/>
          <a:lstStyle/>
          <a:p>
            <a:pPr algn="ctr"/>
            <a:r>
              <a:rPr lang="vi-VN" sz="1400" b="1" i="0">
                <a:solidFill>
                  <a:srgbClr val="2E5B31"/>
                </a:solidFill>
                <a:latin typeface="Times New Roman"/>
                <a:cs typeface="Times New Roman"/>
              </a:rPr>
              <a:t>Table Top 10 khách hàng</a:t>
            </a:r>
          </a:p>
          <a:p>
            <a:pPr algn="ctr"/>
            <a:r>
              <a:rPr lang="vi-VN" sz="1250" b="0" i="0">
                <a:solidFill>
                  <a:srgbClr val="222222"/>
                </a:solidFill>
                <a:latin typeface="Times New Roman"/>
                <a:cs typeface="Times New Roman"/>
              </a:rPr>
              <a:t>có NII YTD cao nhất</a:t>
            </a:r>
          </a:p>
        </p:txBody>
      </p:sp>
      <p:sp>
        <p:nvSpPr>
          <p:cNvPr id="487" name="Rounded Rectangle 486"/>
          <p:cNvSpPr/>
          <p:nvPr/>
        </p:nvSpPr>
        <p:spPr>
          <a:xfrm>
            <a:off x="9729216" y="1417320"/>
            <a:ext cx="2029968" cy="219456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pic>
        <p:nvPicPr>
          <p:cNvPr id="488" name="Picture 487" descr="FaThLarge_g.png"/>
          <p:cNvPicPr>
            <a:picLocks noChangeAspect="1"/>
          </p:cNvPicPr>
          <p:nvPr/>
        </p:nvPicPr>
        <p:blipFill>
          <a:blip r:embed="rId8"/>
          <a:stretch>
            <a:fillRect/>
          </a:stretch>
        </p:blipFill>
        <p:spPr>
          <a:xfrm>
            <a:off x="10424160" y="1554480"/>
            <a:ext cx="640080" cy="640080"/>
          </a:xfrm>
          <a:prstGeom prst="rect">
            <a:avLst/>
          </a:prstGeom>
        </p:spPr>
      </p:pic>
      <p:sp>
        <p:nvSpPr>
          <p:cNvPr id="489" name="TextBox 488"/>
          <p:cNvSpPr txBox="1"/>
          <p:nvPr/>
        </p:nvSpPr>
        <p:spPr>
          <a:xfrm>
            <a:off x="9774936" y="2286000"/>
            <a:ext cx="1938528" cy="1280160"/>
          </a:xfrm>
          <a:prstGeom prst="rect">
            <a:avLst/>
          </a:prstGeom>
          <a:noFill/>
        </p:spPr>
        <p:txBody>
          <a:bodyPr wrap="square" lIns="73152" tIns="36576" rIns="73152" bIns="36576" anchor="t"/>
          <a:lstStyle/>
          <a:p>
            <a:pPr algn="ctr"/>
            <a:r>
              <a:rPr lang="vi-VN" sz="1400" b="1" i="0">
                <a:solidFill>
                  <a:srgbClr val="2E5B31"/>
                </a:solidFill>
                <a:latin typeface="Times New Roman"/>
                <a:cs typeface="Times New Roman"/>
              </a:rPr>
              <a:t>Treemap Top 10 ĐVKD</a:t>
            </a:r>
          </a:p>
          <a:p>
            <a:pPr algn="ctr"/>
            <a:r>
              <a:rPr lang="vi-VN" sz="1250" b="0" i="0">
                <a:solidFill>
                  <a:srgbClr val="222222"/>
                </a:solidFill>
                <a:latin typeface="Times New Roman"/>
                <a:cs typeface="Times New Roman"/>
              </a:rPr>
              <a:t>có NII YTD cao nhất</a:t>
            </a:r>
          </a:p>
        </p:txBody>
      </p:sp>
      <p:sp>
        <p:nvSpPr>
          <p:cNvPr id="490" name="Rounded Rectangle 489"/>
          <p:cNvSpPr/>
          <p:nvPr/>
        </p:nvSpPr>
        <p:spPr>
          <a:xfrm>
            <a:off x="365760" y="3749039"/>
            <a:ext cx="822960" cy="2194560"/>
          </a:xfrm>
          <a:prstGeom prst="roundRect">
            <a:avLst>
              <a:gd name="adj" fmla="val 10000"/>
            </a:avLst>
          </a:prstGeom>
          <a:solidFill>
            <a:srgbClr val="123A7A"/>
          </a:solidFill>
          <a:ln>
            <a:noFill/>
          </a:ln>
        </p:spPr>
        <p:txBody>
          <a:bodyPr wrap="square" lIns="73152" tIns="36576" rIns="73152" bIns="36576" rtlCol="0" anchor="ctr"/>
          <a:lstStyle/>
          <a:p>
            <a:pPr algn="ctr"/>
            <a:r>
              <a:rPr lang="vi-VN" sz="2200" b="1" i="0">
                <a:solidFill>
                  <a:srgbClr val="FFFFFF"/>
                </a:solidFill>
                <a:latin typeface="Times New Roman"/>
                <a:cs typeface="Times New Roman"/>
              </a:rPr>
              <a:t>TOI</a:t>
            </a:r>
          </a:p>
        </p:txBody>
      </p:sp>
      <p:sp>
        <p:nvSpPr>
          <p:cNvPr id="491" name="Rounded Rectangle 490"/>
          <p:cNvSpPr/>
          <p:nvPr/>
        </p:nvSpPr>
        <p:spPr>
          <a:xfrm>
            <a:off x="1280160" y="3749039"/>
            <a:ext cx="2029968" cy="219456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492" name="Picture 491" descr="FaTachometerAlt_n.png"/>
          <p:cNvPicPr>
            <a:picLocks noChangeAspect="1"/>
          </p:cNvPicPr>
          <p:nvPr/>
        </p:nvPicPr>
        <p:blipFill>
          <a:blip r:embed="rId9"/>
          <a:stretch>
            <a:fillRect/>
          </a:stretch>
        </p:blipFill>
        <p:spPr>
          <a:xfrm>
            <a:off x="1975104" y="3886200"/>
            <a:ext cx="640080" cy="640080"/>
          </a:xfrm>
          <a:prstGeom prst="rect">
            <a:avLst/>
          </a:prstGeom>
        </p:spPr>
      </p:pic>
      <p:sp>
        <p:nvSpPr>
          <p:cNvPr id="493" name="TextBox 492"/>
          <p:cNvSpPr txBox="1"/>
          <p:nvPr/>
        </p:nvSpPr>
        <p:spPr>
          <a:xfrm>
            <a:off x="1325880" y="4617720"/>
            <a:ext cx="1938528" cy="1280160"/>
          </a:xfrm>
          <a:prstGeom prst="rect">
            <a:avLst/>
          </a:prstGeom>
          <a:noFill/>
        </p:spPr>
        <p:txBody>
          <a:bodyPr wrap="square" lIns="73152" tIns="36576" rIns="73152" bIns="36576" anchor="t"/>
          <a:lstStyle/>
          <a:p>
            <a:pPr algn="ctr"/>
            <a:r>
              <a:rPr lang="vi-VN" sz="1400" b="1" i="0">
                <a:solidFill>
                  <a:srgbClr val="123A7A"/>
                </a:solidFill>
                <a:latin typeface="Times New Roman"/>
                <a:cs typeface="Times New Roman"/>
              </a:rPr>
              <a:t>Thẻ TOI YTD</a:t>
            </a:r>
          </a:p>
          <a:p>
            <a:pPr algn="ctr"/>
            <a:r>
              <a:rPr lang="vi-VN" sz="1250" b="0" i="0">
                <a:solidFill>
                  <a:srgbClr val="222222"/>
                </a:solidFill>
                <a:latin typeface="Times New Roman"/>
                <a:cs typeface="Times New Roman"/>
              </a:rPr>
              <a:t>hiện tại · YTD đến cuối tháng trước · YTD cùng kỳ năm trước</a:t>
            </a:r>
          </a:p>
        </p:txBody>
      </p:sp>
      <p:sp>
        <p:nvSpPr>
          <p:cNvPr id="494" name="Rounded Rectangle 493"/>
          <p:cNvSpPr/>
          <p:nvPr/>
        </p:nvSpPr>
        <p:spPr>
          <a:xfrm>
            <a:off x="3392424" y="3749039"/>
            <a:ext cx="2029968" cy="219456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495" name="Picture 494" descr="FaChartPie_n.png"/>
          <p:cNvPicPr>
            <a:picLocks noChangeAspect="1"/>
          </p:cNvPicPr>
          <p:nvPr/>
        </p:nvPicPr>
        <p:blipFill>
          <a:blip r:embed="rId10"/>
          <a:stretch>
            <a:fillRect/>
          </a:stretch>
        </p:blipFill>
        <p:spPr>
          <a:xfrm>
            <a:off x="4087368" y="3886200"/>
            <a:ext cx="640080" cy="640080"/>
          </a:xfrm>
          <a:prstGeom prst="rect">
            <a:avLst/>
          </a:prstGeom>
        </p:spPr>
      </p:pic>
      <p:sp>
        <p:nvSpPr>
          <p:cNvPr id="496" name="TextBox 495"/>
          <p:cNvSpPr txBox="1"/>
          <p:nvPr/>
        </p:nvSpPr>
        <p:spPr>
          <a:xfrm>
            <a:off x="3438144" y="4617720"/>
            <a:ext cx="1938528" cy="1280160"/>
          </a:xfrm>
          <a:prstGeom prst="rect">
            <a:avLst/>
          </a:prstGeom>
          <a:noFill/>
        </p:spPr>
        <p:txBody>
          <a:bodyPr wrap="square" lIns="73152" tIns="36576" rIns="73152" bIns="36576" anchor="t"/>
          <a:lstStyle/>
          <a:p>
            <a:pPr algn="ctr"/>
            <a:r>
              <a:rPr lang="vi-VN" sz="1400" b="1" i="0">
                <a:solidFill>
                  <a:srgbClr val="123A7A"/>
                </a:solidFill>
                <a:latin typeface="Times New Roman"/>
                <a:cs typeface="Times New Roman"/>
              </a:rPr>
              <a:t>Pie chart</a:t>
            </a:r>
          </a:p>
          <a:p>
            <a:pPr algn="ctr"/>
            <a:r>
              <a:rPr lang="vi-VN" sz="1250" b="0" i="0">
                <a:solidFill>
                  <a:srgbClr val="222222"/>
                </a:solidFill>
                <a:latin typeface="Times New Roman"/>
                <a:cs typeface="Times New Roman"/>
              </a:rPr>
              <a:t>TOI YTD theo phân khúc</a:t>
            </a:r>
          </a:p>
        </p:txBody>
      </p:sp>
      <p:sp>
        <p:nvSpPr>
          <p:cNvPr id="497" name="Rounded Rectangle 496"/>
          <p:cNvSpPr/>
          <p:nvPr/>
        </p:nvSpPr>
        <p:spPr>
          <a:xfrm>
            <a:off x="5504688" y="3749039"/>
            <a:ext cx="2029968" cy="219456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498" name="Picture 497" descr="FaChartLine_n.png"/>
          <p:cNvPicPr>
            <a:picLocks noChangeAspect="1"/>
          </p:cNvPicPr>
          <p:nvPr/>
        </p:nvPicPr>
        <p:blipFill>
          <a:blip r:embed="rId11"/>
          <a:stretch>
            <a:fillRect/>
          </a:stretch>
        </p:blipFill>
        <p:spPr>
          <a:xfrm>
            <a:off x="6199631" y="3886200"/>
            <a:ext cx="640080" cy="640080"/>
          </a:xfrm>
          <a:prstGeom prst="rect">
            <a:avLst/>
          </a:prstGeom>
        </p:spPr>
      </p:pic>
      <p:sp>
        <p:nvSpPr>
          <p:cNvPr id="499" name="TextBox 498"/>
          <p:cNvSpPr txBox="1"/>
          <p:nvPr/>
        </p:nvSpPr>
        <p:spPr>
          <a:xfrm>
            <a:off x="5550407" y="4617720"/>
            <a:ext cx="1938528" cy="1280160"/>
          </a:xfrm>
          <a:prstGeom prst="rect">
            <a:avLst/>
          </a:prstGeom>
          <a:noFill/>
        </p:spPr>
        <p:txBody>
          <a:bodyPr wrap="square" lIns="73152" tIns="36576" rIns="73152" bIns="36576" anchor="t"/>
          <a:lstStyle/>
          <a:p>
            <a:pPr algn="ctr"/>
            <a:r>
              <a:rPr lang="vi-VN" sz="1400" b="1" i="0">
                <a:solidFill>
                  <a:srgbClr val="123A7A"/>
                </a:solidFill>
                <a:latin typeface="Times New Roman"/>
                <a:cs typeface="Times New Roman"/>
              </a:rPr>
              <a:t>Line chart</a:t>
            </a:r>
          </a:p>
          <a:p>
            <a:pPr algn="ctr"/>
            <a:r>
              <a:rPr lang="vi-VN" sz="1250" b="0" i="0">
                <a:solidFill>
                  <a:srgbClr val="222222"/>
                </a:solidFill>
                <a:latin typeface="Times New Roman"/>
                <a:cs typeface="Times New Roman"/>
              </a:rPr>
              <a:t>TOI YTD xu hướng theo tháng</a:t>
            </a:r>
          </a:p>
        </p:txBody>
      </p:sp>
      <p:sp>
        <p:nvSpPr>
          <p:cNvPr id="500" name="Rounded Rectangle 499"/>
          <p:cNvSpPr/>
          <p:nvPr/>
        </p:nvSpPr>
        <p:spPr>
          <a:xfrm>
            <a:off x="7616952" y="3749039"/>
            <a:ext cx="2029968" cy="219456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501" name="Picture 500" descr="FaTable_n.png"/>
          <p:cNvPicPr>
            <a:picLocks noChangeAspect="1"/>
          </p:cNvPicPr>
          <p:nvPr/>
        </p:nvPicPr>
        <p:blipFill>
          <a:blip r:embed="rId12"/>
          <a:stretch>
            <a:fillRect/>
          </a:stretch>
        </p:blipFill>
        <p:spPr>
          <a:xfrm>
            <a:off x="8311896" y="3886200"/>
            <a:ext cx="640080" cy="640080"/>
          </a:xfrm>
          <a:prstGeom prst="rect">
            <a:avLst/>
          </a:prstGeom>
        </p:spPr>
      </p:pic>
      <p:sp>
        <p:nvSpPr>
          <p:cNvPr id="502" name="TextBox 501"/>
          <p:cNvSpPr txBox="1"/>
          <p:nvPr/>
        </p:nvSpPr>
        <p:spPr>
          <a:xfrm>
            <a:off x="7662672" y="4617720"/>
            <a:ext cx="1938528" cy="1280160"/>
          </a:xfrm>
          <a:prstGeom prst="rect">
            <a:avLst/>
          </a:prstGeom>
          <a:noFill/>
        </p:spPr>
        <p:txBody>
          <a:bodyPr wrap="square" lIns="73152" tIns="36576" rIns="73152" bIns="36576" anchor="t"/>
          <a:lstStyle/>
          <a:p>
            <a:pPr algn="ctr"/>
            <a:r>
              <a:rPr lang="vi-VN" sz="1400" b="1" i="0">
                <a:solidFill>
                  <a:srgbClr val="123A7A"/>
                </a:solidFill>
                <a:latin typeface="Times New Roman"/>
                <a:cs typeface="Times New Roman"/>
              </a:rPr>
              <a:t>Table Top 10 khách hàng</a:t>
            </a:r>
          </a:p>
          <a:p>
            <a:pPr algn="ctr"/>
            <a:r>
              <a:rPr lang="vi-VN" sz="1250" b="0" i="0">
                <a:solidFill>
                  <a:srgbClr val="222222"/>
                </a:solidFill>
                <a:latin typeface="Times New Roman"/>
                <a:cs typeface="Times New Roman"/>
              </a:rPr>
              <a:t>có TOI YTD cao nhất</a:t>
            </a:r>
          </a:p>
        </p:txBody>
      </p:sp>
      <p:sp>
        <p:nvSpPr>
          <p:cNvPr id="503" name="Rounded Rectangle 502"/>
          <p:cNvSpPr/>
          <p:nvPr/>
        </p:nvSpPr>
        <p:spPr>
          <a:xfrm>
            <a:off x="9729216" y="3749039"/>
            <a:ext cx="2029968" cy="219456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504" name="Picture 503" descr="FaThLarge_n.png"/>
          <p:cNvPicPr>
            <a:picLocks noChangeAspect="1"/>
          </p:cNvPicPr>
          <p:nvPr/>
        </p:nvPicPr>
        <p:blipFill>
          <a:blip r:embed="rId13"/>
          <a:stretch>
            <a:fillRect/>
          </a:stretch>
        </p:blipFill>
        <p:spPr>
          <a:xfrm>
            <a:off x="10424160" y="3886200"/>
            <a:ext cx="640080" cy="640080"/>
          </a:xfrm>
          <a:prstGeom prst="rect">
            <a:avLst/>
          </a:prstGeom>
        </p:spPr>
      </p:pic>
      <p:sp>
        <p:nvSpPr>
          <p:cNvPr id="505" name="TextBox 504"/>
          <p:cNvSpPr txBox="1"/>
          <p:nvPr/>
        </p:nvSpPr>
        <p:spPr>
          <a:xfrm>
            <a:off x="9774936" y="4617720"/>
            <a:ext cx="1938528" cy="1280160"/>
          </a:xfrm>
          <a:prstGeom prst="rect">
            <a:avLst/>
          </a:prstGeom>
          <a:noFill/>
        </p:spPr>
        <p:txBody>
          <a:bodyPr wrap="square" lIns="73152" tIns="36576" rIns="73152" bIns="36576" anchor="t"/>
          <a:lstStyle/>
          <a:p>
            <a:pPr algn="ctr"/>
            <a:r>
              <a:rPr lang="vi-VN" sz="1400" b="1" i="0">
                <a:solidFill>
                  <a:srgbClr val="123A7A"/>
                </a:solidFill>
                <a:latin typeface="Times New Roman"/>
                <a:cs typeface="Times New Roman"/>
              </a:rPr>
              <a:t>Treemap Top 10 ĐVKD</a:t>
            </a:r>
          </a:p>
          <a:p>
            <a:pPr algn="ctr"/>
            <a:r>
              <a:rPr lang="vi-VN" sz="1250" b="0" i="0">
                <a:solidFill>
                  <a:srgbClr val="222222"/>
                </a:solidFill>
                <a:latin typeface="Times New Roman"/>
                <a:cs typeface="Times New Roman"/>
              </a:rPr>
              <a:t>có TOI YTD cao nhất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Đề bài xây dựng dashboard</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14</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Trang CLTD: rủi ro nằm ở đâu và diễn biến thế nào?</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CLTD: tăng là xấu → </a:t>
            </a:r>
            <a:r>
              <a:rPr lang="vi-VN" sz="1800" b="1" i="0">
                <a:solidFill>
                  <a:srgbClr val="C00000"/>
                </a:solidFill>
                <a:latin typeface="Times New Roman"/>
                <a:cs typeface="Times New Roman"/>
              </a:rPr>
              <a:t>màu đảo</a:t>
            </a:r>
            <a:r>
              <a:rPr lang="vi-VN" sz="1800" b="0" i="0">
                <a:solidFill>
                  <a:srgbClr val="000000"/>
                </a:solidFill>
                <a:latin typeface="Times New Roman"/>
                <a:cs typeface="Times New Roman"/>
              </a:rPr>
              <a:t>, chênh lệch tính bằng </a:t>
            </a:r>
            <a:r>
              <a:rPr lang="vi-VN" sz="1800" b="1" i="0">
                <a:solidFill>
                  <a:srgbClr val="123A7A"/>
                </a:solidFill>
                <a:latin typeface="Times New Roman"/>
                <a:cs typeface="Times New Roman"/>
              </a:rPr>
              <a:t>điểm phần trăm</a:t>
            </a:r>
          </a:p>
        </p:txBody>
      </p:sp>
      <p:sp>
        <p:nvSpPr>
          <p:cNvPr id="474" name="Rounded Rectangle 473"/>
          <p:cNvSpPr/>
          <p:nvPr/>
        </p:nvSpPr>
        <p:spPr>
          <a:xfrm>
            <a:off x="365760" y="1417320"/>
            <a:ext cx="2788920" cy="123444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75" name="Rectangle 474"/>
          <p:cNvSpPr/>
          <p:nvPr/>
        </p:nvSpPr>
        <p:spPr>
          <a:xfrm>
            <a:off x="365760" y="1490472"/>
            <a:ext cx="64008" cy="1088136"/>
          </a:xfrm>
          <a:prstGeom prst="rect">
            <a:avLst/>
          </a:prstGeom>
          <a:solidFill>
            <a:srgbClr val="123A7A"/>
          </a:solidFill>
          <a:ln>
            <a:noFill/>
          </a:ln>
        </p:spPr>
        <p:txBody>
          <a:bodyPr wrap="square" lIns="73152" tIns="36576" rIns="73152" bIns="36576" rtlCol="0" anchor="ctr"/>
          <a:lstStyle/>
          <a:p>
            <a:pPr algn="ctr"/>
            <a:endParaRPr/>
          </a:p>
        </p:txBody>
      </p:sp>
      <p:sp>
        <p:nvSpPr>
          <p:cNvPr id="476" name="TextBox 475"/>
          <p:cNvSpPr txBox="1"/>
          <p:nvPr/>
        </p:nvSpPr>
        <p:spPr>
          <a:xfrm>
            <a:off x="475488" y="1453896"/>
            <a:ext cx="2642615" cy="116128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Tỷ lệ OD2</a:t>
            </a:r>
          </a:p>
          <a:p>
            <a:pPr algn="l"/>
            <a:r>
              <a:rPr lang="vi-VN" sz="1200" b="1" i="0">
                <a:solidFill>
                  <a:srgbClr val="123A7A"/>
                </a:solidFill>
                <a:latin typeface="Times New Roman"/>
                <a:cs typeface="Times New Roman"/>
              </a:rPr>
              <a:t>hiện tại</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77" name="Rounded Rectangle 476"/>
          <p:cNvSpPr/>
          <p:nvPr/>
        </p:nvSpPr>
        <p:spPr>
          <a:xfrm>
            <a:off x="3264408" y="1417320"/>
            <a:ext cx="2788920" cy="123444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78" name="Rectangle 477"/>
          <p:cNvSpPr/>
          <p:nvPr/>
        </p:nvSpPr>
        <p:spPr>
          <a:xfrm>
            <a:off x="3264408" y="1490472"/>
            <a:ext cx="64008" cy="1088136"/>
          </a:xfrm>
          <a:prstGeom prst="rect">
            <a:avLst/>
          </a:prstGeom>
          <a:solidFill>
            <a:srgbClr val="C00000"/>
          </a:solidFill>
          <a:ln>
            <a:noFill/>
          </a:ln>
        </p:spPr>
        <p:txBody>
          <a:bodyPr wrap="square" lIns="73152" tIns="36576" rIns="73152" bIns="36576" rtlCol="0" anchor="ctr"/>
          <a:lstStyle/>
          <a:p>
            <a:pPr algn="ctr"/>
            <a:endParaRPr/>
          </a:p>
        </p:txBody>
      </p:sp>
      <p:sp>
        <p:nvSpPr>
          <p:cNvPr id="479" name="TextBox 478"/>
          <p:cNvSpPr txBox="1"/>
          <p:nvPr/>
        </p:nvSpPr>
        <p:spPr>
          <a:xfrm>
            <a:off x="3374136" y="1453896"/>
            <a:ext cx="2642615" cy="116128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Tỷ lệ OD3-5</a:t>
            </a:r>
          </a:p>
          <a:p>
            <a:pPr algn="l"/>
            <a:r>
              <a:rPr lang="vi-VN" sz="1200" b="1" i="0">
                <a:solidFill>
                  <a:srgbClr val="C00000"/>
                </a:solidFill>
                <a:latin typeface="Times New Roman"/>
                <a:cs typeface="Times New Roman"/>
              </a:rPr>
              <a:t>hiện tại</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0" name="Rounded Rectangle 479"/>
          <p:cNvSpPr/>
          <p:nvPr/>
        </p:nvSpPr>
        <p:spPr>
          <a:xfrm>
            <a:off x="6163056" y="1417320"/>
            <a:ext cx="2788920" cy="123444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81" name="Rectangle 480"/>
          <p:cNvSpPr/>
          <p:nvPr/>
        </p:nvSpPr>
        <p:spPr>
          <a:xfrm>
            <a:off x="6163056" y="1490472"/>
            <a:ext cx="64008" cy="1088136"/>
          </a:xfrm>
          <a:prstGeom prst="rect">
            <a:avLst/>
          </a:prstGeom>
          <a:solidFill>
            <a:srgbClr val="123A7A"/>
          </a:solidFill>
          <a:ln>
            <a:noFill/>
          </a:ln>
        </p:spPr>
        <p:txBody>
          <a:bodyPr wrap="square" lIns="73152" tIns="36576" rIns="73152" bIns="36576" rtlCol="0" anchor="ctr"/>
          <a:lstStyle/>
          <a:p>
            <a:pPr algn="ctr"/>
            <a:endParaRPr/>
          </a:p>
        </p:txBody>
      </p:sp>
      <p:sp>
        <p:nvSpPr>
          <p:cNvPr id="482" name="TextBox 481"/>
          <p:cNvSpPr txBox="1"/>
          <p:nvPr/>
        </p:nvSpPr>
        <p:spPr>
          <a:xfrm>
            <a:off x="6272784" y="1453896"/>
            <a:ext cx="2642615" cy="116128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Quy mô dư nợ OD2</a:t>
            </a:r>
          </a:p>
          <a:p>
            <a:pPr algn="l"/>
            <a:r>
              <a:rPr lang="vi-VN" sz="1200" b="1" i="0">
                <a:solidFill>
                  <a:srgbClr val="123A7A"/>
                </a:solidFill>
                <a:latin typeface="Times New Roman"/>
                <a:cs typeface="Times New Roman"/>
              </a:rPr>
              <a:t>tỷ đồng</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3" name="Rounded Rectangle 482"/>
          <p:cNvSpPr/>
          <p:nvPr/>
        </p:nvSpPr>
        <p:spPr>
          <a:xfrm>
            <a:off x="9061704" y="1417320"/>
            <a:ext cx="2788920" cy="1234440"/>
          </a:xfrm>
          <a:prstGeom prst="roundRect">
            <a:avLst>
              <a:gd name="adj" fmla="val 6000"/>
            </a:avLst>
          </a:prstGeom>
          <a:solidFill>
            <a:srgbClr val="FFFFFF"/>
          </a:solidFill>
          <a:ln w="15240">
            <a:solidFill>
              <a:srgbClr val="BED0B4"/>
            </a:solidFill>
          </a:ln>
        </p:spPr>
        <p:txBody>
          <a:bodyPr wrap="square" lIns="73152" tIns="36576" rIns="73152" bIns="36576" rtlCol="0" anchor="ctr"/>
          <a:lstStyle/>
          <a:p>
            <a:pPr algn="ctr"/>
            <a:endParaRPr/>
          </a:p>
        </p:txBody>
      </p:sp>
      <p:sp>
        <p:nvSpPr>
          <p:cNvPr id="484" name="Rectangle 483"/>
          <p:cNvSpPr/>
          <p:nvPr/>
        </p:nvSpPr>
        <p:spPr>
          <a:xfrm>
            <a:off x="9061704" y="1490472"/>
            <a:ext cx="64008" cy="1088136"/>
          </a:xfrm>
          <a:prstGeom prst="rect">
            <a:avLst/>
          </a:prstGeom>
          <a:solidFill>
            <a:srgbClr val="C00000"/>
          </a:solidFill>
          <a:ln>
            <a:noFill/>
          </a:ln>
        </p:spPr>
        <p:txBody>
          <a:bodyPr wrap="square" lIns="73152" tIns="36576" rIns="73152" bIns="36576" rtlCol="0" anchor="ctr"/>
          <a:lstStyle/>
          <a:p>
            <a:pPr algn="ctr"/>
            <a:endParaRPr/>
          </a:p>
        </p:txBody>
      </p:sp>
      <p:sp>
        <p:nvSpPr>
          <p:cNvPr id="485" name="TextBox 484"/>
          <p:cNvSpPr txBox="1"/>
          <p:nvPr/>
        </p:nvSpPr>
        <p:spPr>
          <a:xfrm>
            <a:off x="9171432" y="1453896"/>
            <a:ext cx="2642615" cy="1161288"/>
          </a:xfrm>
          <a:prstGeom prst="rect">
            <a:avLst/>
          </a:prstGeom>
          <a:noFill/>
        </p:spPr>
        <p:txBody>
          <a:bodyPr wrap="square" lIns="27432" tIns="18288" rIns="27432" bIns="18288" anchor="ctr"/>
          <a:lstStyle/>
          <a:p>
            <a:pPr algn="l"/>
            <a:r>
              <a:rPr lang="vi-VN" sz="1300" b="1" i="0">
                <a:solidFill>
                  <a:srgbClr val="595959"/>
                </a:solidFill>
                <a:latin typeface="Times New Roman"/>
                <a:cs typeface="Times New Roman"/>
              </a:rPr>
              <a:t>Quy mô dư nợ OD3-5</a:t>
            </a:r>
          </a:p>
          <a:p>
            <a:pPr algn="l"/>
            <a:r>
              <a:rPr lang="vi-VN" sz="1200" b="1" i="0">
                <a:solidFill>
                  <a:srgbClr val="C00000"/>
                </a:solidFill>
                <a:latin typeface="Times New Roman"/>
                <a:cs typeface="Times New Roman"/>
              </a:rPr>
              <a:t>tỷ đồng</a:t>
            </a:r>
          </a:p>
          <a:p>
            <a:pPr algn="l"/>
            <a:r>
              <a:rPr lang="vi-VN" sz="1100" b="0" i="0">
                <a:solidFill>
                  <a:srgbClr val="595959"/>
                </a:solidFill>
                <a:latin typeface="Times New Roman"/>
                <a:cs typeface="Times New Roman"/>
              </a:rPr>
              <a:t>▲▼ so với cuối tháng trước</a:t>
            </a:r>
          </a:p>
          <a:p>
            <a:pPr algn="l"/>
            <a:r>
              <a:rPr lang="vi-VN" sz="1100" b="0" i="0">
                <a:solidFill>
                  <a:srgbClr val="595959"/>
                </a:solidFill>
                <a:latin typeface="Times New Roman"/>
                <a:cs typeface="Times New Roman"/>
              </a:rPr>
              <a:t>▲▼ so với cùng tháng năm trước</a:t>
            </a:r>
          </a:p>
        </p:txBody>
      </p:sp>
      <p:sp>
        <p:nvSpPr>
          <p:cNvPr id="486" name="Rounded Rectangle 485"/>
          <p:cNvSpPr/>
          <p:nvPr/>
        </p:nvSpPr>
        <p:spPr>
          <a:xfrm>
            <a:off x="365760" y="2761488"/>
            <a:ext cx="4206240" cy="1874519"/>
          </a:xfrm>
          <a:prstGeom prst="roundRect">
            <a:avLst>
              <a:gd name="adj" fmla="val 8000"/>
            </a:avLst>
          </a:prstGeom>
          <a:solidFill>
            <a:srgbClr val="FFFFFF"/>
          </a:solidFill>
          <a:ln w="19050">
            <a:solidFill>
              <a:srgbClr val="C55A11"/>
            </a:solidFill>
          </a:ln>
        </p:spPr>
        <p:txBody>
          <a:bodyPr wrap="square" lIns="73152" tIns="36576" rIns="73152" bIns="36576" rtlCol="0" anchor="ctr"/>
          <a:lstStyle/>
          <a:p>
            <a:pPr algn="ctr"/>
            <a:endParaRPr/>
          </a:p>
        </p:txBody>
      </p:sp>
      <p:pic>
        <p:nvPicPr>
          <p:cNvPr id="487" name="Picture 486" descr="FaChartBar_o.png"/>
          <p:cNvPicPr>
            <a:picLocks noChangeAspect="1"/>
          </p:cNvPicPr>
          <p:nvPr/>
        </p:nvPicPr>
        <p:blipFill>
          <a:blip r:embed="rId4"/>
          <a:stretch>
            <a:fillRect/>
          </a:stretch>
        </p:blipFill>
        <p:spPr>
          <a:xfrm>
            <a:off x="457200" y="3470148"/>
            <a:ext cx="457200" cy="457200"/>
          </a:xfrm>
          <a:prstGeom prst="rect">
            <a:avLst/>
          </a:prstGeom>
        </p:spPr>
      </p:pic>
      <p:sp>
        <p:nvSpPr>
          <p:cNvPr id="488" name="TextBox 487"/>
          <p:cNvSpPr txBox="1"/>
          <p:nvPr/>
        </p:nvSpPr>
        <p:spPr>
          <a:xfrm>
            <a:off x="960120" y="2779776"/>
            <a:ext cx="3566159" cy="1837943"/>
          </a:xfrm>
          <a:prstGeom prst="rect">
            <a:avLst/>
          </a:prstGeom>
          <a:noFill/>
        </p:spPr>
        <p:txBody>
          <a:bodyPr wrap="square" lIns="18288" tIns="18288" rIns="36576" bIns="18288" anchor="ctr"/>
          <a:lstStyle/>
          <a:p>
            <a:pPr algn="l"/>
            <a:r>
              <a:rPr lang="vi-VN" sz="1450" b="1" i="0">
                <a:solidFill>
                  <a:srgbClr val="C55A11"/>
                </a:solidFill>
                <a:latin typeface="Times New Roman"/>
                <a:cs typeface="Times New Roman"/>
              </a:rPr>
              <a:t>Stacked bar chart</a:t>
            </a:r>
          </a:p>
          <a:p>
            <a:pPr algn="l"/>
            <a:r>
              <a:rPr lang="vi-VN" sz="1350" b="0" i="0">
                <a:solidFill>
                  <a:srgbClr val="222222"/>
                </a:solidFill>
                <a:latin typeface="Times New Roman"/>
                <a:cs typeface="Times New Roman"/>
              </a:rPr>
              <a:t>Phân bổ phân loại nhóm nợ theo Top 10 ngành có quy mô dư nợ lớn nhất</a:t>
            </a:r>
          </a:p>
        </p:txBody>
      </p:sp>
      <p:sp>
        <p:nvSpPr>
          <p:cNvPr id="489" name="Rounded Rectangle 488"/>
          <p:cNvSpPr/>
          <p:nvPr/>
        </p:nvSpPr>
        <p:spPr>
          <a:xfrm>
            <a:off x="4663440" y="2761488"/>
            <a:ext cx="7159752" cy="1874519"/>
          </a:xfrm>
          <a:prstGeom prst="roundRect">
            <a:avLst>
              <a:gd name="adj" fmla="val 8000"/>
            </a:avLst>
          </a:prstGeom>
          <a:solidFill>
            <a:srgbClr val="FFFFFF"/>
          </a:solidFill>
          <a:ln w="19050">
            <a:solidFill>
              <a:srgbClr val="C00000"/>
            </a:solidFill>
          </a:ln>
        </p:spPr>
        <p:txBody>
          <a:bodyPr wrap="square" lIns="73152" tIns="36576" rIns="73152" bIns="36576" rtlCol="0" anchor="ctr"/>
          <a:lstStyle/>
          <a:p>
            <a:pPr algn="ctr"/>
            <a:endParaRPr/>
          </a:p>
        </p:txBody>
      </p:sp>
      <p:pic>
        <p:nvPicPr>
          <p:cNvPr id="490" name="Picture 489" descr="FaTable_r.png"/>
          <p:cNvPicPr>
            <a:picLocks noChangeAspect="1"/>
          </p:cNvPicPr>
          <p:nvPr/>
        </p:nvPicPr>
        <p:blipFill>
          <a:blip r:embed="rId5"/>
          <a:stretch>
            <a:fillRect/>
          </a:stretch>
        </p:blipFill>
        <p:spPr>
          <a:xfrm>
            <a:off x="4754879" y="3470148"/>
            <a:ext cx="457200" cy="457200"/>
          </a:xfrm>
          <a:prstGeom prst="rect">
            <a:avLst/>
          </a:prstGeom>
        </p:spPr>
      </p:pic>
      <p:sp>
        <p:nvSpPr>
          <p:cNvPr id="491" name="TextBox 490"/>
          <p:cNvSpPr txBox="1"/>
          <p:nvPr/>
        </p:nvSpPr>
        <p:spPr>
          <a:xfrm>
            <a:off x="5257800" y="2779776"/>
            <a:ext cx="6519672" cy="1837943"/>
          </a:xfrm>
          <a:prstGeom prst="rect">
            <a:avLst/>
          </a:prstGeom>
          <a:noFill/>
        </p:spPr>
        <p:txBody>
          <a:bodyPr wrap="square" lIns="18288" tIns="18288" rIns="36576" bIns="18288" anchor="ctr"/>
          <a:lstStyle/>
          <a:p>
            <a:pPr algn="l"/>
            <a:r>
              <a:rPr lang="vi-VN" sz="1450" b="1" i="0">
                <a:solidFill>
                  <a:srgbClr val="C00000"/>
                </a:solidFill>
                <a:latin typeface="Times New Roman"/>
                <a:cs typeface="Times New Roman"/>
              </a:rPr>
              <a:t>Table tỷ lệ OD2, OD3-5 theo Top 10 ĐVKD</a:t>
            </a:r>
          </a:p>
          <a:p>
            <a:pPr algn="l"/>
            <a:r>
              <a:rPr lang="vi-VN" sz="1350" b="0" i="0">
                <a:solidFill>
                  <a:srgbClr val="222222"/>
                </a:solidFill>
                <a:latin typeface="Times New Roman"/>
                <a:cs typeface="Times New Roman"/>
              </a:rPr>
              <a:t>Thêm cột cuối tháng trước và cùng tháng năm trước cho từng tỷ lệ, kèm cột thay đổi tính bằng điểm % (▲/▼, màu đảo vì tăng là xấu)</a:t>
            </a:r>
          </a:p>
        </p:txBody>
      </p:sp>
      <p:sp>
        <p:nvSpPr>
          <p:cNvPr id="492" name="Rounded Rectangle 491"/>
          <p:cNvSpPr/>
          <p:nvPr/>
        </p:nvSpPr>
        <p:spPr>
          <a:xfrm>
            <a:off x="365760" y="4754880"/>
            <a:ext cx="5669280" cy="1234440"/>
          </a:xfrm>
          <a:prstGeom prst="roundRect">
            <a:avLst>
              <a:gd name="adj" fmla="val 8000"/>
            </a:avLst>
          </a:prstGeom>
          <a:solidFill>
            <a:srgbClr val="FFFFFF"/>
          </a:solidFill>
          <a:ln w="19050">
            <a:solidFill>
              <a:srgbClr val="123A7A"/>
            </a:solidFill>
          </a:ln>
        </p:spPr>
        <p:txBody>
          <a:bodyPr wrap="square" lIns="73152" tIns="36576" rIns="73152" bIns="36576" rtlCol="0" anchor="ctr"/>
          <a:lstStyle/>
          <a:p>
            <a:pPr algn="ctr"/>
            <a:endParaRPr/>
          </a:p>
        </p:txBody>
      </p:sp>
      <p:pic>
        <p:nvPicPr>
          <p:cNvPr id="493" name="Picture 492" descr="FaChartLine_n.png"/>
          <p:cNvPicPr>
            <a:picLocks noChangeAspect="1"/>
          </p:cNvPicPr>
          <p:nvPr/>
        </p:nvPicPr>
        <p:blipFill>
          <a:blip r:embed="rId6"/>
          <a:stretch>
            <a:fillRect/>
          </a:stretch>
        </p:blipFill>
        <p:spPr>
          <a:xfrm>
            <a:off x="457200" y="5143500"/>
            <a:ext cx="457200" cy="457200"/>
          </a:xfrm>
          <a:prstGeom prst="rect">
            <a:avLst/>
          </a:prstGeom>
        </p:spPr>
      </p:pic>
      <p:sp>
        <p:nvSpPr>
          <p:cNvPr id="494" name="TextBox 493"/>
          <p:cNvSpPr txBox="1"/>
          <p:nvPr/>
        </p:nvSpPr>
        <p:spPr>
          <a:xfrm>
            <a:off x="960120" y="4773168"/>
            <a:ext cx="5029200" cy="1197864"/>
          </a:xfrm>
          <a:prstGeom prst="rect">
            <a:avLst/>
          </a:prstGeom>
          <a:noFill/>
        </p:spPr>
        <p:txBody>
          <a:bodyPr wrap="square" lIns="18288" tIns="18288" rIns="36576" bIns="18288" anchor="ctr"/>
          <a:lstStyle/>
          <a:p>
            <a:pPr algn="l"/>
            <a:r>
              <a:rPr lang="vi-VN" sz="1500" b="1" i="0">
                <a:solidFill>
                  <a:srgbClr val="123A7A"/>
                </a:solidFill>
                <a:latin typeface="Times New Roman"/>
                <a:cs typeface="Times New Roman"/>
              </a:rPr>
              <a:t>Line chart tỷ lệ OD2 theo tháng</a:t>
            </a:r>
          </a:p>
        </p:txBody>
      </p:sp>
      <p:sp>
        <p:nvSpPr>
          <p:cNvPr id="495" name="Rounded Rectangle 494"/>
          <p:cNvSpPr/>
          <p:nvPr/>
        </p:nvSpPr>
        <p:spPr>
          <a:xfrm>
            <a:off x="6153912" y="4754880"/>
            <a:ext cx="5669280" cy="1234440"/>
          </a:xfrm>
          <a:prstGeom prst="roundRect">
            <a:avLst>
              <a:gd name="adj" fmla="val 8000"/>
            </a:avLst>
          </a:prstGeom>
          <a:solidFill>
            <a:srgbClr val="FFFFFF"/>
          </a:solidFill>
          <a:ln w="19050">
            <a:solidFill>
              <a:srgbClr val="C00000"/>
            </a:solidFill>
          </a:ln>
        </p:spPr>
        <p:txBody>
          <a:bodyPr wrap="square" lIns="73152" tIns="36576" rIns="73152" bIns="36576" rtlCol="0" anchor="ctr"/>
          <a:lstStyle/>
          <a:p>
            <a:pPr algn="ctr"/>
            <a:endParaRPr/>
          </a:p>
        </p:txBody>
      </p:sp>
      <p:pic>
        <p:nvPicPr>
          <p:cNvPr id="496" name="Picture 495" descr="FaChartLine_r.png"/>
          <p:cNvPicPr>
            <a:picLocks noChangeAspect="1"/>
          </p:cNvPicPr>
          <p:nvPr/>
        </p:nvPicPr>
        <p:blipFill>
          <a:blip r:embed="rId7"/>
          <a:stretch>
            <a:fillRect/>
          </a:stretch>
        </p:blipFill>
        <p:spPr>
          <a:xfrm>
            <a:off x="6245352" y="5143500"/>
            <a:ext cx="457200" cy="457200"/>
          </a:xfrm>
          <a:prstGeom prst="rect">
            <a:avLst/>
          </a:prstGeom>
        </p:spPr>
      </p:pic>
      <p:sp>
        <p:nvSpPr>
          <p:cNvPr id="497" name="TextBox 496"/>
          <p:cNvSpPr txBox="1"/>
          <p:nvPr/>
        </p:nvSpPr>
        <p:spPr>
          <a:xfrm>
            <a:off x="6748272" y="4773168"/>
            <a:ext cx="5029200" cy="1197864"/>
          </a:xfrm>
          <a:prstGeom prst="rect">
            <a:avLst/>
          </a:prstGeom>
          <a:noFill/>
        </p:spPr>
        <p:txBody>
          <a:bodyPr wrap="square" lIns="18288" tIns="18288" rIns="36576" bIns="18288" anchor="ctr"/>
          <a:lstStyle/>
          <a:p>
            <a:pPr algn="l"/>
            <a:r>
              <a:rPr lang="vi-VN" sz="1500" b="1" i="0">
                <a:solidFill>
                  <a:srgbClr val="C00000"/>
                </a:solidFill>
                <a:latin typeface="Times New Roman"/>
                <a:cs typeface="Times New Roman"/>
              </a:rPr>
              <a:t>Line chart tỷ lệ OD3-5 theo tháng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Đề bài xây dựng dashboard</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15</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Bảng tự rà soát mức độ hoàn thiện sản phẩm</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Tự rà soát: </a:t>
            </a:r>
            <a:r>
              <a:rPr lang="vi-VN" sz="1800" b="1" i="0">
                <a:solidFill>
                  <a:srgbClr val="C00000"/>
                </a:solidFill>
                <a:latin typeface="Times New Roman"/>
                <a:cs typeface="Times New Roman"/>
              </a:rPr>
              <a:t>Bắt buộc</a:t>
            </a:r>
            <a:r>
              <a:rPr lang="vi-VN" sz="1800" b="0" i="0">
                <a:solidFill>
                  <a:srgbClr val="000000"/>
                </a:solidFill>
                <a:latin typeface="Times New Roman"/>
                <a:cs typeface="Times New Roman"/>
              </a:rPr>
              <a:t> → </a:t>
            </a:r>
            <a:r>
              <a:rPr lang="vi-VN" sz="1800" b="1" i="0">
                <a:solidFill>
                  <a:srgbClr val="C55A11"/>
                </a:solidFill>
                <a:latin typeface="Times New Roman"/>
                <a:cs typeface="Times New Roman"/>
              </a:rPr>
              <a:t>Nên có</a:t>
            </a:r>
            <a:r>
              <a:rPr lang="vi-VN" sz="1800" b="0" i="0">
                <a:solidFill>
                  <a:srgbClr val="000000"/>
                </a:solidFill>
                <a:latin typeface="Times New Roman"/>
                <a:cs typeface="Times New Roman"/>
              </a:rPr>
              <a:t> → </a:t>
            </a:r>
            <a:r>
              <a:rPr lang="vi-VN" sz="1800" b="1" i="0">
                <a:solidFill>
                  <a:srgbClr val="2E5B31"/>
                </a:solidFill>
                <a:latin typeface="Times New Roman"/>
                <a:cs typeface="Times New Roman"/>
              </a:rPr>
              <a:t>Sáng tạo</a:t>
            </a:r>
          </a:p>
        </p:txBody>
      </p:sp>
      <p:sp>
        <p:nvSpPr>
          <p:cNvPr id="474" name="Rounded Rectangle 473"/>
          <p:cNvSpPr/>
          <p:nvPr/>
        </p:nvSpPr>
        <p:spPr>
          <a:xfrm>
            <a:off x="365760" y="1417320"/>
            <a:ext cx="3749039" cy="4526280"/>
          </a:xfrm>
          <a:prstGeom prst="roundRect">
            <a:avLst>
              <a:gd name="adj" fmla="val 4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475" name="Rounded Rectangle 474"/>
          <p:cNvSpPr/>
          <p:nvPr/>
        </p:nvSpPr>
        <p:spPr>
          <a:xfrm>
            <a:off x="365760" y="1417320"/>
            <a:ext cx="3749039" cy="548640"/>
          </a:xfrm>
          <a:prstGeom prst="roundRect">
            <a:avLst>
              <a:gd name="adj" fmla="val 20000"/>
            </a:avLst>
          </a:prstGeom>
          <a:solidFill>
            <a:srgbClr val="C00000"/>
          </a:solidFill>
          <a:ln>
            <a:noFill/>
          </a:ln>
        </p:spPr>
        <p:txBody>
          <a:bodyPr wrap="square" lIns="73152" tIns="36576" rIns="73152" bIns="36576" rtlCol="0" anchor="ctr"/>
          <a:lstStyle/>
          <a:p>
            <a:pPr algn="ctr"/>
            <a:r>
              <a:rPr lang="vi-VN" sz="1800" b="1" i="0">
                <a:solidFill>
                  <a:srgbClr val="FFFFFF"/>
                </a:solidFill>
                <a:latin typeface="Times New Roman"/>
                <a:cs typeface="Times New Roman"/>
              </a:rPr>
              <a:t>Bắt buộc</a:t>
            </a:r>
          </a:p>
        </p:txBody>
      </p:sp>
      <p:sp>
        <p:nvSpPr>
          <p:cNvPr id="476" name="TextBox 475"/>
          <p:cNvSpPr txBox="1"/>
          <p:nvPr/>
        </p:nvSpPr>
        <p:spPr>
          <a:xfrm>
            <a:off x="457200" y="2057400"/>
            <a:ext cx="3566160" cy="3840480"/>
          </a:xfrm>
          <a:prstGeom prst="rect">
            <a:avLst/>
          </a:prstGeom>
          <a:noFill/>
        </p:spPr>
        <p:txBody>
          <a:bodyPr wrap="square" lIns="73152" tIns="36576" rIns="73152" bIns="36576" anchor="t"/>
          <a:lstStyle/>
          <a:p>
            <a:pPr algn="l">
              <a:spcBef>
                <a:spcPts val="1400"/>
              </a:spcBef>
            </a:pPr>
            <a:r>
              <a:rPr lang="vi-VN" sz="1700" b="0" i="0">
                <a:solidFill>
                  <a:srgbClr val="222222"/>
                </a:solidFill>
                <a:latin typeface="Times New Roman"/>
                <a:cs typeface="Times New Roman"/>
              </a:rPr>
              <a:t>☐  4 trang đủ thẻ KPI, biểu đồ, bảng theo yêu cầu</a:t>
            </a:r>
          </a:p>
          <a:p>
            <a:pPr algn="l">
              <a:spcBef>
                <a:spcPts val="1400"/>
              </a:spcBef>
            </a:pPr>
            <a:r>
              <a:rPr lang="vi-VN" sz="1700" b="0" i="0">
                <a:solidFill>
                  <a:srgbClr val="222222"/>
                </a:solidFill>
                <a:latin typeface="Times New Roman"/>
                <a:cs typeface="Times New Roman"/>
              </a:rPr>
              <a:t>☐  3 slicer dùng chung, đồng bộ cả 4 trang</a:t>
            </a:r>
          </a:p>
          <a:p>
            <a:pPr algn="l">
              <a:spcBef>
                <a:spcPts val="1400"/>
              </a:spcBef>
            </a:pPr>
            <a:r>
              <a:rPr lang="vi-VN" sz="1700" b="0" i="0">
                <a:solidFill>
                  <a:srgbClr val="222222"/>
                </a:solidFill>
                <a:latin typeface="Times New Roman"/>
                <a:cs typeface="Times New Roman"/>
              </a:rPr>
              <a:t>☐  Thẻ KPI có so sánh cuối tháng trước và cùng tháng năm trước</a:t>
            </a:r>
          </a:p>
          <a:p>
            <a:pPr algn="l">
              <a:spcBef>
                <a:spcPts val="1400"/>
              </a:spcBef>
            </a:pPr>
            <a:r>
              <a:rPr lang="vi-VN" sz="1700" b="0" i="0">
                <a:solidFill>
                  <a:srgbClr val="222222"/>
                </a:solidFill>
                <a:latin typeface="Times New Roman"/>
                <a:cs typeface="Times New Roman"/>
              </a:rPr>
              <a:t>☐  Biểu đồ đường không bị slicer Tháng lọc (đủ 18 tháng)</a:t>
            </a:r>
          </a:p>
          <a:p>
            <a:pPr algn="l">
              <a:spcBef>
                <a:spcPts val="1400"/>
              </a:spcBef>
            </a:pPr>
            <a:r>
              <a:rPr lang="vi-VN" sz="1700" b="0" i="0">
                <a:solidFill>
                  <a:srgbClr val="222222"/>
                </a:solidFill>
                <a:latin typeface="Times New Roman"/>
                <a:cs typeface="Times New Roman"/>
              </a:rPr>
              <a:t>☐  Số liệu khớp bảng đối soát</a:t>
            </a:r>
          </a:p>
        </p:txBody>
      </p:sp>
      <p:sp>
        <p:nvSpPr>
          <p:cNvPr id="477" name="Rounded Rectangle 476"/>
          <p:cNvSpPr/>
          <p:nvPr/>
        </p:nvSpPr>
        <p:spPr>
          <a:xfrm>
            <a:off x="4219956" y="1417320"/>
            <a:ext cx="3749039"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8" name="Rounded Rectangle 477"/>
          <p:cNvSpPr/>
          <p:nvPr/>
        </p:nvSpPr>
        <p:spPr>
          <a:xfrm>
            <a:off x="4219956" y="1417320"/>
            <a:ext cx="3749039" cy="548640"/>
          </a:xfrm>
          <a:prstGeom prst="roundRect">
            <a:avLst>
              <a:gd name="adj" fmla="val 20000"/>
            </a:avLst>
          </a:prstGeom>
          <a:solidFill>
            <a:srgbClr val="C55A11"/>
          </a:solidFill>
          <a:ln>
            <a:noFill/>
          </a:ln>
        </p:spPr>
        <p:txBody>
          <a:bodyPr wrap="square" lIns="73152" tIns="36576" rIns="73152" bIns="36576" rtlCol="0" anchor="ctr"/>
          <a:lstStyle/>
          <a:p>
            <a:pPr algn="ctr"/>
            <a:r>
              <a:rPr lang="vi-VN" sz="1800" b="1" i="0">
                <a:solidFill>
                  <a:srgbClr val="FFFFFF"/>
                </a:solidFill>
                <a:latin typeface="Times New Roman"/>
                <a:cs typeface="Times New Roman"/>
              </a:rPr>
              <a:t>Nên có</a:t>
            </a:r>
          </a:p>
        </p:txBody>
      </p:sp>
      <p:sp>
        <p:nvSpPr>
          <p:cNvPr id="479" name="TextBox 478"/>
          <p:cNvSpPr txBox="1"/>
          <p:nvPr/>
        </p:nvSpPr>
        <p:spPr>
          <a:xfrm>
            <a:off x="4311396" y="2057400"/>
            <a:ext cx="3566160" cy="3840480"/>
          </a:xfrm>
          <a:prstGeom prst="rect">
            <a:avLst/>
          </a:prstGeom>
          <a:noFill/>
        </p:spPr>
        <p:txBody>
          <a:bodyPr wrap="square" lIns="73152" tIns="36576" rIns="73152" bIns="36576" anchor="t"/>
          <a:lstStyle/>
          <a:p>
            <a:pPr algn="l">
              <a:spcBef>
                <a:spcPts val="1400"/>
              </a:spcBef>
            </a:pPr>
            <a:r>
              <a:rPr lang="vi-VN" sz="1700" b="0" i="0">
                <a:solidFill>
                  <a:srgbClr val="222222"/>
                </a:solidFill>
                <a:latin typeface="Times New Roman"/>
                <a:cs typeface="Times New Roman"/>
              </a:rPr>
              <a:t>☐  Nút Đặt lại đưa slicer về mặc định</a:t>
            </a:r>
          </a:p>
          <a:p>
            <a:pPr algn="l">
              <a:spcBef>
                <a:spcPts val="1400"/>
              </a:spcBef>
            </a:pPr>
            <a:r>
              <a:rPr lang="vi-VN" sz="1700" b="0" i="0">
                <a:solidFill>
                  <a:srgbClr val="222222"/>
                </a:solidFill>
                <a:latin typeface="Times New Roman"/>
                <a:cs typeface="Times New Roman"/>
              </a:rPr>
              <a:t>☐  Caption “Hình N” cho mỗi biểu đồ, bảng</a:t>
            </a:r>
          </a:p>
          <a:p>
            <a:pPr algn="l">
              <a:spcBef>
                <a:spcPts val="1400"/>
              </a:spcBef>
            </a:pPr>
            <a:r>
              <a:rPr lang="vi-VN" sz="1700" b="0" i="0">
                <a:solidFill>
                  <a:srgbClr val="222222"/>
                </a:solidFill>
                <a:latin typeface="Times New Roman"/>
                <a:cs typeface="Times New Roman"/>
              </a:rPr>
              <a:t>☐  Ghi rõ đơn vị: tỷ đồng, %, điểm %</a:t>
            </a:r>
          </a:p>
          <a:p>
            <a:pPr algn="l">
              <a:spcBef>
                <a:spcPts val="1400"/>
              </a:spcBef>
            </a:pPr>
            <a:r>
              <a:rPr lang="vi-VN" sz="1700" b="0" i="0">
                <a:solidFill>
                  <a:srgbClr val="222222"/>
                </a:solidFill>
                <a:latin typeface="Times New Roman"/>
                <a:cs typeface="Times New Roman"/>
              </a:rPr>
              <a:t>☐  Điều hướng giữa 4 trang</a:t>
            </a:r>
          </a:p>
          <a:p>
            <a:pPr algn="l">
              <a:spcBef>
                <a:spcPts val="1400"/>
              </a:spcBef>
            </a:pPr>
            <a:r>
              <a:rPr lang="vi-VN" sz="1700" b="0" i="0">
                <a:solidFill>
                  <a:srgbClr val="222222"/>
                </a:solidFill>
                <a:latin typeface="Times New Roman"/>
                <a:cs typeface="Times New Roman"/>
              </a:rPr>
              <a:t>☐  Màu đảo cho OD, ▲/▼ trong cột thay đổi</a:t>
            </a:r>
          </a:p>
        </p:txBody>
      </p:sp>
      <p:sp>
        <p:nvSpPr>
          <p:cNvPr id="480" name="Rounded Rectangle 479"/>
          <p:cNvSpPr/>
          <p:nvPr/>
        </p:nvSpPr>
        <p:spPr>
          <a:xfrm>
            <a:off x="8074152" y="1417320"/>
            <a:ext cx="3749039"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1" name="Rounded Rectangle 480"/>
          <p:cNvSpPr/>
          <p:nvPr/>
        </p:nvSpPr>
        <p:spPr>
          <a:xfrm>
            <a:off x="8074152" y="1417320"/>
            <a:ext cx="3749039" cy="548640"/>
          </a:xfrm>
          <a:prstGeom prst="roundRect">
            <a:avLst>
              <a:gd name="adj" fmla="val 20000"/>
            </a:avLst>
          </a:prstGeom>
          <a:solidFill>
            <a:srgbClr val="2E5B31"/>
          </a:solidFill>
          <a:ln>
            <a:noFill/>
          </a:ln>
        </p:spPr>
        <p:txBody>
          <a:bodyPr wrap="square" lIns="73152" tIns="36576" rIns="73152" bIns="36576" rtlCol="0" anchor="ctr"/>
          <a:lstStyle/>
          <a:p>
            <a:pPr algn="ctr"/>
            <a:r>
              <a:rPr lang="vi-VN" sz="1800" b="1" i="0">
                <a:solidFill>
                  <a:srgbClr val="FFFFFF"/>
                </a:solidFill>
                <a:latin typeface="Times New Roman"/>
                <a:cs typeface="Times New Roman"/>
              </a:rPr>
              <a:t>Sáng tạo</a:t>
            </a:r>
          </a:p>
        </p:txBody>
      </p:sp>
      <p:sp>
        <p:nvSpPr>
          <p:cNvPr id="482" name="TextBox 481"/>
          <p:cNvSpPr txBox="1"/>
          <p:nvPr/>
        </p:nvSpPr>
        <p:spPr>
          <a:xfrm>
            <a:off x="8165592" y="2057400"/>
            <a:ext cx="3566160" cy="3840480"/>
          </a:xfrm>
          <a:prstGeom prst="rect">
            <a:avLst/>
          </a:prstGeom>
          <a:noFill/>
        </p:spPr>
        <p:txBody>
          <a:bodyPr wrap="square" lIns="73152" tIns="36576" rIns="73152" bIns="36576" anchor="t"/>
          <a:lstStyle/>
          <a:p>
            <a:pPr algn="l">
              <a:spcBef>
                <a:spcPts val="1400"/>
              </a:spcBef>
            </a:pPr>
            <a:r>
              <a:rPr lang="vi-VN" sz="1700" b="0" i="0">
                <a:solidFill>
                  <a:srgbClr val="222222"/>
                </a:solidFill>
                <a:latin typeface="Times New Roman"/>
                <a:cs typeface="Times New Roman"/>
              </a:rPr>
              <a:t>☐  Trang tooltip: dư nợ theo nhóm nợ</a:t>
            </a:r>
          </a:p>
          <a:p>
            <a:pPr algn="l">
              <a:spcBef>
                <a:spcPts val="1400"/>
              </a:spcBef>
            </a:pPr>
            <a:r>
              <a:rPr lang="vi-VN" sz="1700" b="0" i="0">
                <a:solidFill>
                  <a:srgbClr val="222222"/>
                </a:solidFill>
                <a:latin typeface="Times New Roman"/>
                <a:cs typeface="Times New Roman"/>
              </a:rPr>
              <a:t>☐  Drill-through “Chi tiết ĐVKD”</a:t>
            </a:r>
          </a:p>
          <a:p>
            <a:pPr algn="l">
              <a:spcBef>
                <a:spcPts val="1400"/>
              </a:spcBef>
            </a:pPr>
            <a:r>
              <a:rPr lang="vi-VN" sz="1700" b="0" i="0">
                <a:solidFill>
                  <a:srgbClr val="222222"/>
                </a:solidFill>
                <a:latin typeface="Times New Roman"/>
                <a:cs typeface="Times New Roman"/>
              </a:rPr>
              <a:t>☐  Dùng bảng bổ sung: kế hoạch, gốc đến hạn, nhóm nợ CIC</a:t>
            </a:r>
          </a:p>
          <a:p>
            <a:pPr algn="l">
              <a:spcBef>
                <a:spcPts val="1400"/>
              </a:spcBef>
            </a:pPr>
            <a:r>
              <a:rPr lang="vi-VN" sz="1700" b="0" i="0">
                <a:solidFill>
                  <a:srgbClr val="222222"/>
                </a:solidFill>
                <a:latin typeface="Times New Roman"/>
                <a:cs typeface="Times New Roman"/>
              </a:rPr>
              <a:t>☐  Phân tích chương trình ưu đãi, tài sản bảo đảm, vòng đời khoản vay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Hệ thống chỉ số KPI</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16</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Bản đồ ba nhóm chỉ tiêu</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Hiểu </a:t>
            </a:r>
            <a:r>
              <a:rPr lang="vi-VN" sz="1800" b="1" i="0">
                <a:solidFill>
                  <a:srgbClr val="123A7A"/>
                </a:solidFill>
                <a:latin typeface="Times New Roman"/>
                <a:cs typeface="Times New Roman"/>
              </a:rPr>
              <a:t>định nghĩa &amp; quy tắc</a:t>
            </a:r>
            <a:r>
              <a:rPr lang="vi-VN" sz="1800" b="0" i="0">
                <a:solidFill>
                  <a:srgbClr val="000000"/>
                </a:solidFill>
                <a:latin typeface="Times New Roman"/>
                <a:cs typeface="Times New Roman"/>
              </a:rPr>
              <a:t> trước – viết công thức DAX sau</a:t>
            </a:r>
          </a:p>
        </p:txBody>
      </p:sp>
      <p:sp>
        <p:nvSpPr>
          <p:cNvPr id="474" name="Rounded Rectangle 473"/>
          <p:cNvSpPr/>
          <p:nvPr/>
        </p:nvSpPr>
        <p:spPr>
          <a:xfrm>
            <a:off x="365760" y="1417320"/>
            <a:ext cx="3749039"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3749039" cy="822960"/>
          </a:xfrm>
          <a:prstGeom prst="roundRect">
            <a:avLst>
              <a:gd name="adj" fmla="val 12000"/>
            </a:avLst>
          </a:prstGeom>
          <a:solidFill>
            <a:srgbClr val="2E5B31"/>
          </a:solidFill>
          <a:ln>
            <a:noFill/>
          </a:ln>
        </p:spPr>
        <p:txBody>
          <a:bodyPr wrap="square" lIns="73152" tIns="36576" rIns="73152" bIns="36576" rtlCol="0" anchor="ctr"/>
          <a:lstStyle/>
          <a:p>
            <a:pPr algn="ctr"/>
            <a:endParaRPr/>
          </a:p>
        </p:txBody>
      </p:sp>
      <p:pic>
        <p:nvPicPr>
          <p:cNvPr id="476" name="Picture 475" descr="image.png"/>
          <p:cNvPicPr>
            <a:picLocks noChangeAspect="1"/>
          </p:cNvPicPr>
          <p:nvPr/>
        </p:nvPicPr>
        <p:blipFill>
          <a:blip r:embed="rId4"/>
          <a:stretch>
            <a:fillRect/>
          </a:stretch>
        </p:blipFill>
        <p:spPr>
          <a:xfrm>
            <a:off x="548640" y="1618488"/>
            <a:ext cx="411480" cy="411480"/>
          </a:xfrm>
          <a:prstGeom prst="rect">
            <a:avLst/>
          </a:prstGeom>
        </p:spPr>
      </p:pic>
      <p:sp>
        <p:nvSpPr>
          <p:cNvPr id="477" name="TextBox 476"/>
          <p:cNvSpPr txBox="1"/>
          <p:nvPr/>
        </p:nvSpPr>
        <p:spPr>
          <a:xfrm>
            <a:off x="1097280" y="1417320"/>
            <a:ext cx="2926080" cy="822960"/>
          </a:xfrm>
          <a:prstGeom prst="rect">
            <a:avLst/>
          </a:prstGeom>
          <a:noFill/>
        </p:spPr>
        <p:txBody>
          <a:bodyPr wrap="square" lIns="73152" tIns="36576" rIns="73152" bIns="36576" anchor="ctr"/>
          <a:lstStyle/>
          <a:p>
            <a:pPr algn="l"/>
            <a:r>
              <a:rPr lang="vi-VN" sz="2000" b="1" i="0">
                <a:solidFill>
                  <a:srgbClr val="FFFFFF"/>
                </a:solidFill>
                <a:latin typeface="Times New Roman"/>
                <a:cs typeface="Times New Roman"/>
              </a:rPr>
              <a:t>Quy mô</a:t>
            </a:r>
          </a:p>
        </p:txBody>
      </p:sp>
      <p:sp>
        <p:nvSpPr>
          <p:cNvPr id="478" name="Rounded Rectangle 477"/>
          <p:cNvSpPr/>
          <p:nvPr/>
        </p:nvSpPr>
        <p:spPr>
          <a:xfrm>
            <a:off x="914400" y="2377440"/>
            <a:ext cx="2651760" cy="384048"/>
          </a:xfrm>
          <a:prstGeom prst="roundRect">
            <a:avLst>
              <a:gd name="adj" fmla="val 40000"/>
            </a:avLst>
          </a:prstGeom>
          <a:solidFill>
            <a:srgbClr val="E2F0D9"/>
          </a:solidFill>
          <a:ln>
            <a:noFill/>
          </a:ln>
        </p:spPr>
        <p:txBody>
          <a:bodyPr wrap="square" lIns="73152" tIns="36576" rIns="73152" bIns="36576" rtlCol="0" anchor="ctr"/>
          <a:lstStyle/>
          <a:p>
            <a:pPr algn="ctr"/>
            <a:r>
              <a:rPr lang="vi-VN" sz="1500" b="1" i="0">
                <a:solidFill>
                  <a:srgbClr val="2E5B31"/>
                </a:solidFill>
                <a:latin typeface="Times New Roman"/>
                <a:cs typeface="Times New Roman"/>
              </a:rPr>
              <a:t>Chỉ tiêu số dư</a:t>
            </a:r>
          </a:p>
        </p:txBody>
      </p:sp>
      <p:sp>
        <p:nvSpPr>
          <p:cNvPr id="479" name="TextBox 478"/>
          <p:cNvSpPr txBox="1"/>
          <p:nvPr/>
        </p:nvSpPr>
        <p:spPr>
          <a:xfrm>
            <a:off x="502920" y="2926080"/>
            <a:ext cx="3474720" cy="2926080"/>
          </a:xfrm>
          <a:prstGeom prst="rect">
            <a:avLst/>
          </a:prstGeom>
          <a:noFill/>
        </p:spPr>
        <p:txBody>
          <a:bodyPr wrap="square" lIns="73152" tIns="36576" rIns="73152" bIns="36576" anchor="t"/>
          <a:lstStyle/>
          <a:p>
            <a:pPr marL="182880" indent="-182880" algn="l">
              <a:spcBef>
                <a:spcPts val="1000"/>
              </a:spcBef>
              <a:buFont typeface="Arial"/>
              <a:buChar char="•"/>
            </a:pPr>
            <a:r>
              <a:rPr lang="vi-VN" sz="1600" b="1" i="0">
                <a:solidFill>
                  <a:srgbClr val="222222"/>
                </a:solidFill>
                <a:latin typeface="Times New Roman"/>
                <a:cs typeface="Times New Roman"/>
              </a:rPr>
              <a:t>Dư nợ cuối kỳ</a:t>
            </a:r>
          </a:p>
          <a:p>
            <a:pPr marL="182880" indent="-182880" algn="l">
              <a:spcBef>
                <a:spcPts val="1000"/>
              </a:spcBef>
              <a:buFont typeface="Arial"/>
              <a:buChar char="•"/>
            </a:pPr>
            <a:r>
              <a:rPr lang="vi-VN" sz="1600" b="1" i="0">
                <a:solidFill>
                  <a:srgbClr val="222222"/>
                </a:solidFill>
                <a:latin typeface="Times New Roman"/>
                <a:cs typeface="Times New Roman"/>
              </a:rPr>
              <a:t>DNBQ YTD</a:t>
            </a:r>
            <a:r>
              <a:rPr lang="vi-VN" sz="1600" b="0" i="0">
                <a:solidFill>
                  <a:srgbClr val="222222"/>
                </a:solidFill>
                <a:latin typeface="Times New Roman"/>
                <a:cs typeface="Times New Roman"/>
              </a:rPr>
              <a:t> (optional): bình quân của DNBQ các tháng từ đầu năm đến tháng báo cáo</a:t>
            </a:r>
          </a:p>
          <a:p>
            <a:pPr marL="182880" indent="-182880" algn="l">
              <a:spcBef>
                <a:spcPts val="1000"/>
              </a:spcBef>
              <a:buFont typeface="Arial"/>
              <a:buChar char="•"/>
            </a:pPr>
            <a:r>
              <a:rPr lang="vi-VN" sz="1600" b="1" i="0">
                <a:solidFill>
                  <a:srgbClr val="222222"/>
                </a:solidFill>
                <a:latin typeface="Times New Roman"/>
                <a:cs typeface="Times New Roman"/>
              </a:rPr>
              <a:t>Biến động</a:t>
            </a:r>
            <a:r>
              <a:rPr lang="vi-VN" sz="1600" b="0" i="0">
                <a:solidFill>
                  <a:srgbClr val="222222"/>
                </a:solidFill>
                <a:latin typeface="Times New Roman"/>
                <a:cs typeface="Times New Roman"/>
              </a:rPr>
              <a:t> so với cuối tháng trước và cùng tháng năm trước</a:t>
            </a:r>
          </a:p>
        </p:txBody>
      </p:sp>
      <p:sp>
        <p:nvSpPr>
          <p:cNvPr id="480" name="Rounded Rectangle 479"/>
          <p:cNvSpPr/>
          <p:nvPr/>
        </p:nvSpPr>
        <p:spPr>
          <a:xfrm>
            <a:off x="4219956" y="1417320"/>
            <a:ext cx="3749039"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1" name="Rounded Rectangle 480"/>
          <p:cNvSpPr/>
          <p:nvPr/>
        </p:nvSpPr>
        <p:spPr>
          <a:xfrm>
            <a:off x="4219956" y="1417320"/>
            <a:ext cx="3749039" cy="822960"/>
          </a:xfrm>
          <a:prstGeom prst="roundRect">
            <a:avLst>
              <a:gd name="adj" fmla="val 12000"/>
            </a:avLst>
          </a:prstGeom>
          <a:solidFill>
            <a:srgbClr val="C55A11"/>
          </a:solidFill>
          <a:ln>
            <a:noFill/>
          </a:ln>
        </p:spPr>
        <p:txBody>
          <a:bodyPr wrap="square" lIns="73152" tIns="36576" rIns="73152" bIns="36576" rtlCol="0" anchor="ctr"/>
          <a:lstStyle/>
          <a:p>
            <a:pPr algn="ctr"/>
            <a:endParaRPr/>
          </a:p>
        </p:txBody>
      </p:sp>
      <p:pic>
        <p:nvPicPr>
          <p:cNvPr id="482" name="Picture 481" descr="image.png"/>
          <p:cNvPicPr>
            <a:picLocks noChangeAspect="1"/>
          </p:cNvPicPr>
          <p:nvPr/>
        </p:nvPicPr>
        <p:blipFill>
          <a:blip r:embed="rId5"/>
          <a:stretch>
            <a:fillRect/>
          </a:stretch>
        </p:blipFill>
        <p:spPr>
          <a:xfrm>
            <a:off x="4402836" y="1618488"/>
            <a:ext cx="411480" cy="411480"/>
          </a:xfrm>
          <a:prstGeom prst="rect">
            <a:avLst/>
          </a:prstGeom>
        </p:spPr>
      </p:pic>
      <p:sp>
        <p:nvSpPr>
          <p:cNvPr id="483" name="TextBox 482"/>
          <p:cNvSpPr txBox="1"/>
          <p:nvPr/>
        </p:nvSpPr>
        <p:spPr>
          <a:xfrm>
            <a:off x="4951476" y="1417320"/>
            <a:ext cx="2926080" cy="822960"/>
          </a:xfrm>
          <a:prstGeom prst="rect">
            <a:avLst/>
          </a:prstGeom>
          <a:noFill/>
        </p:spPr>
        <p:txBody>
          <a:bodyPr wrap="square" lIns="73152" tIns="36576" rIns="73152" bIns="36576" anchor="ctr"/>
          <a:lstStyle/>
          <a:p>
            <a:pPr algn="l"/>
            <a:r>
              <a:rPr lang="vi-VN" sz="2000" b="1" i="0">
                <a:solidFill>
                  <a:srgbClr val="FFFFFF"/>
                </a:solidFill>
                <a:latin typeface="Times New Roman"/>
                <a:cs typeface="Times New Roman"/>
              </a:rPr>
              <a:t>Sinh lời</a:t>
            </a:r>
          </a:p>
        </p:txBody>
      </p:sp>
      <p:sp>
        <p:nvSpPr>
          <p:cNvPr id="484" name="Rounded Rectangle 483"/>
          <p:cNvSpPr/>
          <p:nvPr/>
        </p:nvSpPr>
        <p:spPr>
          <a:xfrm>
            <a:off x="4768596" y="2377440"/>
            <a:ext cx="2651760" cy="384048"/>
          </a:xfrm>
          <a:prstGeom prst="roundRect">
            <a:avLst>
              <a:gd name="adj" fmla="val 40000"/>
            </a:avLst>
          </a:prstGeom>
          <a:solidFill>
            <a:srgbClr val="FBE5D6"/>
          </a:solidFill>
          <a:ln>
            <a:noFill/>
          </a:ln>
        </p:spPr>
        <p:txBody>
          <a:bodyPr wrap="square" lIns="73152" tIns="36576" rIns="73152" bIns="36576" rtlCol="0" anchor="ctr"/>
          <a:lstStyle/>
          <a:p>
            <a:pPr algn="ctr"/>
            <a:r>
              <a:rPr lang="vi-VN" sz="1500" b="1" i="0">
                <a:solidFill>
                  <a:srgbClr val="C55A11"/>
                </a:solidFill>
                <a:latin typeface="Times New Roman"/>
                <a:cs typeface="Times New Roman"/>
              </a:rPr>
              <a:t>Chỉ tiêu phát sinh</a:t>
            </a:r>
          </a:p>
        </p:txBody>
      </p:sp>
      <p:sp>
        <p:nvSpPr>
          <p:cNvPr id="485" name="TextBox 484"/>
          <p:cNvSpPr txBox="1"/>
          <p:nvPr/>
        </p:nvSpPr>
        <p:spPr>
          <a:xfrm>
            <a:off x="4357116" y="2926080"/>
            <a:ext cx="3474720" cy="2926080"/>
          </a:xfrm>
          <a:prstGeom prst="rect">
            <a:avLst/>
          </a:prstGeom>
          <a:noFill/>
        </p:spPr>
        <p:txBody>
          <a:bodyPr wrap="square" lIns="73152" tIns="36576" rIns="73152" bIns="36576" anchor="t"/>
          <a:lstStyle/>
          <a:p>
            <a:pPr marL="182880" indent="-182880" algn="l">
              <a:spcBef>
                <a:spcPts val="1000"/>
              </a:spcBef>
              <a:buFont typeface="Arial"/>
              <a:buChar char="•"/>
            </a:pPr>
            <a:r>
              <a:rPr lang="vi-VN" sz="1600" b="1" i="0">
                <a:solidFill>
                  <a:srgbClr val="222222"/>
                </a:solidFill>
                <a:latin typeface="Times New Roman"/>
                <a:cs typeface="Times New Roman"/>
              </a:rPr>
              <a:t>NII</a:t>
            </a:r>
            <a:r>
              <a:rPr lang="vi-VN" sz="1600" b="0" i="0">
                <a:solidFill>
                  <a:srgbClr val="222222"/>
                </a:solidFill>
                <a:latin typeface="Times New Roman"/>
                <a:cs typeface="Times New Roman"/>
              </a:rPr>
              <a:t> – thu nhập lãi thuần</a:t>
            </a:r>
          </a:p>
          <a:p>
            <a:pPr marL="182880" indent="-182880" algn="l">
              <a:spcBef>
                <a:spcPts val="1000"/>
              </a:spcBef>
              <a:buFont typeface="Arial"/>
              <a:buChar char="•"/>
            </a:pPr>
            <a:r>
              <a:rPr lang="vi-VN" sz="1600" b="1" i="0">
                <a:solidFill>
                  <a:srgbClr val="222222"/>
                </a:solidFill>
                <a:latin typeface="Times New Roman"/>
                <a:cs typeface="Times New Roman"/>
              </a:rPr>
              <a:t>NFI</a:t>
            </a:r>
            <a:r>
              <a:rPr lang="vi-VN" sz="1600" b="0" i="0">
                <a:solidFill>
                  <a:srgbClr val="222222"/>
                </a:solidFill>
                <a:latin typeface="Times New Roman"/>
                <a:cs typeface="Times New Roman"/>
              </a:rPr>
              <a:t> – thu nhập thuần từ phí</a:t>
            </a:r>
          </a:p>
          <a:p>
            <a:pPr marL="182880" indent="-182880" algn="l">
              <a:spcBef>
                <a:spcPts val="1000"/>
              </a:spcBef>
              <a:buFont typeface="Arial"/>
              <a:buChar char="•"/>
            </a:pPr>
            <a:r>
              <a:rPr lang="vi-VN" sz="1600" b="1" i="0">
                <a:solidFill>
                  <a:srgbClr val="222222"/>
                </a:solidFill>
                <a:latin typeface="Times New Roman"/>
                <a:cs typeface="Times New Roman"/>
              </a:rPr>
              <a:t>TOI = NII + NFI</a:t>
            </a:r>
          </a:p>
          <a:p>
            <a:pPr marL="182880" indent="-182880" algn="l">
              <a:spcBef>
                <a:spcPts val="1000"/>
              </a:spcBef>
              <a:buFont typeface="Arial"/>
              <a:buChar char="•"/>
            </a:pPr>
            <a:r>
              <a:rPr lang="vi-VN" sz="1600" b="0" i="0">
                <a:solidFill>
                  <a:srgbClr val="222222"/>
                </a:solidFill>
                <a:latin typeface="Times New Roman"/>
                <a:cs typeface="Times New Roman"/>
              </a:rPr>
              <a:t>Lũy kế </a:t>
            </a:r>
            <a:r>
              <a:rPr lang="vi-VN" sz="1600" b="1" i="0">
                <a:solidFill>
                  <a:srgbClr val="222222"/>
                </a:solidFill>
                <a:latin typeface="Times New Roman"/>
                <a:cs typeface="Times New Roman"/>
              </a:rPr>
              <a:t>YTD</a:t>
            </a:r>
            <a:r>
              <a:rPr lang="vi-VN" sz="1600" b="0" i="0">
                <a:solidFill>
                  <a:srgbClr val="222222"/>
                </a:solidFill>
                <a:latin typeface="Times New Roman"/>
                <a:cs typeface="Times New Roman"/>
              </a:rPr>
              <a:t>; so với YTD đến cuối tháng trước và YTD cùng kỳ năm trước</a:t>
            </a:r>
          </a:p>
        </p:txBody>
      </p:sp>
      <p:sp>
        <p:nvSpPr>
          <p:cNvPr id="486" name="Rounded Rectangle 485"/>
          <p:cNvSpPr/>
          <p:nvPr/>
        </p:nvSpPr>
        <p:spPr>
          <a:xfrm>
            <a:off x="8074152" y="1417320"/>
            <a:ext cx="3749039"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7" name="Rounded Rectangle 486"/>
          <p:cNvSpPr/>
          <p:nvPr/>
        </p:nvSpPr>
        <p:spPr>
          <a:xfrm>
            <a:off x="8074152" y="1417320"/>
            <a:ext cx="3749039" cy="822960"/>
          </a:xfrm>
          <a:prstGeom prst="roundRect">
            <a:avLst>
              <a:gd name="adj" fmla="val 12000"/>
            </a:avLst>
          </a:prstGeom>
          <a:solidFill>
            <a:srgbClr val="123A7A"/>
          </a:solidFill>
          <a:ln>
            <a:noFill/>
          </a:ln>
        </p:spPr>
        <p:txBody>
          <a:bodyPr wrap="square" lIns="73152" tIns="36576" rIns="73152" bIns="36576" rtlCol="0" anchor="ctr"/>
          <a:lstStyle/>
          <a:p>
            <a:pPr algn="ctr"/>
            <a:endParaRPr/>
          </a:p>
        </p:txBody>
      </p:sp>
      <p:pic>
        <p:nvPicPr>
          <p:cNvPr id="488" name="Picture 487" descr="image.png"/>
          <p:cNvPicPr>
            <a:picLocks noChangeAspect="1"/>
          </p:cNvPicPr>
          <p:nvPr/>
        </p:nvPicPr>
        <p:blipFill>
          <a:blip r:embed="rId6"/>
          <a:stretch>
            <a:fillRect/>
          </a:stretch>
        </p:blipFill>
        <p:spPr>
          <a:xfrm>
            <a:off x="8257031" y="1618488"/>
            <a:ext cx="411480" cy="411480"/>
          </a:xfrm>
          <a:prstGeom prst="rect">
            <a:avLst/>
          </a:prstGeom>
        </p:spPr>
      </p:pic>
      <p:sp>
        <p:nvSpPr>
          <p:cNvPr id="489" name="TextBox 488"/>
          <p:cNvSpPr txBox="1"/>
          <p:nvPr/>
        </p:nvSpPr>
        <p:spPr>
          <a:xfrm>
            <a:off x="8805672" y="1417320"/>
            <a:ext cx="2926080" cy="822960"/>
          </a:xfrm>
          <a:prstGeom prst="rect">
            <a:avLst/>
          </a:prstGeom>
          <a:noFill/>
        </p:spPr>
        <p:txBody>
          <a:bodyPr wrap="square" lIns="73152" tIns="36576" rIns="73152" bIns="36576" anchor="ctr"/>
          <a:lstStyle/>
          <a:p>
            <a:pPr algn="l"/>
            <a:r>
              <a:rPr lang="vi-VN" sz="2000" b="1" i="0">
                <a:solidFill>
                  <a:srgbClr val="FFFFFF"/>
                </a:solidFill>
                <a:latin typeface="Times New Roman"/>
                <a:cs typeface="Times New Roman"/>
              </a:rPr>
              <a:t>Chất lượng tín dụng</a:t>
            </a:r>
          </a:p>
        </p:txBody>
      </p:sp>
      <p:sp>
        <p:nvSpPr>
          <p:cNvPr id="490" name="Rounded Rectangle 489"/>
          <p:cNvSpPr/>
          <p:nvPr/>
        </p:nvSpPr>
        <p:spPr>
          <a:xfrm>
            <a:off x="8622792" y="2377440"/>
            <a:ext cx="2651760" cy="384048"/>
          </a:xfrm>
          <a:prstGeom prst="roundRect">
            <a:avLst>
              <a:gd name="adj" fmla="val 40000"/>
            </a:avLst>
          </a:prstGeom>
          <a:solidFill>
            <a:srgbClr val="DEEAF6"/>
          </a:solidFill>
          <a:ln>
            <a:noFill/>
          </a:ln>
        </p:spPr>
        <p:txBody>
          <a:bodyPr wrap="square" lIns="73152" tIns="36576" rIns="73152" bIns="36576" rtlCol="0" anchor="ctr"/>
          <a:lstStyle/>
          <a:p>
            <a:pPr algn="ctr"/>
            <a:r>
              <a:rPr lang="vi-VN" sz="1500" b="1" i="0">
                <a:solidFill>
                  <a:srgbClr val="123A7A"/>
                </a:solidFill>
                <a:latin typeface="Times New Roman"/>
                <a:cs typeface="Times New Roman"/>
              </a:rPr>
              <a:t>Tỷ lệ trên dư nợ</a:t>
            </a:r>
          </a:p>
        </p:txBody>
      </p:sp>
      <p:sp>
        <p:nvSpPr>
          <p:cNvPr id="491" name="TextBox 490"/>
          <p:cNvSpPr txBox="1"/>
          <p:nvPr/>
        </p:nvSpPr>
        <p:spPr>
          <a:xfrm>
            <a:off x="8211312" y="2926080"/>
            <a:ext cx="3474720" cy="2926080"/>
          </a:xfrm>
          <a:prstGeom prst="rect">
            <a:avLst/>
          </a:prstGeom>
          <a:noFill/>
        </p:spPr>
        <p:txBody>
          <a:bodyPr wrap="square" lIns="73152" tIns="36576" rIns="73152" bIns="36576" anchor="t"/>
          <a:lstStyle/>
          <a:p>
            <a:pPr marL="182880" indent="-182880" algn="l">
              <a:spcBef>
                <a:spcPts val="1000"/>
              </a:spcBef>
              <a:buFont typeface="Arial"/>
              <a:buChar char="•"/>
            </a:pPr>
            <a:r>
              <a:rPr lang="vi-VN" sz="1600" b="1" i="0">
                <a:solidFill>
                  <a:srgbClr val="222222"/>
                </a:solidFill>
                <a:latin typeface="Times New Roman"/>
                <a:cs typeface="Times New Roman"/>
              </a:rPr>
              <a:t>OD2</a:t>
            </a:r>
            <a:r>
              <a:rPr lang="vi-VN" sz="1600" b="0" i="0">
                <a:solidFill>
                  <a:srgbClr val="222222"/>
                </a:solidFill>
                <a:latin typeface="Times New Roman"/>
                <a:cs typeface="Times New Roman"/>
              </a:rPr>
              <a:t> – tỷ lệ nợ cần chú ý (nợ nhóm 2)</a:t>
            </a:r>
          </a:p>
          <a:p>
            <a:pPr marL="182880" indent="-182880" algn="l">
              <a:spcBef>
                <a:spcPts val="1000"/>
              </a:spcBef>
              <a:buFont typeface="Arial"/>
              <a:buChar char="•"/>
            </a:pPr>
            <a:r>
              <a:rPr lang="vi-VN" sz="1600" b="1" i="0">
                <a:solidFill>
                  <a:srgbClr val="222222"/>
                </a:solidFill>
                <a:latin typeface="Times New Roman"/>
                <a:cs typeface="Times New Roman"/>
              </a:rPr>
              <a:t>OD3-5</a:t>
            </a:r>
            <a:r>
              <a:rPr lang="vi-VN" sz="1600" b="0" i="0">
                <a:solidFill>
                  <a:srgbClr val="222222"/>
                </a:solidFill>
                <a:latin typeface="Times New Roman"/>
                <a:cs typeface="Times New Roman"/>
              </a:rPr>
              <a:t> – tỷ lệ nợ xấu (nợ nhóm 3 đến 5)</a:t>
            </a:r>
          </a:p>
          <a:p>
            <a:pPr marL="182880" indent="-182880" algn="l">
              <a:spcBef>
                <a:spcPts val="1000"/>
              </a:spcBef>
              <a:buFont typeface="Arial"/>
              <a:buChar char="•"/>
            </a:pPr>
            <a:r>
              <a:rPr lang="vi-VN" sz="1600" b="0" i="0">
                <a:solidFill>
                  <a:srgbClr val="222222"/>
                </a:solidFill>
                <a:latin typeface="Times New Roman"/>
                <a:cs typeface="Times New Roman"/>
              </a:rPr>
              <a:t>Quy mô dư nợ OD2, OD3-5 tương ứng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Hệ thống chỉ số KPI</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17</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Ba quy tắc nền tảng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3 quy tắc nền tảng – áp dụng cho </a:t>
            </a:r>
            <a:r>
              <a:rPr lang="vi-VN" sz="1800" b="1" i="0">
                <a:solidFill>
                  <a:srgbClr val="123A7A"/>
                </a:solidFill>
                <a:latin typeface="Times New Roman"/>
                <a:cs typeface="Times New Roman"/>
              </a:rPr>
              <a:t>mọi chỉ tiêu</a:t>
            </a:r>
            <a:r>
              <a:rPr lang="vi-VN" sz="1800" b="0" i="0">
                <a:solidFill>
                  <a:srgbClr val="000000"/>
                </a:solidFill>
                <a:latin typeface="Times New Roman"/>
                <a:cs typeface="Times New Roman"/>
              </a:rPr>
              <a:t> trên dashboard</a:t>
            </a:r>
          </a:p>
        </p:txBody>
      </p:sp>
      <p:sp>
        <p:nvSpPr>
          <p:cNvPr id="474" name="Rounded Rectangle 473"/>
          <p:cNvSpPr/>
          <p:nvPr/>
        </p:nvSpPr>
        <p:spPr>
          <a:xfrm>
            <a:off x="365760" y="1417320"/>
            <a:ext cx="3749039"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3749039" cy="502920"/>
          </a:xfrm>
          <a:prstGeom prst="roundRect">
            <a:avLst>
              <a:gd name="adj" fmla="val 25000"/>
            </a:avLst>
          </a:prstGeom>
          <a:solidFill>
            <a:srgbClr val="2E5B31"/>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1  Số dư ≠ Phát sinh</a:t>
            </a:r>
          </a:p>
        </p:txBody>
      </p:sp>
      <p:sp>
        <p:nvSpPr>
          <p:cNvPr id="476" name="Rounded Rectangle 475"/>
          <p:cNvSpPr/>
          <p:nvPr/>
        </p:nvSpPr>
        <p:spPr>
          <a:xfrm>
            <a:off x="502920" y="2103120"/>
            <a:ext cx="3474720" cy="1783080"/>
          </a:xfrm>
          <a:prstGeom prst="roundRect">
            <a:avLst>
              <a:gd name="adj" fmla="val 8000"/>
            </a:avLst>
          </a:prstGeom>
          <a:solidFill>
            <a:srgbClr val="E2F0D9"/>
          </a:solidFill>
          <a:ln>
            <a:noFill/>
          </a:ln>
        </p:spPr>
        <p:txBody>
          <a:bodyPr wrap="square" lIns="137160" tIns="73152" rtlCol="0" anchor="t"/>
          <a:lstStyle/>
          <a:p>
            <a:pPr algn="l"/>
            <a:r>
              <a:rPr lang="vi-VN" sz="1600" b="1" i="0">
                <a:solidFill>
                  <a:srgbClr val="2E5B31"/>
                </a:solidFill>
                <a:latin typeface="Times New Roman"/>
                <a:cs typeface="Times New Roman"/>
              </a:rPr>
              <a:t>Chỉ tiêu số dư</a:t>
            </a:r>
          </a:p>
          <a:p>
            <a:pPr algn="l"/>
            <a:r>
              <a:rPr lang="vi-VN" sz="1300" b="0" i="1">
                <a:solidFill>
                  <a:srgbClr val="595959"/>
                </a:solidFill>
                <a:latin typeface="Times New Roman"/>
                <a:cs typeface="Times New Roman"/>
              </a:rPr>
              <a:t>Ví dụ: dư nợ</a:t>
            </a:r>
          </a:p>
          <a:p>
            <a:pPr algn="l">
              <a:spcBef>
                <a:spcPts val="500"/>
              </a:spcBef>
            </a:pPr>
            <a:r>
              <a:rPr lang="vi-VN" sz="1600" b="0" i="0">
                <a:solidFill>
                  <a:srgbClr val="222222"/>
                </a:solidFill>
                <a:latin typeface="Times New Roman"/>
                <a:cs typeface="Times New Roman"/>
              </a:rPr>
              <a:t>Chỉ lấy tại </a:t>
            </a:r>
            <a:r>
              <a:rPr lang="vi-VN" sz="1600" b="1" i="0">
                <a:solidFill>
                  <a:srgbClr val="222222"/>
                </a:solidFill>
                <a:latin typeface="Times New Roman"/>
                <a:cs typeface="Times New Roman"/>
              </a:rPr>
              <a:t>một ngày chốt</a:t>
            </a:r>
          </a:p>
          <a:p>
            <a:pPr algn="l">
              <a:spcBef>
                <a:spcPts val="300"/>
              </a:spcBef>
            </a:pPr>
            <a:r>
              <a:rPr lang="vi-VN" sz="1600" b="1" i="0">
                <a:solidFill>
                  <a:srgbClr val="C00000"/>
                </a:solidFill>
                <a:latin typeface="Times New Roman"/>
                <a:cs typeface="Times New Roman"/>
              </a:rPr>
              <a:t>✗ Không cộng dồn qua nhiều ngày</a:t>
            </a:r>
          </a:p>
        </p:txBody>
      </p:sp>
      <p:sp>
        <p:nvSpPr>
          <p:cNvPr id="477" name="Rounded Rectangle 476"/>
          <p:cNvSpPr/>
          <p:nvPr/>
        </p:nvSpPr>
        <p:spPr>
          <a:xfrm>
            <a:off x="502920" y="4023360"/>
            <a:ext cx="3474720" cy="1783080"/>
          </a:xfrm>
          <a:prstGeom prst="roundRect">
            <a:avLst>
              <a:gd name="adj" fmla="val 8000"/>
            </a:avLst>
          </a:prstGeom>
          <a:solidFill>
            <a:srgbClr val="FBE5D6"/>
          </a:solidFill>
          <a:ln>
            <a:noFill/>
          </a:ln>
        </p:spPr>
        <p:txBody>
          <a:bodyPr wrap="square" lIns="137160" tIns="73152" rtlCol="0" anchor="t"/>
          <a:lstStyle/>
          <a:p>
            <a:pPr algn="l"/>
            <a:r>
              <a:rPr lang="vi-VN" sz="1600" b="1" i="0">
                <a:solidFill>
                  <a:srgbClr val="C55A11"/>
                </a:solidFill>
                <a:latin typeface="Times New Roman"/>
                <a:cs typeface="Times New Roman"/>
              </a:rPr>
              <a:t>Chỉ tiêu phát sinh</a:t>
            </a:r>
          </a:p>
          <a:p>
            <a:pPr algn="l"/>
            <a:r>
              <a:rPr lang="vi-VN" sz="1300" b="0" i="1">
                <a:solidFill>
                  <a:srgbClr val="595959"/>
                </a:solidFill>
                <a:latin typeface="Times New Roman"/>
                <a:cs typeface="Times New Roman"/>
              </a:rPr>
              <a:t>Ví dụ: NII, NFI, TOI</a:t>
            </a:r>
          </a:p>
          <a:p>
            <a:pPr algn="l">
              <a:spcBef>
                <a:spcPts val="500"/>
              </a:spcBef>
            </a:pPr>
            <a:r>
              <a:rPr lang="vi-VN" sz="1600" b="1" i="0">
                <a:solidFill>
                  <a:srgbClr val="222222"/>
                </a:solidFill>
                <a:latin typeface="Times New Roman"/>
                <a:cs typeface="Times New Roman"/>
              </a:rPr>
              <a:t>Cộng dồn</a:t>
            </a:r>
            <a:r>
              <a:rPr lang="vi-VN" sz="1600" b="0" i="0">
                <a:solidFill>
                  <a:srgbClr val="222222"/>
                </a:solidFill>
                <a:latin typeface="Times New Roman"/>
                <a:cs typeface="Times New Roman"/>
              </a:rPr>
              <a:t> trong kỳ</a:t>
            </a:r>
          </a:p>
        </p:txBody>
      </p:sp>
      <p:sp>
        <p:nvSpPr>
          <p:cNvPr id="478" name="Rounded Rectangle 477"/>
          <p:cNvSpPr/>
          <p:nvPr/>
        </p:nvSpPr>
        <p:spPr>
          <a:xfrm>
            <a:off x="4219956" y="1417320"/>
            <a:ext cx="3749039"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9" name="Rounded Rectangle 478"/>
          <p:cNvSpPr/>
          <p:nvPr/>
        </p:nvSpPr>
        <p:spPr>
          <a:xfrm>
            <a:off x="4219956" y="1417320"/>
            <a:ext cx="3749039" cy="502920"/>
          </a:xfrm>
          <a:prstGeom prst="roundRect">
            <a:avLst>
              <a:gd name="adj" fmla="val 25000"/>
            </a:avLst>
          </a:prstGeom>
          <a:solidFill>
            <a:srgbClr val="C55A11"/>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2  Thống nhất đơn vị đo</a:t>
            </a:r>
          </a:p>
        </p:txBody>
      </p:sp>
      <p:sp>
        <p:nvSpPr>
          <p:cNvPr id="480" name="Rounded Rectangle 479"/>
          <p:cNvSpPr/>
          <p:nvPr/>
        </p:nvSpPr>
        <p:spPr>
          <a:xfrm>
            <a:off x="4357116" y="2148840"/>
            <a:ext cx="1097280" cy="548640"/>
          </a:xfrm>
          <a:prstGeom prst="roundRect">
            <a:avLst>
              <a:gd name="adj" fmla="val 30000"/>
            </a:avLst>
          </a:prstGeom>
          <a:solidFill>
            <a:srgbClr val="FBE5D6"/>
          </a:solidFill>
          <a:ln w="12700">
            <a:solidFill>
              <a:srgbClr val="C55A11"/>
            </a:solidFill>
          </a:ln>
        </p:spPr>
        <p:txBody>
          <a:bodyPr wrap="square" lIns="18288" tIns="0" rIns="18288" bIns="0" rtlCol="0" anchor="ctr"/>
          <a:lstStyle/>
          <a:p>
            <a:pPr algn="ctr"/>
            <a:r>
              <a:rPr lang="vi-VN" sz="1400" b="1" i="0">
                <a:solidFill>
                  <a:srgbClr val="C55A11"/>
                </a:solidFill>
                <a:latin typeface="Times New Roman"/>
                <a:cs typeface="Times New Roman"/>
              </a:rPr>
              <a:t>VNĐ</a:t>
            </a:r>
          </a:p>
        </p:txBody>
      </p:sp>
      <p:sp>
        <p:nvSpPr>
          <p:cNvPr id="481" name="Rounded Rectangle 480"/>
          <p:cNvSpPr/>
          <p:nvPr/>
        </p:nvSpPr>
        <p:spPr>
          <a:xfrm>
            <a:off x="5545836" y="2148840"/>
            <a:ext cx="1097280" cy="548640"/>
          </a:xfrm>
          <a:prstGeom prst="roundRect">
            <a:avLst>
              <a:gd name="adj" fmla="val 30000"/>
            </a:avLst>
          </a:prstGeom>
          <a:solidFill>
            <a:srgbClr val="FBE5D6"/>
          </a:solidFill>
          <a:ln w="12700">
            <a:solidFill>
              <a:srgbClr val="C55A11"/>
            </a:solidFill>
          </a:ln>
        </p:spPr>
        <p:txBody>
          <a:bodyPr wrap="square" lIns="18288" tIns="0" rIns="18288" bIns="0" rtlCol="0" anchor="ctr"/>
          <a:lstStyle/>
          <a:p>
            <a:pPr algn="ctr"/>
            <a:r>
              <a:rPr lang="vi-VN" sz="1400" b="1" i="0">
                <a:solidFill>
                  <a:srgbClr val="C55A11"/>
                </a:solidFill>
                <a:latin typeface="Times New Roman"/>
                <a:cs typeface="Times New Roman"/>
              </a:rPr>
              <a:t>Triệu đồng</a:t>
            </a:r>
          </a:p>
        </p:txBody>
      </p:sp>
      <p:sp>
        <p:nvSpPr>
          <p:cNvPr id="482" name="Rounded Rectangle 481"/>
          <p:cNvSpPr/>
          <p:nvPr/>
        </p:nvSpPr>
        <p:spPr>
          <a:xfrm>
            <a:off x="6734556" y="2148840"/>
            <a:ext cx="1097280" cy="548640"/>
          </a:xfrm>
          <a:prstGeom prst="roundRect">
            <a:avLst>
              <a:gd name="adj" fmla="val 30000"/>
            </a:avLst>
          </a:prstGeom>
          <a:solidFill>
            <a:srgbClr val="FBE5D6"/>
          </a:solidFill>
          <a:ln w="12700">
            <a:solidFill>
              <a:srgbClr val="C55A11"/>
            </a:solidFill>
          </a:ln>
        </p:spPr>
        <p:txBody>
          <a:bodyPr wrap="square" lIns="18288" tIns="0" rIns="18288" bIns="0" rtlCol="0" anchor="ctr"/>
          <a:lstStyle/>
          <a:p>
            <a:pPr algn="ctr"/>
            <a:r>
              <a:rPr lang="vi-VN" sz="1400" b="1" i="0">
                <a:solidFill>
                  <a:srgbClr val="C55A11"/>
                </a:solidFill>
                <a:latin typeface="Times New Roman"/>
                <a:cs typeface="Times New Roman"/>
              </a:rPr>
              <a:t>Tỷ đồng</a:t>
            </a:r>
          </a:p>
        </p:txBody>
      </p:sp>
      <p:pic>
        <p:nvPicPr>
          <p:cNvPr id="483" name="Picture 482" descr="FaExchangeAlt_o.png"/>
          <p:cNvPicPr>
            <a:picLocks noChangeAspect="1"/>
          </p:cNvPicPr>
          <p:nvPr/>
        </p:nvPicPr>
        <p:blipFill>
          <a:blip r:embed="rId4"/>
          <a:stretch>
            <a:fillRect/>
          </a:stretch>
        </p:blipFill>
        <p:spPr>
          <a:xfrm>
            <a:off x="5774436" y="2880360"/>
            <a:ext cx="640080" cy="640080"/>
          </a:xfrm>
          <a:prstGeom prst="rect">
            <a:avLst/>
          </a:prstGeom>
        </p:spPr>
      </p:pic>
      <p:sp>
        <p:nvSpPr>
          <p:cNvPr id="484" name="TextBox 483"/>
          <p:cNvSpPr txBox="1"/>
          <p:nvPr/>
        </p:nvSpPr>
        <p:spPr>
          <a:xfrm>
            <a:off x="4357116" y="3657600"/>
            <a:ext cx="3474720" cy="2194560"/>
          </a:xfrm>
          <a:prstGeom prst="rect">
            <a:avLst/>
          </a:prstGeom>
          <a:noFill/>
        </p:spPr>
        <p:txBody>
          <a:bodyPr wrap="square" lIns="73152" tIns="36576" rIns="73152" bIns="36576" anchor="t"/>
          <a:lstStyle/>
          <a:p>
            <a:pPr marL="182880" indent="-182880" algn="l">
              <a:buFont typeface="Arial"/>
              <a:buChar char="•"/>
            </a:pPr>
            <a:r>
              <a:rPr lang="vi-VN" sz="1650" b="0" i="0">
                <a:solidFill>
                  <a:srgbClr val="222222"/>
                </a:solidFill>
                <a:latin typeface="Times New Roman"/>
                <a:cs typeface="Times New Roman"/>
              </a:rPr>
              <a:t>Quy đổi </a:t>
            </a:r>
            <a:r>
              <a:rPr lang="vi-VN" sz="1650" b="1" i="0">
                <a:solidFill>
                  <a:srgbClr val="222222"/>
                </a:solidFill>
                <a:latin typeface="Times New Roman"/>
                <a:cs typeface="Times New Roman"/>
              </a:rPr>
              <a:t>nhất quán</a:t>
            </a:r>
            <a:r>
              <a:rPr lang="vi-VN" sz="1650" b="0" i="0">
                <a:solidFill>
                  <a:srgbClr val="222222"/>
                </a:solidFill>
                <a:latin typeface="Times New Roman"/>
                <a:cs typeface="Times New Roman"/>
              </a:rPr>
              <a:t> giữa các đơn vị</a:t>
            </a:r>
          </a:p>
          <a:p>
            <a:pPr marL="182880" indent="-182880" algn="l">
              <a:spcBef>
                <a:spcPts val="800"/>
              </a:spcBef>
              <a:buFont typeface="Arial"/>
              <a:buChar char="•"/>
            </a:pPr>
            <a:r>
              <a:rPr lang="vi-VN" sz="1650" b="0" i="0">
                <a:solidFill>
                  <a:srgbClr val="222222"/>
                </a:solidFill>
                <a:latin typeface="Times New Roman"/>
                <a:cs typeface="Times New Roman"/>
              </a:rPr>
              <a:t>Mỗi chỉ tiêu dùng </a:t>
            </a:r>
            <a:r>
              <a:rPr lang="vi-VN" sz="1650" b="1" i="0">
                <a:solidFill>
                  <a:srgbClr val="222222"/>
                </a:solidFill>
                <a:latin typeface="Times New Roman"/>
                <a:cs typeface="Times New Roman"/>
              </a:rPr>
              <a:t>một đơn vị</a:t>
            </a:r>
            <a:r>
              <a:rPr lang="vi-VN" sz="1650" b="0" i="0">
                <a:solidFill>
                  <a:srgbClr val="222222"/>
                </a:solidFill>
                <a:latin typeface="Times New Roman"/>
                <a:cs typeface="Times New Roman"/>
              </a:rPr>
              <a:t> xác định</a:t>
            </a:r>
          </a:p>
          <a:p>
            <a:pPr marL="182880" indent="-182880" algn="l">
              <a:spcBef>
                <a:spcPts val="800"/>
              </a:spcBef>
              <a:buFont typeface="Arial"/>
              <a:buChar char="•"/>
            </a:pPr>
            <a:r>
              <a:rPr lang="vi-VN" sz="1650" b="0" i="0">
                <a:solidFill>
                  <a:srgbClr val="222222"/>
                </a:solidFill>
                <a:latin typeface="Times New Roman"/>
                <a:cs typeface="Times New Roman"/>
              </a:rPr>
              <a:t>Ghi rõ đơn vị trên biểu đồ</a:t>
            </a:r>
          </a:p>
        </p:txBody>
      </p:sp>
      <p:sp>
        <p:nvSpPr>
          <p:cNvPr id="485" name="Rounded Rectangle 484"/>
          <p:cNvSpPr/>
          <p:nvPr/>
        </p:nvSpPr>
        <p:spPr>
          <a:xfrm>
            <a:off x="8074152" y="1417320"/>
            <a:ext cx="3749039"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6" name="Rounded Rectangle 485"/>
          <p:cNvSpPr/>
          <p:nvPr/>
        </p:nvSpPr>
        <p:spPr>
          <a:xfrm>
            <a:off x="8074152" y="1417320"/>
            <a:ext cx="3749039" cy="502920"/>
          </a:xfrm>
          <a:prstGeom prst="roundRect">
            <a:avLst>
              <a:gd name="adj" fmla="val 25000"/>
            </a:avLst>
          </a:prstGeom>
          <a:solidFill>
            <a:srgbClr val="123A7A"/>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3  Ba mốc thời gian</a:t>
            </a:r>
          </a:p>
        </p:txBody>
      </p:sp>
      <p:sp>
        <p:nvSpPr>
          <p:cNvPr id="487" name="Rounded Rectangle 486"/>
          <p:cNvSpPr/>
          <p:nvPr/>
        </p:nvSpPr>
        <p:spPr>
          <a:xfrm>
            <a:off x="8183879" y="2103120"/>
            <a:ext cx="3529584" cy="1170432"/>
          </a:xfrm>
          <a:prstGeom prst="roundRect">
            <a:avLst>
              <a:gd name="adj" fmla="val 8000"/>
            </a:avLst>
          </a:prstGeom>
          <a:solidFill>
            <a:srgbClr val="DEEAF6"/>
          </a:solidFill>
          <a:ln>
            <a:noFill/>
          </a:ln>
        </p:spPr>
        <p:txBody>
          <a:bodyPr wrap="square" lIns="73152" tIns="36576" rIns="73152" bIns="36576" rtlCol="0" anchor="ctr"/>
          <a:lstStyle/>
          <a:p>
            <a:pPr algn="ctr"/>
            <a:endParaRPr/>
          </a:p>
        </p:txBody>
      </p:sp>
      <p:sp>
        <p:nvSpPr>
          <p:cNvPr id="488" name="Oval 487"/>
          <p:cNvSpPr/>
          <p:nvPr/>
        </p:nvSpPr>
        <p:spPr>
          <a:xfrm>
            <a:off x="8275320" y="2450591"/>
            <a:ext cx="457200" cy="457200"/>
          </a:xfrm>
          <a:prstGeom prst="ellipse">
            <a:avLst/>
          </a:prstGeom>
          <a:solidFill>
            <a:srgbClr val="123A7A"/>
          </a:solidFill>
          <a:ln>
            <a:noFill/>
          </a:ln>
        </p:spPr>
        <p:txBody>
          <a:bodyPr wrap="square" lIns="0" tIns="0" rIns="0" bIns="0" rtlCol="0" anchor="ctr"/>
          <a:lstStyle/>
          <a:p>
            <a:pPr algn="ctr"/>
            <a:r>
              <a:rPr lang="vi-VN" sz="1500" b="1" i="0">
                <a:solidFill>
                  <a:srgbClr val="FFFFFF"/>
                </a:solidFill>
                <a:latin typeface="Times New Roman"/>
                <a:cs typeface="Times New Roman"/>
              </a:rPr>
              <a:t>1</a:t>
            </a:r>
          </a:p>
        </p:txBody>
      </p:sp>
      <p:sp>
        <p:nvSpPr>
          <p:cNvPr id="489" name="TextBox 488"/>
          <p:cNvSpPr txBox="1"/>
          <p:nvPr/>
        </p:nvSpPr>
        <p:spPr>
          <a:xfrm>
            <a:off x="8823960" y="2130551"/>
            <a:ext cx="2834640" cy="1115568"/>
          </a:xfrm>
          <a:prstGeom prst="rect">
            <a:avLst/>
          </a:prstGeom>
          <a:noFill/>
        </p:spPr>
        <p:txBody>
          <a:bodyPr wrap="square" lIns="73152" tIns="36576" rIns="73152" bIns="36576" anchor="ctr"/>
          <a:lstStyle/>
          <a:p>
            <a:pPr algn="l"/>
            <a:r>
              <a:rPr lang="vi-VN" sz="1500" b="1" i="0">
                <a:solidFill>
                  <a:srgbClr val="123A7A"/>
                </a:solidFill>
                <a:latin typeface="Times New Roman"/>
                <a:cs typeface="Times New Roman"/>
              </a:rPr>
              <a:t>Ngày báo cáo</a:t>
            </a:r>
          </a:p>
          <a:p>
            <a:pPr algn="l"/>
            <a:r>
              <a:rPr lang="vi-VN" sz="1250" b="0" i="0">
                <a:solidFill>
                  <a:srgbClr val="222222"/>
                </a:solidFill>
                <a:latin typeface="Times New Roman"/>
                <a:cs typeface="Times New Roman"/>
              </a:rPr>
              <a:t>Ngày người dùng lựa chọn để xem</a:t>
            </a:r>
          </a:p>
        </p:txBody>
      </p:sp>
      <p:sp>
        <p:nvSpPr>
          <p:cNvPr id="490" name="Rounded Rectangle 489"/>
          <p:cNvSpPr/>
          <p:nvPr/>
        </p:nvSpPr>
        <p:spPr>
          <a:xfrm>
            <a:off x="8183879" y="3364991"/>
            <a:ext cx="3529584" cy="1170432"/>
          </a:xfrm>
          <a:prstGeom prst="roundRect">
            <a:avLst>
              <a:gd name="adj" fmla="val 8000"/>
            </a:avLst>
          </a:prstGeom>
          <a:solidFill>
            <a:srgbClr val="DEEAF6"/>
          </a:solidFill>
          <a:ln>
            <a:noFill/>
          </a:ln>
        </p:spPr>
        <p:txBody>
          <a:bodyPr wrap="square" lIns="73152" tIns="36576" rIns="73152" bIns="36576" rtlCol="0" anchor="ctr"/>
          <a:lstStyle/>
          <a:p>
            <a:pPr algn="ctr"/>
            <a:endParaRPr/>
          </a:p>
        </p:txBody>
      </p:sp>
      <p:sp>
        <p:nvSpPr>
          <p:cNvPr id="491" name="Oval 490"/>
          <p:cNvSpPr/>
          <p:nvPr/>
        </p:nvSpPr>
        <p:spPr>
          <a:xfrm>
            <a:off x="8275320" y="3712463"/>
            <a:ext cx="457200" cy="457200"/>
          </a:xfrm>
          <a:prstGeom prst="ellipse">
            <a:avLst/>
          </a:prstGeom>
          <a:solidFill>
            <a:srgbClr val="123A7A"/>
          </a:solidFill>
          <a:ln>
            <a:noFill/>
          </a:ln>
        </p:spPr>
        <p:txBody>
          <a:bodyPr wrap="square" lIns="0" tIns="0" rIns="0" bIns="0" rtlCol="0" anchor="ctr"/>
          <a:lstStyle/>
          <a:p>
            <a:pPr algn="ctr"/>
            <a:r>
              <a:rPr lang="vi-VN" sz="1500" b="1" i="0">
                <a:solidFill>
                  <a:srgbClr val="FFFFFF"/>
                </a:solidFill>
                <a:latin typeface="Times New Roman"/>
                <a:cs typeface="Times New Roman"/>
              </a:rPr>
              <a:t>2</a:t>
            </a:r>
          </a:p>
        </p:txBody>
      </p:sp>
      <p:sp>
        <p:nvSpPr>
          <p:cNvPr id="492" name="TextBox 491"/>
          <p:cNvSpPr txBox="1"/>
          <p:nvPr/>
        </p:nvSpPr>
        <p:spPr>
          <a:xfrm>
            <a:off x="8823960" y="3392423"/>
            <a:ext cx="2834640" cy="1115568"/>
          </a:xfrm>
          <a:prstGeom prst="rect">
            <a:avLst/>
          </a:prstGeom>
          <a:noFill/>
        </p:spPr>
        <p:txBody>
          <a:bodyPr wrap="square" lIns="73152" tIns="36576" rIns="73152" bIns="36576" anchor="ctr"/>
          <a:lstStyle/>
          <a:p>
            <a:pPr algn="l"/>
            <a:r>
              <a:rPr lang="vi-VN" sz="1500" b="1" i="0">
                <a:solidFill>
                  <a:srgbClr val="123A7A"/>
                </a:solidFill>
                <a:latin typeface="Times New Roman"/>
                <a:cs typeface="Times New Roman"/>
              </a:rPr>
              <a:t>Ngày dữ liệu mới nhất</a:t>
            </a:r>
          </a:p>
          <a:p>
            <a:pPr algn="l"/>
            <a:r>
              <a:rPr lang="vi-VN" sz="1250" b="0" i="0">
                <a:solidFill>
                  <a:srgbClr val="222222"/>
                </a:solidFill>
                <a:latin typeface="Times New Roman"/>
                <a:cs typeface="Times New Roman"/>
              </a:rPr>
              <a:t>Ngày chốt gần nhất có dữ liệu</a:t>
            </a:r>
          </a:p>
        </p:txBody>
      </p:sp>
      <p:sp>
        <p:nvSpPr>
          <p:cNvPr id="493" name="Rounded Rectangle 492"/>
          <p:cNvSpPr/>
          <p:nvPr/>
        </p:nvSpPr>
        <p:spPr>
          <a:xfrm>
            <a:off x="8183879" y="4626864"/>
            <a:ext cx="3529584" cy="1170432"/>
          </a:xfrm>
          <a:prstGeom prst="roundRect">
            <a:avLst>
              <a:gd name="adj" fmla="val 8000"/>
            </a:avLst>
          </a:prstGeom>
          <a:solidFill>
            <a:srgbClr val="DEEAF6"/>
          </a:solidFill>
          <a:ln>
            <a:noFill/>
          </a:ln>
        </p:spPr>
        <p:txBody>
          <a:bodyPr wrap="square" lIns="73152" tIns="36576" rIns="73152" bIns="36576" rtlCol="0" anchor="ctr"/>
          <a:lstStyle/>
          <a:p>
            <a:pPr algn="ctr"/>
            <a:endParaRPr/>
          </a:p>
        </p:txBody>
      </p:sp>
      <p:sp>
        <p:nvSpPr>
          <p:cNvPr id="494" name="Oval 493"/>
          <p:cNvSpPr/>
          <p:nvPr/>
        </p:nvSpPr>
        <p:spPr>
          <a:xfrm>
            <a:off x="8275320" y="4974336"/>
            <a:ext cx="457200" cy="457200"/>
          </a:xfrm>
          <a:prstGeom prst="ellipse">
            <a:avLst/>
          </a:prstGeom>
          <a:solidFill>
            <a:srgbClr val="123A7A"/>
          </a:solidFill>
          <a:ln>
            <a:noFill/>
          </a:ln>
        </p:spPr>
        <p:txBody>
          <a:bodyPr wrap="square" lIns="0" tIns="0" rIns="0" bIns="0" rtlCol="0" anchor="ctr"/>
          <a:lstStyle/>
          <a:p>
            <a:pPr algn="ctr"/>
            <a:r>
              <a:rPr lang="vi-VN" sz="1500" b="1" i="0">
                <a:solidFill>
                  <a:srgbClr val="FFFFFF"/>
                </a:solidFill>
                <a:latin typeface="Times New Roman"/>
                <a:cs typeface="Times New Roman"/>
              </a:rPr>
              <a:t>3</a:t>
            </a:r>
          </a:p>
        </p:txBody>
      </p:sp>
      <p:sp>
        <p:nvSpPr>
          <p:cNvPr id="495" name="TextBox 494"/>
          <p:cNvSpPr txBox="1"/>
          <p:nvPr/>
        </p:nvSpPr>
        <p:spPr>
          <a:xfrm>
            <a:off x="8823960" y="4654296"/>
            <a:ext cx="2834640" cy="1115568"/>
          </a:xfrm>
          <a:prstGeom prst="rect">
            <a:avLst/>
          </a:prstGeom>
          <a:noFill/>
        </p:spPr>
        <p:txBody>
          <a:bodyPr wrap="square" lIns="73152" tIns="36576" rIns="73152" bIns="36576" anchor="ctr"/>
          <a:lstStyle/>
          <a:p>
            <a:pPr algn="l"/>
            <a:r>
              <a:rPr lang="vi-VN" sz="1500" b="1" i="0">
                <a:solidFill>
                  <a:srgbClr val="123A7A"/>
                </a:solidFill>
                <a:latin typeface="Times New Roman"/>
                <a:cs typeface="Times New Roman"/>
              </a:rPr>
              <a:t>Ngày chốt kỳ so sánh</a:t>
            </a:r>
          </a:p>
          <a:p>
            <a:pPr algn="l"/>
            <a:r>
              <a:rPr lang="vi-VN" sz="1250" b="0" i="0">
                <a:solidFill>
                  <a:srgbClr val="222222"/>
                </a:solidFill>
                <a:latin typeface="Times New Roman"/>
                <a:cs typeface="Times New Roman"/>
              </a:rPr>
              <a:t>Cuối tháng trước · cùng tháng năm trước (chỉ tiêu YTD: YTD đến cuối tháng trước · YTD cùng kỳ năm trước)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Hệ thống chỉ số KPI</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18</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Nhóm Quy mô: định nghĩa &amp; công thức</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1" i="0">
                <a:solidFill>
                  <a:srgbClr val="C55A11"/>
                </a:solidFill>
                <a:latin typeface="Times New Roman"/>
                <a:cs typeface="Times New Roman"/>
              </a:rPr>
              <a:t>Dư nợ cuối kỳ ≠ DNBQ</a:t>
            </a:r>
            <a:r>
              <a:rPr lang="vi-VN" sz="1800" b="0" i="0">
                <a:solidFill>
                  <a:srgbClr val="000000"/>
                </a:solidFill>
                <a:latin typeface="Times New Roman"/>
                <a:cs typeface="Times New Roman"/>
              </a:rPr>
              <a:t>: mỗi chỉ tiêu trả lời một câu hỏi khác nhau</a:t>
            </a:r>
          </a:p>
        </p:txBody>
      </p:sp>
      <p:sp>
        <p:nvSpPr>
          <p:cNvPr id="474" name="Rounded Rectangle 473"/>
          <p:cNvSpPr/>
          <p:nvPr/>
        </p:nvSpPr>
        <p:spPr>
          <a:xfrm>
            <a:off x="365760" y="1417320"/>
            <a:ext cx="7315200" cy="137160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1920240" cy="1371600"/>
          </a:xfrm>
          <a:prstGeom prst="roundRect">
            <a:avLst>
              <a:gd name="adj" fmla="val 15000"/>
            </a:avLst>
          </a:prstGeom>
          <a:solidFill>
            <a:srgbClr val="2E5B31"/>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Dư nợ cuối kỳ</a:t>
            </a:r>
          </a:p>
        </p:txBody>
      </p:sp>
      <p:sp>
        <p:nvSpPr>
          <p:cNvPr id="476" name="TextBox 475"/>
          <p:cNvSpPr txBox="1"/>
          <p:nvPr/>
        </p:nvSpPr>
        <p:spPr>
          <a:xfrm>
            <a:off x="2377440" y="1490472"/>
            <a:ext cx="5212080" cy="594360"/>
          </a:xfrm>
          <a:prstGeom prst="rect">
            <a:avLst/>
          </a:prstGeom>
          <a:noFill/>
        </p:spPr>
        <p:txBody>
          <a:bodyPr wrap="square" lIns="73152" tIns="36576" rIns="73152" bIns="36576" anchor="ctr"/>
          <a:lstStyle/>
          <a:p>
            <a:pPr algn="l"/>
            <a:r>
              <a:rPr lang="vi-VN" sz="1500" b="0" i="0">
                <a:solidFill>
                  <a:srgbClr val="222222"/>
                </a:solidFill>
                <a:latin typeface="Times New Roman"/>
                <a:cs typeface="Times New Roman"/>
              </a:rPr>
              <a:t>Số dư tại ngày chốt của tháng báo cáo (chỉ tiêu số dư)</a:t>
            </a:r>
          </a:p>
        </p:txBody>
      </p:sp>
      <p:sp>
        <p:nvSpPr>
          <p:cNvPr id="477" name="Rounded Rectangle 476"/>
          <p:cNvSpPr/>
          <p:nvPr/>
        </p:nvSpPr>
        <p:spPr>
          <a:xfrm>
            <a:off x="2377440" y="2148840"/>
            <a:ext cx="5212080" cy="566928"/>
          </a:xfrm>
          <a:prstGeom prst="roundRect">
            <a:avLst>
              <a:gd name="adj" fmla="val 20000"/>
            </a:avLst>
          </a:prstGeom>
          <a:solidFill>
            <a:srgbClr val="F2F2F2"/>
          </a:solidFill>
          <a:ln>
            <a:noFill/>
          </a:ln>
        </p:spPr>
        <p:txBody>
          <a:bodyPr wrap="square" lIns="45720" tIns="18288" rIns="45720" bIns="18288" rtlCol="0" anchor="ctr"/>
          <a:lstStyle/>
          <a:p>
            <a:pPr algn="ctr"/>
            <a:r>
              <a:rPr lang="vi-VN" sz="1600" b="1" i="0">
                <a:solidFill>
                  <a:srgbClr val="1A365D"/>
                </a:solidFill>
                <a:latin typeface="Times New Roman"/>
                <a:cs typeface="Times New Roman"/>
              </a:rPr>
              <a:t>Dư nợ = số dư tại Ngày báo cáo</a:t>
            </a:r>
          </a:p>
        </p:txBody>
      </p:sp>
      <p:sp>
        <p:nvSpPr>
          <p:cNvPr id="478" name="Rounded Rectangle 477"/>
          <p:cNvSpPr/>
          <p:nvPr/>
        </p:nvSpPr>
        <p:spPr>
          <a:xfrm>
            <a:off x="365760" y="2880360"/>
            <a:ext cx="7315200" cy="1371600"/>
          </a:xfrm>
          <a:prstGeom prst="roundRect">
            <a:avLst>
              <a:gd name="adj" fmla="val 6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9" name="Rounded Rectangle 478"/>
          <p:cNvSpPr/>
          <p:nvPr/>
        </p:nvSpPr>
        <p:spPr>
          <a:xfrm>
            <a:off x="365760" y="2880360"/>
            <a:ext cx="1920240" cy="1371600"/>
          </a:xfrm>
          <a:prstGeom prst="roundRect">
            <a:avLst>
              <a:gd name="adj" fmla="val 15000"/>
            </a:avLst>
          </a:prstGeom>
          <a:solidFill>
            <a:srgbClr val="C55A11"/>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DNBQ YTD (optional)</a:t>
            </a:r>
          </a:p>
        </p:txBody>
      </p:sp>
      <p:sp>
        <p:nvSpPr>
          <p:cNvPr id="480" name="TextBox 479"/>
          <p:cNvSpPr txBox="1"/>
          <p:nvPr/>
        </p:nvSpPr>
        <p:spPr>
          <a:xfrm>
            <a:off x="2377440" y="2953512"/>
            <a:ext cx="5212080" cy="594360"/>
          </a:xfrm>
          <a:prstGeom prst="rect">
            <a:avLst/>
          </a:prstGeom>
          <a:noFill/>
        </p:spPr>
        <p:txBody>
          <a:bodyPr wrap="square" lIns="73152" tIns="36576" rIns="73152" bIns="36576" anchor="ctr"/>
          <a:lstStyle/>
          <a:p>
            <a:pPr algn="l"/>
            <a:r>
              <a:rPr lang="vi-VN" sz="1500" b="0" i="0">
                <a:solidFill>
                  <a:srgbClr val="222222"/>
                </a:solidFill>
                <a:latin typeface="Times New Roman"/>
                <a:cs typeface="Times New Roman"/>
              </a:rPr>
              <a:t>Bình quân của DNBQ các tháng từ tháng 1 đến tháng báo cáo</a:t>
            </a:r>
          </a:p>
        </p:txBody>
      </p:sp>
      <p:sp>
        <p:nvSpPr>
          <p:cNvPr id="481" name="Rounded Rectangle 480"/>
          <p:cNvSpPr/>
          <p:nvPr/>
        </p:nvSpPr>
        <p:spPr>
          <a:xfrm>
            <a:off x="2377440" y="3611880"/>
            <a:ext cx="5212080" cy="566928"/>
          </a:xfrm>
          <a:prstGeom prst="roundRect">
            <a:avLst>
              <a:gd name="adj" fmla="val 20000"/>
            </a:avLst>
          </a:prstGeom>
          <a:solidFill>
            <a:srgbClr val="F2F2F2"/>
          </a:solidFill>
          <a:ln>
            <a:noFill/>
          </a:ln>
        </p:spPr>
        <p:txBody>
          <a:bodyPr wrap="square" lIns="45720" tIns="18288" rIns="45720" bIns="18288" rtlCol="0" anchor="ctr"/>
          <a:lstStyle/>
          <a:p>
            <a:pPr algn="ctr"/>
            <a:r>
              <a:rPr lang="vi-VN" sz="1600" b="1" i="0">
                <a:solidFill>
                  <a:srgbClr val="1A365D"/>
                </a:solidFill>
                <a:latin typeface="Times New Roman"/>
                <a:cs typeface="Times New Roman"/>
              </a:rPr>
              <a:t>DNBQ YTD = Σ DNBQ các tháng ÷ số tháng đã qua</a:t>
            </a:r>
          </a:p>
        </p:txBody>
      </p:sp>
      <p:sp>
        <p:nvSpPr>
          <p:cNvPr id="482" name="Rounded Rectangle 481"/>
          <p:cNvSpPr/>
          <p:nvPr/>
        </p:nvSpPr>
        <p:spPr>
          <a:xfrm>
            <a:off x="365760" y="4343400"/>
            <a:ext cx="7315200" cy="137160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3" name="Rounded Rectangle 482"/>
          <p:cNvSpPr/>
          <p:nvPr/>
        </p:nvSpPr>
        <p:spPr>
          <a:xfrm>
            <a:off x="365760" y="4343400"/>
            <a:ext cx="1920240" cy="1371600"/>
          </a:xfrm>
          <a:prstGeom prst="roundRect">
            <a:avLst>
              <a:gd name="adj" fmla="val 15000"/>
            </a:avLst>
          </a:prstGeom>
          <a:solidFill>
            <a:srgbClr val="123A7A"/>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Biến động</a:t>
            </a:r>
          </a:p>
        </p:txBody>
      </p:sp>
      <p:sp>
        <p:nvSpPr>
          <p:cNvPr id="484" name="TextBox 483"/>
          <p:cNvSpPr txBox="1"/>
          <p:nvPr/>
        </p:nvSpPr>
        <p:spPr>
          <a:xfrm>
            <a:off x="2377440" y="4416552"/>
            <a:ext cx="5212080" cy="594360"/>
          </a:xfrm>
          <a:prstGeom prst="rect">
            <a:avLst/>
          </a:prstGeom>
          <a:noFill/>
        </p:spPr>
        <p:txBody>
          <a:bodyPr wrap="square" lIns="73152" tIns="36576" rIns="73152" bIns="36576" anchor="ctr"/>
          <a:lstStyle/>
          <a:p>
            <a:pPr algn="l"/>
            <a:r>
              <a:rPr lang="vi-VN" sz="1500" b="0" i="0">
                <a:solidFill>
                  <a:srgbClr val="222222"/>
                </a:solidFill>
                <a:latin typeface="Times New Roman"/>
                <a:cs typeface="Times New Roman"/>
              </a:rPr>
              <a:t>So với cuối tháng trước (Last Month) và cùng tháng năm trước (Last Year)</a:t>
            </a:r>
          </a:p>
        </p:txBody>
      </p:sp>
      <p:sp>
        <p:nvSpPr>
          <p:cNvPr id="485" name="Rounded Rectangle 484"/>
          <p:cNvSpPr/>
          <p:nvPr/>
        </p:nvSpPr>
        <p:spPr>
          <a:xfrm>
            <a:off x="2377440" y="5074920"/>
            <a:ext cx="5212080" cy="566928"/>
          </a:xfrm>
          <a:prstGeom prst="roundRect">
            <a:avLst>
              <a:gd name="adj" fmla="val 20000"/>
            </a:avLst>
          </a:prstGeom>
          <a:solidFill>
            <a:srgbClr val="F2F2F2"/>
          </a:solidFill>
          <a:ln>
            <a:noFill/>
          </a:ln>
        </p:spPr>
        <p:txBody>
          <a:bodyPr wrap="square" lIns="45720" tIns="18288" rIns="45720" bIns="18288" rtlCol="0" anchor="ctr"/>
          <a:lstStyle/>
          <a:p>
            <a:pPr algn="ctr"/>
            <a:r>
              <a:rPr lang="vi-VN" sz="1600" b="1" i="0">
                <a:solidFill>
                  <a:srgbClr val="1A365D"/>
                </a:solidFill>
                <a:latin typeface="Times New Roman"/>
                <a:cs typeface="Times New Roman"/>
              </a:rPr>
              <a:t>Δ% = (Hiện tại − Kỳ so sánh) ÷ Kỳ so sánh</a:t>
            </a:r>
          </a:p>
        </p:txBody>
      </p:sp>
      <p:sp>
        <p:nvSpPr>
          <p:cNvPr id="486" name="Rounded Rectangle 485"/>
          <p:cNvSpPr/>
          <p:nvPr/>
        </p:nvSpPr>
        <p:spPr>
          <a:xfrm>
            <a:off x="7909560" y="1417320"/>
            <a:ext cx="3913632" cy="4297680"/>
          </a:xfrm>
          <a:prstGeom prst="roundRect">
            <a:avLst>
              <a:gd name="adj" fmla="val 5000"/>
            </a:avLst>
          </a:prstGeom>
          <a:solidFill>
            <a:srgbClr val="FBE5D6"/>
          </a:solidFill>
          <a:ln w="19050">
            <a:solidFill>
              <a:srgbClr val="C55A11"/>
            </a:solidFill>
          </a:ln>
        </p:spPr>
        <p:txBody>
          <a:bodyPr wrap="square" lIns="73152" tIns="36576" rIns="73152" bIns="36576" rtlCol="0" anchor="ctr"/>
          <a:lstStyle/>
          <a:p>
            <a:pPr algn="ctr"/>
            <a:endParaRPr/>
          </a:p>
        </p:txBody>
      </p:sp>
      <p:sp>
        <p:nvSpPr>
          <p:cNvPr id="487" name="Rounded Rectangle 486"/>
          <p:cNvSpPr/>
          <p:nvPr/>
        </p:nvSpPr>
        <p:spPr>
          <a:xfrm>
            <a:off x="7909560" y="1417320"/>
            <a:ext cx="3913632" cy="457200"/>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Ví dụ tính tay để kiểm chứng</a:t>
            </a:r>
          </a:p>
        </p:txBody>
      </p:sp>
      <p:sp>
        <p:nvSpPr>
          <p:cNvPr id="488" name="Rounded Rectangle 487"/>
          <p:cNvSpPr/>
          <p:nvPr/>
        </p:nvSpPr>
        <p:spPr>
          <a:xfrm>
            <a:off x="8092440" y="2057400"/>
            <a:ext cx="1691640" cy="1371600"/>
          </a:xfrm>
          <a:prstGeom prst="roundRect">
            <a:avLst>
              <a:gd name="adj" fmla="val 10000"/>
            </a:avLst>
          </a:prstGeom>
          <a:solidFill>
            <a:srgbClr val="FFFFFF"/>
          </a:solidFill>
          <a:ln w="12700">
            <a:solidFill>
              <a:srgbClr val="C55A11"/>
            </a:solidFill>
          </a:ln>
        </p:spPr>
        <p:txBody>
          <a:bodyPr wrap="square" lIns="73152" tIns="36576" rIns="73152" bIns="36576" rtlCol="0" anchor="ctr"/>
          <a:lstStyle/>
          <a:p>
            <a:pPr algn="ctr"/>
            <a:r>
              <a:rPr lang="vi-VN" sz="3000" b="1" i="0">
                <a:solidFill>
                  <a:srgbClr val="C55A11"/>
                </a:solidFill>
                <a:latin typeface="Times New Roman"/>
                <a:cs typeface="Times New Roman"/>
              </a:rPr>
              <a:t>116,7</a:t>
            </a:r>
          </a:p>
          <a:p>
            <a:pPr algn="ctr"/>
            <a:r>
              <a:rPr lang="vi-VN" sz="1300" b="0" i="0">
                <a:solidFill>
                  <a:srgbClr val="222222"/>
                </a:solidFill>
                <a:latin typeface="Times New Roman"/>
                <a:cs typeface="Times New Roman"/>
              </a:rPr>
              <a:t>DNBQ của tháng</a:t>
            </a:r>
          </a:p>
        </p:txBody>
      </p:sp>
      <p:sp>
        <p:nvSpPr>
          <p:cNvPr id="489" name="TextBox 488"/>
          <p:cNvSpPr txBox="1"/>
          <p:nvPr/>
        </p:nvSpPr>
        <p:spPr>
          <a:xfrm>
            <a:off x="9857232" y="2560320"/>
            <a:ext cx="365760" cy="365760"/>
          </a:xfrm>
          <a:prstGeom prst="rect">
            <a:avLst/>
          </a:prstGeom>
          <a:noFill/>
        </p:spPr>
        <p:txBody>
          <a:bodyPr wrap="square" lIns="0" tIns="0" rIns="0" bIns="0" anchor="ctr"/>
          <a:lstStyle/>
          <a:p>
            <a:pPr algn="ctr"/>
            <a:r>
              <a:rPr lang="vi-VN" sz="2400" b="1" i="0">
                <a:solidFill>
                  <a:srgbClr val="C00000"/>
                </a:solidFill>
                <a:latin typeface="Times New Roman"/>
                <a:cs typeface="Times New Roman"/>
              </a:rPr>
              <a:t>≠</a:t>
            </a:r>
          </a:p>
        </p:txBody>
      </p:sp>
      <p:sp>
        <p:nvSpPr>
          <p:cNvPr id="490" name="Rounded Rectangle 489"/>
          <p:cNvSpPr/>
          <p:nvPr/>
        </p:nvSpPr>
        <p:spPr>
          <a:xfrm>
            <a:off x="10241280" y="2057400"/>
            <a:ext cx="1417320" cy="1371600"/>
          </a:xfrm>
          <a:prstGeom prst="roundRect">
            <a:avLst>
              <a:gd name="adj" fmla="val 10000"/>
            </a:avLst>
          </a:prstGeom>
          <a:solidFill>
            <a:srgbClr val="FFFFFF"/>
          </a:solidFill>
          <a:ln w="12700">
            <a:solidFill>
              <a:srgbClr val="2E5B31"/>
            </a:solidFill>
          </a:ln>
        </p:spPr>
        <p:txBody>
          <a:bodyPr wrap="square" lIns="73152" tIns="36576" rIns="73152" bIns="36576" rtlCol="0" anchor="ctr"/>
          <a:lstStyle/>
          <a:p>
            <a:pPr algn="ctr"/>
            <a:r>
              <a:rPr lang="vi-VN" sz="3000" b="1" i="0">
                <a:solidFill>
                  <a:srgbClr val="2E5B31"/>
                </a:solidFill>
                <a:latin typeface="Times New Roman"/>
                <a:cs typeface="Times New Roman"/>
              </a:rPr>
              <a:t>110</a:t>
            </a:r>
          </a:p>
          <a:p>
            <a:pPr algn="ctr"/>
            <a:r>
              <a:rPr lang="vi-VN" sz="1300" b="0" i="0">
                <a:solidFill>
                  <a:srgbClr val="222222"/>
                </a:solidFill>
                <a:latin typeface="Times New Roman"/>
                <a:cs typeface="Times New Roman"/>
              </a:rPr>
              <a:t>Dư nợ cuối tháng</a:t>
            </a:r>
          </a:p>
        </p:txBody>
      </p:sp>
      <p:sp>
        <p:nvSpPr>
          <p:cNvPr id="491" name="TextBox 490"/>
          <p:cNvSpPr txBox="1"/>
          <p:nvPr/>
        </p:nvSpPr>
        <p:spPr>
          <a:xfrm>
            <a:off x="8092440" y="3566160"/>
            <a:ext cx="3566160" cy="2103120"/>
          </a:xfrm>
          <a:prstGeom prst="rect">
            <a:avLst/>
          </a:prstGeom>
          <a:noFill/>
        </p:spPr>
        <p:txBody>
          <a:bodyPr wrap="square" lIns="73152" tIns="36576" rIns="73152" bIns="36576" anchor="t"/>
          <a:lstStyle/>
          <a:p>
            <a:pPr algn="l"/>
            <a:r>
              <a:rPr lang="vi-VN" sz="1400" b="0" i="0">
                <a:solidFill>
                  <a:srgbClr val="222222"/>
                </a:solidFill>
                <a:latin typeface="Times New Roman"/>
                <a:cs typeface="Times New Roman"/>
              </a:rPr>
              <a:t>Hai chỉ tiêu </a:t>
            </a:r>
            <a:r>
              <a:rPr lang="vi-VN" sz="1400" b="1" i="0">
                <a:solidFill>
                  <a:srgbClr val="222222"/>
                </a:solidFill>
                <a:latin typeface="Times New Roman"/>
                <a:cs typeface="Times New Roman"/>
              </a:rPr>
              <a:t>khác nhau</a:t>
            </a:r>
            <a:r>
              <a:rPr lang="vi-VN" sz="1400" b="0" i="0">
                <a:solidFill>
                  <a:srgbClr val="222222"/>
                </a:solidFill>
                <a:latin typeface="Times New Roman"/>
                <a:cs typeface="Times New Roman"/>
              </a:rPr>
              <a:t>: không dùng lẫn khi báo cáo</a:t>
            </a:r>
          </a:p>
          <a:p>
            <a:pPr algn="l">
              <a:spcBef>
                <a:spcPts val="800"/>
              </a:spcBef>
            </a:pPr>
            <a:r>
              <a:rPr lang="vi-VN" sz="1400" b="0" i="0">
                <a:solidFill>
                  <a:srgbClr val="222222"/>
                </a:solidFill>
                <a:latin typeface="Times New Roman"/>
                <a:cs typeface="Times New Roman"/>
              </a:rPr>
              <a:t>DNBQ YTD tháng 1 bằng DNBQ tháng 1; các tháng sau lấy bình quân của các tháng đã qua</a:t>
            </a:r>
          </a:p>
          <a:p>
            <a:pPr algn="l">
              <a:spcBef>
                <a:spcPts val="800"/>
              </a:spcBef>
            </a:pPr>
            <a:r>
              <a:rPr lang="vi-VN" sz="1400" b="0" i="0">
                <a:solidFill>
                  <a:srgbClr val="222222"/>
                </a:solidFill>
                <a:latin typeface="Times New Roman"/>
                <a:cs typeface="Times New Roman"/>
              </a:rPr>
              <a:t>So sánh hai tỷ lệ: diễn giải theo </a:t>
            </a:r>
            <a:r>
              <a:rPr lang="vi-VN" sz="1400" b="1" i="0">
                <a:solidFill>
                  <a:srgbClr val="222222"/>
                </a:solidFill>
                <a:latin typeface="Times New Roman"/>
                <a:cs typeface="Times New Roman"/>
              </a:rPr>
              <a:t>điểm phần trăm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Hệ thống chỉ số KPI</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19</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Nhóm Sinh lời: NII, NFI, TOI và YTD</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Chỉ tiêu phát sinh → </a:t>
            </a:r>
            <a:r>
              <a:rPr lang="vi-VN" sz="1800" b="1" i="0">
                <a:solidFill>
                  <a:srgbClr val="C55A11"/>
                </a:solidFill>
                <a:latin typeface="Times New Roman"/>
                <a:cs typeface="Times New Roman"/>
              </a:rPr>
              <a:t>cộng dồn trong kỳ</a:t>
            </a:r>
            <a:r>
              <a:rPr lang="vi-VN" sz="1800" b="0" i="0">
                <a:solidFill>
                  <a:srgbClr val="000000"/>
                </a:solidFill>
                <a:latin typeface="Times New Roman"/>
                <a:cs typeface="Times New Roman"/>
              </a:rPr>
              <a:t>, so sánh theo YTD cùng kỳ</a:t>
            </a:r>
          </a:p>
        </p:txBody>
      </p:sp>
      <p:sp>
        <p:nvSpPr>
          <p:cNvPr id="474" name="Rounded Rectangle 473"/>
          <p:cNvSpPr/>
          <p:nvPr/>
        </p:nvSpPr>
        <p:spPr>
          <a:xfrm>
            <a:off x="365760" y="1417320"/>
            <a:ext cx="3200400" cy="1417320"/>
          </a:xfrm>
          <a:prstGeom prst="roundRect">
            <a:avLst>
              <a:gd name="adj" fmla="val 10000"/>
            </a:avLst>
          </a:prstGeom>
          <a:solidFill>
            <a:srgbClr val="E2F0D9"/>
          </a:solidFill>
          <a:ln w="19050">
            <a:solidFill>
              <a:srgbClr val="2E5B31"/>
            </a:solidFill>
          </a:ln>
        </p:spPr>
        <p:txBody>
          <a:bodyPr wrap="square" lIns="73152" tIns="36576" rIns="73152" bIns="36576" rtlCol="0" anchor="ctr"/>
          <a:lstStyle/>
          <a:p>
            <a:pPr algn="ctr"/>
            <a:r>
              <a:rPr lang="vi-VN" sz="3000" b="1" i="0">
                <a:solidFill>
                  <a:srgbClr val="2E5B31"/>
                </a:solidFill>
                <a:latin typeface="Times New Roman"/>
                <a:cs typeface="Times New Roman"/>
              </a:rPr>
              <a:t>NII</a:t>
            </a:r>
          </a:p>
          <a:p>
            <a:pPr algn="ctr"/>
            <a:r>
              <a:rPr lang="vi-VN" sz="1400" b="0" i="0">
                <a:solidFill>
                  <a:srgbClr val="222222"/>
                </a:solidFill>
                <a:latin typeface="Times New Roman"/>
                <a:cs typeface="Times New Roman"/>
              </a:rPr>
              <a:t>Thu nhập lãi thuần</a:t>
            </a:r>
          </a:p>
          <a:p>
            <a:pPr algn="ctr"/>
            <a:r>
              <a:rPr lang="vi-VN" sz="1400" b="0" i="0">
                <a:solidFill>
                  <a:srgbClr val="222222"/>
                </a:solidFill>
                <a:latin typeface="Times New Roman"/>
                <a:cs typeface="Times New Roman"/>
              </a:rPr>
              <a:t>(thu lãi cho vay − chi phí lãi)</a:t>
            </a:r>
          </a:p>
        </p:txBody>
      </p:sp>
      <p:sp>
        <p:nvSpPr>
          <p:cNvPr id="475" name="Rounded Rectangle 474"/>
          <p:cNvSpPr/>
          <p:nvPr/>
        </p:nvSpPr>
        <p:spPr>
          <a:xfrm>
            <a:off x="4480560" y="1417320"/>
            <a:ext cx="3200400" cy="1417320"/>
          </a:xfrm>
          <a:prstGeom prst="roundRect">
            <a:avLst>
              <a:gd name="adj" fmla="val 10000"/>
            </a:avLst>
          </a:prstGeom>
          <a:solidFill>
            <a:srgbClr val="DEEAF6"/>
          </a:solidFill>
          <a:ln w="19050">
            <a:solidFill>
              <a:srgbClr val="123A7A"/>
            </a:solidFill>
          </a:ln>
        </p:spPr>
        <p:txBody>
          <a:bodyPr wrap="square" lIns="73152" tIns="36576" rIns="73152" bIns="36576" rtlCol="0" anchor="ctr"/>
          <a:lstStyle/>
          <a:p>
            <a:pPr algn="ctr"/>
            <a:r>
              <a:rPr lang="vi-VN" sz="3000" b="1" i="0">
                <a:solidFill>
                  <a:srgbClr val="123A7A"/>
                </a:solidFill>
                <a:latin typeface="Times New Roman"/>
                <a:cs typeface="Times New Roman"/>
              </a:rPr>
              <a:t>NFI</a:t>
            </a:r>
          </a:p>
          <a:p>
            <a:pPr algn="ctr"/>
            <a:r>
              <a:rPr lang="vi-VN" sz="1400" b="0" i="0">
                <a:solidFill>
                  <a:srgbClr val="222222"/>
                </a:solidFill>
                <a:latin typeface="Times New Roman"/>
                <a:cs typeface="Times New Roman"/>
              </a:rPr>
              <a:t>Thu nhập thuần từ phí</a:t>
            </a:r>
          </a:p>
        </p:txBody>
      </p:sp>
      <p:sp>
        <p:nvSpPr>
          <p:cNvPr id="476" name="Rounded Rectangle 475"/>
          <p:cNvSpPr/>
          <p:nvPr/>
        </p:nvSpPr>
        <p:spPr>
          <a:xfrm>
            <a:off x="8595360" y="1417320"/>
            <a:ext cx="3200400" cy="1417320"/>
          </a:xfrm>
          <a:prstGeom prst="roundRect">
            <a:avLst>
              <a:gd name="adj" fmla="val 10000"/>
            </a:avLst>
          </a:prstGeom>
          <a:solidFill>
            <a:srgbClr val="FBE5D6"/>
          </a:solidFill>
          <a:ln w="19050">
            <a:solidFill>
              <a:srgbClr val="C55A11"/>
            </a:solidFill>
          </a:ln>
        </p:spPr>
        <p:txBody>
          <a:bodyPr wrap="square" lIns="73152" tIns="36576" rIns="73152" bIns="36576" rtlCol="0" anchor="ctr"/>
          <a:lstStyle/>
          <a:p>
            <a:pPr algn="ctr"/>
            <a:r>
              <a:rPr lang="vi-VN" sz="3000" b="1" i="0">
                <a:solidFill>
                  <a:srgbClr val="C55A11"/>
                </a:solidFill>
                <a:latin typeface="Times New Roman"/>
                <a:cs typeface="Times New Roman"/>
              </a:rPr>
              <a:t>TOI</a:t>
            </a:r>
          </a:p>
          <a:p>
            <a:pPr algn="ctr"/>
            <a:r>
              <a:rPr lang="vi-VN" sz="1400" b="0" i="0">
                <a:solidFill>
                  <a:srgbClr val="222222"/>
                </a:solidFill>
                <a:latin typeface="Times New Roman"/>
                <a:cs typeface="Times New Roman"/>
              </a:rPr>
              <a:t>Tổng thu nhập hoạt động</a:t>
            </a:r>
          </a:p>
        </p:txBody>
      </p:sp>
      <p:sp>
        <p:nvSpPr>
          <p:cNvPr id="477" name="TextBox 476"/>
          <p:cNvSpPr txBox="1"/>
          <p:nvPr/>
        </p:nvSpPr>
        <p:spPr>
          <a:xfrm>
            <a:off x="3566160" y="1737360"/>
            <a:ext cx="914400" cy="777240"/>
          </a:xfrm>
          <a:prstGeom prst="rect">
            <a:avLst/>
          </a:prstGeom>
          <a:noFill/>
        </p:spPr>
        <p:txBody>
          <a:bodyPr wrap="square" lIns="0" tIns="0" rIns="0" bIns="0" anchor="ctr"/>
          <a:lstStyle/>
          <a:p>
            <a:pPr algn="ctr"/>
            <a:r>
              <a:rPr lang="vi-VN" sz="4000" b="1" i="0">
                <a:solidFill>
                  <a:srgbClr val="595959"/>
                </a:solidFill>
                <a:latin typeface="Times New Roman"/>
                <a:cs typeface="Times New Roman"/>
              </a:rPr>
              <a:t>+</a:t>
            </a:r>
          </a:p>
        </p:txBody>
      </p:sp>
      <p:sp>
        <p:nvSpPr>
          <p:cNvPr id="478" name="TextBox 477"/>
          <p:cNvSpPr txBox="1"/>
          <p:nvPr/>
        </p:nvSpPr>
        <p:spPr>
          <a:xfrm>
            <a:off x="7680960" y="1737360"/>
            <a:ext cx="914400" cy="777240"/>
          </a:xfrm>
          <a:prstGeom prst="rect">
            <a:avLst/>
          </a:prstGeom>
          <a:noFill/>
        </p:spPr>
        <p:txBody>
          <a:bodyPr wrap="square" lIns="0" tIns="0" rIns="0" bIns="0" anchor="ctr"/>
          <a:lstStyle/>
          <a:p>
            <a:pPr algn="ctr"/>
            <a:r>
              <a:rPr lang="vi-VN" sz="4000" b="1" i="0">
                <a:solidFill>
                  <a:srgbClr val="595959"/>
                </a:solidFill>
                <a:latin typeface="Times New Roman"/>
                <a:cs typeface="Times New Roman"/>
              </a:rPr>
              <a:t>=</a:t>
            </a:r>
          </a:p>
        </p:txBody>
      </p:sp>
      <p:sp>
        <p:nvSpPr>
          <p:cNvPr id="479" name="Rounded Rectangle 478"/>
          <p:cNvSpPr/>
          <p:nvPr/>
        </p:nvSpPr>
        <p:spPr>
          <a:xfrm>
            <a:off x="365760" y="3017520"/>
            <a:ext cx="3749039" cy="2148840"/>
          </a:xfrm>
          <a:prstGeom prst="roundRect">
            <a:avLst>
              <a:gd name="adj" fmla="val 5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0" name="Oval 479"/>
          <p:cNvSpPr/>
          <p:nvPr/>
        </p:nvSpPr>
        <p:spPr>
          <a:xfrm>
            <a:off x="548640" y="3200400"/>
            <a:ext cx="731520" cy="731520"/>
          </a:xfrm>
          <a:prstGeom prst="ellipse">
            <a:avLst/>
          </a:prstGeom>
          <a:solidFill>
            <a:srgbClr val="2E5B31"/>
          </a:solidFill>
          <a:ln>
            <a:noFill/>
          </a:ln>
        </p:spPr>
        <p:txBody>
          <a:bodyPr wrap="square" lIns="0" tIns="0" rIns="0" bIns="0" rtlCol="0" anchor="ctr"/>
          <a:lstStyle/>
          <a:p>
            <a:pPr algn="ctr"/>
            <a:endParaRPr/>
          </a:p>
        </p:txBody>
      </p:sp>
      <p:pic>
        <p:nvPicPr>
          <p:cNvPr id="481" name="Picture 480" descr="FaCalendarCheck_w.png"/>
          <p:cNvPicPr>
            <a:picLocks noChangeAspect="1"/>
          </p:cNvPicPr>
          <p:nvPr/>
        </p:nvPicPr>
        <p:blipFill>
          <a:blip r:embed="rId4"/>
          <a:stretch>
            <a:fillRect/>
          </a:stretch>
        </p:blipFill>
        <p:spPr>
          <a:xfrm>
            <a:off x="722376" y="3374136"/>
            <a:ext cx="384048" cy="384048"/>
          </a:xfrm>
          <a:prstGeom prst="rect">
            <a:avLst/>
          </a:prstGeom>
        </p:spPr>
      </p:pic>
      <p:sp>
        <p:nvSpPr>
          <p:cNvPr id="482" name="TextBox 481"/>
          <p:cNvSpPr txBox="1"/>
          <p:nvPr/>
        </p:nvSpPr>
        <p:spPr>
          <a:xfrm>
            <a:off x="1371600" y="3108960"/>
            <a:ext cx="2651760" cy="822960"/>
          </a:xfrm>
          <a:prstGeom prst="rect">
            <a:avLst/>
          </a:prstGeom>
          <a:noFill/>
        </p:spPr>
        <p:txBody>
          <a:bodyPr wrap="square" lIns="73152" tIns="36576" rIns="73152" bIns="36576" anchor="ctr"/>
          <a:lstStyle/>
          <a:p>
            <a:pPr algn="l"/>
            <a:r>
              <a:rPr lang="vi-VN" sz="1600" b="1" i="0">
                <a:solidFill>
                  <a:srgbClr val="2E5B31"/>
                </a:solidFill>
                <a:latin typeface="Times New Roman"/>
                <a:cs typeface="Times New Roman"/>
              </a:rPr>
              <a:t>Lũy kế YTD</a:t>
            </a:r>
          </a:p>
        </p:txBody>
      </p:sp>
      <p:sp>
        <p:nvSpPr>
          <p:cNvPr id="483" name="TextBox 482"/>
          <p:cNvSpPr txBox="1"/>
          <p:nvPr/>
        </p:nvSpPr>
        <p:spPr>
          <a:xfrm>
            <a:off x="502920" y="3977639"/>
            <a:ext cx="3474720" cy="1143000"/>
          </a:xfrm>
          <a:prstGeom prst="rect">
            <a:avLst/>
          </a:prstGeom>
          <a:noFill/>
        </p:spPr>
        <p:txBody>
          <a:bodyPr wrap="square" lIns="73152" tIns="36576" rIns="73152" bIns="36576" anchor="t"/>
          <a:lstStyle/>
          <a:p>
            <a:pPr algn="l"/>
            <a:r>
              <a:rPr lang="vi-VN" sz="1400" b="0" i="0">
                <a:solidFill>
                  <a:srgbClr val="222222"/>
                </a:solidFill>
                <a:latin typeface="Times New Roman"/>
                <a:cs typeface="Times New Roman"/>
              </a:rPr>
              <a:t>Cộng dồn từ 01/01 đến ngày báo cáo: </a:t>
            </a:r>
            <a:r>
              <a:rPr lang="vi-VN" sz="1400" b="1" i="0">
                <a:solidFill>
                  <a:srgbClr val="222222"/>
                </a:solidFill>
                <a:latin typeface="Times New Roman"/>
                <a:cs typeface="Times New Roman"/>
              </a:rPr>
              <a:t>các tháng đã đóng + tháng hiện tại</a:t>
            </a:r>
          </a:p>
        </p:txBody>
      </p:sp>
      <p:sp>
        <p:nvSpPr>
          <p:cNvPr id="484" name="Rounded Rectangle 483"/>
          <p:cNvSpPr/>
          <p:nvPr/>
        </p:nvSpPr>
        <p:spPr>
          <a:xfrm>
            <a:off x="4219956" y="3017520"/>
            <a:ext cx="3749039" cy="2148840"/>
          </a:xfrm>
          <a:prstGeom prst="roundRect">
            <a:avLst>
              <a:gd name="adj" fmla="val 5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5" name="Oval 484"/>
          <p:cNvSpPr/>
          <p:nvPr/>
        </p:nvSpPr>
        <p:spPr>
          <a:xfrm>
            <a:off x="4402836" y="3200400"/>
            <a:ext cx="731520" cy="731520"/>
          </a:xfrm>
          <a:prstGeom prst="ellipse">
            <a:avLst/>
          </a:prstGeom>
          <a:solidFill>
            <a:srgbClr val="123A7A"/>
          </a:solidFill>
          <a:ln>
            <a:noFill/>
          </a:ln>
        </p:spPr>
        <p:txBody>
          <a:bodyPr wrap="square" lIns="0" tIns="0" rIns="0" bIns="0" rtlCol="0" anchor="ctr"/>
          <a:lstStyle/>
          <a:p>
            <a:pPr algn="ctr"/>
            <a:endParaRPr/>
          </a:p>
        </p:txBody>
      </p:sp>
      <p:pic>
        <p:nvPicPr>
          <p:cNvPr id="486" name="Picture 485" descr="FaSyncAlt_w.png"/>
          <p:cNvPicPr>
            <a:picLocks noChangeAspect="1"/>
          </p:cNvPicPr>
          <p:nvPr/>
        </p:nvPicPr>
        <p:blipFill>
          <a:blip r:embed="rId5"/>
          <a:stretch>
            <a:fillRect/>
          </a:stretch>
        </p:blipFill>
        <p:spPr>
          <a:xfrm>
            <a:off x="4576572" y="3374136"/>
            <a:ext cx="384048" cy="384048"/>
          </a:xfrm>
          <a:prstGeom prst="rect">
            <a:avLst/>
          </a:prstGeom>
        </p:spPr>
      </p:pic>
      <p:sp>
        <p:nvSpPr>
          <p:cNvPr id="487" name="TextBox 486"/>
          <p:cNvSpPr txBox="1"/>
          <p:nvPr/>
        </p:nvSpPr>
        <p:spPr>
          <a:xfrm>
            <a:off x="5225796" y="3108960"/>
            <a:ext cx="2651760" cy="822960"/>
          </a:xfrm>
          <a:prstGeom prst="rect">
            <a:avLst/>
          </a:prstGeom>
          <a:noFill/>
        </p:spPr>
        <p:txBody>
          <a:bodyPr wrap="square" lIns="73152" tIns="36576" rIns="73152" bIns="36576" anchor="ctr"/>
          <a:lstStyle/>
          <a:p>
            <a:pPr algn="l"/>
            <a:r>
              <a:rPr lang="vi-VN" sz="1600" b="1" i="0">
                <a:solidFill>
                  <a:srgbClr val="123A7A"/>
                </a:solidFill>
                <a:latin typeface="Times New Roman"/>
                <a:cs typeface="Times New Roman"/>
              </a:rPr>
              <a:t>So với YTD cuối tháng trước</a:t>
            </a:r>
          </a:p>
        </p:txBody>
      </p:sp>
      <p:sp>
        <p:nvSpPr>
          <p:cNvPr id="488" name="TextBox 487"/>
          <p:cNvSpPr txBox="1"/>
          <p:nvPr/>
        </p:nvSpPr>
        <p:spPr>
          <a:xfrm>
            <a:off x="4357116" y="3977639"/>
            <a:ext cx="3474720" cy="1143000"/>
          </a:xfrm>
          <a:prstGeom prst="rect">
            <a:avLst/>
          </a:prstGeom>
          <a:noFill/>
        </p:spPr>
        <p:txBody>
          <a:bodyPr wrap="square" lIns="73152" tIns="36576" rIns="73152" bIns="36576" anchor="t"/>
          <a:lstStyle/>
          <a:p>
            <a:pPr algn="l"/>
            <a:r>
              <a:rPr lang="vi-VN" sz="1400" b="0" i="0">
                <a:solidFill>
                  <a:srgbClr val="222222"/>
                </a:solidFill>
                <a:latin typeface="Times New Roman"/>
                <a:cs typeface="Times New Roman"/>
              </a:rPr>
              <a:t>YTD đến cuối tháng trước. </a:t>
            </a:r>
            <a:r>
              <a:rPr lang="vi-VN" sz="1400" b="1" i="0">
                <a:solidFill>
                  <a:srgbClr val="222222"/>
                </a:solidFill>
                <a:latin typeface="Times New Roman"/>
                <a:cs typeface="Times New Roman"/>
              </a:rPr>
              <a:t>Tháng 1:</a:t>
            </a:r>
            <a:r>
              <a:rPr lang="vi-VN" sz="1400" b="0" i="0">
                <a:solidFill>
                  <a:srgbClr val="222222"/>
                </a:solidFill>
                <a:latin typeface="Times New Roman"/>
                <a:cs typeface="Times New Roman"/>
              </a:rPr>
              <a:t> YTD của tháng trước là cả năm trước → để trống</a:t>
            </a:r>
          </a:p>
        </p:txBody>
      </p:sp>
      <p:sp>
        <p:nvSpPr>
          <p:cNvPr id="489" name="Rounded Rectangle 488"/>
          <p:cNvSpPr/>
          <p:nvPr/>
        </p:nvSpPr>
        <p:spPr>
          <a:xfrm>
            <a:off x="8074152" y="3017520"/>
            <a:ext cx="3749039" cy="2148840"/>
          </a:xfrm>
          <a:prstGeom prst="roundRect">
            <a:avLst>
              <a:gd name="adj" fmla="val 5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90" name="Oval 489"/>
          <p:cNvSpPr/>
          <p:nvPr/>
        </p:nvSpPr>
        <p:spPr>
          <a:xfrm>
            <a:off x="8257031" y="3200400"/>
            <a:ext cx="731520" cy="731520"/>
          </a:xfrm>
          <a:prstGeom prst="ellipse">
            <a:avLst/>
          </a:prstGeom>
          <a:solidFill>
            <a:srgbClr val="C55A11"/>
          </a:solidFill>
          <a:ln>
            <a:noFill/>
          </a:ln>
        </p:spPr>
        <p:txBody>
          <a:bodyPr wrap="square" lIns="0" tIns="0" rIns="0" bIns="0" rtlCol="0" anchor="ctr"/>
          <a:lstStyle/>
          <a:p>
            <a:pPr algn="ctr"/>
            <a:endParaRPr/>
          </a:p>
        </p:txBody>
      </p:sp>
      <p:pic>
        <p:nvPicPr>
          <p:cNvPr id="491" name="Picture 490" descr="FaCalendarAlt_w.png"/>
          <p:cNvPicPr>
            <a:picLocks noChangeAspect="1"/>
          </p:cNvPicPr>
          <p:nvPr/>
        </p:nvPicPr>
        <p:blipFill>
          <a:blip r:embed="rId6"/>
          <a:stretch>
            <a:fillRect/>
          </a:stretch>
        </p:blipFill>
        <p:spPr>
          <a:xfrm>
            <a:off x="8430767" y="3374136"/>
            <a:ext cx="384048" cy="384048"/>
          </a:xfrm>
          <a:prstGeom prst="rect">
            <a:avLst/>
          </a:prstGeom>
        </p:spPr>
      </p:pic>
      <p:sp>
        <p:nvSpPr>
          <p:cNvPr id="492" name="TextBox 491"/>
          <p:cNvSpPr txBox="1"/>
          <p:nvPr/>
        </p:nvSpPr>
        <p:spPr>
          <a:xfrm>
            <a:off x="9079992" y="3108960"/>
            <a:ext cx="2651760" cy="822960"/>
          </a:xfrm>
          <a:prstGeom prst="rect">
            <a:avLst/>
          </a:prstGeom>
          <a:noFill/>
        </p:spPr>
        <p:txBody>
          <a:bodyPr wrap="square" lIns="73152" tIns="36576" rIns="73152" bIns="36576" anchor="ctr"/>
          <a:lstStyle/>
          <a:p>
            <a:pPr algn="l"/>
            <a:r>
              <a:rPr lang="vi-VN" sz="1600" b="1" i="0">
                <a:solidFill>
                  <a:srgbClr val="C55A11"/>
                </a:solidFill>
                <a:latin typeface="Times New Roman"/>
                <a:cs typeface="Times New Roman"/>
              </a:rPr>
              <a:t>So với YTD cùng kỳ năm trước</a:t>
            </a:r>
          </a:p>
        </p:txBody>
      </p:sp>
      <p:sp>
        <p:nvSpPr>
          <p:cNvPr id="493" name="TextBox 492"/>
          <p:cNvSpPr txBox="1"/>
          <p:nvPr/>
        </p:nvSpPr>
        <p:spPr>
          <a:xfrm>
            <a:off x="8211312" y="3977639"/>
            <a:ext cx="3474720" cy="1143000"/>
          </a:xfrm>
          <a:prstGeom prst="rect">
            <a:avLst/>
          </a:prstGeom>
          <a:noFill/>
        </p:spPr>
        <p:txBody>
          <a:bodyPr wrap="square" lIns="73152" tIns="36576" rIns="73152" bIns="36576" anchor="t"/>
          <a:lstStyle/>
          <a:p>
            <a:pPr algn="l"/>
            <a:r>
              <a:rPr lang="vi-VN" sz="1400" b="0" i="0">
                <a:solidFill>
                  <a:srgbClr val="222222"/>
                </a:solidFill>
                <a:latin typeface="Times New Roman"/>
                <a:cs typeface="Times New Roman"/>
              </a:rPr>
              <a:t>YTD đến cùng tháng của năm trước (6 tháng với báo cáo tháng 6)</a:t>
            </a:r>
          </a:p>
        </p:txBody>
      </p:sp>
      <p:sp>
        <p:nvSpPr>
          <p:cNvPr id="494" name="Rounded Rectangle 493"/>
          <p:cNvSpPr/>
          <p:nvPr/>
        </p:nvSpPr>
        <p:spPr>
          <a:xfrm>
            <a:off x="365760" y="5303520"/>
            <a:ext cx="11457432" cy="731520"/>
          </a:xfrm>
          <a:prstGeom prst="roundRect">
            <a:avLst>
              <a:gd name="adj" fmla="val 15000"/>
            </a:avLst>
          </a:prstGeom>
          <a:solidFill>
            <a:srgbClr val="FBE5D6"/>
          </a:solidFill>
          <a:ln w="12700">
            <a:solidFill>
              <a:srgbClr val="C55A11"/>
            </a:solidFill>
          </a:ln>
        </p:spPr>
        <p:txBody>
          <a:bodyPr wrap="square" lIns="137160" tIns="27432" rIns="137160" bIns="27432" rtlCol="0" anchor="ctr"/>
          <a:lstStyle/>
          <a:p>
            <a:pPr algn="l"/>
            <a:r>
              <a:rPr lang="vi-VN" sz="1450" b="1" i="0">
                <a:solidFill>
                  <a:srgbClr val="222222"/>
                </a:solidFill>
                <a:latin typeface="Times New Roman"/>
                <a:cs typeface="Times New Roman"/>
              </a:rPr>
              <a:t>Lưu ý đọc thẻ YTD:</a:t>
            </a:r>
            <a:r>
              <a:rPr lang="vi-VN" sz="1450" b="0" i="0">
                <a:solidFill>
                  <a:srgbClr val="222222"/>
                </a:solidFill>
                <a:latin typeface="Times New Roman"/>
                <a:cs typeface="Times New Roman"/>
              </a:rPr>
              <a:t> so với YTD cuối tháng trước luôn tăng vì YTD cộng thêm một tháng; ý nghĩa thực nằm ở mức tăng của riêng tháng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Hệ thống chỉ số KPI</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20</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Nhóm Chất lượng tín dụng: OD2, OD3-5 và nhóm nợ</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Tăng là </a:t>
            </a:r>
            <a:r>
              <a:rPr lang="vi-VN" sz="1800" b="1" i="0">
                <a:solidFill>
                  <a:srgbClr val="C00000"/>
                </a:solidFill>
                <a:latin typeface="Times New Roman"/>
                <a:cs typeface="Times New Roman"/>
              </a:rPr>
              <a:t>tín hiệu xấu</a:t>
            </a:r>
            <a:r>
              <a:rPr lang="vi-VN" sz="1800" b="0" i="0">
                <a:solidFill>
                  <a:srgbClr val="000000"/>
                </a:solidFill>
                <a:latin typeface="Times New Roman"/>
                <a:cs typeface="Times New Roman"/>
              </a:rPr>
              <a:t> – diễn giải chênh lệch bằng </a:t>
            </a:r>
            <a:r>
              <a:rPr lang="vi-VN" sz="1800" b="1" i="0">
                <a:solidFill>
                  <a:srgbClr val="123A7A"/>
                </a:solidFill>
                <a:latin typeface="Times New Roman"/>
                <a:cs typeface="Times New Roman"/>
              </a:rPr>
              <a:t>điểm phần trăm</a:t>
            </a:r>
          </a:p>
        </p:txBody>
      </p:sp>
      <p:sp>
        <p:nvSpPr>
          <p:cNvPr id="474" name="Rounded Rectangle 473"/>
          <p:cNvSpPr/>
          <p:nvPr/>
        </p:nvSpPr>
        <p:spPr>
          <a:xfrm>
            <a:off x="365760" y="1417320"/>
            <a:ext cx="5669280" cy="1965960"/>
          </a:xfrm>
          <a:prstGeom prst="roundRect">
            <a:avLst>
              <a:gd name="adj" fmla="val 5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75" name="Rounded Rectangle 474"/>
          <p:cNvSpPr/>
          <p:nvPr/>
        </p:nvSpPr>
        <p:spPr>
          <a:xfrm>
            <a:off x="548640" y="1554480"/>
            <a:ext cx="1554480" cy="731520"/>
          </a:xfrm>
          <a:prstGeom prst="roundRect">
            <a:avLst>
              <a:gd name="adj" fmla="val 15000"/>
            </a:avLst>
          </a:prstGeom>
          <a:solidFill>
            <a:srgbClr val="123A7A"/>
          </a:solidFill>
          <a:ln>
            <a:noFill/>
          </a:ln>
        </p:spPr>
        <p:txBody>
          <a:bodyPr wrap="square" lIns="73152" tIns="36576" rIns="73152" bIns="36576" rtlCol="0" anchor="ctr"/>
          <a:lstStyle/>
          <a:p>
            <a:pPr algn="ctr"/>
            <a:r>
              <a:rPr lang="vi-VN" sz="2600" b="1" i="0">
                <a:solidFill>
                  <a:srgbClr val="FFFFFF"/>
                </a:solidFill>
                <a:latin typeface="Times New Roman"/>
                <a:cs typeface="Times New Roman"/>
              </a:rPr>
              <a:t>OD2</a:t>
            </a:r>
          </a:p>
        </p:txBody>
      </p:sp>
      <p:sp>
        <p:nvSpPr>
          <p:cNvPr id="476" name="TextBox 475"/>
          <p:cNvSpPr txBox="1"/>
          <p:nvPr/>
        </p:nvSpPr>
        <p:spPr>
          <a:xfrm>
            <a:off x="2240279" y="1554480"/>
            <a:ext cx="3657600" cy="731520"/>
          </a:xfrm>
          <a:prstGeom prst="rect">
            <a:avLst/>
          </a:prstGeom>
          <a:noFill/>
        </p:spPr>
        <p:txBody>
          <a:bodyPr wrap="square" lIns="73152" tIns="36576" rIns="73152" bIns="36576" anchor="ctr"/>
          <a:lstStyle/>
          <a:p>
            <a:pPr algn="l"/>
            <a:r>
              <a:rPr lang="vi-VN" sz="1600" b="1" i="0">
                <a:solidFill>
                  <a:srgbClr val="123A7A"/>
                </a:solidFill>
                <a:latin typeface="Times New Roman"/>
                <a:cs typeface="Times New Roman"/>
              </a:rPr>
              <a:t>Tỷ lệ nợ cần chú ý (nợ nhóm 2)</a:t>
            </a:r>
          </a:p>
        </p:txBody>
      </p:sp>
      <p:sp>
        <p:nvSpPr>
          <p:cNvPr id="477" name="Rounded Rectangle 476"/>
          <p:cNvSpPr/>
          <p:nvPr/>
        </p:nvSpPr>
        <p:spPr>
          <a:xfrm>
            <a:off x="548640" y="2423160"/>
            <a:ext cx="5303520" cy="777240"/>
          </a:xfrm>
          <a:prstGeom prst="roundRect">
            <a:avLst>
              <a:gd name="adj" fmla="val 15000"/>
            </a:avLst>
          </a:prstGeom>
          <a:solidFill>
            <a:srgbClr val="F2F2F2"/>
          </a:solidFill>
          <a:ln>
            <a:noFill/>
          </a:ln>
        </p:spPr>
        <p:txBody>
          <a:bodyPr wrap="square" lIns="45720" tIns="18288" rIns="45720" bIns="18288" rtlCol="0" anchor="ctr"/>
          <a:lstStyle/>
          <a:p>
            <a:pPr algn="ctr"/>
            <a:r>
              <a:rPr lang="vi-VN" sz="1600" b="1" i="0">
                <a:solidFill>
                  <a:srgbClr val="1A365D"/>
                </a:solidFill>
                <a:latin typeface="Times New Roman"/>
                <a:cs typeface="Times New Roman"/>
              </a:rPr>
              <a:t>OD2 = Dư nợ nhóm 2 ÷ Tổng dư nợ</a:t>
            </a:r>
          </a:p>
          <a:p>
            <a:pPr algn="ctr"/>
            <a:r>
              <a:rPr lang="vi-VN" sz="1250" b="0" i="1">
                <a:solidFill>
                  <a:srgbClr val="595959"/>
                </a:solidFill>
                <a:latin typeface="Times New Roman"/>
                <a:cs typeface="Times New Roman"/>
              </a:rPr>
              <a:t>Quy mô dư nợ OD tương ứng = dư nợ của nhóm đó</a:t>
            </a:r>
          </a:p>
        </p:txBody>
      </p:sp>
      <p:sp>
        <p:nvSpPr>
          <p:cNvPr id="478" name="Rounded Rectangle 477"/>
          <p:cNvSpPr/>
          <p:nvPr/>
        </p:nvSpPr>
        <p:spPr>
          <a:xfrm>
            <a:off x="6153912" y="1417320"/>
            <a:ext cx="5669280" cy="1965960"/>
          </a:xfrm>
          <a:prstGeom prst="roundRect">
            <a:avLst>
              <a:gd name="adj" fmla="val 5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479" name="Rounded Rectangle 478"/>
          <p:cNvSpPr/>
          <p:nvPr/>
        </p:nvSpPr>
        <p:spPr>
          <a:xfrm>
            <a:off x="6336792" y="1554480"/>
            <a:ext cx="1554480" cy="731520"/>
          </a:xfrm>
          <a:prstGeom prst="roundRect">
            <a:avLst>
              <a:gd name="adj" fmla="val 15000"/>
            </a:avLst>
          </a:prstGeom>
          <a:solidFill>
            <a:srgbClr val="C00000"/>
          </a:solidFill>
          <a:ln>
            <a:noFill/>
          </a:ln>
        </p:spPr>
        <p:txBody>
          <a:bodyPr wrap="square" lIns="73152" tIns="36576" rIns="73152" bIns="36576" rtlCol="0" anchor="ctr"/>
          <a:lstStyle/>
          <a:p>
            <a:pPr algn="ctr"/>
            <a:r>
              <a:rPr lang="vi-VN" sz="2600" b="1" i="0">
                <a:solidFill>
                  <a:srgbClr val="FFFFFF"/>
                </a:solidFill>
                <a:latin typeface="Times New Roman"/>
                <a:cs typeface="Times New Roman"/>
              </a:rPr>
              <a:t>OD3-5</a:t>
            </a:r>
          </a:p>
        </p:txBody>
      </p:sp>
      <p:sp>
        <p:nvSpPr>
          <p:cNvPr id="480" name="TextBox 479"/>
          <p:cNvSpPr txBox="1"/>
          <p:nvPr/>
        </p:nvSpPr>
        <p:spPr>
          <a:xfrm>
            <a:off x="8028432" y="1554480"/>
            <a:ext cx="3657600" cy="731520"/>
          </a:xfrm>
          <a:prstGeom prst="rect">
            <a:avLst/>
          </a:prstGeom>
          <a:noFill/>
        </p:spPr>
        <p:txBody>
          <a:bodyPr wrap="square" lIns="73152" tIns="36576" rIns="73152" bIns="36576" anchor="ctr"/>
          <a:lstStyle/>
          <a:p>
            <a:pPr algn="l"/>
            <a:r>
              <a:rPr lang="vi-VN" sz="1600" b="1" i="0">
                <a:solidFill>
                  <a:srgbClr val="C00000"/>
                </a:solidFill>
                <a:latin typeface="Times New Roman"/>
                <a:cs typeface="Times New Roman"/>
              </a:rPr>
              <a:t>Tỷ lệ nợ xấu (nợ nhóm 3 đến 5)</a:t>
            </a:r>
          </a:p>
        </p:txBody>
      </p:sp>
      <p:sp>
        <p:nvSpPr>
          <p:cNvPr id="481" name="Rounded Rectangle 480"/>
          <p:cNvSpPr/>
          <p:nvPr/>
        </p:nvSpPr>
        <p:spPr>
          <a:xfrm>
            <a:off x="6336792" y="2423160"/>
            <a:ext cx="5303520" cy="777240"/>
          </a:xfrm>
          <a:prstGeom prst="roundRect">
            <a:avLst>
              <a:gd name="adj" fmla="val 15000"/>
            </a:avLst>
          </a:prstGeom>
          <a:solidFill>
            <a:srgbClr val="F2F2F2"/>
          </a:solidFill>
          <a:ln>
            <a:noFill/>
          </a:ln>
        </p:spPr>
        <p:txBody>
          <a:bodyPr wrap="square" lIns="45720" tIns="18288" rIns="45720" bIns="18288" rtlCol="0" anchor="ctr"/>
          <a:lstStyle/>
          <a:p>
            <a:pPr algn="ctr"/>
            <a:r>
              <a:rPr lang="vi-VN" sz="1600" b="1" i="0">
                <a:solidFill>
                  <a:srgbClr val="1A365D"/>
                </a:solidFill>
                <a:latin typeface="Times New Roman"/>
                <a:cs typeface="Times New Roman"/>
              </a:rPr>
              <a:t>OD3-5 = Dư nợ nhóm 3–5 ÷ Tổng dư nợ</a:t>
            </a:r>
          </a:p>
          <a:p>
            <a:pPr algn="ctr"/>
            <a:r>
              <a:rPr lang="vi-VN" sz="1250" b="0" i="1">
                <a:solidFill>
                  <a:srgbClr val="595959"/>
                </a:solidFill>
                <a:latin typeface="Times New Roman"/>
                <a:cs typeface="Times New Roman"/>
              </a:rPr>
              <a:t>Quy mô dư nợ OD tương ứng = dư nợ của nhóm đó</a:t>
            </a:r>
          </a:p>
        </p:txBody>
      </p:sp>
      <p:sp>
        <p:nvSpPr>
          <p:cNvPr id="482" name="TextBox 481"/>
          <p:cNvSpPr txBox="1"/>
          <p:nvPr/>
        </p:nvSpPr>
        <p:spPr>
          <a:xfrm>
            <a:off x="365760" y="3520440"/>
            <a:ext cx="11457432" cy="365760"/>
          </a:xfrm>
          <a:prstGeom prst="rect">
            <a:avLst/>
          </a:prstGeom>
          <a:noFill/>
        </p:spPr>
        <p:txBody>
          <a:bodyPr wrap="square" lIns="0" tIns="0" rIns="0" bIns="0" anchor="ctr"/>
          <a:lstStyle/>
          <a:p>
            <a:pPr algn="l"/>
            <a:r>
              <a:rPr lang="vi-VN" sz="1500" b="1" i="0">
                <a:solidFill>
                  <a:srgbClr val="1A365D"/>
                </a:solidFill>
                <a:latin typeface="Times New Roman"/>
                <a:cs typeface="Times New Roman"/>
              </a:rPr>
              <a:t>Nhóm nợ chuyển dần theo số ngày quá hạn</a:t>
            </a:r>
          </a:p>
        </p:txBody>
      </p:sp>
      <p:sp>
        <p:nvSpPr>
          <p:cNvPr id="483" name="Pentagon 482"/>
          <p:cNvSpPr/>
          <p:nvPr/>
        </p:nvSpPr>
        <p:spPr>
          <a:xfrm>
            <a:off x="365760" y="3931920"/>
            <a:ext cx="2240280" cy="914400"/>
          </a:xfrm>
          <a:prstGeom prst="homePlate">
            <a:avLst>
              <a:gd name="adj" fmla="val 28000"/>
            </a:avLst>
          </a:prstGeom>
          <a:solidFill>
            <a:srgbClr val="CFE3B6"/>
          </a:solidFill>
          <a:ln>
            <a:noFill/>
          </a:ln>
        </p:spPr>
        <p:txBody>
          <a:bodyPr wrap="square" tIns="18288" rIns="274320" bIns="18288" rtlCol="0" anchor="ctr"/>
          <a:lstStyle/>
          <a:p>
            <a:pPr algn="ctr"/>
            <a:r>
              <a:rPr lang="vi-VN" sz="1500" b="1" i="0">
                <a:solidFill>
                  <a:srgbClr val="222222"/>
                </a:solidFill>
                <a:latin typeface="Times New Roman"/>
                <a:cs typeface="Times New Roman"/>
              </a:rPr>
              <a:t>Nhóm 1</a:t>
            </a:r>
          </a:p>
          <a:p>
            <a:pPr algn="ctr"/>
            <a:r>
              <a:rPr lang="vi-VN" sz="1350" b="0" i="0">
                <a:solidFill>
                  <a:srgbClr val="222222"/>
                </a:solidFill>
                <a:latin typeface="Times New Roman"/>
                <a:cs typeface="Times New Roman"/>
              </a:rPr>
              <a:t>Đủ tiêu chuẩn</a:t>
            </a:r>
          </a:p>
        </p:txBody>
      </p:sp>
      <p:sp>
        <p:nvSpPr>
          <p:cNvPr id="484" name="Pentagon 483"/>
          <p:cNvSpPr/>
          <p:nvPr/>
        </p:nvSpPr>
        <p:spPr>
          <a:xfrm>
            <a:off x="2660903" y="3931920"/>
            <a:ext cx="2240280" cy="914400"/>
          </a:xfrm>
          <a:prstGeom prst="homePlate">
            <a:avLst>
              <a:gd name="adj" fmla="val 28000"/>
            </a:avLst>
          </a:prstGeom>
          <a:solidFill>
            <a:srgbClr val="2B4F18"/>
          </a:solidFill>
          <a:ln>
            <a:noFill/>
          </a:ln>
        </p:spPr>
        <p:txBody>
          <a:bodyPr wrap="square" tIns="18288" rIns="274320" bIns="18288" rtlCol="0" anchor="ctr"/>
          <a:lstStyle/>
          <a:p>
            <a:pPr algn="ctr"/>
            <a:r>
              <a:rPr lang="vi-VN" sz="1500" b="1" i="0">
                <a:solidFill>
                  <a:srgbClr val="FFFFFF"/>
                </a:solidFill>
                <a:latin typeface="Times New Roman"/>
                <a:cs typeface="Times New Roman"/>
              </a:rPr>
              <a:t>Nhóm 2 (OD2)</a:t>
            </a:r>
          </a:p>
          <a:p>
            <a:pPr algn="ctr"/>
            <a:r>
              <a:rPr lang="vi-VN" sz="1350" b="0" i="0">
                <a:solidFill>
                  <a:srgbClr val="FFFFFF"/>
                </a:solidFill>
                <a:latin typeface="Times New Roman"/>
                <a:cs typeface="Times New Roman"/>
              </a:rPr>
              <a:t>10 – 90 ngày</a:t>
            </a:r>
          </a:p>
        </p:txBody>
      </p:sp>
      <p:sp>
        <p:nvSpPr>
          <p:cNvPr id="485" name="Pentagon 484"/>
          <p:cNvSpPr/>
          <p:nvPr/>
        </p:nvSpPr>
        <p:spPr>
          <a:xfrm>
            <a:off x="4956048" y="3931920"/>
            <a:ext cx="2240280" cy="914400"/>
          </a:xfrm>
          <a:prstGeom prst="homePlate">
            <a:avLst>
              <a:gd name="adj" fmla="val 28000"/>
            </a:avLst>
          </a:prstGeom>
          <a:solidFill>
            <a:srgbClr val="5E9B3A"/>
          </a:solidFill>
          <a:ln>
            <a:noFill/>
          </a:ln>
        </p:spPr>
        <p:txBody>
          <a:bodyPr wrap="square" tIns="18288" rIns="274320" bIns="18288" rtlCol="0" anchor="ctr"/>
          <a:lstStyle/>
          <a:p>
            <a:pPr algn="ctr"/>
            <a:r>
              <a:rPr lang="vi-VN" sz="1500" b="1" i="0">
                <a:solidFill>
                  <a:srgbClr val="FFFFFF"/>
                </a:solidFill>
                <a:latin typeface="Times New Roman"/>
                <a:cs typeface="Times New Roman"/>
              </a:rPr>
              <a:t>Nhóm 3 (OD3)</a:t>
            </a:r>
          </a:p>
          <a:p>
            <a:pPr algn="ctr"/>
            <a:r>
              <a:rPr lang="vi-VN" sz="1350" b="0" i="0">
                <a:solidFill>
                  <a:srgbClr val="FFFFFF"/>
                </a:solidFill>
                <a:latin typeface="Times New Roman"/>
                <a:cs typeface="Times New Roman"/>
              </a:rPr>
              <a:t>91 – 180 ngày</a:t>
            </a:r>
          </a:p>
        </p:txBody>
      </p:sp>
      <p:sp>
        <p:nvSpPr>
          <p:cNvPr id="486" name="Pentagon 485"/>
          <p:cNvSpPr/>
          <p:nvPr/>
        </p:nvSpPr>
        <p:spPr>
          <a:xfrm>
            <a:off x="7251192" y="3931920"/>
            <a:ext cx="2240280" cy="914400"/>
          </a:xfrm>
          <a:prstGeom prst="homePlate">
            <a:avLst>
              <a:gd name="adj" fmla="val 28000"/>
            </a:avLst>
          </a:prstGeom>
          <a:solidFill>
            <a:srgbClr val="1F8A70"/>
          </a:solidFill>
          <a:ln>
            <a:noFill/>
          </a:ln>
        </p:spPr>
        <p:txBody>
          <a:bodyPr wrap="square" tIns="18288" rIns="274320" bIns="18288" rtlCol="0" anchor="ctr"/>
          <a:lstStyle/>
          <a:p>
            <a:pPr algn="ctr"/>
            <a:r>
              <a:rPr lang="vi-VN" sz="1500" b="1" i="0">
                <a:solidFill>
                  <a:srgbClr val="FFFFFF"/>
                </a:solidFill>
                <a:latin typeface="Times New Roman"/>
                <a:cs typeface="Times New Roman"/>
              </a:rPr>
              <a:t>Nhóm 4 (OD4)</a:t>
            </a:r>
          </a:p>
          <a:p>
            <a:pPr algn="ctr"/>
            <a:r>
              <a:rPr lang="vi-VN" sz="1350" b="0" i="0">
                <a:solidFill>
                  <a:srgbClr val="FFFFFF"/>
                </a:solidFill>
                <a:latin typeface="Times New Roman"/>
                <a:cs typeface="Times New Roman"/>
              </a:rPr>
              <a:t>181 – 360 ngày</a:t>
            </a:r>
          </a:p>
        </p:txBody>
      </p:sp>
      <p:sp>
        <p:nvSpPr>
          <p:cNvPr id="487" name="Pentagon 486"/>
          <p:cNvSpPr/>
          <p:nvPr/>
        </p:nvSpPr>
        <p:spPr>
          <a:xfrm>
            <a:off x="9546336" y="3931920"/>
            <a:ext cx="2240280" cy="914400"/>
          </a:xfrm>
          <a:prstGeom prst="homePlate">
            <a:avLst>
              <a:gd name="adj" fmla="val 28000"/>
            </a:avLst>
          </a:prstGeom>
          <a:solidFill>
            <a:srgbClr val="E8D48A"/>
          </a:solidFill>
          <a:ln>
            <a:noFill/>
          </a:ln>
        </p:spPr>
        <p:txBody>
          <a:bodyPr wrap="square" tIns="18288" rIns="274320" bIns="18288" rtlCol="0" anchor="ctr"/>
          <a:lstStyle/>
          <a:p>
            <a:pPr algn="ctr"/>
            <a:r>
              <a:rPr lang="vi-VN" sz="1500" b="1" i="0">
                <a:solidFill>
                  <a:srgbClr val="222222"/>
                </a:solidFill>
                <a:latin typeface="Times New Roman"/>
                <a:cs typeface="Times New Roman"/>
              </a:rPr>
              <a:t>Nhóm 5 (OD5)</a:t>
            </a:r>
          </a:p>
          <a:p>
            <a:pPr algn="ctr"/>
            <a:r>
              <a:rPr lang="vi-VN" sz="1350" b="0" i="0">
                <a:solidFill>
                  <a:srgbClr val="222222"/>
                </a:solidFill>
                <a:latin typeface="Times New Roman"/>
                <a:cs typeface="Times New Roman"/>
              </a:rPr>
              <a:t>Trên 360 ngày</a:t>
            </a:r>
          </a:p>
        </p:txBody>
      </p:sp>
      <p:sp>
        <p:nvSpPr>
          <p:cNvPr id="488" name="TextBox 487"/>
          <p:cNvSpPr txBox="1"/>
          <p:nvPr/>
        </p:nvSpPr>
        <p:spPr>
          <a:xfrm>
            <a:off x="6126480" y="4919472"/>
            <a:ext cx="5696712" cy="274320"/>
          </a:xfrm>
          <a:prstGeom prst="rect">
            <a:avLst/>
          </a:prstGeom>
          <a:noFill/>
        </p:spPr>
        <p:txBody>
          <a:bodyPr wrap="square" lIns="0" tIns="0" rIns="0" bIns="0" anchor="ctr"/>
          <a:lstStyle/>
          <a:p>
            <a:pPr algn="r"/>
            <a:r>
              <a:rPr lang="vi-VN" sz="1250" b="0" i="1">
                <a:solidFill>
                  <a:srgbClr val="595959"/>
                </a:solidFill>
                <a:latin typeface="Times New Roman"/>
                <a:cs typeface="Times New Roman"/>
              </a:rPr>
              <a:t>OD3-5 gồm nhóm 3, 4 và 5</a:t>
            </a:r>
          </a:p>
        </p:txBody>
      </p:sp>
      <p:sp>
        <p:nvSpPr>
          <p:cNvPr id="489" name="Rounded Rectangle 488"/>
          <p:cNvSpPr/>
          <p:nvPr/>
        </p:nvSpPr>
        <p:spPr>
          <a:xfrm>
            <a:off x="365760" y="5257800"/>
            <a:ext cx="5669280" cy="777240"/>
          </a:xfrm>
          <a:prstGeom prst="roundRect">
            <a:avLst>
              <a:gd name="adj" fmla="val 10000"/>
            </a:avLst>
          </a:prstGeom>
          <a:solidFill>
            <a:srgbClr val="DEEAF6"/>
          </a:solidFill>
          <a:ln w="19050">
            <a:solidFill>
              <a:srgbClr val="123A7A"/>
            </a:solidFill>
          </a:ln>
        </p:spPr>
        <p:txBody>
          <a:bodyPr wrap="square" lIns="73152" tIns="36576" rIns="73152" bIns="36576" rtlCol="0" anchor="ctr"/>
          <a:lstStyle/>
          <a:p>
            <a:pPr algn="ctr"/>
            <a:endParaRPr/>
          </a:p>
        </p:txBody>
      </p:sp>
      <p:sp>
        <p:nvSpPr>
          <p:cNvPr id="490" name="Oval 489"/>
          <p:cNvSpPr/>
          <p:nvPr/>
        </p:nvSpPr>
        <p:spPr>
          <a:xfrm>
            <a:off x="502920" y="5394960"/>
            <a:ext cx="502920" cy="502920"/>
          </a:xfrm>
          <a:prstGeom prst="ellipse">
            <a:avLst/>
          </a:prstGeom>
          <a:solidFill>
            <a:srgbClr val="123A7A"/>
          </a:solidFill>
          <a:ln>
            <a:noFill/>
          </a:ln>
        </p:spPr>
        <p:txBody>
          <a:bodyPr wrap="square" lIns="0" tIns="0" rIns="0" bIns="0" rtlCol="0" anchor="ctr"/>
          <a:lstStyle/>
          <a:p>
            <a:pPr algn="ctr"/>
            <a:endParaRPr/>
          </a:p>
        </p:txBody>
      </p:sp>
      <p:pic>
        <p:nvPicPr>
          <p:cNvPr id="491" name="Picture 490" descr="FaPercent_w.png"/>
          <p:cNvPicPr>
            <a:picLocks noChangeAspect="1"/>
          </p:cNvPicPr>
          <p:nvPr/>
        </p:nvPicPr>
        <p:blipFill>
          <a:blip r:embed="rId4"/>
          <a:stretch>
            <a:fillRect/>
          </a:stretch>
        </p:blipFill>
        <p:spPr>
          <a:xfrm>
            <a:off x="617220" y="5509260"/>
            <a:ext cx="274320" cy="274320"/>
          </a:xfrm>
          <a:prstGeom prst="rect">
            <a:avLst/>
          </a:prstGeom>
        </p:spPr>
      </p:pic>
      <p:sp>
        <p:nvSpPr>
          <p:cNvPr id="492" name="TextBox 491"/>
          <p:cNvSpPr txBox="1"/>
          <p:nvPr/>
        </p:nvSpPr>
        <p:spPr>
          <a:xfrm>
            <a:off x="1143000" y="5257800"/>
            <a:ext cx="4846320" cy="777240"/>
          </a:xfrm>
          <a:prstGeom prst="rect">
            <a:avLst/>
          </a:prstGeom>
          <a:noFill/>
        </p:spPr>
        <p:txBody>
          <a:bodyPr wrap="square" lIns="73152" tIns="36576" rIns="73152" bIns="36576" anchor="ctr"/>
          <a:lstStyle/>
          <a:p>
            <a:pPr algn="l"/>
            <a:r>
              <a:rPr lang="vi-VN" sz="1400" b="0" i="0">
                <a:solidFill>
                  <a:srgbClr val="222222"/>
                </a:solidFill>
                <a:latin typeface="Times New Roman"/>
                <a:cs typeface="Times New Roman"/>
              </a:rPr>
              <a:t>Chênh lệch hai tỷ lệ tính bằng </a:t>
            </a:r>
            <a:r>
              <a:rPr lang="vi-VN" sz="1400" b="1" i="0">
                <a:solidFill>
                  <a:srgbClr val="222222"/>
                </a:solidFill>
                <a:latin typeface="Times New Roman"/>
                <a:cs typeface="Times New Roman"/>
              </a:rPr>
              <a:t>điểm phần trăm (pp)</a:t>
            </a:r>
            <a:r>
              <a:rPr lang="vi-VN" sz="1400" b="0" i="0">
                <a:solidFill>
                  <a:srgbClr val="222222"/>
                </a:solidFill>
                <a:latin typeface="Times New Roman"/>
                <a:cs typeface="Times New Roman"/>
              </a:rPr>
              <a:t> = hiệu số × 100</a:t>
            </a:r>
          </a:p>
        </p:txBody>
      </p:sp>
      <p:sp>
        <p:nvSpPr>
          <p:cNvPr id="493" name="Rounded Rectangle 492"/>
          <p:cNvSpPr/>
          <p:nvPr/>
        </p:nvSpPr>
        <p:spPr>
          <a:xfrm>
            <a:off x="6153912" y="5257800"/>
            <a:ext cx="5669280" cy="777240"/>
          </a:xfrm>
          <a:prstGeom prst="roundRect">
            <a:avLst>
              <a:gd name="adj" fmla="val 10000"/>
            </a:avLst>
          </a:prstGeom>
          <a:solidFill>
            <a:srgbClr val="FBE5D6"/>
          </a:solidFill>
          <a:ln w="19050">
            <a:solidFill>
              <a:srgbClr val="C00000"/>
            </a:solidFill>
          </a:ln>
        </p:spPr>
        <p:txBody>
          <a:bodyPr wrap="square" lIns="73152" tIns="36576" rIns="73152" bIns="36576" rtlCol="0" anchor="ctr"/>
          <a:lstStyle/>
          <a:p>
            <a:pPr algn="ctr"/>
            <a:endParaRPr/>
          </a:p>
        </p:txBody>
      </p:sp>
      <p:sp>
        <p:nvSpPr>
          <p:cNvPr id="494" name="Oval 493"/>
          <p:cNvSpPr/>
          <p:nvPr/>
        </p:nvSpPr>
        <p:spPr>
          <a:xfrm>
            <a:off x="6291072" y="5394960"/>
            <a:ext cx="502920" cy="502920"/>
          </a:xfrm>
          <a:prstGeom prst="ellipse">
            <a:avLst/>
          </a:prstGeom>
          <a:solidFill>
            <a:srgbClr val="C00000"/>
          </a:solidFill>
          <a:ln>
            <a:noFill/>
          </a:ln>
        </p:spPr>
        <p:txBody>
          <a:bodyPr wrap="square" lIns="0" tIns="0" rIns="0" bIns="0" rtlCol="0" anchor="ctr"/>
          <a:lstStyle/>
          <a:p>
            <a:pPr algn="ctr"/>
            <a:endParaRPr/>
          </a:p>
        </p:txBody>
      </p:sp>
      <p:pic>
        <p:nvPicPr>
          <p:cNvPr id="495" name="Picture 494" descr="FaExchangeAlt_w.png"/>
          <p:cNvPicPr>
            <a:picLocks noChangeAspect="1"/>
          </p:cNvPicPr>
          <p:nvPr/>
        </p:nvPicPr>
        <p:blipFill>
          <a:blip r:embed="rId5"/>
          <a:stretch>
            <a:fillRect/>
          </a:stretch>
        </p:blipFill>
        <p:spPr>
          <a:xfrm>
            <a:off x="6405372" y="5509260"/>
            <a:ext cx="274320" cy="274320"/>
          </a:xfrm>
          <a:prstGeom prst="rect">
            <a:avLst/>
          </a:prstGeom>
        </p:spPr>
      </p:pic>
      <p:sp>
        <p:nvSpPr>
          <p:cNvPr id="496" name="TextBox 495"/>
          <p:cNvSpPr txBox="1"/>
          <p:nvPr/>
        </p:nvSpPr>
        <p:spPr>
          <a:xfrm>
            <a:off x="6931152" y="5257800"/>
            <a:ext cx="4846320" cy="777240"/>
          </a:xfrm>
          <a:prstGeom prst="rect">
            <a:avLst/>
          </a:prstGeom>
          <a:noFill/>
        </p:spPr>
        <p:txBody>
          <a:bodyPr wrap="square" lIns="73152" tIns="36576" rIns="73152" bIns="36576" anchor="ctr"/>
          <a:lstStyle/>
          <a:p>
            <a:pPr algn="l"/>
            <a:r>
              <a:rPr lang="vi-VN" sz="1400" b="1" i="0">
                <a:solidFill>
                  <a:srgbClr val="222222"/>
                </a:solidFill>
                <a:latin typeface="Times New Roman"/>
                <a:cs typeface="Times New Roman"/>
              </a:rPr>
              <a:t>Quy tắc màu đảo:</a:t>
            </a:r>
            <a:r>
              <a:rPr lang="vi-VN" sz="1400" b="0" i="0">
                <a:solidFill>
                  <a:srgbClr val="222222"/>
                </a:solidFill>
                <a:latin typeface="Times New Roman"/>
                <a:cs typeface="Times New Roman"/>
              </a:rPr>
              <a:t> tỷ lệ OD tăng là xấu → đỏ; giảm là tốt → xanh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Hệ thống chỉ số KPI</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21</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Tám quy tắc chung về diễn giải &amp; hiển thị</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8 quy tắc chung giúp mọi trang dashboard </a:t>
            </a:r>
            <a:r>
              <a:rPr lang="vi-VN" sz="1800" b="1" i="0">
                <a:solidFill>
                  <a:srgbClr val="123A7A"/>
                </a:solidFill>
                <a:latin typeface="Times New Roman"/>
                <a:cs typeface="Times New Roman"/>
              </a:rPr>
              <a:t>đọc nhất quán</a:t>
            </a:r>
          </a:p>
        </p:txBody>
      </p:sp>
      <p:sp>
        <p:nvSpPr>
          <p:cNvPr id="474" name="Rounded Rectangle 473"/>
          <p:cNvSpPr/>
          <p:nvPr/>
        </p:nvSpPr>
        <p:spPr>
          <a:xfrm>
            <a:off x="365760" y="1417320"/>
            <a:ext cx="2788920" cy="214884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2788920" cy="502920"/>
          </a:xfrm>
          <a:prstGeom prst="roundRect">
            <a:avLst>
              <a:gd name="adj" fmla="val 25000"/>
            </a:avLst>
          </a:prstGeom>
          <a:solidFill>
            <a:srgbClr val="2E5B31"/>
          </a:solidFill>
          <a:ln>
            <a:noFill/>
          </a:ln>
        </p:spPr>
        <p:txBody>
          <a:bodyPr wrap="square" lIns="73152" tIns="36576" rIns="73152" bIns="36576" rtlCol="0" anchor="ctr"/>
          <a:lstStyle/>
          <a:p>
            <a:pPr algn="ctr"/>
            <a:endParaRPr/>
          </a:p>
        </p:txBody>
      </p:sp>
      <p:sp>
        <p:nvSpPr>
          <p:cNvPr id="476" name="Oval 475"/>
          <p:cNvSpPr/>
          <p:nvPr/>
        </p:nvSpPr>
        <p:spPr>
          <a:xfrm>
            <a:off x="457200" y="1490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2E5B31"/>
                </a:solidFill>
                <a:latin typeface="Times New Roman"/>
                <a:cs typeface="Times New Roman"/>
              </a:rPr>
              <a:t>1</a:t>
            </a:r>
          </a:p>
        </p:txBody>
      </p:sp>
      <p:sp>
        <p:nvSpPr>
          <p:cNvPr id="477" name="TextBox 476"/>
          <p:cNvSpPr txBox="1"/>
          <p:nvPr/>
        </p:nvSpPr>
        <p:spPr>
          <a:xfrm>
            <a:off x="914400" y="1417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Ghi rõ đơn vị</a:t>
            </a:r>
          </a:p>
        </p:txBody>
      </p:sp>
      <p:pic>
        <p:nvPicPr>
          <p:cNvPr id="478" name="Picture 477" descr="FaRulerCombined_g.png"/>
          <p:cNvPicPr>
            <a:picLocks noChangeAspect="1"/>
          </p:cNvPicPr>
          <p:nvPr/>
        </p:nvPicPr>
        <p:blipFill>
          <a:blip r:embed="rId4"/>
          <a:stretch>
            <a:fillRect/>
          </a:stretch>
        </p:blipFill>
        <p:spPr>
          <a:xfrm>
            <a:off x="1508760" y="2011680"/>
            <a:ext cx="457200" cy="457200"/>
          </a:xfrm>
          <a:prstGeom prst="rect">
            <a:avLst/>
          </a:prstGeom>
        </p:spPr>
      </p:pic>
      <p:sp>
        <p:nvSpPr>
          <p:cNvPr id="479" name="TextBox 478"/>
          <p:cNvSpPr txBox="1"/>
          <p:nvPr/>
        </p:nvSpPr>
        <p:spPr>
          <a:xfrm>
            <a:off x="457200" y="2514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Tỷ đồng, %, điểm % trên thẻ và trục biểu đồ</a:t>
            </a:r>
          </a:p>
        </p:txBody>
      </p:sp>
      <p:sp>
        <p:nvSpPr>
          <p:cNvPr id="480" name="Rounded Rectangle 479"/>
          <p:cNvSpPr/>
          <p:nvPr/>
        </p:nvSpPr>
        <p:spPr>
          <a:xfrm>
            <a:off x="3264408" y="1417320"/>
            <a:ext cx="2788920" cy="214884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1" name="Rounded Rectangle 480"/>
          <p:cNvSpPr/>
          <p:nvPr/>
        </p:nvSpPr>
        <p:spPr>
          <a:xfrm>
            <a:off x="3264408" y="1417320"/>
            <a:ext cx="2788920" cy="502920"/>
          </a:xfrm>
          <a:prstGeom prst="roundRect">
            <a:avLst>
              <a:gd name="adj" fmla="val 25000"/>
            </a:avLst>
          </a:prstGeom>
          <a:solidFill>
            <a:srgbClr val="123A7A"/>
          </a:solidFill>
          <a:ln>
            <a:noFill/>
          </a:ln>
        </p:spPr>
        <p:txBody>
          <a:bodyPr wrap="square" lIns="73152" tIns="36576" rIns="73152" bIns="36576" rtlCol="0" anchor="ctr"/>
          <a:lstStyle/>
          <a:p>
            <a:pPr algn="ctr"/>
            <a:endParaRPr/>
          </a:p>
        </p:txBody>
      </p:sp>
      <p:sp>
        <p:nvSpPr>
          <p:cNvPr id="482" name="Oval 481"/>
          <p:cNvSpPr/>
          <p:nvPr/>
        </p:nvSpPr>
        <p:spPr>
          <a:xfrm>
            <a:off x="3355848" y="1490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123A7A"/>
                </a:solidFill>
                <a:latin typeface="Times New Roman"/>
                <a:cs typeface="Times New Roman"/>
              </a:rPr>
              <a:t>2</a:t>
            </a:r>
          </a:p>
        </p:txBody>
      </p:sp>
      <p:sp>
        <p:nvSpPr>
          <p:cNvPr id="483" name="TextBox 482"/>
          <p:cNvSpPr txBox="1"/>
          <p:nvPr/>
        </p:nvSpPr>
        <p:spPr>
          <a:xfrm>
            <a:off x="3813048" y="1417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Ghi ngày chốt</a:t>
            </a:r>
          </a:p>
        </p:txBody>
      </p:sp>
      <p:pic>
        <p:nvPicPr>
          <p:cNvPr id="484" name="Picture 483" descr="FaCalendarAlt_n.png"/>
          <p:cNvPicPr>
            <a:picLocks noChangeAspect="1"/>
          </p:cNvPicPr>
          <p:nvPr/>
        </p:nvPicPr>
        <p:blipFill>
          <a:blip r:embed="rId5"/>
          <a:stretch>
            <a:fillRect/>
          </a:stretch>
        </p:blipFill>
        <p:spPr>
          <a:xfrm>
            <a:off x="4407408" y="2011680"/>
            <a:ext cx="457200" cy="457200"/>
          </a:xfrm>
          <a:prstGeom prst="rect">
            <a:avLst/>
          </a:prstGeom>
        </p:spPr>
      </p:pic>
      <p:sp>
        <p:nvSpPr>
          <p:cNvPr id="485" name="TextBox 484"/>
          <p:cNvSpPr txBox="1"/>
          <p:nvPr/>
        </p:nvSpPr>
        <p:spPr>
          <a:xfrm>
            <a:off x="3355848" y="2514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Thẻ Ngày báo cáo; caption nêu ngày của số liệu</a:t>
            </a:r>
          </a:p>
        </p:txBody>
      </p:sp>
      <p:sp>
        <p:nvSpPr>
          <p:cNvPr id="486" name="Rounded Rectangle 485"/>
          <p:cNvSpPr/>
          <p:nvPr/>
        </p:nvSpPr>
        <p:spPr>
          <a:xfrm>
            <a:off x="6163056" y="1417320"/>
            <a:ext cx="2788920" cy="214884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7" name="Rounded Rectangle 486"/>
          <p:cNvSpPr/>
          <p:nvPr/>
        </p:nvSpPr>
        <p:spPr>
          <a:xfrm>
            <a:off x="6163056" y="1417320"/>
            <a:ext cx="2788920" cy="502920"/>
          </a:xfrm>
          <a:prstGeom prst="roundRect">
            <a:avLst>
              <a:gd name="adj" fmla="val 25000"/>
            </a:avLst>
          </a:prstGeom>
          <a:solidFill>
            <a:srgbClr val="2E5B31"/>
          </a:solidFill>
          <a:ln>
            <a:noFill/>
          </a:ln>
        </p:spPr>
        <p:txBody>
          <a:bodyPr wrap="square" lIns="73152" tIns="36576" rIns="73152" bIns="36576" rtlCol="0" anchor="ctr"/>
          <a:lstStyle/>
          <a:p>
            <a:pPr algn="ctr"/>
            <a:endParaRPr/>
          </a:p>
        </p:txBody>
      </p:sp>
      <p:sp>
        <p:nvSpPr>
          <p:cNvPr id="488" name="Oval 487"/>
          <p:cNvSpPr/>
          <p:nvPr/>
        </p:nvSpPr>
        <p:spPr>
          <a:xfrm>
            <a:off x="6254496" y="1490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2E5B31"/>
                </a:solidFill>
                <a:latin typeface="Times New Roman"/>
                <a:cs typeface="Times New Roman"/>
              </a:rPr>
              <a:t>3</a:t>
            </a:r>
          </a:p>
        </p:txBody>
      </p:sp>
      <p:sp>
        <p:nvSpPr>
          <p:cNvPr id="489" name="TextBox 488"/>
          <p:cNvSpPr txBox="1"/>
          <p:nvPr/>
        </p:nvSpPr>
        <p:spPr>
          <a:xfrm>
            <a:off x="6711696" y="1417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Màu thông thường</a:t>
            </a:r>
          </a:p>
        </p:txBody>
      </p:sp>
      <p:pic>
        <p:nvPicPr>
          <p:cNvPr id="490" name="Picture 489" descr="FaPalette_g.png"/>
          <p:cNvPicPr>
            <a:picLocks noChangeAspect="1"/>
          </p:cNvPicPr>
          <p:nvPr/>
        </p:nvPicPr>
        <p:blipFill>
          <a:blip r:embed="rId6"/>
          <a:stretch>
            <a:fillRect/>
          </a:stretch>
        </p:blipFill>
        <p:spPr>
          <a:xfrm>
            <a:off x="7306056" y="2011680"/>
            <a:ext cx="457200" cy="457200"/>
          </a:xfrm>
          <a:prstGeom prst="rect">
            <a:avLst/>
          </a:prstGeom>
        </p:spPr>
      </p:pic>
      <p:sp>
        <p:nvSpPr>
          <p:cNvPr id="491" name="TextBox 490"/>
          <p:cNvSpPr txBox="1"/>
          <p:nvPr/>
        </p:nvSpPr>
        <p:spPr>
          <a:xfrm>
            <a:off x="6254496" y="2514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Dư nợ, NII, TOI: tăng là tốt (xanh), giảm là xấu (đỏ)</a:t>
            </a:r>
          </a:p>
        </p:txBody>
      </p:sp>
      <p:sp>
        <p:nvSpPr>
          <p:cNvPr id="492" name="Rounded Rectangle 491"/>
          <p:cNvSpPr/>
          <p:nvPr/>
        </p:nvSpPr>
        <p:spPr>
          <a:xfrm>
            <a:off x="9061704" y="1417320"/>
            <a:ext cx="2788920" cy="214884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93" name="Rounded Rectangle 492"/>
          <p:cNvSpPr/>
          <p:nvPr/>
        </p:nvSpPr>
        <p:spPr>
          <a:xfrm>
            <a:off x="9061704" y="1417320"/>
            <a:ext cx="2788920" cy="502920"/>
          </a:xfrm>
          <a:prstGeom prst="roundRect">
            <a:avLst>
              <a:gd name="adj" fmla="val 25000"/>
            </a:avLst>
          </a:prstGeom>
          <a:solidFill>
            <a:srgbClr val="123A7A"/>
          </a:solidFill>
          <a:ln>
            <a:noFill/>
          </a:ln>
        </p:spPr>
        <p:txBody>
          <a:bodyPr wrap="square" lIns="73152" tIns="36576" rIns="73152" bIns="36576" rtlCol="0" anchor="ctr"/>
          <a:lstStyle/>
          <a:p>
            <a:pPr algn="ctr"/>
            <a:endParaRPr/>
          </a:p>
        </p:txBody>
      </p:sp>
      <p:sp>
        <p:nvSpPr>
          <p:cNvPr id="494" name="Oval 493"/>
          <p:cNvSpPr/>
          <p:nvPr/>
        </p:nvSpPr>
        <p:spPr>
          <a:xfrm>
            <a:off x="9153144" y="1490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123A7A"/>
                </a:solidFill>
                <a:latin typeface="Times New Roman"/>
                <a:cs typeface="Times New Roman"/>
              </a:rPr>
              <a:t>4</a:t>
            </a:r>
          </a:p>
        </p:txBody>
      </p:sp>
      <p:sp>
        <p:nvSpPr>
          <p:cNvPr id="495" name="TextBox 494"/>
          <p:cNvSpPr txBox="1"/>
          <p:nvPr/>
        </p:nvSpPr>
        <p:spPr>
          <a:xfrm>
            <a:off x="9610344" y="1417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Màu đảo cho OD</a:t>
            </a:r>
          </a:p>
        </p:txBody>
      </p:sp>
      <p:pic>
        <p:nvPicPr>
          <p:cNvPr id="496" name="Picture 495" descr="FaExchangeAlt_n.png"/>
          <p:cNvPicPr>
            <a:picLocks noChangeAspect="1"/>
          </p:cNvPicPr>
          <p:nvPr/>
        </p:nvPicPr>
        <p:blipFill>
          <a:blip r:embed="rId7"/>
          <a:stretch>
            <a:fillRect/>
          </a:stretch>
        </p:blipFill>
        <p:spPr>
          <a:xfrm>
            <a:off x="10204704" y="2011680"/>
            <a:ext cx="457200" cy="457200"/>
          </a:xfrm>
          <a:prstGeom prst="rect">
            <a:avLst/>
          </a:prstGeom>
        </p:spPr>
      </p:pic>
      <p:sp>
        <p:nvSpPr>
          <p:cNvPr id="497" name="TextBox 496"/>
          <p:cNvSpPr txBox="1"/>
          <p:nvPr/>
        </p:nvSpPr>
        <p:spPr>
          <a:xfrm>
            <a:off x="9153144" y="2514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Tỷ lệ OD, dư nợ OD: tăng là xấu (đỏ), giảm là tốt (xanh)</a:t>
            </a:r>
          </a:p>
        </p:txBody>
      </p:sp>
      <p:sp>
        <p:nvSpPr>
          <p:cNvPr id="498" name="Rounded Rectangle 497"/>
          <p:cNvSpPr/>
          <p:nvPr/>
        </p:nvSpPr>
        <p:spPr>
          <a:xfrm>
            <a:off x="365760" y="3703320"/>
            <a:ext cx="2788920" cy="214884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99" name="Rounded Rectangle 498"/>
          <p:cNvSpPr/>
          <p:nvPr/>
        </p:nvSpPr>
        <p:spPr>
          <a:xfrm>
            <a:off x="365760" y="3703320"/>
            <a:ext cx="2788920" cy="502920"/>
          </a:xfrm>
          <a:prstGeom prst="roundRect">
            <a:avLst>
              <a:gd name="adj" fmla="val 25000"/>
            </a:avLst>
          </a:prstGeom>
          <a:solidFill>
            <a:srgbClr val="2E5B31"/>
          </a:solidFill>
          <a:ln>
            <a:noFill/>
          </a:ln>
        </p:spPr>
        <p:txBody>
          <a:bodyPr wrap="square" lIns="73152" tIns="36576" rIns="73152" bIns="36576" rtlCol="0" anchor="ctr"/>
          <a:lstStyle/>
          <a:p>
            <a:pPr algn="ctr"/>
            <a:endParaRPr/>
          </a:p>
        </p:txBody>
      </p:sp>
      <p:sp>
        <p:nvSpPr>
          <p:cNvPr id="500" name="Oval 499"/>
          <p:cNvSpPr/>
          <p:nvPr/>
        </p:nvSpPr>
        <p:spPr>
          <a:xfrm>
            <a:off x="457200" y="3776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2E5B31"/>
                </a:solidFill>
                <a:latin typeface="Times New Roman"/>
                <a:cs typeface="Times New Roman"/>
              </a:rPr>
              <a:t>5</a:t>
            </a:r>
          </a:p>
        </p:txBody>
      </p:sp>
      <p:sp>
        <p:nvSpPr>
          <p:cNvPr id="501" name="TextBox 500"/>
          <p:cNvSpPr txBox="1"/>
          <p:nvPr/>
        </p:nvSpPr>
        <p:spPr>
          <a:xfrm>
            <a:off x="914400" y="3703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Ký hiệu ▲ / ▼</a:t>
            </a:r>
          </a:p>
        </p:txBody>
      </p:sp>
      <p:pic>
        <p:nvPicPr>
          <p:cNvPr id="502" name="Picture 501" descr="FaFlag_g.png"/>
          <p:cNvPicPr>
            <a:picLocks noChangeAspect="1"/>
          </p:cNvPicPr>
          <p:nvPr/>
        </p:nvPicPr>
        <p:blipFill>
          <a:blip r:embed="rId8"/>
          <a:stretch>
            <a:fillRect/>
          </a:stretch>
        </p:blipFill>
        <p:spPr>
          <a:xfrm>
            <a:off x="1508760" y="4297680"/>
            <a:ext cx="457200" cy="457200"/>
          </a:xfrm>
          <a:prstGeom prst="rect">
            <a:avLst/>
          </a:prstGeom>
        </p:spPr>
      </p:pic>
      <p:sp>
        <p:nvSpPr>
          <p:cNvPr id="503" name="TextBox 502"/>
          <p:cNvSpPr txBox="1"/>
          <p:nvPr/>
        </p:nvSpPr>
        <p:spPr>
          <a:xfrm>
            <a:off x="457200" y="4800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Mũi tên cho thay đổi; “–” khi không có kỳ so sánh, không hiển thị số sai</a:t>
            </a:r>
          </a:p>
        </p:txBody>
      </p:sp>
      <p:sp>
        <p:nvSpPr>
          <p:cNvPr id="504" name="Rounded Rectangle 503"/>
          <p:cNvSpPr/>
          <p:nvPr/>
        </p:nvSpPr>
        <p:spPr>
          <a:xfrm>
            <a:off x="3264408" y="3703320"/>
            <a:ext cx="2788920" cy="214884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505" name="Rounded Rectangle 504"/>
          <p:cNvSpPr/>
          <p:nvPr/>
        </p:nvSpPr>
        <p:spPr>
          <a:xfrm>
            <a:off x="3264408" y="3703320"/>
            <a:ext cx="2788920" cy="502920"/>
          </a:xfrm>
          <a:prstGeom prst="roundRect">
            <a:avLst>
              <a:gd name="adj" fmla="val 25000"/>
            </a:avLst>
          </a:prstGeom>
          <a:solidFill>
            <a:srgbClr val="123A7A"/>
          </a:solidFill>
          <a:ln>
            <a:noFill/>
          </a:ln>
        </p:spPr>
        <p:txBody>
          <a:bodyPr wrap="square" lIns="73152" tIns="36576" rIns="73152" bIns="36576" rtlCol="0" anchor="ctr"/>
          <a:lstStyle/>
          <a:p>
            <a:pPr algn="ctr"/>
            <a:endParaRPr/>
          </a:p>
        </p:txBody>
      </p:sp>
      <p:sp>
        <p:nvSpPr>
          <p:cNvPr id="506" name="Oval 505"/>
          <p:cNvSpPr/>
          <p:nvPr/>
        </p:nvSpPr>
        <p:spPr>
          <a:xfrm>
            <a:off x="3355848" y="3776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123A7A"/>
                </a:solidFill>
                <a:latin typeface="Times New Roman"/>
                <a:cs typeface="Times New Roman"/>
              </a:rPr>
              <a:t>6</a:t>
            </a:r>
          </a:p>
        </p:txBody>
      </p:sp>
      <p:sp>
        <p:nvSpPr>
          <p:cNvPr id="507" name="TextBox 506"/>
          <p:cNvSpPr txBox="1"/>
          <p:nvPr/>
        </p:nvSpPr>
        <p:spPr>
          <a:xfrm>
            <a:off x="3813048" y="3703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Cách so sánh</a:t>
            </a:r>
          </a:p>
        </p:txBody>
      </p:sp>
      <p:pic>
        <p:nvPicPr>
          <p:cNvPr id="508" name="Picture 507" descr="image.png"/>
          <p:cNvPicPr>
            <a:picLocks noChangeAspect="1"/>
          </p:cNvPicPr>
          <p:nvPr/>
        </p:nvPicPr>
        <p:blipFill>
          <a:blip r:embed="rId9"/>
          <a:stretch>
            <a:fillRect/>
          </a:stretch>
        </p:blipFill>
        <p:spPr>
          <a:xfrm>
            <a:off x="4407408" y="4297680"/>
            <a:ext cx="457200" cy="457200"/>
          </a:xfrm>
          <a:prstGeom prst="rect">
            <a:avLst/>
          </a:prstGeom>
        </p:spPr>
      </p:pic>
      <p:sp>
        <p:nvSpPr>
          <p:cNvPr id="509" name="TextBox 508"/>
          <p:cNvSpPr txBox="1"/>
          <p:nvPr/>
        </p:nvSpPr>
        <p:spPr>
          <a:xfrm>
            <a:off x="3355848" y="4800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Quy mô, thu nhập: % thay đổi. Tỷ lệ OD: hiệu số, điểm %</a:t>
            </a:r>
          </a:p>
        </p:txBody>
      </p:sp>
      <p:sp>
        <p:nvSpPr>
          <p:cNvPr id="510" name="Rounded Rectangle 509"/>
          <p:cNvSpPr/>
          <p:nvPr/>
        </p:nvSpPr>
        <p:spPr>
          <a:xfrm>
            <a:off x="6163056" y="3703320"/>
            <a:ext cx="2788920" cy="2148840"/>
          </a:xfrm>
          <a:prstGeom prst="roundRect">
            <a:avLst>
              <a:gd name="adj" fmla="val 6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511" name="Rounded Rectangle 510"/>
          <p:cNvSpPr/>
          <p:nvPr/>
        </p:nvSpPr>
        <p:spPr>
          <a:xfrm>
            <a:off x="6163056" y="3703320"/>
            <a:ext cx="2788920" cy="502920"/>
          </a:xfrm>
          <a:prstGeom prst="roundRect">
            <a:avLst>
              <a:gd name="adj" fmla="val 25000"/>
            </a:avLst>
          </a:prstGeom>
          <a:solidFill>
            <a:srgbClr val="2E5B31"/>
          </a:solidFill>
          <a:ln>
            <a:noFill/>
          </a:ln>
        </p:spPr>
        <p:txBody>
          <a:bodyPr wrap="square" lIns="73152" tIns="36576" rIns="73152" bIns="36576" rtlCol="0" anchor="ctr"/>
          <a:lstStyle/>
          <a:p>
            <a:pPr algn="ctr"/>
            <a:endParaRPr/>
          </a:p>
        </p:txBody>
      </p:sp>
      <p:sp>
        <p:nvSpPr>
          <p:cNvPr id="512" name="Oval 511"/>
          <p:cNvSpPr/>
          <p:nvPr/>
        </p:nvSpPr>
        <p:spPr>
          <a:xfrm>
            <a:off x="6254496" y="3776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2E5B31"/>
                </a:solidFill>
                <a:latin typeface="Times New Roman"/>
                <a:cs typeface="Times New Roman"/>
              </a:rPr>
              <a:t>7</a:t>
            </a:r>
          </a:p>
        </p:txBody>
      </p:sp>
      <p:sp>
        <p:nvSpPr>
          <p:cNvPr id="513" name="TextBox 512"/>
          <p:cNvSpPr txBox="1"/>
          <p:nvPr/>
        </p:nvSpPr>
        <p:spPr>
          <a:xfrm>
            <a:off x="6711696" y="3703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Tên cột tiếng Việt</a:t>
            </a:r>
          </a:p>
        </p:txBody>
      </p:sp>
      <p:pic>
        <p:nvPicPr>
          <p:cNvPr id="514" name="Picture 513" descr="FaTable_g.png"/>
          <p:cNvPicPr>
            <a:picLocks noChangeAspect="1"/>
          </p:cNvPicPr>
          <p:nvPr/>
        </p:nvPicPr>
        <p:blipFill>
          <a:blip r:embed="rId10"/>
          <a:stretch>
            <a:fillRect/>
          </a:stretch>
        </p:blipFill>
        <p:spPr>
          <a:xfrm>
            <a:off x="7306056" y="4297680"/>
            <a:ext cx="457200" cy="457200"/>
          </a:xfrm>
          <a:prstGeom prst="rect">
            <a:avLst/>
          </a:prstGeom>
        </p:spPr>
      </p:pic>
      <p:sp>
        <p:nvSpPr>
          <p:cNvPr id="515" name="TextBox 514"/>
          <p:cNvSpPr txBox="1"/>
          <p:nvPr/>
        </p:nvSpPr>
        <p:spPr>
          <a:xfrm>
            <a:off x="6254496" y="4800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“Cuối tháng trước”, “Cùng tháng năm trước”, “Thay đổi”; không dùng Δ, LM, SPLY</a:t>
            </a:r>
          </a:p>
        </p:txBody>
      </p:sp>
      <p:sp>
        <p:nvSpPr>
          <p:cNvPr id="516" name="Rounded Rectangle 515"/>
          <p:cNvSpPr/>
          <p:nvPr/>
        </p:nvSpPr>
        <p:spPr>
          <a:xfrm>
            <a:off x="9061704" y="3703320"/>
            <a:ext cx="2788920" cy="2148840"/>
          </a:xfrm>
          <a:prstGeom prst="roundRect">
            <a:avLst>
              <a:gd name="adj" fmla="val 6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517" name="Rounded Rectangle 516"/>
          <p:cNvSpPr/>
          <p:nvPr/>
        </p:nvSpPr>
        <p:spPr>
          <a:xfrm>
            <a:off x="9061704" y="3703320"/>
            <a:ext cx="2788920" cy="502920"/>
          </a:xfrm>
          <a:prstGeom prst="roundRect">
            <a:avLst>
              <a:gd name="adj" fmla="val 25000"/>
            </a:avLst>
          </a:prstGeom>
          <a:solidFill>
            <a:srgbClr val="123A7A"/>
          </a:solidFill>
          <a:ln>
            <a:noFill/>
          </a:ln>
        </p:spPr>
        <p:txBody>
          <a:bodyPr wrap="square" lIns="73152" tIns="36576" rIns="73152" bIns="36576" rtlCol="0" anchor="ctr"/>
          <a:lstStyle/>
          <a:p>
            <a:pPr algn="ctr"/>
            <a:endParaRPr/>
          </a:p>
        </p:txBody>
      </p:sp>
      <p:sp>
        <p:nvSpPr>
          <p:cNvPr id="518" name="Oval 517"/>
          <p:cNvSpPr/>
          <p:nvPr/>
        </p:nvSpPr>
        <p:spPr>
          <a:xfrm>
            <a:off x="9153144" y="3776472"/>
            <a:ext cx="365760" cy="365760"/>
          </a:xfrm>
          <a:prstGeom prst="ellipse">
            <a:avLst/>
          </a:prstGeom>
          <a:solidFill>
            <a:srgbClr val="FFFFFF"/>
          </a:solidFill>
          <a:ln>
            <a:noFill/>
          </a:ln>
        </p:spPr>
        <p:txBody>
          <a:bodyPr wrap="square" lIns="0" tIns="0" rIns="0" bIns="0" rtlCol="0" anchor="ctr"/>
          <a:lstStyle/>
          <a:p>
            <a:pPr algn="ctr"/>
            <a:r>
              <a:rPr lang="vi-VN" sz="1400" b="1" i="0">
                <a:solidFill>
                  <a:srgbClr val="123A7A"/>
                </a:solidFill>
                <a:latin typeface="Times New Roman"/>
                <a:cs typeface="Times New Roman"/>
              </a:rPr>
              <a:t>8</a:t>
            </a:r>
          </a:p>
        </p:txBody>
      </p:sp>
      <p:sp>
        <p:nvSpPr>
          <p:cNvPr id="519" name="TextBox 518"/>
          <p:cNvSpPr txBox="1"/>
          <p:nvPr/>
        </p:nvSpPr>
        <p:spPr>
          <a:xfrm>
            <a:off x="9610344" y="3703320"/>
            <a:ext cx="2194560" cy="502920"/>
          </a:xfrm>
          <a:prstGeom prst="rect">
            <a:avLst/>
          </a:prstGeom>
          <a:noFill/>
        </p:spPr>
        <p:txBody>
          <a:bodyPr wrap="square" lIns="73152" tIns="36576" rIns="73152" bIns="36576" anchor="ctr"/>
          <a:lstStyle/>
          <a:p>
            <a:pPr algn="l"/>
            <a:r>
              <a:rPr lang="vi-VN" sz="1450" b="1" i="0">
                <a:solidFill>
                  <a:srgbClr val="FFFFFF"/>
                </a:solidFill>
                <a:latin typeface="Times New Roman"/>
                <a:cs typeface="Times New Roman"/>
              </a:rPr>
              <a:t>Caption “Hình N”</a:t>
            </a:r>
          </a:p>
        </p:txBody>
      </p:sp>
      <p:pic>
        <p:nvPicPr>
          <p:cNvPr id="520" name="Picture 519" descr="FaFileAlt_n.png"/>
          <p:cNvPicPr>
            <a:picLocks noChangeAspect="1"/>
          </p:cNvPicPr>
          <p:nvPr/>
        </p:nvPicPr>
        <p:blipFill>
          <a:blip r:embed="rId11"/>
          <a:stretch>
            <a:fillRect/>
          </a:stretch>
        </p:blipFill>
        <p:spPr>
          <a:xfrm>
            <a:off x="10204704" y="4297680"/>
            <a:ext cx="457200" cy="457200"/>
          </a:xfrm>
          <a:prstGeom prst="rect">
            <a:avLst/>
          </a:prstGeom>
        </p:spPr>
      </p:pic>
      <p:sp>
        <p:nvSpPr>
          <p:cNvPr id="521" name="TextBox 520"/>
          <p:cNvSpPr txBox="1"/>
          <p:nvPr/>
        </p:nvSpPr>
        <p:spPr>
          <a:xfrm>
            <a:off x="9153144" y="4800600"/>
            <a:ext cx="2606040" cy="100584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Chỉ nêu đối tượng, ngày, đơn vị; không viết nhận định vào caption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Nguồn dữ liệu và data modeling</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22</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Cấu trúc bộ dữ liệu AIV Bank KHDN</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Dữ liệu giả lập · ngày dữ liệu mới nhất </a:t>
            </a:r>
            <a:r>
              <a:rPr lang="vi-VN" sz="1800" b="1" i="0">
                <a:solidFill>
                  <a:srgbClr val="C55A11"/>
                </a:solidFill>
                <a:latin typeface="Times New Roman"/>
                <a:cs typeface="Times New Roman"/>
              </a:rPr>
              <a:t>30/06/2026</a:t>
            </a:r>
          </a:p>
        </p:txBody>
      </p:sp>
      <p:sp>
        <p:nvSpPr>
          <p:cNvPr id="474" name="Rounded Rectangle 473"/>
          <p:cNvSpPr/>
          <p:nvPr/>
        </p:nvSpPr>
        <p:spPr>
          <a:xfrm>
            <a:off x="365760" y="1417320"/>
            <a:ext cx="2788920" cy="1554480"/>
          </a:xfrm>
          <a:prstGeom prst="roundRect">
            <a:avLst>
              <a:gd name="adj" fmla="val 8000"/>
            </a:avLst>
          </a:prstGeom>
          <a:solidFill>
            <a:srgbClr val="FFFFFF"/>
          </a:solidFill>
          <a:ln w="19050">
            <a:solidFill>
              <a:srgbClr val="2E5B31"/>
            </a:solidFill>
          </a:ln>
        </p:spPr>
        <p:txBody>
          <a:bodyPr wrap="square" lIns="73152" tIns="36576" rIns="73152" bIns="36576" rtlCol="0" anchor="ctr"/>
          <a:lstStyle/>
          <a:p>
            <a:pPr algn="ctr"/>
            <a:r>
              <a:rPr lang="vi-VN" sz="3400" b="1" i="0">
                <a:solidFill>
                  <a:srgbClr val="2E5B31"/>
                </a:solidFill>
                <a:latin typeface="Times New Roman"/>
                <a:cs typeface="Times New Roman"/>
              </a:rPr>
              <a:t>2</a:t>
            </a:r>
          </a:p>
          <a:p>
            <a:pPr algn="ctr"/>
            <a:r>
              <a:rPr lang="vi-VN" sz="1600" b="1" i="0">
                <a:solidFill>
                  <a:srgbClr val="222222"/>
                </a:solidFill>
                <a:latin typeface="Times New Roman"/>
                <a:cs typeface="Times New Roman"/>
              </a:rPr>
              <a:t>bảng fact</a:t>
            </a:r>
          </a:p>
          <a:p>
            <a:pPr algn="ctr"/>
            <a:r>
              <a:rPr lang="vi-VN" sz="1300" b="0" i="0">
                <a:solidFill>
                  <a:srgbClr val="595959"/>
                </a:solidFill>
                <a:latin typeface="Times New Roman"/>
                <a:cs typeface="Times New Roman"/>
              </a:rPr>
              <a:t>số liệu cần đo</a:t>
            </a:r>
          </a:p>
        </p:txBody>
      </p:sp>
      <p:sp>
        <p:nvSpPr>
          <p:cNvPr id="475" name="Rounded Rectangle 474"/>
          <p:cNvSpPr/>
          <p:nvPr/>
        </p:nvSpPr>
        <p:spPr>
          <a:xfrm>
            <a:off x="3264408" y="1417320"/>
            <a:ext cx="2788920" cy="1554480"/>
          </a:xfrm>
          <a:prstGeom prst="roundRect">
            <a:avLst>
              <a:gd name="adj" fmla="val 8000"/>
            </a:avLst>
          </a:prstGeom>
          <a:solidFill>
            <a:srgbClr val="FFFFFF"/>
          </a:solidFill>
          <a:ln w="19050">
            <a:solidFill>
              <a:srgbClr val="C55A11"/>
            </a:solidFill>
          </a:ln>
        </p:spPr>
        <p:txBody>
          <a:bodyPr wrap="square" lIns="73152" tIns="36576" rIns="73152" bIns="36576" rtlCol="0" anchor="ctr"/>
          <a:lstStyle/>
          <a:p>
            <a:pPr algn="ctr"/>
            <a:r>
              <a:rPr lang="vi-VN" sz="3400" b="1" i="0">
                <a:solidFill>
                  <a:srgbClr val="C55A11"/>
                </a:solidFill>
                <a:latin typeface="Times New Roman"/>
                <a:cs typeface="Times New Roman"/>
              </a:rPr>
              <a:t>9</a:t>
            </a:r>
          </a:p>
          <a:p>
            <a:pPr algn="ctr"/>
            <a:r>
              <a:rPr lang="vi-VN" sz="1600" b="1" i="0">
                <a:solidFill>
                  <a:srgbClr val="222222"/>
                </a:solidFill>
                <a:latin typeface="Times New Roman"/>
                <a:cs typeface="Times New Roman"/>
              </a:rPr>
              <a:t>bảng dim</a:t>
            </a:r>
          </a:p>
          <a:p>
            <a:pPr algn="ctr"/>
            <a:r>
              <a:rPr lang="vi-VN" sz="1300" b="0" i="0">
                <a:solidFill>
                  <a:srgbClr val="595959"/>
                </a:solidFill>
                <a:latin typeface="Times New Roman"/>
                <a:cs typeface="Times New Roman"/>
              </a:rPr>
              <a:t>thuộc tính để phân tích</a:t>
            </a:r>
          </a:p>
        </p:txBody>
      </p:sp>
      <p:sp>
        <p:nvSpPr>
          <p:cNvPr id="476" name="Rounded Rectangle 475"/>
          <p:cNvSpPr/>
          <p:nvPr/>
        </p:nvSpPr>
        <p:spPr>
          <a:xfrm>
            <a:off x="6163056" y="1417320"/>
            <a:ext cx="2788920" cy="1554480"/>
          </a:xfrm>
          <a:prstGeom prst="roundRect">
            <a:avLst>
              <a:gd name="adj" fmla="val 8000"/>
            </a:avLst>
          </a:prstGeom>
          <a:solidFill>
            <a:srgbClr val="FFFFFF"/>
          </a:solidFill>
          <a:ln w="19050">
            <a:solidFill>
              <a:srgbClr val="123A7A"/>
            </a:solidFill>
          </a:ln>
        </p:spPr>
        <p:txBody>
          <a:bodyPr wrap="square" lIns="73152" tIns="36576" rIns="73152" bIns="36576" rtlCol="0" anchor="ctr"/>
          <a:lstStyle/>
          <a:p>
            <a:pPr algn="ctr"/>
            <a:r>
              <a:rPr lang="vi-VN" sz="3400" b="1" i="0">
                <a:solidFill>
                  <a:srgbClr val="123A7A"/>
                </a:solidFill>
                <a:latin typeface="Times New Roman"/>
                <a:cs typeface="Times New Roman"/>
              </a:rPr>
              <a:t>3</a:t>
            </a:r>
          </a:p>
          <a:p>
            <a:pPr algn="ctr"/>
            <a:r>
              <a:rPr lang="vi-VN" sz="1600" b="1" i="0">
                <a:solidFill>
                  <a:srgbClr val="222222"/>
                </a:solidFill>
                <a:latin typeface="Times New Roman"/>
                <a:cs typeface="Times New Roman"/>
              </a:rPr>
              <a:t>bảng bổ sung</a:t>
            </a:r>
          </a:p>
          <a:p>
            <a:pPr algn="ctr"/>
            <a:r>
              <a:rPr lang="vi-VN" sz="1300" b="0" i="0">
                <a:solidFill>
                  <a:srgbClr val="595959"/>
                </a:solidFill>
                <a:latin typeface="Times New Roman"/>
                <a:cs typeface="Times New Roman"/>
              </a:rPr>
              <a:t>cho phần sáng tạo</a:t>
            </a:r>
          </a:p>
        </p:txBody>
      </p:sp>
      <p:sp>
        <p:nvSpPr>
          <p:cNvPr id="477" name="Rounded Rectangle 476"/>
          <p:cNvSpPr/>
          <p:nvPr/>
        </p:nvSpPr>
        <p:spPr>
          <a:xfrm>
            <a:off x="9061704" y="1417320"/>
            <a:ext cx="2788920" cy="1554480"/>
          </a:xfrm>
          <a:prstGeom prst="roundRect">
            <a:avLst>
              <a:gd name="adj" fmla="val 8000"/>
            </a:avLst>
          </a:prstGeom>
          <a:solidFill>
            <a:srgbClr val="FFFFFF"/>
          </a:solidFill>
          <a:ln w="19050">
            <a:solidFill>
              <a:srgbClr val="1B7F6E"/>
            </a:solidFill>
          </a:ln>
        </p:spPr>
        <p:txBody>
          <a:bodyPr wrap="square" lIns="73152" tIns="36576" rIns="73152" bIns="36576" rtlCol="0" anchor="ctr"/>
          <a:lstStyle/>
          <a:p>
            <a:pPr algn="ctr"/>
            <a:r>
              <a:rPr lang="vi-VN" sz="1900" b="1" i="0">
                <a:solidFill>
                  <a:srgbClr val="1B7F6E"/>
                </a:solidFill>
                <a:latin typeface="Times New Roman"/>
                <a:cs typeface="Times New Roman"/>
              </a:rPr>
              <a:t>Data_Dictionary</a:t>
            </a:r>
          </a:p>
          <a:p>
            <a:pPr algn="ctr"/>
            <a:r>
              <a:rPr lang="vi-VN" sz="1600" b="1" i="0">
                <a:solidFill>
                  <a:srgbClr val="222222"/>
                </a:solidFill>
                <a:latin typeface="Times New Roman"/>
                <a:cs typeface="Times New Roman"/>
              </a:rPr>
              <a:t>từ điển dữ liệu</a:t>
            </a:r>
          </a:p>
          <a:p>
            <a:pPr algn="ctr"/>
            <a:r>
              <a:rPr lang="vi-VN" sz="1300" b="0" i="0">
                <a:solidFill>
                  <a:srgbClr val="595959"/>
                </a:solidFill>
                <a:latin typeface="Times New Roman"/>
                <a:cs typeface="Times New Roman"/>
              </a:rPr>
              <a:t>mô tả từng trường</a:t>
            </a:r>
          </a:p>
        </p:txBody>
      </p:sp>
      <p:sp>
        <p:nvSpPr>
          <p:cNvPr id="478" name="Rounded Rectangle 477"/>
          <p:cNvSpPr/>
          <p:nvPr/>
        </p:nvSpPr>
        <p:spPr>
          <a:xfrm>
            <a:off x="365760" y="3154680"/>
            <a:ext cx="5669280" cy="2834640"/>
          </a:xfrm>
          <a:prstGeom prst="roundRect">
            <a:avLst>
              <a:gd name="adj" fmla="val 5000"/>
            </a:avLst>
          </a:prstGeom>
          <a:solidFill>
            <a:srgbClr val="E2F0D9"/>
          </a:solidFill>
          <a:ln w="19050">
            <a:solidFill>
              <a:srgbClr val="2E5B31"/>
            </a:solidFill>
          </a:ln>
        </p:spPr>
        <p:txBody>
          <a:bodyPr wrap="square" lIns="73152" tIns="36576" rIns="73152" bIns="36576" rtlCol="0" anchor="ctr"/>
          <a:lstStyle/>
          <a:p>
            <a:pPr algn="ctr"/>
            <a:endParaRPr/>
          </a:p>
        </p:txBody>
      </p:sp>
      <p:sp>
        <p:nvSpPr>
          <p:cNvPr id="479" name="Rounded Rectangle 478"/>
          <p:cNvSpPr/>
          <p:nvPr/>
        </p:nvSpPr>
        <p:spPr>
          <a:xfrm>
            <a:off x="365760" y="3154680"/>
            <a:ext cx="5669280" cy="411480"/>
          </a:xfrm>
          <a:prstGeom prst="roundRect">
            <a:avLst>
              <a:gd name="adj" fmla="val 25000"/>
            </a:avLst>
          </a:prstGeom>
          <a:solidFill>
            <a:srgbClr val="2E5B3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Khung dữ liệu</a:t>
            </a:r>
          </a:p>
        </p:txBody>
      </p:sp>
      <p:sp>
        <p:nvSpPr>
          <p:cNvPr id="480" name="TextBox 479"/>
          <p:cNvSpPr txBox="1"/>
          <p:nvPr/>
        </p:nvSpPr>
        <p:spPr>
          <a:xfrm>
            <a:off x="502920" y="3639312"/>
            <a:ext cx="5394960" cy="2286000"/>
          </a:xfrm>
          <a:prstGeom prst="rect">
            <a:avLst/>
          </a:prstGeom>
          <a:noFill/>
        </p:spPr>
        <p:txBody>
          <a:bodyPr wrap="square" lIns="73152" tIns="36576" rIns="73152" bIns="36576" anchor="t"/>
          <a:lstStyle/>
          <a:p>
            <a:pPr marL="182880" indent="-182880" algn="l">
              <a:spcBef>
                <a:spcPts val="1000"/>
              </a:spcBef>
              <a:buFont typeface="Arial"/>
              <a:buChar char="•"/>
            </a:pPr>
            <a:r>
              <a:rPr lang="vi-VN" sz="1700" b="0" i="0">
                <a:solidFill>
                  <a:srgbClr val="222222"/>
                </a:solidFill>
                <a:latin typeface="Times New Roman"/>
                <a:cs typeface="Times New Roman"/>
              </a:rPr>
              <a:t>Số dư: </a:t>
            </a:r>
            <a:r>
              <a:rPr lang="vi-VN" sz="1700" b="1" i="0">
                <a:solidFill>
                  <a:srgbClr val="222222"/>
                </a:solidFill>
                <a:latin typeface="Times New Roman"/>
                <a:cs typeface="Times New Roman"/>
              </a:rPr>
              <a:t>31 ngày chốt</a:t>
            </a:r>
            <a:r>
              <a:rPr lang="vi-VN" sz="1700" b="0" i="0">
                <a:solidFill>
                  <a:srgbClr val="222222"/>
                </a:solidFill>
                <a:latin typeface="Times New Roman"/>
                <a:cs typeface="Times New Roman"/>
              </a:rPr>
              <a:t> cuối tháng (31/12/2023 – 30/06/2026)</a:t>
            </a:r>
          </a:p>
          <a:p>
            <a:pPr marL="182880" indent="-182880" algn="l">
              <a:spcBef>
                <a:spcPts val="1000"/>
              </a:spcBef>
              <a:buFont typeface="Arial"/>
              <a:buChar char="•"/>
            </a:pPr>
            <a:r>
              <a:rPr lang="vi-VN" sz="1700" b="0" i="0">
                <a:solidFill>
                  <a:srgbClr val="222222"/>
                </a:solidFill>
                <a:latin typeface="Times New Roman"/>
                <a:cs typeface="Times New Roman"/>
              </a:rPr>
              <a:t>Thu nhập: </a:t>
            </a:r>
            <a:r>
              <a:rPr lang="vi-VN" sz="1700" b="1" i="0">
                <a:solidFill>
                  <a:srgbClr val="222222"/>
                </a:solidFill>
                <a:latin typeface="Times New Roman"/>
                <a:cs typeface="Times New Roman"/>
              </a:rPr>
              <a:t>30 tháng đủ</a:t>
            </a:r>
            <a:r>
              <a:rPr lang="vi-VN" sz="1700" b="0" i="0">
                <a:solidFill>
                  <a:srgbClr val="222222"/>
                </a:solidFill>
                <a:latin typeface="Times New Roman"/>
                <a:cs typeface="Times New Roman"/>
              </a:rPr>
              <a:t> (01/2024 – 06/2026)</a:t>
            </a:r>
          </a:p>
          <a:p>
            <a:pPr marL="182880" indent="-182880" algn="l">
              <a:spcBef>
                <a:spcPts val="1000"/>
              </a:spcBef>
              <a:buFont typeface="Arial"/>
              <a:buChar char="•"/>
            </a:pPr>
            <a:r>
              <a:rPr lang="vi-VN" sz="1700" b="1" i="0">
                <a:solidFill>
                  <a:srgbClr val="222222"/>
                </a:solidFill>
                <a:latin typeface="Times New Roman"/>
                <a:cs typeface="Times New Roman"/>
              </a:rPr>
              <a:t>18 tháng</a:t>
            </a:r>
            <a:r>
              <a:rPr lang="vi-VN" sz="1700" b="0" i="0">
                <a:solidFill>
                  <a:srgbClr val="222222"/>
                </a:solidFill>
                <a:latin typeface="Times New Roman"/>
                <a:cs typeface="Times New Roman"/>
              </a:rPr>
              <a:t> từ 01/2025 đến 06/2026 đủ các mốc so sánh</a:t>
            </a:r>
          </a:p>
        </p:txBody>
      </p:sp>
      <p:sp>
        <p:nvSpPr>
          <p:cNvPr id="481" name="Rounded Rectangle 480"/>
          <p:cNvSpPr/>
          <p:nvPr/>
        </p:nvSpPr>
        <p:spPr>
          <a:xfrm>
            <a:off x="6153912" y="3154680"/>
            <a:ext cx="5669280" cy="2834640"/>
          </a:xfrm>
          <a:prstGeom prst="roundRect">
            <a:avLst>
              <a:gd name="adj" fmla="val 5000"/>
            </a:avLst>
          </a:prstGeom>
          <a:solidFill>
            <a:srgbClr val="FBE5D6"/>
          </a:solidFill>
          <a:ln w="19050">
            <a:solidFill>
              <a:srgbClr val="C55A11"/>
            </a:solidFill>
          </a:ln>
        </p:spPr>
        <p:txBody>
          <a:bodyPr wrap="square" lIns="73152" tIns="36576" rIns="73152" bIns="36576" rtlCol="0" anchor="ctr"/>
          <a:lstStyle/>
          <a:p>
            <a:pPr algn="ctr"/>
            <a:endParaRPr/>
          </a:p>
        </p:txBody>
      </p:sp>
      <p:sp>
        <p:nvSpPr>
          <p:cNvPr id="482" name="Rounded Rectangle 481"/>
          <p:cNvSpPr/>
          <p:nvPr/>
        </p:nvSpPr>
        <p:spPr>
          <a:xfrm>
            <a:off x="6153912" y="3154680"/>
            <a:ext cx="5669280" cy="411480"/>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Quy mô</a:t>
            </a:r>
          </a:p>
        </p:txBody>
      </p:sp>
      <p:sp>
        <p:nvSpPr>
          <p:cNvPr id="483" name="TextBox 482"/>
          <p:cNvSpPr txBox="1"/>
          <p:nvPr/>
        </p:nvSpPr>
        <p:spPr>
          <a:xfrm>
            <a:off x="6291072" y="3639312"/>
            <a:ext cx="5394960" cy="2286000"/>
          </a:xfrm>
          <a:prstGeom prst="rect">
            <a:avLst/>
          </a:prstGeom>
          <a:noFill/>
        </p:spPr>
        <p:txBody>
          <a:bodyPr wrap="square" lIns="73152" tIns="36576" rIns="73152" bIns="36576" anchor="t"/>
          <a:lstStyle/>
          <a:p>
            <a:pPr marL="182880" indent="-182880" algn="l">
              <a:spcBef>
                <a:spcPts val="1000"/>
              </a:spcBef>
              <a:buFont typeface="Arial"/>
              <a:buChar char="•"/>
            </a:pPr>
            <a:r>
              <a:rPr lang="vi-VN" sz="1700" b="1" i="0">
                <a:solidFill>
                  <a:srgbClr val="222222"/>
                </a:solidFill>
                <a:latin typeface="Times New Roman"/>
                <a:cs typeface="Times New Roman"/>
              </a:rPr>
              <a:t>10.000</a:t>
            </a:r>
            <a:r>
              <a:rPr lang="vi-VN" sz="1700" b="0" i="0">
                <a:solidFill>
                  <a:srgbClr val="222222"/>
                </a:solidFill>
                <a:latin typeface="Times New Roman"/>
                <a:cs typeface="Times New Roman"/>
              </a:rPr>
              <a:t> khách hàng (8.778 khách còn dư nợ tại 30/06/2026)</a:t>
            </a:r>
          </a:p>
          <a:p>
            <a:pPr marL="182880" indent="-182880" algn="l">
              <a:spcBef>
                <a:spcPts val="1000"/>
              </a:spcBef>
              <a:buFont typeface="Arial"/>
              <a:buChar char="•"/>
            </a:pPr>
            <a:r>
              <a:rPr lang="vi-VN" sz="1700" b="1" i="0">
                <a:solidFill>
                  <a:srgbClr val="222222"/>
                </a:solidFill>
                <a:latin typeface="Times New Roman"/>
                <a:cs typeface="Times New Roman"/>
              </a:rPr>
              <a:t>31.104</a:t>
            </a:r>
            <a:r>
              <a:rPr lang="vi-VN" sz="1700" b="0" i="0">
                <a:solidFill>
                  <a:srgbClr val="222222"/>
                </a:solidFill>
                <a:latin typeface="Times New Roman"/>
                <a:cs typeface="Times New Roman"/>
              </a:rPr>
              <a:t> hợp đồng · </a:t>
            </a:r>
            <a:r>
              <a:rPr lang="vi-VN" sz="1700" b="1" i="0">
                <a:solidFill>
                  <a:srgbClr val="222222"/>
                </a:solidFill>
                <a:latin typeface="Times New Roman"/>
                <a:cs typeface="Times New Roman"/>
              </a:rPr>
              <a:t>78</a:t>
            </a:r>
            <a:r>
              <a:rPr lang="vi-VN" sz="1700" b="0" i="0">
                <a:solidFill>
                  <a:srgbClr val="222222"/>
                </a:solidFill>
                <a:latin typeface="Times New Roman"/>
                <a:cs typeface="Times New Roman"/>
              </a:rPr>
              <a:t> ĐVKD</a:t>
            </a:r>
          </a:p>
          <a:p>
            <a:pPr marL="182880" indent="-182880" algn="l">
              <a:spcBef>
                <a:spcPts val="1000"/>
              </a:spcBef>
              <a:buFont typeface="Arial"/>
              <a:buChar char="•"/>
            </a:pPr>
            <a:r>
              <a:rPr lang="vi-VN" sz="1700" b="0" i="0">
                <a:solidFill>
                  <a:srgbClr val="222222"/>
                </a:solidFill>
                <a:latin typeface="Times New Roman"/>
                <a:cs typeface="Times New Roman"/>
              </a:rPr>
              <a:t>Đơn vị: VND số nguyên, hiển thị theo tỷ đồng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Nguồn dữ liệu và data modeling</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23</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Hai bảng fact: số dư và thu nhập</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Hai bảng có </a:t>
            </a:r>
            <a:r>
              <a:rPr lang="vi-VN" sz="1800" b="1" i="0">
                <a:solidFill>
                  <a:srgbClr val="C00000"/>
                </a:solidFill>
                <a:latin typeface="Times New Roman"/>
                <a:cs typeface="Times New Roman"/>
              </a:rPr>
              <a:t>hạt dữ liệu khác nhau</a:t>
            </a:r>
            <a:r>
              <a:rPr lang="vi-VN" sz="1800" b="0" i="0">
                <a:solidFill>
                  <a:srgbClr val="000000"/>
                </a:solidFill>
                <a:latin typeface="Times New Roman"/>
                <a:cs typeface="Times New Roman"/>
              </a:rPr>
              <a:t> → không cộng chéo, chỉ gặp nhau ở hợp đồng và ngày chốt</a:t>
            </a:r>
          </a:p>
        </p:txBody>
      </p:sp>
      <p:sp>
        <p:nvSpPr>
          <p:cNvPr id="474" name="Rounded Rectangle 473"/>
          <p:cNvSpPr/>
          <p:nvPr/>
        </p:nvSpPr>
        <p:spPr>
          <a:xfrm>
            <a:off x="365760" y="1417320"/>
            <a:ext cx="5669280"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5669280" cy="548640"/>
          </a:xfrm>
          <a:prstGeom prst="roundRect">
            <a:avLst>
              <a:gd name="adj" fmla="val 20000"/>
            </a:avLst>
          </a:prstGeom>
          <a:solidFill>
            <a:srgbClr val="2E5B31"/>
          </a:solidFill>
          <a:ln>
            <a:noFill/>
          </a:ln>
        </p:spPr>
        <p:txBody>
          <a:bodyPr wrap="square" lIns="73152" tIns="36576" rIns="73152" bIns="36576" rtlCol="0" anchor="ctr"/>
          <a:lstStyle/>
          <a:p>
            <a:pPr algn="ctr"/>
            <a:endParaRPr/>
          </a:p>
        </p:txBody>
      </p:sp>
      <p:sp>
        <p:nvSpPr>
          <p:cNvPr id="476" name="TextBox 475"/>
          <p:cNvSpPr txBox="1"/>
          <p:nvPr/>
        </p:nvSpPr>
        <p:spPr>
          <a:xfrm>
            <a:off x="457200" y="1417320"/>
            <a:ext cx="3840480" cy="548640"/>
          </a:xfrm>
          <a:prstGeom prst="rect">
            <a:avLst/>
          </a:prstGeom>
          <a:noFill/>
        </p:spPr>
        <p:txBody>
          <a:bodyPr wrap="square" lIns="73152" tIns="36576" rIns="73152" bIns="36576" anchor="ctr"/>
          <a:lstStyle/>
          <a:p>
            <a:pPr algn="l"/>
            <a:r>
              <a:rPr lang="vi-VN" sz="1800" b="1" i="0">
                <a:solidFill>
                  <a:srgbClr val="FFFFFF"/>
                </a:solidFill>
                <a:latin typeface="Times New Roman"/>
                <a:cs typeface="Times New Roman"/>
              </a:rPr>
              <a:t>fact_loan_balance</a:t>
            </a:r>
          </a:p>
        </p:txBody>
      </p:sp>
      <p:sp>
        <p:nvSpPr>
          <p:cNvPr id="477" name="TextBox 476"/>
          <p:cNvSpPr txBox="1"/>
          <p:nvPr/>
        </p:nvSpPr>
        <p:spPr>
          <a:xfrm>
            <a:off x="4297680" y="1417320"/>
            <a:ext cx="1645920" cy="548640"/>
          </a:xfrm>
          <a:prstGeom prst="rect">
            <a:avLst/>
          </a:prstGeom>
          <a:noFill/>
        </p:spPr>
        <p:txBody>
          <a:bodyPr wrap="square" lIns="73152" tIns="36576" rIns="73152" bIns="36576" anchor="ctr"/>
          <a:lstStyle/>
          <a:p>
            <a:pPr algn="r"/>
            <a:r>
              <a:rPr lang="vi-VN" sz="1350" b="0" i="0">
                <a:solidFill>
                  <a:srgbClr val="FFFFFF"/>
                </a:solidFill>
                <a:latin typeface="Times New Roman"/>
                <a:cs typeface="Times New Roman"/>
              </a:rPr>
              <a:t>333.882 dòng</a:t>
            </a:r>
          </a:p>
        </p:txBody>
      </p:sp>
      <p:sp>
        <p:nvSpPr>
          <p:cNvPr id="478" name="Rounded Rectangle 477"/>
          <p:cNvSpPr/>
          <p:nvPr/>
        </p:nvSpPr>
        <p:spPr>
          <a:xfrm>
            <a:off x="502920" y="2057400"/>
            <a:ext cx="5394960" cy="822960"/>
          </a:xfrm>
          <a:prstGeom prst="roundRect">
            <a:avLst>
              <a:gd name="adj" fmla="val 10000"/>
            </a:avLst>
          </a:prstGeom>
          <a:solidFill>
            <a:srgbClr val="E2F0D9"/>
          </a:solidFill>
          <a:ln>
            <a:noFill/>
          </a:ln>
        </p:spPr>
        <p:txBody>
          <a:bodyPr wrap="square" lIns="73152" tIns="36576" rIns="73152" bIns="36576" rtlCol="0" anchor="t"/>
          <a:lstStyle/>
          <a:p>
            <a:pPr algn="l"/>
            <a:r>
              <a:rPr lang="vi-VN" sz="1300" b="1" i="0">
                <a:solidFill>
                  <a:srgbClr val="2E5B31"/>
                </a:solidFill>
                <a:latin typeface="Times New Roman"/>
                <a:cs typeface="Times New Roman"/>
              </a:rPr>
              <a:t>Hạt dữ liệu</a:t>
            </a:r>
          </a:p>
          <a:p>
            <a:pPr algn="l"/>
            <a:r>
              <a:rPr lang="vi-VN" sz="1450" b="0" i="0">
                <a:solidFill>
                  <a:srgbClr val="222222"/>
                </a:solidFill>
                <a:latin typeface="Times New Roman"/>
                <a:cs typeface="Times New Roman"/>
              </a:rPr>
              <a:t>Một dòng = số dư của </a:t>
            </a:r>
            <a:r>
              <a:rPr lang="vi-VN" sz="1450" b="1" i="0">
                <a:solidFill>
                  <a:srgbClr val="222222"/>
                </a:solidFill>
                <a:latin typeface="Times New Roman"/>
                <a:cs typeface="Times New Roman"/>
              </a:rPr>
              <a:t>một hợp đồng</a:t>
            </a:r>
            <a:r>
              <a:rPr lang="vi-VN" sz="1450" b="0" i="0">
                <a:solidFill>
                  <a:srgbClr val="222222"/>
                </a:solidFill>
                <a:latin typeface="Times New Roman"/>
                <a:cs typeface="Times New Roman"/>
              </a:rPr>
              <a:t> tại </a:t>
            </a:r>
            <a:r>
              <a:rPr lang="vi-VN" sz="1450" b="1" i="0">
                <a:solidFill>
                  <a:srgbClr val="222222"/>
                </a:solidFill>
                <a:latin typeface="Times New Roman"/>
                <a:cs typeface="Times New Roman"/>
              </a:rPr>
              <a:t>một ngày chốt</a:t>
            </a:r>
            <a:r>
              <a:rPr lang="vi-VN" sz="1450" b="0" i="0">
                <a:solidFill>
                  <a:srgbClr val="222222"/>
                </a:solidFill>
                <a:latin typeface="Times New Roman"/>
                <a:cs typeface="Times New Roman"/>
              </a:rPr>
              <a:t> cuối tháng</a:t>
            </a:r>
          </a:p>
        </p:txBody>
      </p:sp>
      <p:sp>
        <p:nvSpPr>
          <p:cNvPr id="479" name="Rounded Rectangle 478"/>
          <p:cNvSpPr/>
          <p:nvPr/>
        </p:nvSpPr>
        <p:spPr>
          <a:xfrm>
            <a:off x="502920" y="2971800"/>
            <a:ext cx="5394960" cy="1737360"/>
          </a:xfrm>
          <a:prstGeom prst="roundRect">
            <a:avLst>
              <a:gd name="adj" fmla="val 6000"/>
            </a:avLst>
          </a:prstGeom>
          <a:solidFill>
            <a:srgbClr val="F2F2F2"/>
          </a:solidFill>
          <a:ln>
            <a:noFill/>
          </a:ln>
        </p:spPr>
        <p:txBody>
          <a:bodyPr wrap="square" lIns="73152" tIns="36576" rIns="73152" bIns="36576" rtlCol="0" anchor="t"/>
          <a:lstStyle/>
          <a:p>
            <a:pPr algn="l"/>
            <a:r>
              <a:rPr lang="vi-VN" sz="1300" b="1" i="0">
                <a:solidFill>
                  <a:srgbClr val="2E5B31"/>
                </a:solidFill>
                <a:latin typeface="Times New Roman"/>
                <a:cs typeface="Times New Roman"/>
              </a:rPr>
              <a:t>Trường chính</a:t>
            </a:r>
          </a:p>
          <a:p>
            <a:pPr algn="l"/>
            <a:r>
              <a:rPr lang="vi-VN" sz="1550" b="0" i="0">
                <a:solidFill>
                  <a:srgbClr val="222222"/>
                </a:solidFill>
                <a:latin typeface="Times New Roman"/>
                <a:cs typeface="Times New Roman"/>
              </a:rPr>
              <a:t>snapshot_date · contract_id · debt_group_id · balance_vnd (VND) · days_past_due</a:t>
            </a:r>
          </a:p>
        </p:txBody>
      </p:sp>
      <p:sp>
        <p:nvSpPr>
          <p:cNvPr id="480" name="Rounded Rectangle 479"/>
          <p:cNvSpPr/>
          <p:nvPr/>
        </p:nvSpPr>
        <p:spPr>
          <a:xfrm>
            <a:off x="502920" y="4800600"/>
            <a:ext cx="5394960" cy="1051560"/>
          </a:xfrm>
          <a:prstGeom prst="roundRect">
            <a:avLst>
              <a:gd name="adj" fmla="val 10000"/>
            </a:avLst>
          </a:prstGeom>
          <a:solidFill>
            <a:srgbClr val="E2F0D9"/>
          </a:solidFill>
          <a:ln>
            <a:noFill/>
          </a:ln>
        </p:spPr>
        <p:txBody>
          <a:bodyPr wrap="square" lIns="73152" tIns="36576" rIns="73152" bIns="36576" rtlCol="0" anchor="t"/>
          <a:lstStyle/>
          <a:p>
            <a:pPr algn="l"/>
            <a:r>
              <a:rPr lang="vi-VN" sz="1300" b="1" i="0">
                <a:solidFill>
                  <a:srgbClr val="2E5B31"/>
                </a:solidFill>
                <a:latin typeface="Times New Roman"/>
                <a:cs typeface="Times New Roman"/>
              </a:rPr>
              <a:t>Bản chất</a:t>
            </a:r>
          </a:p>
          <a:p>
            <a:pPr algn="l"/>
            <a:r>
              <a:rPr lang="vi-VN" sz="1400" b="0" i="0">
                <a:solidFill>
                  <a:srgbClr val="222222"/>
                </a:solidFill>
                <a:latin typeface="Times New Roman"/>
                <a:cs typeface="Times New Roman"/>
              </a:rPr>
              <a:t>Chỉ tiêu </a:t>
            </a:r>
            <a:r>
              <a:rPr lang="vi-VN" sz="1400" b="1" i="0">
                <a:solidFill>
                  <a:srgbClr val="222222"/>
                </a:solidFill>
                <a:latin typeface="Times New Roman"/>
                <a:cs typeface="Times New Roman"/>
              </a:rPr>
              <a:t>số dư</a:t>
            </a:r>
            <a:r>
              <a:rPr lang="vi-VN" sz="1400" b="0" i="0">
                <a:solidFill>
                  <a:srgbClr val="222222"/>
                </a:solidFill>
                <a:latin typeface="Times New Roman"/>
                <a:cs typeface="Times New Roman"/>
              </a:rPr>
              <a:t>: không cộng dồn qua các tháng</a:t>
            </a:r>
          </a:p>
        </p:txBody>
      </p:sp>
      <p:sp>
        <p:nvSpPr>
          <p:cNvPr id="481" name="Rounded Rectangle 480"/>
          <p:cNvSpPr/>
          <p:nvPr/>
        </p:nvSpPr>
        <p:spPr>
          <a:xfrm>
            <a:off x="6153912" y="1417320"/>
            <a:ext cx="5669280"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2" name="Rounded Rectangle 481"/>
          <p:cNvSpPr/>
          <p:nvPr/>
        </p:nvSpPr>
        <p:spPr>
          <a:xfrm>
            <a:off x="6153912" y="1417320"/>
            <a:ext cx="5669280" cy="548640"/>
          </a:xfrm>
          <a:prstGeom prst="roundRect">
            <a:avLst>
              <a:gd name="adj" fmla="val 20000"/>
            </a:avLst>
          </a:prstGeom>
          <a:solidFill>
            <a:srgbClr val="C55A11"/>
          </a:solidFill>
          <a:ln>
            <a:noFill/>
          </a:ln>
        </p:spPr>
        <p:txBody>
          <a:bodyPr wrap="square" lIns="73152" tIns="36576" rIns="73152" bIns="36576" rtlCol="0" anchor="ctr"/>
          <a:lstStyle/>
          <a:p>
            <a:pPr algn="ctr"/>
            <a:endParaRPr/>
          </a:p>
        </p:txBody>
      </p:sp>
      <p:sp>
        <p:nvSpPr>
          <p:cNvPr id="483" name="TextBox 482"/>
          <p:cNvSpPr txBox="1"/>
          <p:nvPr/>
        </p:nvSpPr>
        <p:spPr>
          <a:xfrm>
            <a:off x="6245352" y="1417320"/>
            <a:ext cx="3840480" cy="548640"/>
          </a:xfrm>
          <a:prstGeom prst="rect">
            <a:avLst/>
          </a:prstGeom>
          <a:noFill/>
        </p:spPr>
        <p:txBody>
          <a:bodyPr wrap="square" lIns="73152" tIns="36576" rIns="73152" bIns="36576" anchor="ctr"/>
          <a:lstStyle/>
          <a:p>
            <a:pPr algn="l"/>
            <a:r>
              <a:rPr lang="vi-VN" sz="1800" b="1" i="0">
                <a:solidFill>
                  <a:srgbClr val="FFFFFF"/>
                </a:solidFill>
                <a:latin typeface="Times New Roman"/>
                <a:cs typeface="Times New Roman"/>
              </a:rPr>
              <a:t>fact_income_monthly</a:t>
            </a:r>
          </a:p>
        </p:txBody>
      </p:sp>
      <p:sp>
        <p:nvSpPr>
          <p:cNvPr id="484" name="TextBox 483"/>
          <p:cNvSpPr txBox="1"/>
          <p:nvPr/>
        </p:nvSpPr>
        <p:spPr>
          <a:xfrm>
            <a:off x="10085832" y="1417320"/>
            <a:ext cx="1645920" cy="548640"/>
          </a:xfrm>
          <a:prstGeom prst="rect">
            <a:avLst/>
          </a:prstGeom>
          <a:noFill/>
        </p:spPr>
        <p:txBody>
          <a:bodyPr wrap="square" lIns="73152" tIns="36576" rIns="73152" bIns="36576" anchor="ctr"/>
          <a:lstStyle/>
          <a:p>
            <a:pPr algn="r"/>
            <a:r>
              <a:rPr lang="vi-VN" sz="1350" b="0" i="0">
                <a:solidFill>
                  <a:srgbClr val="FFFFFF"/>
                </a:solidFill>
                <a:latin typeface="Times New Roman"/>
                <a:cs typeface="Times New Roman"/>
              </a:rPr>
              <a:t>343.432 dòng</a:t>
            </a:r>
          </a:p>
        </p:txBody>
      </p:sp>
      <p:sp>
        <p:nvSpPr>
          <p:cNvPr id="485" name="Rounded Rectangle 484"/>
          <p:cNvSpPr/>
          <p:nvPr/>
        </p:nvSpPr>
        <p:spPr>
          <a:xfrm>
            <a:off x="6291072" y="2057400"/>
            <a:ext cx="5394960" cy="822960"/>
          </a:xfrm>
          <a:prstGeom prst="roundRect">
            <a:avLst>
              <a:gd name="adj" fmla="val 10000"/>
            </a:avLst>
          </a:prstGeom>
          <a:solidFill>
            <a:srgbClr val="FBE5D6"/>
          </a:solidFill>
          <a:ln>
            <a:noFill/>
          </a:ln>
        </p:spPr>
        <p:txBody>
          <a:bodyPr wrap="square" lIns="73152" tIns="36576" rIns="73152" bIns="36576" rtlCol="0" anchor="t"/>
          <a:lstStyle/>
          <a:p>
            <a:pPr algn="l"/>
            <a:r>
              <a:rPr lang="vi-VN" sz="1300" b="1" i="0">
                <a:solidFill>
                  <a:srgbClr val="C55A11"/>
                </a:solidFill>
                <a:latin typeface="Times New Roman"/>
                <a:cs typeface="Times New Roman"/>
              </a:rPr>
              <a:t>Hạt dữ liệu</a:t>
            </a:r>
          </a:p>
          <a:p>
            <a:pPr algn="l"/>
            <a:r>
              <a:rPr lang="vi-VN" sz="1450" b="0" i="0">
                <a:solidFill>
                  <a:srgbClr val="222222"/>
                </a:solidFill>
                <a:latin typeface="Times New Roman"/>
                <a:cs typeface="Times New Roman"/>
              </a:rPr>
              <a:t>Một dòng = thu nhập của </a:t>
            </a:r>
            <a:r>
              <a:rPr lang="vi-VN" sz="1450" b="1" i="0">
                <a:solidFill>
                  <a:srgbClr val="222222"/>
                </a:solidFill>
                <a:latin typeface="Times New Roman"/>
                <a:cs typeface="Times New Roman"/>
              </a:rPr>
              <a:t>một hợp đồng</a:t>
            </a:r>
            <a:r>
              <a:rPr lang="vi-VN" sz="1450" b="0" i="0">
                <a:solidFill>
                  <a:srgbClr val="222222"/>
                </a:solidFill>
                <a:latin typeface="Times New Roman"/>
                <a:cs typeface="Times New Roman"/>
              </a:rPr>
              <a:t> trong </a:t>
            </a:r>
            <a:r>
              <a:rPr lang="vi-VN" sz="1450" b="1" i="0">
                <a:solidFill>
                  <a:srgbClr val="222222"/>
                </a:solidFill>
                <a:latin typeface="Times New Roman"/>
                <a:cs typeface="Times New Roman"/>
              </a:rPr>
              <a:t>một tháng</a:t>
            </a:r>
          </a:p>
        </p:txBody>
      </p:sp>
      <p:sp>
        <p:nvSpPr>
          <p:cNvPr id="486" name="Rounded Rectangle 485"/>
          <p:cNvSpPr/>
          <p:nvPr/>
        </p:nvSpPr>
        <p:spPr>
          <a:xfrm>
            <a:off x="6291072" y="2971800"/>
            <a:ext cx="5394960" cy="1737360"/>
          </a:xfrm>
          <a:prstGeom prst="roundRect">
            <a:avLst>
              <a:gd name="adj" fmla="val 6000"/>
            </a:avLst>
          </a:prstGeom>
          <a:solidFill>
            <a:srgbClr val="F2F2F2"/>
          </a:solidFill>
          <a:ln>
            <a:noFill/>
          </a:ln>
        </p:spPr>
        <p:txBody>
          <a:bodyPr wrap="square" lIns="73152" tIns="36576" rIns="73152" bIns="36576" rtlCol="0" anchor="t"/>
          <a:lstStyle/>
          <a:p>
            <a:pPr algn="l"/>
            <a:r>
              <a:rPr lang="vi-VN" sz="1300" b="1" i="0">
                <a:solidFill>
                  <a:srgbClr val="C55A11"/>
                </a:solidFill>
                <a:latin typeface="Times New Roman"/>
                <a:cs typeface="Times New Roman"/>
              </a:rPr>
              <a:t>Trường chính</a:t>
            </a:r>
          </a:p>
          <a:p>
            <a:pPr algn="l"/>
            <a:r>
              <a:rPr lang="vi-VN" sz="1550" b="0" i="0">
                <a:solidFill>
                  <a:srgbClr val="222222"/>
                </a:solidFill>
                <a:latin typeface="Times New Roman"/>
                <a:cs typeface="Times New Roman"/>
              </a:rPr>
              <a:t>period_end_date · month_id · contract_id · avg_balance_vnd (DNBQ tháng, xấp xỉ trung bình số dư cuối tháng trước và cuối tháng này) · nii_mtd · nfi_mtd · toi_mtd (VND)</a:t>
            </a:r>
          </a:p>
        </p:txBody>
      </p:sp>
      <p:sp>
        <p:nvSpPr>
          <p:cNvPr id="487" name="Rounded Rectangle 486"/>
          <p:cNvSpPr/>
          <p:nvPr/>
        </p:nvSpPr>
        <p:spPr>
          <a:xfrm>
            <a:off x="6291072" y="4800600"/>
            <a:ext cx="5394960" cy="1051560"/>
          </a:xfrm>
          <a:prstGeom prst="roundRect">
            <a:avLst>
              <a:gd name="adj" fmla="val 10000"/>
            </a:avLst>
          </a:prstGeom>
          <a:solidFill>
            <a:srgbClr val="FBE5D6"/>
          </a:solidFill>
          <a:ln>
            <a:noFill/>
          </a:ln>
        </p:spPr>
        <p:txBody>
          <a:bodyPr wrap="square" lIns="73152" tIns="36576" rIns="73152" bIns="36576" rtlCol="0" anchor="t"/>
          <a:lstStyle/>
          <a:p>
            <a:pPr algn="l"/>
            <a:r>
              <a:rPr lang="vi-VN" sz="1300" b="1" i="0">
                <a:solidFill>
                  <a:srgbClr val="C55A11"/>
                </a:solidFill>
                <a:latin typeface="Times New Roman"/>
                <a:cs typeface="Times New Roman"/>
              </a:rPr>
              <a:t>Bản chất</a:t>
            </a:r>
          </a:p>
          <a:p>
            <a:pPr algn="l"/>
            <a:r>
              <a:rPr lang="vi-VN" sz="1400" b="0" i="0">
                <a:solidFill>
                  <a:srgbClr val="222222"/>
                </a:solidFill>
                <a:latin typeface="Times New Roman"/>
                <a:cs typeface="Times New Roman"/>
              </a:rPr>
              <a:t>Chỉ tiêu </a:t>
            </a:r>
            <a:r>
              <a:rPr lang="vi-VN" sz="1400" b="1" i="0">
                <a:solidFill>
                  <a:srgbClr val="222222"/>
                </a:solidFill>
                <a:latin typeface="Times New Roman"/>
                <a:cs typeface="Times New Roman"/>
              </a:rPr>
              <a:t>phát sinh</a:t>
            </a:r>
            <a:r>
              <a:rPr lang="vi-VN" sz="1400" b="0" i="0">
                <a:solidFill>
                  <a:srgbClr val="222222"/>
                </a:solidFill>
                <a:latin typeface="Times New Roman"/>
                <a:cs typeface="Times New Roman"/>
              </a:rPr>
              <a:t>: cộng dồn trong kỳ; nii_mtd đặt tại ngày cuối tháng là phát sinh của cả tháng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Nguồn dữ liệu và data modeling</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24</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Các bảng dim chính: hợp đồng, khách hàng, ĐVKD</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Bảng hợp đồng là </a:t>
            </a:r>
            <a:r>
              <a:rPr lang="vi-VN" sz="1800" b="1" i="0">
                <a:solidFill>
                  <a:srgbClr val="123A7A"/>
                </a:solidFill>
                <a:latin typeface="Times New Roman"/>
                <a:cs typeface="Times New Roman"/>
              </a:rPr>
              <a:t>trung tâm</a:t>
            </a:r>
            <a:r>
              <a:rPr lang="vi-VN" sz="1800" b="0" i="0">
                <a:solidFill>
                  <a:srgbClr val="000000"/>
                </a:solidFill>
                <a:latin typeface="Times New Roman"/>
                <a:cs typeface="Times New Roman"/>
              </a:rPr>
              <a:t> nối các bảng dim còn lại</a:t>
            </a:r>
          </a:p>
        </p:txBody>
      </p:sp>
      <p:sp>
        <p:nvSpPr>
          <p:cNvPr id="474" name="Rounded Rectangle 473"/>
          <p:cNvSpPr/>
          <p:nvPr/>
        </p:nvSpPr>
        <p:spPr>
          <a:xfrm>
            <a:off x="365760" y="1417320"/>
            <a:ext cx="4297680"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4297680" cy="685800"/>
          </a:xfrm>
          <a:prstGeom prst="roundRect">
            <a:avLst>
              <a:gd name="adj" fmla="val 15000"/>
            </a:avLst>
          </a:prstGeom>
          <a:solidFill>
            <a:srgbClr val="2E5B31"/>
          </a:solidFill>
          <a:ln>
            <a:noFill/>
          </a:ln>
        </p:spPr>
        <p:txBody>
          <a:bodyPr wrap="square" lIns="73152" tIns="36576" rIns="73152" bIns="36576" rtlCol="0" anchor="ctr"/>
          <a:lstStyle/>
          <a:p>
            <a:pPr algn="ctr"/>
            <a:r>
              <a:rPr lang="vi-VN" sz="1700" b="1" i="0">
                <a:solidFill>
                  <a:srgbClr val="FFFFFF"/>
                </a:solidFill>
                <a:latin typeface="Times New Roman"/>
                <a:cs typeface="Times New Roman"/>
              </a:rPr>
              <a:t>dim_loan_contract</a:t>
            </a:r>
          </a:p>
          <a:p>
            <a:pPr algn="ctr"/>
            <a:r>
              <a:rPr lang="vi-VN" sz="1250" b="0" i="0">
                <a:solidFill>
                  <a:srgbClr val="FFFFFF"/>
                </a:solidFill>
                <a:latin typeface="Times New Roman"/>
                <a:cs typeface="Times New Roman"/>
              </a:rPr>
              <a:t>31.104 dòng</a:t>
            </a:r>
          </a:p>
        </p:txBody>
      </p:sp>
      <p:sp>
        <p:nvSpPr>
          <p:cNvPr id="476" name="TextBox 475"/>
          <p:cNvSpPr txBox="1"/>
          <p:nvPr/>
        </p:nvSpPr>
        <p:spPr>
          <a:xfrm>
            <a:off x="457200" y="2194560"/>
            <a:ext cx="4114800" cy="502920"/>
          </a:xfrm>
          <a:prstGeom prst="rect">
            <a:avLst/>
          </a:prstGeom>
          <a:noFill/>
        </p:spPr>
        <p:txBody>
          <a:bodyPr wrap="square" lIns="73152" tIns="36576" rIns="73152" bIns="36576" anchor="ctr"/>
          <a:lstStyle/>
          <a:p>
            <a:pPr algn="l"/>
            <a:r>
              <a:rPr lang="vi-VN" sz="1450" b="1" i="0">
                <a:solidFill>
                  <a:srgbClr val="2E5B31"/>
                </a:solidFill>
                <a:latin typeface="Times New Roman"/>
                <a:cs typeface="Times New Roman"/>
              </a:rPr>
              <a:t>Một dòng = một hợp đồng vay</a:t>
            </a:r>
          </a:p>
        </p:txBody>
      </p:sp>
      <p:sp>
        <p:nvSpPr>
          <p:cNvPr id="477" name="Rounded Rectangle 476"/>
          <p:cNvSpPr/>
          <p:nvPr/>
        </p:nvSpPr>
        <p:spPr>
          <a:xfrm>
            <a:off x="457200" y="2743200"/>
            <a:ext cx="4114800" cy="2011680"/>
          </a:xfrm>
          <a:prstGeom prst="roundRect">
            <a:avLst>
              <a:gd name="adj" fmla="val 6000"/>
            </a:avLst>
          </a:prstGeom>
          <a:solidFill>
            <a:srgbClr val="F2F2F2"/>
          </a:solidFill>
          <a:ln>
            <a:noFill/>
          </a:ln>
        </p:spPr>
        <p:txBody>
          <a:bodyPr wrap="square" lIns="73152" tIns="36576" rIns="73152" bIns="36576" rtlCol="0" anchor="t"/>
          <a:lstStyle/>
          <a:p>
            <a:pPr algn="l"/>
            <a:r>
              <a:rPr lang="vi-VN" sz="1250" b="1" i="0">
                <a:solidFill>
                  <a:srgbClr val="595959"/>
                </a:solidFill>
                <a:latin typeface="Times New Roman"/>
                <a:cs typeface="Times New Roman"/>
              </a:rPr>
              <a:t>Trường chính</a:t>
            </a:r>
          </a:p>
          <a:p>
            <a:pPr algn="l"/>
            <a:r>
              <a:rPr lang="vi-VN" sz="1500" b="0" i="0">
                <a:solidFill>
                  <a:srgbClr val="222222"/>
                </a:solidFill>
                <a:latin typeface="Times New Roman"/>
                <a:cs typeface="Times New Roman"/>
              </a:rPr>
              <a:t>cif · branch_id · product_id · term_group (ngắn hạn, trung dài hạn, thấu chi) · ccy (VND, USD) · campaign_id · ngày mở, ngày đáo hạn · lãi suất · contract_status · exit_reason (Tất toán, Tái tục, Xóa nợ)</a:t>
            </a:r>
          </a:p>
        </p:txBody>
      </p:sp>
      <p:sp>
        <p:nvSpPr>
          <p:cNvPr id="478" name="TextBox 477"/>
          <p:cNvSpPr txBox="1"/>
          <p:nvPr/>
        </p:nvSpPr>
        <p:spPr>
          <a:xfrm>
            <a:off x="457200" y="4846320"/>
            <a:ext cx="4114800" cy="1005840"/>
          </a:xfrm>
          <a:prstGeom prst="rect">
            <a:avLst/>
          </a:prstGeom>
          <a:noFill/>
        </p:spPr>
        <p:txBody>
          <a:bodyPr wrap="square" lIns="73152" tIns="36576" rIns="73152" bIns="36576" anchor="t"/>
          <a:lstStyle/>
          <a:p>
            <a:pPr algn="l"/>
            <a:r>
              <a:rPr lang="vi-VN" sz="1300" b="0" i="1">
                <a:solidFill>
                  <a:srgbClr val="222222"/>
                </a:solidFill>
                <a:latin typeface="Times New Roman"/>
                <a:cs typeface="Times New Roman"/>
              </a:rPr>
              <a:t>Hợp đồng tái tục là hợp đồng mới, nối với hợp đồng cũ qua rolled_from_contract_id</a:t>
            </a:r>
          </a:p>
        </p:txBody>
      </p:sp>
      <p:sp>
        <p:nvSpPr>
          <p:cNvPr id="479" name="Rounded Rectangle 478"/>
          <p:cNvSpPr/>
          <p:nvPr/>
        </p:nvSpPr>
        <p:spPr>
          <a:xfrm>
            <a:off x="4754880" y="1417320"/>
            <a:ext cx="3474720"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0" name="Rounded Rectangle 479"/>
          <p:cNvSpPr/>
          <p:nvPr/>
        </p:nvSpPr>
        <p:spPr>
          <a:xfrm>
            <a:off x="4754880" y="1417320"/>
            <a:ext cx="3474720" cy="685800"/>
          </a:xfrm>
          <a:prstGeom prst="roundRect">
            <a:avLst>
              <a:gd name="adj" fmla="val 15000"/>
            </a:avLst>
          </a:prstGeom>
          <a:solidFill>
            <a:srgbClr val="C55A11"/>
          </a:solidFill>
          <a:ln>
            <a:noFill/>
          </a:ln>
        </p:spPr>
        <p:txBody>
          <a:bodyPr wrap="square" lIns="73152" tIns="36576" rIns="73152" bIns="36576" rtlCol="0" anchor="ctr"/>
          <a:lstStyle/>
          <a:p>
            <a:pPr algn="ctr"/>
            <a:r>
              <a:rPr lang="vi-VN" sz="1700" b="1" i="0">
                <a:solidFill>
                  <a:srgbClr val="FFFFFF"/>
                </a:solidFill>
                <a:latin typeface="Times New Roman"/>
                <a:cs typeface="Times New Roman"/>
              </a:rPr>
              <a:t>dim_customer</a:t>
            </a:r>
          </a:p>
          <a:p>
            <a:pPr algn="ctr"/>
            <a:r>
              <a:rPr lang="vi-VN" sz="1250" b="0" i="0">
                <a:solidFill>
                  <a:srgbClr val="FFFFFF"/>
                </a:solidFill>
                <a:latin typeface="Times New Roman"/>
                <a:cs typeface="Times New Roman"/>
              </a:rPr>
              <a:t>10.000 dòng</a:t>
            </a:r>
          </a:p>
        </p:txBody>
      </p:sp>
      <p:sp>
        <p:nvSpPr>
          <p:cNvPr id="481" name="TextBox 480"/>
          <p:cNvSpPr txBox="1"/>
          <p:nvPr/>
        </p:nvSpPr>
        <p:spPr>
          <a:xfrm>
            <a:off x="4846320" y="2194560"/>
            <a:ext cx="3291839" cy="502920"/>
          </a:xfrm>
          <a:prstGeom prst="rect">
            <a:avLst/>
          </a:prstGeom>
          <a:noFill/>
        </p:spPr>
        <p:txBody>
          <a:bodyPr wrap="square" lIns="73152" tIns="36576" rIns="73152" bIns="36576" anchor="ctr"/>
          <a:lstStyle/>
          <a:p>
            <a:pPr algn="l"/>
            <a:r>
              <a:rPr lang="vi-VN" sz="1450" b="1" i="0">
                <a:solidFill>
                  <a:srgbClr val="C55A11"/>
                </a:solidFill>
                <a:latin typeface="Times New Roman"/>
                <a:cs typeface="Times New Roman"/>
              </a:rPr>
              <a:t>Một dòng = một khách hàng doanh nghiệp</a:t>
            </a:r>
          </a:p>
        </p:txBody>
      </p:sp>
      <p:sp>
        <p:nvSpPr>
          <p:cNvPr id="482" name="Rounded Rectangle 481"/>
          <p:cNvSpPr/>
          <p:nvPr/>
        </p:nvSpPr>
        <p:spPr>
          <a:xfrm>
            <a:off x="4846320" y="2743200"/>
            <a:ext cx="3291839" cy="2011680"/>
          </a:xfrm>
          <a:prstGeom prst="roundRect">
            <a:avLst>
              <a:gd name="adj" fmla="val 6000"/>
            </a:avLst>
          </a:prstGeom>
          <a:solidFill>
            <a:srgbClr val="F2F2F2"/>
          </a:solidFill>
          <a:ln>
            <a:noFill/>
          </a:ln>
        </p:spPr>
        <p:txBody>
          <a:bodyPr wrap="square" lIns="73152" tIns="36576" rIns="73152" bIns="36576" rtlCol="0" anchor="t"/>
          <a:lstStyle/>
          <a:p>
            <a:pPr algn="l"/>
            <a:r>
              <a:rPr lang="vi-VN" sz="1250" b="1" i="0">
                <a:solidFill>
                  <a:srgbClr val="595959"/>
                </a:solidFill>
                <a:latin typeface="Times New Roman"/>
                <a:cs typeface="Times New Roman"/>
              </a:rPr>
              <a:t>Trường chính</a:t>
            </a:r>
          </a:p>
          <a:p>
            <a:pPr algn="l"/>
            <a:r>
              <a:rPr lang="vi-VN" sz="1500" b="0" i="0">
                <a:solidFill>
                  <a:srgbClr val="222222"/>
                </a:solidFill>
                <a:latin typeface="Times New Roman"/>
                <a:cs typeface="Times New Roman"/>
              </a:rPr>
              <a:t>cif · customer_name · segment_id · industry_id · home_branch_id · cust_type (khách mới hoặc cũ) · xếp hạng tín dụng</a:t>
            </a:r>
          </a:p>
        </p:txBody>
      </p:sp>
      <p:sp>
        <p:nvSpPr>
          <p:cNvPr id="483" name="Rounded Rectangle 482"/>
          <p:cNvSpPr/>
          <p:nvPr/>
        </p:nvSpPr>
        <p:spPr>
          <a:xfrm>
            <a:off x="8321040" y="1417320"/>
            <a:ext cx="3502152"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4" name="Rounded Rectangle 483"/>
          <p:cNvSpPr/>
          <p:nvPr/>
        </p:nvSpPr>
        <p:spPr>
          <a:xfrm>
            <a:off x="8321040" y="1417320"/>
            <a:ext cx="3502152" cy="685800"/>
          </a:xfrm>
          <a:prstGeom prst="roundRect">
            <a:avLst>
              <a:gd name="adj" fmla="val 15000"/>
            </a:avLst>
          </a:prstGeom>
          <a:solidFill>
            <a:srgbClr val="123A7A"/>
          </a:solidFill>
          <a:ln>
            <a:noFill/>
          </a:ln>
        </p:spPr>
        <p:txBody>
          <a:bodyPr wrap="square" lIns="73152" tIns="36576" rIns="73152" bIns="36576" rtlCol="0" anchor="ctr"/>
          <a:lstStyle/>
          <a:p>
            <a:pPr algn="ctr"/>
            <a:r>
              <a:rPr lang="vi-VN" sz="1700" b="1" i="0">
                <a:solidFill>
                  <a:srgbClr val="FFFFFF"/>
                </a:solidFill>
                <a:latin typeface="Times New Roman"/>
                <a:cs typeface="Times New Roman"/>
              </a:rPr>
              <a:t>dim_branch</a:t>
            </a:r>
          </a:p>
          <a:p>
            <a:pPr algn="ctr"/>
            <a:r>
              <a:rPr lang="vi-VN" sz="1250" b="0" i="0">
                <a:solidFill>
                  <a:srgbClr val="FFFFFF"/>
                </a:solidFill>
                <a:latin typeface="Times New Roman"/>
                <a:cs typeface="Times New Roman"/>
              </a:rPr>
              <a:t>78 dòng</a:t>
            </a:r>
          </a:p>
        </p:txBody>
      </p:sp>
      <p:sp>
        <p:nvSpPr>
          <p:cNvPr id="485" name="TextBox 484"/>
          <p:cNvSpPr txBox="1"/>
          <p:nvPr/>
        </p:nvSpPr>
        <p:spPr>
          <a:xfrm>
            <a:off x="8412480" y="2194560"/>
            <a:ext cx="3319272" cy="502920"/>
          </a:xfrm>
          <a:prstGeom prst="rect">
            <a:avLst/>
          </a:prstGeom>
          <a:noFill/>
        </p:spPr>
        <p:txBody>
          <a:bodyPr wrap="square" lIns="73152" tIns="36576" rIns="73152" bIns="36576" anchor="ctr"/>
          <a:lstStyle/>
          <a:p>
            <a:pPr algn="l"/>
            <a:r>
              <a:rPr lang="vi-VN" sz="1450" b="1" i="0">
                <a:solidFill>
                  <a:srgbClr val="123A7A"/>
                </a:solidFill>
                <a:latin typeface="Times New Roman"/>
                <a:cs typeface="Times New Roman"/>
              </a:rPr>
              <a:t>Một dòng = một ĐVKD</a:t>
            </a:r>
          </a:p>
        </p:txBody>
      </p:sp>
      <p:sp>
        <p:nvSpPr>
          <p:cNvPr id="486" name="Rounded Rectangle 485"/>
          <p:cNvSpPr/>
          <p:nvPr/>
        </p:nvSpPr>
        <p:spPr>
          <a:xfrm>
            <a:off x="8412480" y="2743200"/>
            <a:ext cx="3319272" cy="2011680"/>
          </a:xfrm>
          <a:prstGeom prst="roundRect">
            <a:avLst>
              <a:gd name="adj" fmla="val 6000"/>
            </a:avLst>
          </a:prstGeom>
          <a:solidFill>
            <a:srgbClr val="F2F2F2"/>
          </a:solidFill>
          <a:ln>
            <a:noFill/>
          </a:ln>
        </p:spPr>
        <p:txBody>
          <a:bodyPr wrap="square" lIns="73152" tIns="36576" rIns="73152" bIns="36576" rtlCol="0" anchor="t"/>
          <a:lstStyle/>
          <a:p>
            <a:pPr algn="l"/>
            <a:r>
              <a:rPr lang="vi-VN" sz="1250" b="1" i="0">
                <a:solidFill>
                  <a:srgbClr val="595959"/>
                </a:solidFill>
                <a:latin typeface="Times New Roman"/>
                <a:cs typeface="Times New Roman"/>
              </a:rPr>
              <a:t>Trường chính</a:t>
            </a:r>
          </a:p>
          <a:p>
            <a:pPr algn="l"/>
            <a:r>
              <a:rPr lang="vi-VN" sz="1500" b="0" i="0">
                <a:solidFill>
                  <a:srgbClr val="222222"/>
                </a:solidFill>
                <a:latin typeface="Times New Roman"/>
                <a:cs typeface="Times New Roman"/>
              </a:rPr>
              <a:t>branch_id · branch_name · region · city</a:t>
            </a:r>
          </a:p>
        </p:txBody>
      </p:sp>
      <p:sp>
        <p:nvSpPr>
          <p:cNvPr id="487" name="TextBox 486"/>
          <p:cNvSpPr txBox="1"/>
          <p:nvPr/>
        </p:nvSpPr>
        <p:spPr>
          <a:xfrm>
            <a:off x="8412480" y="4846320"/>
            <a:ext cx="3319272" cy="1005840"/>
          </a:xfrm>
          <a:prstGeom prst="rect">
            <a:avLst/>
          </a:prstGeom>
          <a:noFill/>
        </p:spPr>
        <p:txBody>
          <a:bodyPr wrap="square" lIns="73152" tIns="36576" rIns="73152" bIns="36576" anchor="t"/>
          <a:lstStyle/>
          <a:p>
            <a:pPr algn="l"/>
            <a:r>
              <a:rPr lang="vi-VN" sz="1300" b="0" i="1">
                <a:solidFill>
                  <a:srgbClr val="222222"/>
                </a:solidFill>
                <a:latin typeface="Times New Roman"/>
                <a:cs typeface="Times New Roman"/>
              </a:rPr>
              <a:t>ĐVKD hạch toán khoản vay nối qua bảng hợp đồng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Nguồn dữ liệu và data modeling</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25</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Các bảng dim phân loại, bảng ngày và bảng bổ sung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dim_date có cờ </a:t>
            </a:r>
            <a:r>
              <a:rPr lang="vi-VN" sz="1800" b="1" i="0">
                <a:solidFill>
                  <a:srgbClr val="123A7A"/>
                </a:solidFill>
                <a:latin typeface="Times New Roman"/>
                <a:cs typeface="Times New Roman"/>
              </a:rPr>
              <a:t>has_data, is_reportable</a:t>
            </a:r>
            <a:r>
              <a:rPr lang="vi-VN" sz="1800" b="0" i="0">
                <a:solidFill>
                  <a:srgbClr val="000000"/>
                </a:solidFill>
                <a:latin typeface="Times New Roman"/>
                <a:cs typeface="Times New Roman"/>
              </a:rPr>
              <a:t> và các cột dịch kỳ sẵn có</a:t>
            </a:r>
          </a:p>
        </p:txBody>
      </p:sp>
      <p:sp>
        <p:nvSpPr>
          <p:cNvPr id="474" name="TextBox 473"/>
          <p:cNvSpPr txBox="1"/>
          <p:nvPr/>
        </p:nvSpPr>
        <p:spPr>
          <a:xfrm>
            <a:off x="365760" y="1371600"/>
            <a:ext cx="11457432" cy="365760"/>
          </a:xfrm>
          <a:prstGeom prst="rect">
            <a:avLst/>
          </a:prstGeom>
          <a:noFill/>
        </p:spPr>
        <p:txBody>
          <a:bodyPr wrap="square" lIns="0" tIns="0" rIns="0" bIns="0" anchor="ctr"/>
          <a:lstStyle/>
          <a:p>
            <a:pPr algn="l"/>
            <a:r>
              <a:rPr lang="vi-VN" sz="1500" b="1" i="0">
                <a:solidFill>
                  <a:srgbClr val="1A365D"/>
                </a:solidFill>
                <a:latin typeface="Times New Roman"/>
                <a:cs typeface="Times New Roman"/>
              </a:rPr>
              <a:t>Bảng dim phân loại</a:t>
            </a:r>
          </a:p>
        </p:txBody>
      </p:sp>
      <p:sp>
        <p:nvSpPr>
          <p:cNvPr id="475" name="Rounded Rectangle 474"/>
          <p:cNvSpPr/>
          <p:nvPr/>
        </p:nvSpPr>
        <p:spPr>
          <a:xfrm>
            <a:off x="365760" y="1737360"/>
            <a:ext cx="2240280" cy="1234440"/>
          </a:xfrm>
          <a:prstGeom prst="roundRect">
            <a:avLst>
              <a:gd name="adj" fmla="val 8000"/>
            </a:avLst>
          </a:prstGeom>
          <a:solidFill>
            <a:srgbClr val="E2F0D9"/>
          </a:solidFill>
          <a:ln w="12700">
            <a:solidFill>
              <a:srgbClr val="2E5B31"/>
            </a:solidFill>
          </a:ln>
        </p:spPr>
        <p:txBody>
          <a:bodyPr wrap="square" lIns="73152" tIns="36576" rIns="73152" bIns="36576" rtlCol="0" anchor="ctr"/>
          <a:lstStyle/>
          <a:p>
            <a:pPr algn="ctr"/>
            <a:r>
              <a:rPr lang="vi-VN" sz="1400" b="1" i="0">
                <a:solidFill>
                  <a:srgbClr val="2E5B31"/>
                </a:solidFill>
                <a:latin typeface="Times New Roman"/>
                <a:cs typeface="Times New Roman"/>
              </a:rPr>
              <a:t>dim_segment</a:t>
            </a:r>
          </a:p>
          <a:p>
            <a:pPr algn="ctr"/>
            <a:r>
              <a:rPr lang="vi-VN" sz="1250" b="0" i="0">
                <a:solidFill>
                  <a:srgbClr val="222222"/>
                </a:solidFill>
                <a:latin typeface="Times New Roman"/>
                <a:cs typeface="Times New Roman"/>
              </a:rPr>
              <a:t>7 phân khúc, từ MICRO đến BIGCORP 1</a:t>
            </a:r>
          </a:p>
        </p:txBody>
      </p:sp>
      <p:sp>
        <p:nvSpPr>
          <p:cNvPr id="476" name="Rounded Rectangle 475"/>
          <p:cNvSpPr/>
          <p:nvPr/>
        </p:nvSpPr>
        <p:spPr>
          <a:xfrm>
            <a:off x="2660903" y="1737360"/>
            <a:ext cx="2240280" cy="1234440"/>
          </a:xfrm>
          <a:prstGeom prst="roundRect">
            <a:avLst>
              <a:gd name="adj" fmla="val 8000"/>
            </a:avLst>
          </a:prstGeom>
          <a:solidFill>
            <a:srgbClr val="E2F0D9"/>
          </a:solidFill>
          <a:ln w="12700">
            <a:solidFill>
              <a:srgbClr val="2E5B31"/>
            </a:solidFill>
          </a:ln>
        </p:spPr>
        <p:txBody>
          <a:bodyPr wrap="square" lIns="73152" tIns="36576" rIns="73152" bIns="36576" rtlCol="0" anchor="ctr"/>
          <a:lstStyle/>
          <a:p>
            <a:pPr algn="ctr"/>
            <a:r>
              <a:rPr lang="vi-VN" sz="1400" b="1" i="0">
                <a:solidFill>
                  <a:srgbClr val="2E5B31"/>
                </a:solidFill>
                <a:latin typeface="Times New Roman"/>
                <a:cs typeface="Times New Roman"/>
              </a:rPr>
              <a:t>dim_industry</a:t>
            </a:r>
          </a:p>
          <a:p>
            <a:pPr algn="ctr"/>
            <a:r>
              <a:rPr lang="vi-VN" sz="1250" b="0" i="0">
                <a:solidFill>
                  <a:srgbClr val="222222"/>
                </a:solidFill>
                <a:latin typeface="Times New Roman"/>
                <a:cs typeface="Times New Roman"/>
              </a:rPr>
              <a:t>22 ngành</a:t>
            </a:r>
          </a:p>
        </p:txBody>
      </p:sp>
      <p:sp>
        <p:nvSpPr>
          <p:cNvPr id="477" name="Rounded Rectangle 476"/>
          <p:cNvSpPr/>
          <p:nvPr/>
        </p:nvSpPr>
        <p:spPr>
          <a:xfrm>
            <a:off x="4956048" y="1737360"/>
            <a:ext cx="2240280" cy="1234440"/>
          </a:xfrm>
          <a:prstGeom prst="roundRect">
            <a:avLst>
              <a:gd name="adj" fmla="val 8000"/>
            </a:avLst>
          </a:prstGeom>
          <a:solidFill>
            <a:srgbClr val="E2F0D9"/>
          </a:solidFill>
          <a:ln w="12700">
            <a:solidFill>
              <a:srgbClr val="2E5B31"/>
            </a:solidFill>
          </a:ln>
        </p:spPr>
        <p:txBody>
          <a:bodyPr wrap="square" lIns="73152" tIns="36576" rIns="73152" bIns="36576" rtlCol="0" anchor="ctr"/>
          <a:lstStyle/>
          <a:p>
            <a:pPr algn="ctr"/>
            <a:r>
              <a:rPr lang="vi-VN" sz="1400" b="1" i="0">
                <a:solidFill>
                  <a:srgbClr val="2E5B31"/>
                </a:solidFill>
                <a:latin typeface="Times New Roman"/>
                <a:cs typeface="Times New Roman"/>
              </a:rPr>
              <a:t>dim_product</a:t>
            </a:r>
          </a:p>
          <a:p>
            <a:pPr algn="ctr"/>
            <a:r>
              <a:rPr lang="vi-VN" sz="1250" b="0" i="0">
                <a:solidFill>
                  <a:srgbClr val="222222"/>
                </a:solidFill>
                <a:latin typeface="Times New Roman"/>
                <a:cs typeface="Times New Roman"/>
              </a:rPr>
              <a:t>3 sản phẩm: CV thường, UPAS thường, UPAS X</a:t>
            </a:r>
          </a:p>
        </p:txBody>
      </p:sp>
      <p:sp>
        <p:nvSpPr>
          <p:cNvPr id="478" name="Rounded Rectangle 477"/>
          <p:cNvSpPr/>
          <p:nvPr/>
        </p:nvSpPr>
        <p:spPr>
          <a:xfrm>
            <a:off x="7251192" y="1737360"/>
            <a:ext cx="2240280" cy="1234440"/>
          </a:xfrm>
          <a:prstGeom prst="roundRect">
            <a:avLst>
              <a:gd name="adj" fmla="val 8000"/>
            </a:avLst>
          </a:prstGeom>
          <a:solidFill>
            <a:srgbClr val="E2F0D9"/>
          </a:solidFill>
          <a:ln w="12700">
            <a:solidFill>
              <a:srgbClr val="2E5B31"/>
            </a:solidFill>
          </a:ln>
        </p:spPr>
        <p:txBody>
          <a:bodyPr wrap="square" lIns="73152" tIns="36576" rIns="73152" bIns="36576" rtlCol="0" anchor="ctr"/>
          <a:lstStyle/>
          <a:p>
            <a:pPr algn="ctr"/>
            <a:r>
              <a:rPr lang="vi-VN" sz="1400" b="1" i="0">
                <a:solidFill>
                  <a:srgbClr val="2E5B31"/>
                </a:solidFill>
                <a:latin typeface="Times New Roman"/>
                <a:cs typeface="Times New Roman"/>
              </a:rPr>
              <a:t>dim_debt_group</a:t>
            </a:r>
          </a:p>
          <a:p>
            <a:pPr algn="ctr"/>
            <a:r>
              <a:rPr lang="vi-VN" sz="1250" b="0" i="0">
                <a:solidFill>
                  <a:srgbClr val="222222"/>
                </a:solidFill>
                <a:latin typeface="Times New Roman"/>
                <a:cs typeface="Times New Roman"/>
              </a:rPr>
              <a:t>5 nhóm nợ, kèm cờ is_od2, is_od35</a:t>
            </a:r>
          </a:p>
        </p:txBody>
      </p:sp>
      <p:sp>
        <p:nvSpPr>
          <p:cNvPr id="479" name="Rounded Rectangle 478"/>
          <p:cNvSpPr/>
          <p:nvPr/>
        </p:nvSpPr>
        <p:spPr>
          <a:xfrm>
            <a:off x="9546336" y="1737360"/>
            <a:ext cx="2240280" cy="1234440"/>
          </a:xfrm>
          <a:prstGeom prst="roundRect">
            <a:avLst>
              <a:gd name="adj" fmla="val 8000"/>
            </a:avLst>
          </a:prstGeom>
          <a:solidFill>
            <a:srgbClr val="E2F0D9"/>
          </a:solidFill>
          <a:ln w="12700">
            <a:solidFill>
              <a:srgbClr val="2E5B31"/>
            </a:solidFill>
          </a:ln>
        </p:spPr>
        <p:txBody>
          <a:bodyPr wrap="square" lIns="73152" tIns="36576" rIns="73152" bIns="36576" rtlCol="0" anchor="ctr"/>
          <a:lstStyle/>
          <a:p>
            <a:pPr algn="ctr"/>
            <a:r>
              <a:rPr lang="vi-VN" sz="1400" b="1" i="0">
                <a:solidFill>
                  <a:srgbClr val="2E5B31"/>
                </a:solidFill>
                <a:latin typeface="Times New Roman"/>
                <a:cs typeface="Times New Roman"/>
              </a:rPr>
              <a:t>dim_campaign</a:t>
            </a:r>
          </a:p>
          <a:p>
            <a:pPr algn="ctr"/>
            <a:r>
              <a:rPr lang="vi-VN" sz="1250" b="0" i="0">
                <a:solidFill>
                  <a:srgbClr val="222222"/>
                </a:solidFill>
                <a:latin typeface="Times New Roman"/>
                <a:cs typeface="Times New Roman"/>
              </a:rPr>
              <a:t>17 chương trình ưu đãi lãi suất</a:t>
            </a:r>
          </a:p>
        </p:txBody>
      </p:sp>
      <p:sp>
        <p:nvSpPr>
          <p:cNvPr id="480" name="Rounded Rectangle 479"/>
          <p:cNvSpPr/>
          <p:nvPr/>
        </p:nvSpPr>
        <p:spPr>
          <a:xfrm>
            <a:off x="365760" y="3108960"/>
            <a:ext cx="5669280" cy="2880360"/>
          </a:xfrm>
          <a:prstGeom prst="roundRect">
            <a:avLst>
              <a:gd name="adj" fmla="val 5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1" name="Rounded Rectangle 480"/>
          <p:cNvSpPr/>
          <p:nvPr/>
        </p:nvSpPr>
        <p:spPr>
          <a:xfrm>
            <a:off x="365760" y="3108960"/>
            <a:ext cx="5669280" cy="411480"/>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dim_date</a:t>
            </a:r>
          </a:p>
        </p:txBody>
      </p:sp>
      <p:sp>
        <p:nvSpPr>
          <p:cNvPr id="482" name="TextBox 481"/>
          <p:cNvSpPr txBox="1"/>
          <p:nvPr/>
        </p:nvSpPr>
        <p:spPr>
          <a:xfrm>
            <a:off x="457200" y="3584448"/>
            <a:ext cx="5486400" cy="2377440"/>
          </a:xfrm>
          <a:prstGeom prst="rect">
            <a:avLst/>
          </a:prstGeom>
          <a:noFill/>
        </p:spPr>
        <p:txBody>
          <a:bodyPr wrap="square" lIns="73152" tIns="36576" rIns="73152" bIns="36576" anchor="t"/>
          <a:lstStyle/>
          <a:p>
            <a:pPr marL="182880" indent="-182880" algn="l">
              <a:spcBef>
                <a:spcPts val="800"/>
              </a:spcBef>
              <a:buFont typeface="Arial"/>
              <a:buChar char="•"/>
            </a:pPr>
            <a:r>
              <a:rPr lang="vi-VN" sz="1550" b="0" i="0">
                <a:solidFill>
                  <a:srgbClr val="222222"/>
                </a:solidFill>
                <a:latin typeface="Times New Roman"/>
                <a:cs typeface="Times New Roman"/>
              </a:rPr>
              <a:t>Lịch liên tục từng ngày: </a:t>
            </a:r>
            <a:r>
              <a:rPr lang="vi-VN" sz="1550" b="1" i="0">
                <a:solidFill>
                  <a:srgbClr val="222222"/>
                </a:solidFill>
                <a:latin typeface="Times New Roman"/>
                <a:cs typeface="Times New Roman"/>
              </a:rPr>
              <a:t>01/01/2023 – 30/06/2026</a:t>
            </a:r>
          </a:p>
          <a:p>
            <a:pPr marL="182880" indent="-182880" algn="l">
              <a:spcBef>
                <a:spcPts val="800"/>
              </a:spcBef>
              <a:buFont typeface="Arial"/>
              <a:buChar char="•"/>
            </a:pPr>
            <a:r>
              <a:rPr lang="vi-VN" sz="1550" b="1" i="0">
                <a:solidFill>
                  <a:srgbClr val="222222"/>
                </a:solidFill>
                <a:latin typeface="Times New Roman"/>
                <a:cs typeface="Times New Roman"/>
              </a:rPr>
              <a:t>has_data</a:t>
            </a:r>
            <a:r>
              <a:rPr lang="vi-VN" sz="1550" b="0" i="0">
                <a:solidFill>
                  <a:srgbClr val="222222"/>
                </a:solidFill>
                <a:latin typeface="Times New Roman"/>
                <a:cs typeface="Times New Roman"/>
              </a:rPr>
              <a:t>: ngày cuối tháng có dữ liệu</a:t>
            </a:r>
          </a:p>
          <a:p>
            <a:pPr marL="182880" indent="-182880" algn="l">
              <a:spcBef>
                <a:spcPts val="800"/>
              </a:spcBef>
              <a:buFont typeface="Arial"/>
              <a:buChar char="•"/>
            </a:pPr>
            <a:r>
              <a:rPr lang="vi-VN" sz="1550" b="1" i="0">
                <a:solidFill>
                  <a:srgbClr val="222222"/>
                </a:solidFill>
                <a:latin typeface="Times New Roman"/>
                <a:cs typeface="Times New Roman"/>
              </a:rPr>
              <a:t>is_reportable</a:t>
            </a:r>
            <a:r>
              <a:rPr lang="vi-VN" sz="1550" b="0" i="0">
                <a:solidFill>
                  <a:srgbClr val="222222"/>
                </a:solidFill>
                <a:latin typeface="Times New Roman"/>
                <a:cs typeface="Times New Roman"/>
              </a:rPr>
              <a:t>: 18 tháng đủ mốc so sánh</a:t>
            </a:r>
          </a:p>
          <a:p>
            <a:pPr marL="182880" indent="-182880" algn="l">
              <a:spcBef>
                <a:spcPts val="800"/>
              </a:spcBef>
              <a:buFont typeface="Arial"/>
              <a:buChar char="•"/>
            </a:pPr>
            <a:r>
              <a:rPr lang="vi-VN" sz="1550" b="0" i="0">
                <a:solidFill>
                  <a:srgbClr val="222222"/>
                </a:solidFill>
                <a:latin typeface="Times New Roman"/>
                <a:cs typeface="Times New Roman"/>
              </a:rPr>
              <a:t>Cột dịch kỳ: prev_month_end, same_month_prev_year_end, prev_year_end</a:t>
            </a:r>
          </a:p>
        </p:txBody>
      </p:sp>
      <p:sp>
        <p:nvSpPr>
          <p:cNvPr id="483" name="Rounded Rectangle 482"/>
          <p:cNvSpPr/>
          <p:nvPr/>
        </p:nvSpPr>
        <p:spPr>
          <a:xfrm>
            <a:off x="6153912" y="3108960"/>
            <a:ext cx="5669280" cy="2880360"/>
          </a:xfrm>
          <a:prstGeom prst="roundRect">
            <a:avLst>
              <a:gd name="adj" fmla="val 5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4" name="Rounded Rectangle 483"/>
          <p:cNvSpPr/>
          <p:nvPr/>
        </p:nvSpPr>
        <p:spPr>
          <a:xfrm>
            <a:off x="6153912" y="3108960"/>
            <a:ext cx="5669280" cy="411480"/>
          </a:xfrm>
          <a:prstGeom prst="roundRect">
            <a:avLst>
              <a:gd name="adj" fmla="val 25000"/>
            </a:avLst>
          </a:prstGeom>
          <a:solidFill>
            <a:srgbClr val="123A7A"/>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Ba bảng bổ sung cho phần sáng tạo</a:t>
            </a:r>
          </a:p>
        </p:txBody>
      </p:sp>
      <p:sp>
        <p:nvSpPr>
          <p:cNvPr id="485" name="TextBox 484"/>
          <p:cNvSpPr txBox="1"/>
          <p:nvPr/>
        </p:nvSpPr>
        <p:spPr>
          <a:xfrm>
            <a:off x="6245352" y="3584448"/>
            <a:ext cx="5486400" cy="2377440"/>
          </a:xfrm>
          <a:prstGeom prst="rect">
            <a:avLst/>
          </a:prstGeom>
          <a:noFill/>
        </p:spPr>
        <p:txBody>
          <a:bodyPr wrap="square" lIns="73152" tIns="36576" rIns="73152" bIns="36576" anchor="t"/>
          <a:lstStyle/>
          <a:p>
            <a:pPr marL="182880" indent="-182880" algn="l">
              <a:spcBef>
                <a:spcPts val="800"/>
              </a:spcBef>
              <a:buFont typeface="Arial"/>
              <a:buChar char="•"/>
            </a:pPr>
            <a:r>
              <a:rPr lang="vi-VN" sz="1600" b="1" i="0">
                <a:solidFill>
                  <a:srgbClr val="222222"/>
                </a:solidFill>
                <a:latin typeface="Times New Roman"/>
                <a:cs typeface="Times New Roman"/>
              </a:rPr>
              <a:t>fact_plan</a:t>
            </a:r>
            <a:r>
              <a:rPr lang="vi-VN" sz="1600" b="0" i="0">
                <a:solidFill>
                  <a:srgbClr val="222222"/>
                </a:solidFill>
                <a:latin typeface="Times New Roman"/>
                <a:cs typeface="Times New Roman"/>
              </a:rPr>
              <a:t>: kế hoạch theo ĐVKD và tháng</a:t>
            </a:r>
          </a:p>
          <a:p>
            <a:pPr marL="182880" indent="-182880" algn="l">
              <a:spcBef>
                <a:spcPts val="800"/>
              </a:spcBef>
              <a:buFont typeface="Arial"/>
              <a:buChar char="•"/>
            </a:pPr>
            <a:r>
              <a:rPr lang="vi-VN" sz="1600" b="1" i="0">
                <a:solidFill>
                  <a:srgbClr val="222222"/>
                </a:solidFill>
                <a:latin typeface="Times New Roman"/>
                <a:cs typeface="Times New Roman"/>
              </a:rPr>
              <a:t>fact_due_soon</a:t>
            </a:r>
            <a:r>
              <a:rPr lang="vi-VN" sz="1600" b="0" i="0">
                <a:solidFill>
                  <a:srgbClr val="222222"/>
                </a:solidFill>
                <a:latin typeface="Times New Roman"/>
                <a:cs typeface="Times New Roman"/>
              </a:rPr>
              <a:t>: gốc đến hạn trong 30 ngày sau 30/06/2026</a:t>
            </a:r>
          </a:p>
          <a:p>
            <a:pPr marL="182880" indent="-182880" algn="l">
              <a:spcBef>
                <a:spcPts val="800"/>
              </a:spcBef>
              <a:buFont typeface="Arial"/>
              <a:buChar char="•"/>
            </a:pPr>
            <a:r>
              <a:rPr lang="vi-VN" sz="1600" b="1" i="0">
                <a:solidFill>
                  <a:srgbClr val="222222"/>
                </a:solidFill>
                <a:latin typeface="Times New Roman"/>
                <a:cs typeface="Times New Roman"/>
              </a:rPr>
              <a:t>fact_debt_group_cic</a:t>
            </a:r>
            <a:r>
              <a:rPr lang="vi-VN" sz="1600" b="0" i="0">
                <a:solidFill>
                  <a:srgbClr val="222222"/>
                </a:solidFill>
                <a:latin typeface="Times New Roman"/>
                <a:cs typeface="Times New Roman"/>
              </a:rPr>
              <a:t>: nhóm nợ nội bộ so với nhóm nợ CIC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Nguồn dữ liệu và data modeling</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26</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Sơ đồ quan hệ giữa các bảng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Mô hình dạng sao: quan hệ </a:t>
            </a:r>
            <a:r>
              <a:rPr lang="vi-VN" sz="1800" b="1" i="0">
                <a:solidFill>
                  <a:srgbClr val="123A7A"/>
                </a:solidFill>
                <a:latin typeface="Times New Roman"/>
                <a:cs typeface="Times New Roman"/>
              </a:rPr>
              <a:t>nhiều-một</a:t>
            </a:r>
            <a:r>
              <a:rPr lang="vi-VN" sz="1800" b="0" i="0">
                <a:solidFill>
                  <a:srgbClr val="000000"/>
                </a:solidFill>
                <a:latin typeface="Times New Roman"/>
                <a:cs typeface="Times New Roman"/>
              </a:rPr>
              <a:t>, lọc một chiều từ dim xuống fact</a:t>
            </a:r>
          </a:p>
        </p:txBody>
      </p:sp>
      <p:cxnSp>
        <p:nvCxnSpPr>
          <p:cNvPr id="474" name="Connector 473"/>
          <p:cNvCxnSpPr/>
          <p:nvPr/>
        </p:nvCxnSpPr>
        <p:spPr>
          <a:xfrm>
            <a:off x="1965960" y="3063240"/>
            <a:ext cx="4114800"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H="1">
            <a:off x="6080760" y="3063240"/>
            <a:ext cx="4114800" cy="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a:off x="1508760" y="3063240"/>
            <a:ext cx="457200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a:off x="4251960" y="3063240"/>
            <a:ext cx="182880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6080760" y="3063240"/>
            <a:ext cx="91440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6080760" y="3063240"/>
            <a:ext cx="365760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1508760" y="4434840"/>
            <a:ext cx="0" cy="109728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1508760" y="4434840"/>
            <a:ext cx="2743200" cy="109728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V="1">
            <a:off x="1965960" y="1691640"/>
            <a:ext cx="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V="1">
            <a:off x="1965960" y="1691640"/>
            <a:ext cx="411480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6080760" y="1691640"/>
            <a:ext cx="4114800" cy="1371600"/>
          </a:xfrm>
          <a:prstGeom prst="line">
            <a:avLst/>
          </a:prstGeom>
          <a:ln w="25400">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2057400" y="4754879"/>
            <a:ext cx="1645920" cy="0"/>
          </a:xfrm>
          <a:prstGeom prst="line">
            <a:avLst/>
          </a:prstGeom>
          <a:ln w="2540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86" name="Rounded Rectangle 485"/>
          <p:cNvSpPr/>
          <p:nvPr/>
        </p:nvSpPr>
        <p:spPr>
          <a:xfrm>
            <a:off x="4937760" y="1371600"/>
            <a:ext cx="2286000" cy="640080"/>
          </a:xfrm>
          <a:prstGeom prst="roundRect">
            <a:avLst>
              <a:gd name="adj" fmla="val 15000"/>
            </a:avLst>
          </a:prstGeom>
          <a:solidFill>
            <a:srgbClr val="FBE5D6"/>
          </a:solidFill>
          <a:ln w="19050">
            <a:solidFill>
              <a:srgbClr val="C55A11"/>
            </a:solidFill>
          </a:ln>
        </p:spPr>
        <p:txBody>
          <a:bodyPr wrap="square" lIns="18288" tIns="18288" rIns="18288" bIns="18288" rtlCol="0" anchor="ctr"/>
          <a:lstStyle/>
          <a:p>
            <a:pPr algn="ctr"/>
            <a:r>
              <a:rPr lang="vi-VN" sz="1300" b="1" i="0">
                <a:solidFill>
                  <a:srgbClr val="222222"/>
                </a:solidFill>
                <a:latin typeface="Times New Roman"/>
                <a:cs typeface="Times New Roman"/>
              </a:rPr>
              <a:t>dim_date</a:t>
            </a:r>
          </a:p>
        </p:txBody>
      </p:sp>
      <p:sp>
        <p:nvSpPr>
          <p:cNvPr id="487" name="Rounded Rectangle 486"/>
          <p:cNvSpPr/>
          <p:nvPr/>
        </p:nvSpPr>
        <p:spPr>
          <a:xfrm>
            <a:off x="822960" y="137160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dim_debt_group</a:t>
            </a:r>
          </a:p>
        </p:txBody>
      </p:sp>
      <p:sp>
        <p:nvSpPr>
          <p:cNvPr id="488" name="Rounded Rectangle 487"/>
          <p:cNvSpPr/>
          <p:nvPr/>
        </p:nvSpPr>
        <p:spPr>
          <a:xfrm>
            <a:off x="822960" y="2743200"/>
            <a:ext cx="2286000" cy="640080"/>
          </a:xfrm>
          <a:prstGeom prst="roundRect">
            <a:avLst>
              <a:gd name="adj" fmla="val 15000"/>
            </a:avLst>
          </a:prstGeom>
          <a:solidFill>
            <a:srgbClr val="1A365D"/>
          </a:solidFill>
          <a:ln w="19050">
            <a:solidFill>
              <a:srgbClr val="1A365D"/>
            </a:solidFill>
          </a:ln>
        </p:spPr>
        <p:txBody>
          <a:bodyPr wrap="square" lIns="18288" tIns="18288" rIns="18288" bIns="18288" rtlCol="0" anchor="ctr"/>
          <a:lstStyle/>
          <a:p>
            <a:pPr algn="ctr"/>
            <a:r>
              <a:rPr lang="vi-VN" sz="1300" b="1" i="0">
                <a:solidFill>
                  <a:srgbClr val="FFFFFF"/>
                </a:solidFill>
                <a:latin typeface="Times New Roman"/>
                <a:cs typeface="Times New Roman"/>
              </a:rPr>
              <a:t>fact_loan_balance</a:t>
            </a:r>
          </a:p>
        </p:txBody>
      </p:sp>
      <p:sp>
        <p:nvSpPr>
          <p:cNvPr id="489" name="Rounded Rectangle 488"/>
          <p:cNvSpPr/>
          <p:nvPr/>
        </p:nvSpPr>
        <p:spPr>
          <a:xfrm>
            <a:off x="9052560" y="2743200"/>
            <a:ext cx="2286000" cy="640080"/>
          </a:xfrm>
          <a:prstGeom prst="roundRect">
            <a:avLst>
              <a:gd name="adj" fmla="val 15000"/>
            </a:avLst>
          </a:prstGeom>
          <a:solidFill>
            <a:srgbClr val="1A365D"/>
          </a:solidFill>
          <a:ln w="19050">
            <a:solidFill>
              <a:srgbClr val="1A365D"/>
            </a:solidFill>
          </a:ln>
        </p:spPr>
        <p:txBody>
          <a:bodyPr wrap="square" lIns="18288" tIns="18288" rIns="18288" bIns="18288" rtlCol="0" anchor="ctr"/>
          <a:lstStyle/>
          <a:p>
            <a:pPr algn="ctr"/>
            <a:r>
              <a:rPr lang="vi-VN" sz="1300" b="1" i="0">
                <a:solidFill>
                  <a:srgbClr val="FFFFFF"/>
                </a:solidFill>
                <a:latin typeface="Times New Roman"/>
                <a:cs typeface="Times New Roman"/>
              </a:rPr>
              <a:t>fact_income_monthly</a:t>
            </a:r>
          </a:p>
        </p:txBody>
      </p:sp>
      <p:sp>
        <p:nvSpPr>
          <p:cNvPr id="490" name="Rounded Rectangle 489"/>
          <p:cNvSpPr/>
          <p:nvPr/>
        </p:nvSpPr>
        <p:spPr>
          <a:xfrm>
            <a:off x="4937760" y="2743200"/>
            <a:ext cx="2286000" cy="640080"/>
          </a:xfrm>
          <a:prstGeom prst="roundRect">
            <a:avLst>
              <a:gd name="adj" fmla="val 15000"/>
            </a:avLst>
          </a:prstGeom>
          <a:solidFill>
            <a:srgbClr val="548235"/>
          </a:solidFill>
          <a:ln w="19050">
            <a:solidFill>
              <a:srgbClr val="2E5B31"/>
            </a:solidFill>
          </a:ln>
        </p:spPr>
        <p:txBody>
          <a:bodyPr wrap="square" lIns="18288" tIns="18288" rIns="18288" bIns="18288" rtlCol="0" anchor="ctr"/>
          <a:lstStyle/>
          <a:p>
            <a:pPr algn="ctr"/>
            <a:r>
              <a:rPr lang="vi-VN" sz="1300" b="1" i="0">
                <a:solidFill>
                  <a:srgbClr val="FFFFFF"/>
                </a:solidFill>
                <a:latin typeface="Times New Roman"/>
                <a:cs typeface="Times New Roman"/>
              </a:rPr>
              <a:t>dim_loan_contract</a:t>
            </a:r>
          </a:p>
        </p:txBody>
      </p:sp>
      <p:sp>
        <p:nvSpPr>
          <p:cNvPr id="491" name="Rounded Rectangle 490"/>
          <p:cNvSpPr/>
          <p:nvPr/>
        </p:nvSpPr>
        <p:spPr>
          <a:xfrm>
            <a:off x="365760" y="411480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dim_customer</a:t>
            </a:r>
          </a:p>
        </p:txBody>
      </p:sp>
      <p:sp>
        <p:nvSpPr>
          <p:cNvPr id="492" name="Rounded Rectangle 491"/>
          <p:cNvSpPr/>
          <p:nvPr/>
        </p:nvSpPr>
        <p:spPr>
          <a:xfrm>
            <a:off x="3108960" y="411480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dim_branch</a:t>
            </a:r>
          </a:p>
        </p:txBody>
      </p:sp>
      <p:sp>
        <p:nvSpPr>
          <p:cNvPr id="493" name="Rounded Rectangle 492"/>
          <p:cNvSpPr/>
          <p:nvPr/>
        </p:nvSpPr>
        <p:spPr>
          <a:xfrm>
            <a:off x="5852160" y="411480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dim_product</a:t>
            </a:r>
          </a:p>
        </p:txBody>
      </p:sp>
      <p:sp>
        <p:nvSpPr>
          <p:cNvPr id="494" name="Rounded Rectangle 493"/>
          <p:cNvSpPr/>
          <p:nvPr/>
        </p:nvSpPr>
        <p:spPr>
          <a:xfrm>
            <a:off x="8595360" y="411480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dim_campaign</a:t>
            </a:r>
          </a:p>
        </p:txBody>
      </p:sp>
      <p:sp>
        <p:nvSpPr>
          <p:cNvPr id="495" name="Rounded Rectangle 494"/>
          <p:cNvSpPr/>
          <p:nvPr/>
        </p:nvSpPr>
        <p:spPr>
          <a:xfrm>
            <a:off x="365760" y="521208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dim_segment</a:t>
            </a:r>
          </a:p>
        </p:txBody>
      </p:sp>
      <p:sp>
        <p:nvSpPr>
          <p:cNvPr id="496" name="Rounded Rectangle 495"/>
          <p:cNvSpPr/>
          <p:nvPr/>
        </p:nvSpPr>
        <p:spPr>
          <a:xfrm>
            <a:off x="3108960" y="5212080"/>
            <a:ext cx="2286000" cy="640080"/>
          </a:xfrm>
          <a:prstGeom prst="roundRect">
            <a:avLst>
              <a:gd name="adj" fmla="val 15000"/>
            </a:avLst>
          </a:prstGeom>
          <a:solidFill>
            <a:srgbClr val="E2F0D9"/>
          </a:solidFill>
          <a:ln w="19050">
            <a:solidFill>
              <a:srgbClr val="2E5B31"/>
            </a:solidFill>
          </a:ln>
        </p:spPr>
        <p:txBody>
          <a:bodyPr wrap="square" lIns="18288" tIns="18288" rIns="18288" bIns="18288" rtlCol="0" anchor="ctr"/>
          <a:lstStyle/>
          <a:p>
            <a:pPr algn="ctr"/>
            <a:r>
              <a:rPr lang="vi-VN" sz="1300" b="1" i="0">
                <a:solidFill>
                  <a:srgbClr val="222222"/>
                </a:solidFill>
                <a:latin typeface="Times New Roman"/>
                <a:cs typeface="Times New Roman"/>
              </a:rPr>
              <a:t>dim_industry</a:t>
            </a:r>
          </a:p>
        </p:txBody>
      </p:sp>
      <p:sp>
        <p:nvSpPr>
          <p:cNvPr id="497" name="Rounded Rectangle 496"/>
          <p:cNvSpPr/>
          <p:nvPr/>
        </p:nvSpPr>
        <p:spPr>
          <a:xfrm>
            <a:off x="5852160" y="4983480"/>
            <a:ext cx="5943600" cy="1051560"/>
          </a:xfrm>
          <a:prstGeom prst="roundRect">
            <a:avLst>
              <a:gd name="adj" fmla="val 8000"/>
            </a:avLst>
          </a:prstGeom>
          <a:solidFill>
            <a:srgbClr val="F2F2F2"/>
          </a:solidFill>
          <a:ln w="12700">
            <a:solidFill>
              <a:srgbClr val="595959"/>
            </a:solidFill>
          </a:ln>
        </p:spPr>
        <p:txBody>
          <a:bodyPr wrap="square" lIns="73152" tIns="36576" rIns="73152" bIns="36576" rtlCol="0" anchor="t"/>
          <a:lstStyle/>
          <a:p>
            <a:pPr algn="l"/>
            <a:r>
              <a:rPr lang="vi-VN" sz="1350" b="1" i="0">
                <a:solidFill>
                  <a:srgbClr val="2E5B31"/>
                </a:solidFill>
                <a:latin typeface="Times New Roman"/>
                <a:cs typeface="Times New Roman"/>
              </a:rPr>
              <a:t>11 quan hệ hoạt động</a:t>
            </a:r>
          </a:p>
          <a:p>
            <a:pPr algn="l"/>
            <a:r>
              <a:rPr lang="vi-VN" sz="1250" b="0" i="0">
                <a:solidFill>
                  <a:srgbClr val="222222"/>
                </a:solidFill>
                <a:latin typeface="Times New Roman"/>
                <a:cs typeface="Times New Roman"/>
              </a:rPr>
              <a:t>Toàn bộ là nhiều-một, lọc một chiều từ dim xuống fact</a:t>
            </a:r>
          </a:p>
          <a:p>
            <a:pPr algn="l">
              <a:spcBef>
                <a:spcPts val="300"/>
              </a:spcBef>
            </a:pPr>
            <a:r>
              <a:rPr lang="vi-VN" sz="1350" b="1" i="0">
                <a:solidFill>
                  <a:srgbClr val="C00000"/>
                </a:solidFill>
                <a:latin typeface="Times New Roman"/>
                <a:cs typeface="Times New Roman"/>
              </a:rPr>
              <a:t>1 quan hệ không hoạt động (nét đứt đỏ)</a:t>
            </a:r>
          </a:p>
          <a:p>
            <a:pPr algn="l"/>
            <a:r>
              <a:rPr lang="vi-VN" sz="1250" b="0" i="0">
                <a:solidFill>
                  <a:srgbClr val="222222"/>
                </a:solidFill>
                <a:latin typeface="Times New Roman"/>
                <a:cs typeface="Times New Roman"/>
              </a:rPr>
              <a:t>dim_customer[home_branch_id] → dim_branch; chỉ bật bằng USERELATIONSHIP</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Nguồn dữ liệu và data modeling</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27</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Quy tắc dữ liệu và kiểm tra sau khi nạp</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Dữ liệu đã sạch → </a:t>
            </a:r>
            <a:r>
              <a:rPr lang="vi-VN" sz="1800" b="1" i="0">
                <a:solidFill>
                  <a:srgbClr val="123A7A"/>
                </a:solidFill>
                <a:latin typeface="Times New Roman"/>
                <a:cs typeface="Times New Roman"/>
              </a:rPr>
              <a:t>không cần làm sạch thêm</a:t>
            </a:r>
            <a:r>
              <a:rPr lang="vi-VN" sz="1800" b="0" i="0">
                <a:solidFill>
                  <a:srgbClr val="000000"/>
                </a:solidFill>
                <a:latin typeface="Times New Roman"/>
                <a:cs typeface="Times New Roman"/>
              </a:rPr>
              <a:t>, chỉ cần kiểm tra sau khi nạp</a:t>
            </a:r>
          </a:p>
        </p:txBody>
      </p:sp>
      <p:sp>
        <p:nvSpPr>
          <p:cNvPr id="474" name="Rounded Rectangle 473"/>
          <p:cNvSpPr/>
          <p:nvPr/>
        </p:nvSpPr>
        <p:spPr>
          <a:xfrm>
            <a:off x="365760" y="1417320"/>
            <a:ext cx="3749039"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417320"/>
            <a:ext cx="3749039" cy="502920"/>
          </a:xfrm>
          <a:prstGeom prst="roundRect">
            <a:avLst>
              <a:gd name="adj" fmla="val 25000"/>
            </a:avLst>
          </a:prstGeom>
          <a:solidFill>
            <a:srgbClr val="2E5B31"/>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Đơn vị và thời gian</a:t>
            </a:r>
          </a:p>
        </p:txBody>
      </p:sp>
      <p:sp>
        <p:nvSpPr>
          <p:cNvPr id="476" name="TextBox 475"/>
          <p:cNvSpPr txBox="1"/>
          <p:nvPr/>
        </p:nvSpPr>
        <p:spPr>
          <a:xfrm>
            <a:off x="457200" y="2057400"/>
            <a:ext cx="3566160" cy="3840480"/>
          </a:xfrm>
          <a:prstGeom prst="rect">
            <a:avLst/>
          </a:prstGeom>
          <a:noFill/>
        </p:spPr>
        <p:txBody>
          <a:bodyPr wrap="square" lIns="73152" tIns="36576" rIns="73152" bIns="36576" anchor="t"/>
          <a:lstStyle/>
          <a:p>
            <a:pPr marL="182880" indent="-182880" algn="l">
              <a:spcBef>
                <a:spcPts val="1000"/>
              </a:spcBef>
              <a:buFont typeface="Arial"/>
              <a:buChar char="•"/>
            </a:pPr>
            <a:r>
              <a:rPr lang="vi-VN" sz="1550" b="0" i="0">
                <a:solidFill>
                  <a:srgbClr val="222222"/>
                </a:solidFill>
                <a:latin typeface="Times New Roman"/>
                <a:cs typeface="Times New Roman"/>
              </a:rPr>
              <a:t>VND số nguyên (USD đã quy đổi theo tỷ giá cuối tháng)</a:t>
            </a:r>
          </a:p>
          <a:p>
            <a:pPr marL="182880" indent="-182880" algn="l">
              <a:spcBef>
                <a:spcPts val="1000"/>
              </a:spcBef>
              <a:buFont typeface="Arial"/>
              <a:buChar char="•"/>
            </a:pPr>
            <a:r>
              <a:rPr lang="vi-VN" sz="1550" b="0" i="0">
                <a:solidFill>
                  <a:srgbClr val="222222"/>
                </a:solidFill>
                <a:latin typeface="Times New Roman"/>
                <a:cs typeface="Times New Roman"/>
              </a:rPr>
              <a:t>Số dư chỉ có tại ngày cuối tháng</a:t>
            </a:r>
          </a:p>
          <a:p>
            <a:pPr marL="182880" indent="-182880" algn="l">
              <a:spcBef>
                <a:spcPts val="1000"/>
              </a:spcBef>
              <a:buFont typeface="Arial"/>
              <a:buChar char="•"/>
            </a:pPr>
            <a:r>
              <a:rPr lang="vi-VN" sz="1550" b="0" i="0">
                <a:solidFill>
                  <a:srgbClr val="222222"/>
                </a:solidFill>
                <a:latin typeface="Times New Roman"/>
                <a:cs typeface="Times New Roman"/>
              </a:rPr>
              <a:t>Tháng 02/2024 có 29 ngày → không so cùng kỳ năm trước bằng cách trừ 365 ngày</a:t>
            </a:r>
          </a:p>
        </p:txBody>
      </p:sp>
      <p:sp>
        <p:nvSpPr>
          <p:cNvPr id="477" name="Rounded Rectangle 476"/>
          <p:cNvSpPr/>
          <p:nvPr/>
        </p:nvSpPr>
        <p:spPr>
          <a:xfrm>
            <a:off x="4219956" y="1417320"/>
            <a:ext cx="3749039"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8" name="Rounded Rectangle 477"/>
          <p:cNvSpPr/>
          <p:nvPr/>
        </p:nvSpPr>
        <p:spPr>
          <a:xfrm>
            <a:off x="4219956" y="1417320"/>
            <a:ext cx="3749039" cy="502920"/>
          </a:xfrm>
          <a:prstGeom prst="roundRect">
            <a:avLst>
              <a:gd name="adj" fmla="val 25000"/>
            </a:avLst>
          </a:prstGeom>
          <a:solidFill>
            <a:srgbClr val="C55A11"/>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Nhóm nợ</a:t>
            </a:r>
          </a:p>
        </p:txBody>
      </p:sp>
      <p:sp>
        <p:nvSpPr>
          <p:cNvPr id="479" name="TextBox 478"/>
          <p:cNvSpPr txBox="1"/>
          <p:nvPr/>
        </p:nvSpPr>
        <p:spPr>
          <a:xfrm>
            <a:off x="4311396" y="2057400"/>
            <a:ext cx="3566160" cy="3840480"/>
          </a:xfrm>
          <a:prstGeom prst="rect">
            <a:avLst/>
          </a:prstGeom>
          <a:noFill/>
        </p:spPr>
        <p:txBody>
          <a:bodyPr wrap="square" lIns="73152" tIns="36576" rIns="73152" bIns="36576" anchor="t"/>
          <a:lstStyle/>
          <a:p>
            <a:pPr marL="182880" indent="-182880" algn="l">
              <a:spcBef>
                <a:spcPts val="1000"/>
              </a:spcBef>
              <a:buFont typeface="Arial"/>
              <a:buChar char="•"/>
            </a:pPr>
            <a:r>
              <a:rPr lang="vi-VN" sz="1550" b="0" i="0">
                <a:solidFill>
                  <a:srgbClr val="222222"/>
                </a:solidFill>
                <a:latin typeface="Times New Roman"/>
                <a:cs typeface="Times New Roman"/>
              </a:rPr>
              <a:t>Nhóm 1 đủ tiêu chuẩn; nhóm 2 là OD2; nhóm 3 đến 5 là OD3-5</a:t>
            </a:r>
          </a:p>
          <a:p>
            <a:pPr marL="182880" indent="-182880" algn="l">
              <a:spcBef>
                <a:spcPts val="1000"/>
              </a:spcBef>
              <a:buFont typeface="Arial"/>
              <a:buChar char="•"/>
            </a:pPr>
            <a:r>
              <a:rPr lang="vi-VN" sz="1550" b="0" i="0">
                <a:solidFill>
                  <a:srgbClr val="222222"/>
                </a:solidFill>
                <a:latin typeface="Times New Roman"/>
                <a:cs typeface="Times New Roman"/>
              </a:rPr>
              <a:t>Chuyển dần theo số ngày quá hạn: nhóm 2 từ 10–90, nhóm 3 từ 91–180, nhóm 4 từ 181–360, nhóm 5 trên 360 ngày</a:t>
            </a:r>
          </a:p>
          <a:p>
            <a:pPr marL="182880" indent="-182880" algn="l">
              <a:spcBef>
                <a:spcPts val="1000"/>
              </a:spcBef>
              <a:buFont typeface="Arial"/>
              <a:buChar char="•"/>
            </a:pPr>
            <a:r>
              <a:rPr lang="vi-VN" sz="1550" b="0" i="0">
                <a:solidFill>
                  <a:srgbClr val="222222"/>
                </a:solidFill>
                <a:latin typeface="Times New Roman"/>
                <a:cs typeface="Times New Roman"/>
              </a:rPr>
              <a:t>Hợp đồng không còn ở các ngày chốt sau đã kết thúc; exit_reason cho biết lý do</a:t>
            </a:r>
          </a:p>
        </p:txBody>
      </p:sp>
      <p:sp>
        <p:nvSpPr>
          <p:cNvPr id="480" name="Rounded Rectangle 479"/>
          <p:cNvSpPr/>
          <p:nvPr/>
        </p:nvSpPr>
        <p:spPr>
          <a:xfrm>
            <a:off x="8074152" y="1417320"/>
            <a:ext cx="3749039"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1" name="Rounded Rectangle 480"/>
          <p:cNvSpPr/>
          <p:nvPr/>
        </p:nvSpPr>
        <p:spPr>
          <a:xfrm>
            <a:off x="8074152" y="1417320"/>
            <a:ext cx="3749039" cy="502920"/>
          </a:xfrm>
          <a:prstGeom prst="roundRect">
            <a:avLst>
              <a:gd name="adj" fmla="val 25000"/>
            </a:avLst>
          </a:prstGeom>
          <a:solidFill>
            <a:srgbClr val="123A7A"/>
          </a:solidFill>
          <a:ln>
            <a:noFill/>
          </a:ln>
        </p:spPr>
        <p:txBody>
          <a:bodyPr wrap="square" lIns="73152" tIns="36576" rIns="73152" bIns="36576" rtlCol="0" anchor="ctr"/>
          <a:lstStyle/>
          <a:p>
            <a:pPr algn="ctr"/>
            <a:r>
              <a:rPr lang="vi-VN" sz="1600" b="1" i="0">
                <a:solidFill>
                  <a:srgbClr val="FFFFFF"/>
                </a:solidFill>
                <a:latin typeface="Times New Roman"/>
                <a:cs typeface="Times New Roman"/>
              </a:rPr>
              <a:t>Kiểm tra sau khi nạp</a:t>
            </a:r>
          </a:p>
        </p:txBody>
      </p:sp>
      <p:sp>
        <p:nvSpPr>
          <p:cNvPr id="482" name="TextBox 481"/>
          <p:cNvSpPr txBox="1"/>
          <p:nvPr/>
        </p:nvSpPr>
        <p:spPr>
          <a:xfrm>
            <a:off x="8165592" y="2057400"/>
            <a:ext cx="3566160" cy="3840480"/>
          </a:xfrm>
          <a:prstGeom prst="rect">
            <a:avLst/>
          </a:prstGeom>
          <a:noFill/>
        </p:spPr>
        <p:txBody>
          <a:bodyPr wrap="square" lIns="73152" tIns="36576" rIns="73152" bIns="36576" anchor="t"/>
          <a:lstStyle/>
          <a:p>
            <a:pPr marL="182880" indent="-182880" algn="l">
              <a:spcBef>
                <a:spcPts val="1000"/>
              </a:spcBef>
              <a:buFont typeface="Arial"/>
              <a:buChar char="•"/>
            </a:pPr>
            <a:r>
              <a:rPr lang="vi-VN" sz="1550" b="0" i="0">
                <a:solidFill>
                  <a:srgbClr val="222222"/>
                </a:solidFill>
                <a:latin typeface="Times New Roman"/>
                <a:cs typeface="Times New Roman"/>
              </a:rPr>
              <a:t>Đủ số dòng của từng bảng</a:t>
            </a:r>
          </a:p>
          <a:p>
            <a:pPr marL="182880" indent="-182880" algn="l">
              <a:spcBef>
                <a:spcPts val="1000"/>
              </a:spcBef>
              <a:buFont typeface="Arial"/>
              <a:buChar char="•"/>
            </a:pPr>
            <a:r>
              <a:rPr lang="vi-VN" sz="1550" b="0" i="0">
                <a:solidFill>
                  <a:srgbClr val="222222"/>
                </a:solidFill>
                <a:latin typeface="Times New Roman"/>
                <a:cs typeface="Times New Roman"/>
              </a:rPr>
              <a:t>Chỉ 6 cột được phép để trống: close_date, exit_reason, rolled_from_contract_id, ltv_pct (hợp đồng); valid_from, valid_to (chương trình)</a:t>
            </a:r>
          </a:p>
          <a:p>
            <a:pPr marL="182880" indent="-182880" algn="l">
              <a:spcBef>
                <a:spcPts val="1000"/>
              </a:spcBef>
              <a:buFont typeface="Arial"/>
              <a:buChar char="•"/>
            </a:pPr>
            <a:r>
              <a:rPr lang="vi-VN" sz="1550" b="0" i="0">
                <a:solidFill>
                  <a:srgbClr val="222222"/>
                </a:solidFill>
                <a:latin typeface="Times New Roman"/>
                <a:cs typeface="Times New Roman"/>
              </a:rPr>
              <a:t>Không có dòng mồ côi giữa các quan hệ</a:t>
            </a:r>
          </a:p>
          <a:p>
            <a:pPr marL="182880" indent="-182880" algn="l">
              <a:spcBef>
                <a:spcPts val="1000"/>
              </a:spcBef>
              <a:buFont typeface="Arial"/>
              <a:buChar char="•"/>
            </a:pPr>
            <a:r>
              <a:rPr lang="vi-VN" sz="1550" b="0" i="0">
                <a:solidFill>
                  <a:srgbClr val="222222"/>
                </a:solidFill>
                <a:latin typeface="Times New Roman"/>
                <a:cs typeface="Times New Roman"/>
              </a:rPr>
              <a:t>TOI = NII + NFI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28</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Nhận diện hình thái của bộ dữ liệu</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Khi phân phối lệch: dùng </a:t>
            </a:r>
            <a:r>
              <a:rPr lang="vi-VN" sz="1800" b="1" i="0">
                <a:solidFill>
                  <a:srgbClr val="123A7A"/>
                </a:solidFill>
                <a:latin typeface="Times New Roman"/>
                <a:cs typeface="Times New Roman"/>
              </a:rPr>
              <a:t>trung vị và phân vị</a:t>
            </a:r>
            <a:r>
              <a:rPr lang="vi-VN" sz="1800" b="0" i="0">
                <a:solidFill>
                  <a:srgbClr val="000000"/>
                </a:solidFill>
                <a:latin typeface="Times New Roman"/>
                <a:cs typeface="Times New Roman"/>
              </a:rPr>
              <a:t>, không dùng giá trị trung bình</a:t>
            </a:r>
          </a:p>
        </p:txBody>
      </p:sp>
      <p:sp>
        <p:nvSpPr>
          <p:cNvPr id="474" name="Rounded Rectangle 473"/>
          <p:cNvSpPr/>
          <p:nvPr/>
        </p:nvSpPr>
        <p:spPr>
          <a:xfrm>
            <a:off x="365760" y="1417320"/>
            <a:ext cx="3749039" cy="3566160"/>
          </a:xfrm>
          <a:prstGeom prst="roundRect">
            <a:avLst>
              <a:gd name="adj" fmla="val 5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Oval 474"/>
          <p:cNvSpPr/>
          <p:nvPr/>
        </p:nvSpPr>
        <p:spPr>
          <a:xfrm>
            <a:off x="1737360" y="1554480"/>
            <a:ext cx="1005840" cy="1005840"/>
          </a:xfrm>
          <a:prstGeom prst="ellipse">
            <a:avLst/>
          </a:prstGeom>
          <a:solidFill>
            <a:srgbClr val="2E5B31"/>
          </a:solidFill>
          <a:ln>
            <a:noFill/>
          </a:ln>
        </p:spPr>
        <p:txBody>
          <a:bodyPr wrap="square" lIns="0" tIns="0" rIns="0" bIns="0" rtlCol="0" anchor="ctr"/>
          <a:lstStyle/>
          <a:p>
            <a:pPr algn="ctr"/>
            <a:endParaRPr/>
          </a:p>
        </p:txBody>
      </p:sp>
      <p:pic>
        <p:nvPicPr>
          <p:cNvPr id="476" name="Picture 475" descr="image.png"/>
          <p:cNvPicPr>
            <a:picLocks noChangeAspect="1"/>
          </p:cNvPicPr>
          <p:nvPr/>
        </p:nvPicPr>
        <p:blipFill>
          <a:blip r:embed="rId4"/>
          <a:stretch>
            <a:fillRect/>
          </a:stretch>
        </p:blipFill>
        <p:spPr>
          <a:xfrm>
            <a:off x="1988819" y="1805940"/>
            <a:ext cx="502920" cy="502920"/>
          </a:xfrm>
          <a:prstGeom prst="rect">
            <a:avLst/>
          </a:prstGeom>
        </p:spPr>
      </p:pic>
      <p:sp>
        <p:nvSpPr>
          <p:cNvPr id="477" name="TextBox 476"/>
          <p:cNvSpPr txBox="1"/>
          <p:nvPr/>
        </p:nvSpPr>
        <p:spPr>
          <a:xfrm>
            <a:off x="457200" y="2651760"/>
            <a:ext cx="3566160" cy="731520"/>
          </a:xfrm>
          <a:prstGeom prst="rect">
            <a:avLst/>
          </a:prstGeom>
          <a:noFill/>
        </p:spPr>
        <p:txBody>
          <a:bodyPr wrap="square" lIns="73152" tIns="36576" rIns="73152" bIns="36576" anchor="ctr"/>
          <a:lstStyle/>
          <a:p>
            <a:pPr algn="ctr"/>
            <a:r>
              <a:rPr lang="vi-VN" sz="1700" b="1" i="0">
                <a:solidFill>
                  <a:srgbClr val="2E5B31"/>
                </a:solidFill>
                <a:latin typeface="Times New Roman"/>
                <a:cs typeface="Times New Roman"/>
              </a:rPr>
              <a:t>Phân phối các biến quan trọng</a:t>
            </a:r>
          </a:p>
        </p:txBody>
      </p:sp>
      <p:sp>
        <p:nvSpPr>
          <p:cNvPr id="478" name="TextBox 477"/>
          <p:cNvSpPr txBox="1"/>
          <p:nvPr/>
        </p:nvSpPr>
        <p:spPr>
          <a:xfrm>
            <a:off x="502920" y="3383280"/>
            <a:ext cx="3474720" cy="777240"/>
          </a:xfrm>
          <a:prstGeom prst="rect">
            <a:avLst/>
          </a:prstGeom>
          <a:noFill/>
        </p:spPr>
        <p:txBody>
          <a:bodyPr wrap="square" lIns="73152" tIns="36576" rIns="73152" bIns="36576" anchor="t"/>
          <a:lstStyle/>
          <a:p>
            <a:pPr algn="ctr"/>
            <a:r>
              <a:rPr lang="vi-VN" sz="1400" b="0" i="0">
                <a:solidFill>
                  <a:srgbClr val="222222"/>
                </a:solidFill>
                <a:latin typeface="Times New Roman"/>
                <a:cs typeface="Times New Roman"/>
              </a:rPr>
              <a:t>Dư nợ · NII · TOI · lãi suất</a:t>
            </a:r>
          </a:p>
        </p:txBody>
      </p:sp>
      <p:sp>
        <p:nvSpPr>
          <p:cNvPr id="479" name="TextBox 478"/>
          <p:cNvSpPr txBox="1"/>
          <p:nvPr/>
        </p:nvSpPr>
        <p:spPr>
          <a:xfrm>
            <a:off x="502920" y="4114800"/>
            <a:ext cx="3474720" cy="777240"/>
          </a:xfrm>
          <a:prstGeom prst="rect">
            <a:avLst/>
          </a:prstGeom>
          <a:noFill/>
        </p:spPr>
        <p:txBody>
          <a:bodyPr wrap="square" lIns="73152" tIns="36576" rIns="73152" bIns="36576" anchor="t"/>
          <a:lstStyle/>
          <a:p>
            <a:pPr algn="ctr"/>
            <a:r>
              <a:rPr lang="vi-VN" sz="1300" b="0" i="1">
                <a:solidFill>
                  <a:srgbClr val="595959"/>
                </a:solidFill>
                <a:latin typeface="Times New Roman"/>
                <a:cs typeface="Times New Roman"/>
              </a:rPr>
              <a:t>Hình dạng phân phối, giá trị lệch, giá trị âm, giá trị bằng 0</a:t>
            </a:r>
          </a:p>
        </p:txBody>
      </p:sp>
      <p:sp>
        <p:nvSpPr>
          <p:cNvPr id="480" name="Rounded Rectangle 479"/>
          <p:cNvSpPr/>
          <p:nvPr/>
        </p:nvSpPr>
        <p:spPr>
          <a:xfrm>
            <a:off x="4219956" y="1417320"/>
            <a:ext cx="3749039" cy="3566160"/>
          </a:xfrm>
          <a:prstGeom prst="roundRect">
            <a:avLst>
              <a:gd name="adj" fmla="val 5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1" name="Oval 480"/>
          <p:cNvSpPr/>
          <p:nvPr/>
        </p:nvSpPr>
        <p:spPr>
          <a:xfrm>
            <a:off x="5591556" y="1554480"/>
            <a:ext cx="1005840" cy="1005840"/>
          </a:xfrm>
          <a:prstGeom prst="ellipse">
            <a:avLst/>
          </a:prstGeom>
          <a:solidFill>
            <a:srgbClr val="C55A11"/>
          </a:solidFill>
          <a:ln>
            <a:noFill/>
          </a:ln>
        </p:spPr>
        <p:txBody>
          <a:bodyPr wrap="square" lIns="0" tIns="0" rIns="0" bIns="0" rtlCol="0" anchor="ctr"/>
          <a:lstStyle/>
          <a:p>
            <a:pPr algn="ctr"/>
            <a:endParaRPr/>
          </a:p>
        </p:txBody>
      </p:sp>
      <p:pic>
        <p:nvPicPr>
          <p:cNvPr id="482" name="Picture 481" descr="FaChartPie_w.png"/>
          <p:cNvPicPr>
            <a:picLocks noChangeAspect="1"/>
          </p:cNvPicPr>
          <p:nvPr/>
        </p:nvPicPr>
        <p:blipFill>
          <a:blip r:embed="rId5"/>
          <a:stretch>
            <a:fillRect/>
          </a:stretch>
        </p:blipFill>
        <p:spPr>
          <a:xfrm>
            <a:off x="5843016" y="1805940"/>
            <a:ext cx="502920" cy="502920"/>
          </a:xfrm>
          <a:prstGeom prst="rect">
            <a:avLst/>
          </a:prstGeom>
        </p:spPr>
      </p:pic>
      <p:sp>
        <p:nvSpPr>
          <p:cNvPr id="483" name="TextBox 482"/>
          <p:cNvSpPr txBox="1"/>
          <p:nvPr/>
        </p:nvSpPr>
        <p:spPr>
          <a:xfrm>
            <a:off x="4311396" y="2651760"/>
            <a:ext cx="3566160" cy="731520"/>
          </a:xfrm>
          <a:prstGeom prst="rect">
            <a:avLst/>
          </a:prstGeom>
          <a:noFill/>
        </p:spPr>
        <p:txBody>
          <a:bodyPr wrap="square" lIns="73152" tIns="36576" rIns="73152" bIns="36576" anchor="ctr"/>
          <a:lstStyle/>
          <a:p>
            <a:pPr algn="ctr"/>
            <a:r>
              <a:rPr lang="vi-VN" sz="1700" b="1" i="0">
                <a:solidFill>
                  <a:srgbClr val="C55A11"/>
                </a:solidFill>
                <a:latin typeface="Times New Roman"/>
                <a:cs typeface="Times New Roman"/>
              </a:rPr>
              <a:t>Cơ cấu theo các nhóm phân tích</a:t>
            </a:r>
          </a:p>
        </p:txBody>
      </p:sp>
      <p:sp>
        <p:nvSpPr>
          <p:cNvPr id="484" name="TextBox 483"/>
          <p:cNvSpPr txBox="1"/>
          <p:nvPr/>
        </p:nvSpPr>
        <p:spPr>
          <a:xfrm>
            <a:off x="4357116" y="3383280"/>
            <a:ext cx="3474720" cy="777240"/>
          </a:xfrm>
          <a:prstGeom prst="rect">
            <a:avLst/>
          </a:prstGeom>
          <a:noFill/>
        </p:spPr>
        <p:txBody>
          <a:bodyPr wrap="square" lIns="73152" tIns="36576" rIns="73152" bIns="36576" anchor="t"/>
          <a:lstStyle/>
          <a:p>
            <a:pPr algn="ctr"/>
            <a:r>
              <a:rPr lang="vi-VN" sz="1400" b="0" i="0">
                <a:solidFill>
                  <a:srgbClr val="222222"/>
                </a:solidFill>
                <a:latin typeface="Times New Roman"/>
                <a:cs typeface="Times New Roman"/>
              </a:rPr>
              <a:t>Phân khúc · kỳ hạn · sản phẩm · tiền tệ · vùng · ngành · ĐVKD · nhóm nợ</a:t>
            </a:r>
          </a:p>
        </p:txBody>
      </p:sp>
      <p:sp>
        <p:nvSpPr>
          <p:cNvPr id="485" name="TextBox 484"/>
          <p:cNvSpPr txBox="1"/>
          <p:nvPr/>
        </p:nvSpPr>
        <p:spPr>
          <a:xfrm>
            <a:off x="4357116" y="4114800"/>
            <a:ext cx="3474720" cy="777240"/>
          </a:xfrm>
          <a:prstGeom prst="rect">
            <a:avLst/>
          </a:prstGeom>
          <a:noFill/>
        </p:spPr>
        <p:txBody>
          <a:bodyPr wrap="square" lIns="73152" tIns="36576" rIns="73152" bIns="36576" anchor="t"/>
          <a:lstStyle/>
          <a:p>
            <a:pPr algn="ctr"/>
            <a:r>
              <a:rPr lang="vi-VN" sz="1300" b="0" i="1">
                <a:solidFill>
                  <a:srgbClr val="595959"/>
                </a:solidFill>
                <a:latin typeface="Times New Roman"/>
                <a:cs typeface="Times New Roman"/>
              </a:rPr>
              <a:t>Dư nợ nằm ở đâu, mức độ tập trung</a:t>
            </a:r>
          </a:p>
        </p:txBody>
      </p:sp>
      <p:sp>
        <p:nvSpPr>
          <p:cNvPr id="486" name="Rounded Rectangle 485"/>
          <p:cNvSpPr/>
          <p:nvPr/>
        </p:nvSpPr>
        <p:spPr>
          <a:xfrm>
            <a:off x="8074152" y="1417320"/>
            <a:ext cx="3749039" cy="3566160"/>
          </a:xfrm>
          <a:prstGeom prst="roundRect">
            <a:avLst>
              <a:gd name="adj" fmla="val 5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7" name="Oval 486"/>
          <p:cNvSpPr/>
          <p:nvPr/>
        </p:nvSpPr>
        <p:spPr>
          <a:xfrm>
            <a:off x="9445752" y="1554480"/>
            <a:ext cx="1005840" cy="1005840"/>
          </a:xfrm>
          <a:prstGeom prst="ellipse">
            <a:avLst/>
          </a:prstGeom>
          <a:solidFill>
            <a:srgbClr val="123A7A"/>
          </a:solidFill>
          <a:ln>
            <a:noFill/>
          </a:ln>
        </p:spPr>
        <p:txBody>
          <a:bodyPr wrap="square" lIns="0" tIns="0" rIns="0" bIns="0" rtlCol="0" anchor="ctr"/>
          <a:lstStyle/>
          <a:p>
            <a:pPr algn="ctr"/>
            <a:endParaRPr/>
          </a:p>
        </p:txBody>
      </p:sp>
      <p:pic>
        <p:nvPicPr>
          <p:cNvPr id="488" name="Picture 487" descr="image.png"/>
          <p:cNvPicPr>
            <a:picLocks noChangeAspect="1"/>
          </p:cNvPicPr>
          <p:nvPr/>
        </p:nvPicPr>
        <p:blipFill>
          <a:blip r:embed="rId6"/>
          <a:stretch>
            <a:fillRect/>
          </a:stretch>
        </p:blipFill>
        <p:spPr>
          <a:xfrm>
            <a:off x="9697212" y="1805940"/>
            <a:ext cx="502920" cy="502920"/>
          </a:xfrm>
          <a:prstGeom prst="rect">
            <a:avLst/>
          </a:prstGeom>
        </p:spPr>
      </p:pic>
      <p:sp>
        <p:nvSpPr>
          <p:cNvPr id="489" name="TextBox 488"/>
          <p:cNvSpPr txBox="1"/>
          <p:nvPr/>
        </p:nvSpPr>
        <p:spPr>
          <a:xfrm>
            <a:off x="8165592" y="2651760"/>
            <a:ext cx="3566160" cy="731520"/>
          </a:xfrm>
          <a:prstGeom prst="rect">
            <a:avLst/>
          </a:prstGeom>
          <a:noFill/>
        </p:spPr>
        <p:txBody>
          <a:bodyPr wrap="square" lIns="73152" tIns="36576" rIns="73152" bIns="36576" anchor="ctr"/>
          <a:lstStyle/>
          <a:p>
            <a:pPr algn="ctr"/>
            <a:r>
              <a:rPr lang="vi-VN" sz="1700" b="1" i="0">
                <a:solidFill>
                  <a:srgbClr val="123A7A"/>
                </a:solidFill>
                <a:latin typeface="Times New Roman"/>
                <a:cs typeface="Times New Roman"/>
              </a:rPr>
              <a:t>Quan hệ giữa các biến &amp; diễn biến theo thời gian</a:t>
            </a:r>
          </a:p>
        </p:txBody>
      </p:sp>
      <p:sp>
        <p:nvSpPr>
          <p:cNvPr id="490" name="TextBox 489"/>
          <p:cNvSpPr txBox="1"/>
          <p:nvPr/>
        </p:nvSpPr>
        <p:spPr>
          <a:xfrm>
            <a:off x="8211312" y="3383280"/>
            <a:ext cx="3474720" cy="777240"/>
          </a:xfrm>
          <a:prstGeom prst="rect">
            <a:avLst/>
          </a:prstGeom>
          <a:noFill/>
        </p:spPr>
        <p:txBody>
          <a:bodyPr wrap="square" lIns="73152" tIns="36576" rIns="73152" bIns="36576" anchor="t"/>
          <a:lstStyle/>
          <a:p>
            <a:pPr algn="ctr"/>
            <a:r>
              <a:rPr lang="vi-VN" sz="1400" b="0" i="0">
                <a:solidFill>
                  <a:srgbClr val="222222"/>
                </a:solidFill>
                <a:latin typeface="Times New Roman"/>
                <a:cs typeface="Times New Roman"/>
              </a:rPr>
              <a:t>Lãi suất – biên lãi · quy mô – thu nhập · xu hướng 18 tháng · mùa vụ</a:t>
            </a:r>
          </a:p>
        </p:txBody>
      </p:sp>
      <p:sp>
        <p:nvSpPr>
          <p:cNvPr id="491" name="TextBox 490"/>
          <p:cNvSpPr txBox="1"/>
          <p:nvPr/>
        </p:nvSpPr>
        <p:spPr>
          <a:xfrm>
            <a:off x="8211312" y="4114800"/>
            <a:ext cx="3474720" cy="777240"/>
          </a:xfrm>
          <a:prstGeom prst="rect">
            <a:avLst/>
          </a:prstGeom>
          <a:noFill/>
        </p:spPr>
        <p:txBody>
          <a:bodyPr wrap="square" lIns="73152" tIns="36576" rIns="73152" bIns="36576" anchor="t"/>
          <a:lstStyle/>
          <a:p>
            <a:pPr algn="ctr"/>
            <a:r>
              <a:rPr lang="vi-VN" sz="1300" b="0" i="1">
                <a:solidFill>
                  <a:srgbClr val="595959"/>
                </a:solidFill>
                <a:latin typeface="Times New Roman"/>
                <a:cs typeface="Times New Roman"/>
              </a:rPr>
              <a:t>Biến nào đi cùng nhau, tháng nào lệch khỏi xu hướng</a:t>
            </a:r>
          </a:p>
        </p:txBody>
      </p:sp>
      <p:sp>
        <p:nvSpPr>
          <p:cNvPr id="492" name="Rounded Rectangle 491"/>
          <p:cNvSpPr/>
          <p:nvPr/>
        </p:nvSpPr>
        <p:spPr>
          <a:xfrm>
            <a:off x="365760" y="5166360"/>
            <a:ext cx="11457432" cy="822960"/>
          </a:xfrm>
          <a:prstGeom prst="roundRect">
            <a:avLst>
              <a:gd name="adj" fmla="val 12000"/>
            </a:avLst>
          </a:prstGeom>
          <a:solidFill>
            <a:srgbClr val="FBE5D6"/>
          </a:solidFill>
          <a:ln w="12700">
            <a:solidFill>
              <a:srgbClr val="C55A11"/>
            </a:solidFill>
          </a:ln>
        </p:spPr>
        <p:txBody>
          <a:bodyPr wrap="square" lIns="137160" tIns="27432" rIns="137160" bIns="27432" rtlCol="0" anchor="ctr"/>
          <a:lstStyle/>
          <a:p>
            <a:pPr algn="l"/>
            <a:r>
              <a:rPr lang="vi-VN" sz="1400" b="0" i="0">
                <a:solidFill>
                  <a:srgbClr val="222222"/>
                </a:solidFill>
                <a:latin typeface="Times New Roman"/>
                <a:cs typeface="Times New Roman"/>
              </a:rPr>
              <a:t>Mỗi nội dung khám phá đi kèm </a:t>
            </a:r>
            <a:r>
              <a:rPr lang="vi-VN" sz="1400" b="1" i="0">
                <a:solidFill>
                  <a:srgbClr val="222222"/>
                </a:solidFill>
                <a:latin typeface="Times New Roman"/>
                <a:cs typeface="Times New Roman"/>
              </a:rPr>
              <a:t>một biểu đồ đề xuất</a:t>
            </a:r>
            <a:r>
              <a:rPr lang="vi-VN" sz="1400" b="0" i="0">
                <a:solidFill>
                  <a:srgbClr val="222222"/>
                </a:solidFill>
                <a:latin typeface="Times New Roman"/>
                <a:cs typeface="Times New Roman"/>
              </a:rPr>
              <a:t> để dựng trên một </a:t>
            </a:r>
            <a:r>
              <a:rPr lang="vi-VN" sz="1400" b="1" i="0">
                <a:solidFill>
                  <a:srgbClr val="222222"/>
                </a:solidFill>
                <a:latin typeface="Times New Roman"/>
                <a:cs typeface="Times New Roman"/>
              </a:rPr>
              <a:t>trang nháp</a:t>
            </a:r>
            <a:r>
              <a:rPr lang="vi-VN" sz="1400" b="0" i="0">
                <a:solidFill>
                  <a:srgbClr val="222222"/>
                </a:solidFill>
                <a:latin typeface="Times New Roman"/>
                <a:cs typeface="Times New Roman"/>
              </a:rPr>
              <a:t> (không nằm trong 4 trang nộp)</a:t>
            </a:r>
          </a:p>
          <a:p>
            <a:pPr algn="l">
              <a:spcBef>
                <a:spcPts val="300"/>
              </a:spcBef>
            </a:pPr>
            <a:r>
              <a:rPr lang="vi-VN" sz="1400" b="0" i="0">
                <a:solidFill>
                  <a:srgbClr val="222222"/>
                </a:solidFill>
                <a:latin typeface="Times New Roman"/>
                <a:cs typeface="Times New Roman"/>
              </a:rPr>
              <a:t>Các số trong phần này lấy tại </a:t>
            </a:r>
            <a:r>
              <a:rPr lang="vi-VN" sz="1400" b="1" i="0">
                <a:solidFill>
                  <a:srgbClr val="222222"/>
                </a:solidFill>
                <a:latin typeface="Times New Roman"/>
                <a:cs typeface="Times New Roman"/>
              </a:rPr>
              <a:t>30/06/2026</a:t>
            </a:r>
            <a:r>
              <a:rPr lang="vi-VN" sz="1400" b="0" i="0">
                <a:solidFill>
                  <a:srgbClr val="222222"/>
                </a:solidFill>
                <a:latin typeface="Times New Roman"/>
                <a:cs typeface="Times New Roman"/>
              </a:rPr>
              <a:t>, dùng để đối chiếu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29</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Phân phối dư nợ: theo hợp đồng và theo khách hàng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1% khách lớn nhất chiếm </a:t>
            </a:r>
            <a:r>
              <a:rPr lang="vi-VN" sz="1800" b="1" i="0">
                <a:solidFill>
                  <a:srgbClr val="C00000"/>
                </a:solidFill>
                <a:latin typeface="Times New Roman"/>
                <a:cs typeface="Times New Roman"/>
              </a:rPr>
              <a:t>29,4%</a:t>
            </a:r>
            <a:r>
              <a:rPr lang="vi-VN" sz="1800" b="0" i="0">
                <a:solidFill>
                  <a:srgbClr val="000000"/>
                </a:solidFill>
                <a:latin typeface="Times New Roman"/>
                <a:cs typeface="Times New Roman"/>
              </a:rPr>
              <a:t> dư nợ; 10% chiếm </a:t>
            </a:r>
            <a:r>
              <a:rPr lang="vi-VN" sz="1800" b="1" i="0">
                <a:solidFill>
                  <a:srgbClr val="C00000"/>
                </a:solidFill>
                <a:latin typeface="Times New Roman"/>
                <a:cs typeface="Times New Roman"/>
              </a:rPr>
              <a:t>67,7%</a:t>
            </a:r>
            <a:r>
              <a:rPr lang="vi-VN" sz="1800" b="0" i="0">
                <a:solidFill>
                  <a:srgbClr val="000000"/>
                </a:solidFill>
                <a:latin typeface="Times New Roman"/>
                <a:cs typeface="Times New Roman"/>
              </a:rPr>
              <a:t>; 20% chiếm </a:t>
            </a:r>
            <a:r>
              <a:rPr lang="vi-VN" sz="1800" b="1" i="0">
                <a:solidFill>
                  <a:srgbClr val="C00000"/>
                </a:solidFill>
                <a:latin typeface="Times New Roman"/>
                <a:cs typeface="Times New Roman"/>
              </a:rPr>
              <a:t>80,8%</a:t>
            </a:r>
          </a:p>
        </p:txBody>
      </p:sp>
      <p:sp>
        <p:nvSpPr>
          <p:cNvPr id="474" name="Rounded Rectangle 473"/>
          <p:cNvSpPr/>
          <p:nvPr/>
        </p:nvSpPr>
        <p:spPr>
          <a:xfrm>
            <a:off x="365760" y="1371600"/>
            <a:ext cx="5669280" cy="4617720"/>
          </a:xfrm>
          <a:prstGeom prst="roundRect">
            <a:avLst>
              <a:gd name="adj" fmla="val 3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371600"/>
            <a:ext cx="5669280"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Dư nợ theo hợp đồng (30/06/2026)</a:t>
            </a:r>
          </a:p>
        </p:txBody>
      </p:sp>
      <p:graphicFrame>
        <p:nvGraphicFramePr>
          <p:cNvPr id="476" name="Chart 475"/>
          <p:cNvGraphicFramePr>
            <a:graphicFrameLocks noGrp="1"/>
          </p:cNvGraphicFramePr>
          <p:nvPr/>
        </p:nvGraphicFramePr>
        <p:xfrm>
          <a:off x="411480" y="1783080"/>
          <a:ext cx="557784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477" name="TextBox 476"/>
          <p:cNvSpPr txBox="1"/>
          <p:nvPr/>
        </p:nvSpPr>
        <p:spPr>
          <a:xfrm>
            <a:off x="457200" y="4114800"/>
            <a:ext cx="5486400" cy="274320"/>
          </a:xfrm>
          <a:prstGeom prst="rect">
            <a:avLst/>
          </a:prstGeom>
          <a:noFill/>
        </p:spPr>
        <p:txBody>
          <a:bodyPr wrap="square" lIns="0" tIns="0" rIns="0" bIns="0" anchor="ctr"/>
          <a:lstStyle/>
          <a:p>
            <a:pPr algn="ctr"/>
            <a:r>
              <a:rPr lang="vi-VN" sz="1100" b="0" i="1">
                <a:solidFill>
                  <a:srgbClr val="595959"/>
                </a:solidFill>
                <a:latin typeface="Times New Roman"/>
                <a:cs typeface="Times New Roman"/>
              </a:rPr>
              <a:t>Số hợp đồng theo khoảng dư nợ (tỷ đồng) · tổng 11.073 hợp đồng</a:t>
            </a:r>
          </a:p>
        </p:txBody>
      </p:sp>
      <p:sp>
        <p:nvSpPr>
          <p:cNvPr id="478" name="Rounded Rectangle 477"/>
          <p:cNvSpPr/>
          <p:nvPr/>
        </p:nvSpPr>
        <p:spPr>
          <a:xfrm>
            <a:off x="457200" y="4480560"/>
            <a:ext cx="1051560" cy="777240"/>
          </a:xfrm>
          <a:prstGeom prst="roundRect">
            <a:avLst>
              <a:gd name="adj" fmla="val 10000"/>
            </a:avLst>
          </a:prstGeom>
          <a:solidFill>
            <a:srgbClr val="E2F0D9"/>
          </a:solidFill>
          <a:ln>
            <a:noFill/>
          </a:ln>
        </p:spPr>
        <p:txBody>
          <a:bodyPr wrap="square" lIns="73152" tIns="36576" rIns="73152" bIns="36576" rtlCol="0" anchor="ctr"/>
          <a:lstStyle/>
          <a:p>
            <a:pPr algn="ctr"/>
            <a:r>
              <a:rPr lang="vi-VN" sz="1700" b="1" i="0">
                <a:solidFill>
                  <a:srgbClr val="2E5B31"/>
                </a:solidFill>
                <a:latin typeface="Times New Roman"/>
                <a:cs typeface="Times New Roman"/>
              </a:rPr>
              <a:t>2,6</a:t>
            </a:r>
          </a:p>
          <a:p>
            <a:pPr algn="ctr"/>
            <a:r>
              <a:rPr lang="vi-VN" sz="1200" b="0" i="0">
                <a:solidFill>
                  <a:srgbClr val="222222"/>
                </a:solidFill>
                <a:latin typeface="Times New Roman"/>
                <a:cs typeface="Times New Roman"/>
              </a:rPr>
              <a:t>Trung vị</a:t>
            </a:r>
          </a:p>
        </p:txBody>
      </p:sp>
      <p:sp>
        <p:nvSpPr>
          <p:cNvPr id="479" name="Rounded Rectangle 478"/>
          <p:cNvSpPr/>
          <p:nvPr/>
        </p:nvSpPr>
        <p:spPr>
          <a:xfrm>
            <a:off x="1554480" y="4480560"/>
            <a:ext cx="1051560" cy="777240"/>
          </a:xfrm>
          <a:prstGeom prst="roundRect">
            <a:avLst>
              <a:gd name="adj" fmla="val 10000"/>
            </a:avLst>
          </a:prstGeom>
          <a:solidFill>
            <a:srgbClr val="E2F0D9"/>
          </a:solidFill>
          <a:ln>
            <a:noFill/>
          </a:ln>
        </p:spPr>
        <p:txBody>
          <a:bodyPr wrap="square" lIns="73152" tIns="36576" rIns="73152" bIns="36576" rtlCol="0" anchor="ctr"/>
          <a:lstStyle/>
          <a:p>
            <a:pPr algn="ctr"/>
            <a:r>
              <a:rPr lang="vi-VN" sz="1700" b="1" i="0">
                <a:solidFill>
                  <a:srgbClr val="C55A11"/>
                </a:solidFill>
                <a:latin typeface="Times New Roman"/>
                <a:cs typeface="Times New Roman"/>
              </a:rPr>
              <a:t>8,9</a:t>
            </a:r>
          </a:p>
          <a:p>
            <a:pPr algn="ctr"/>
            <a:r>
              <a:rPr lang="vi-VN" sz="1200" b="0" i="0">
                <a:solidFill>
                  <a:srgbClr val="222222"/>
                </a:solidFill>
                <a:latin typeface="Times New Roman"/>
                <a:cs typeface="Times New Roman"/>
              </a:rPr>
              <a:t>Trung bình</a:t>
            </a:r>
          </a:p>
        </p:txBody>
      </p:sp>
      <p:sp>
        <p:nvSpPr>
          <p:cNvPr id="480" name="Rounded Rectangle 479"/>
          <p:cNvSpPr/>
          <p:nvPr/>
        </p:nvSpPr>
        <p:spPr>
          <a:xfrm>
            <a:off x="2651760" y="4480560"/>
            <a:ext cx="1051560" cy="777240"/>
          </a:xfrm>
          <a:prstGeom prst="roundRect">
            <a:avLst>
              <a:gd name="adj" fmla="val 10000"/>
            </a:avLst>
          </a:prstGeom>
          <a:solidFill>
            <a:srgbClr val="E2F0D9"/>
          </a:solidFill>
          <a:ln>
            <a:noFill/>
          </a:ln>
        </p:spPr>
        <p:txBody>
          <a:bodyPr wrap="square" lIns="73152" tIns="36576" rIns="73152" bIns="36576" rtlCol="0" anchor="ctr"/>
          <a:lstStyle/>
          <a:p>
            <a:pPr algn="ctr"/>
            <a:r>
              <a:rPr lang="vi-VN" sz="1700" b="1" i="0">
                <a:solidFill>
                  <a:srgbClr val="2E5B31"/>
                </a:solidFill>
                <a:latin typeface="Times New Roman"/>
                <a:cs typeface="Times New Roman"/>
              </a:rPr>
              <a:t>18,6</a:t>
            </a:r>
          </a:p>
          <a:p>
            <a:pPr algn="ctr"/>
            <a:r>
              <a:rPr lang="vi-VN" sz="1200" b="0" i="0">
                <a:solidFill>
                  <a:srgbClr val="222222"/>
                </a:solidFill>
                <a:latin typeface="Times New Roman"/>
                <a:cs typeface="Times New Roman"/>
              </a:rPr>
              <a:t>P90</a:t>
            </a:r>
          </a:p>
        </p:txBody>
      </p:sp>
      <p:sp>
        <p:nvSpPr>
          <p:cNvPr id="481" name="Rounded Rectangle 480"/>
          <p:cNvSpPr/>
          <p:nvPr/>
        </p:nvSpPr>
        <p:spPr>
          <a:xfrm>
            <a:off x="3749039" y="4480560"/>
            <a:ext cx="1051560" cy="777240"/>
          </a:xfrm>
          <a:prstGeom prst="roundRect">
            <a:avLst>
              <a:gd name="adj" fmla="val 10000"/>
            </a:avLst>
          </a:prstGeom>
          <a:solidFill>
            <a:srgbClr val="E2F0D9"/>
          </a:solidFill>
          <a:ln>
            <a:noFill/>
          </a:ln>
        </p:spPr>
        <p:txBody>
          <a:bodyPr wrap="square" lIns="73152" tIns="36576" rIns="73152" bIns="36576" rtlCol="0" anchor="ctr"/>
          <a:lstStyle/>
          <a:p>
            <a:pPr algn="ctr"/>
            <a:r>
              <a:rPr lang="vi-VN" sz="1700" b="1" i="0">
                <a:solidFill>
                  <a:srgbClr val="2E5B31"/>
                </a:solidFill>
                <a:latin typeface="Times New Roman"/>
                <a:cs typeface="Times New Roman"/>
              </a:rPr>
              <a:t>102</a:t>
            </a:r>
          </a:p>
          <a:p>
            <a:pPr algn="ctr"/>
            <a:r>
              <a:rPr lang="vi-VN" sz="1200" b="0" i="0">
                <a:solidFill>
                  <a:srgbClr val="222222"/>
                </a:solidFill>
                <a:latin typeface="Times New Roman"/>
                <a:cs typeface="Times New Roman"/>
              </a:rPr>
              <a:t>P99</a:t>
            </a:r>
          </a:p>
        </p:txBody>
      </p:sp>
      <p:sp>
        <p:nvSpPr>
          <p:cNvPr id="482" name="Rounded Rectangle 481"/>
          <p:cNvSpPr/>
          <p:nvPr/>
        </p:nvSpPr>
        <p:spPr>
          <a:xfrm>
            <a:off x="4846320" y="4480560"/>
            <a:ext cx="1051560" cy="777240"/>
          </a:xfrm>
          <a:prstGeom prst="roundRect">
            <a:avLst>
              <a:gd name="adj" fmla="val 10000"/>
            </a:avLst>
          </a:prstGeom>
          <a:solidFill>
            <a:srgbClr val="E2F0D9"/>
          </a:solidFill>
          <a:ln>
            <a:noFill/>
          </a:ln>
        </p:spPr>
        <p:txBody>
          <a:bodyPr wrap="square" lIns="73152" tIns="36576" rIns="73152" bIns="36576" rtlCol="0" anchor="ctr"/>
          <a:lstStyle/>
          <a:p>
            <a:pPr algn="ctr"/>
            <a:r>
              <a:rPr lang="vi-VN" sz="1700" b="1" i="0">
                <a:solidFill>
                  <a:srgbClr val="2E5B31"/>
                </a:solidFill>
                <a:latin typeface="Times New Roman"/>
                <a:cs typeface="Times New Roman"/>
              </a:rPr>
              <a:t>1.888</a:t>
            </a:r>
          </a:p>
          <a:p>
            <a:pPr algn="ctr"/>
            <a:r>
              <a:rPr lang="vi-VN" sz="1200" b="0" i="0">
                <a:solidFill>
                  <a:srgbClr val="222222"/>
                </a:solidFill>
                <a:latin typeface="Times New Roman"/>
                <a:cs typeface="Times New Roman"/>
              </a:rPr>
              <a:t>Lớn nhất</a:t>
            </a:r>
          </a:p>
        </p:txBody>
      </p:sp>
      <p:sp>
        <p:nvSpPr>
          <p:cNvPr id="483" name="TextBox 482"/>
          <p:cNvSpPr txBox="1"/>
          <p:nvPr/>
        </p:nvSpPr>
        <p:spPr>
          <a:xfrm>
            <a:off x="457200" y="5303520"/>
            <a:ext cx="5486400" cy="640080"/>
          </a:xfrm>
          <a:prstGeom prst="rect">
            <a:avLst/>
          </a:prstGeom>
          <a:noFill/>
        </p:spPr>
        <p:txBody>
          <a:bodyPr wrap="square" lIns="0" tIns="0" rIns="0" bIns="0" anchor="ctr"/>
          <a:lstStyle/>
          <a:p>
            <a:pPr algn="l"/>
            <a:r>
              <a:rPr lang="vi-VN" sz="1250" b="0" i="1">
                <a:solidFill>
                  <a:srgbClr val="595959"/>
                </a:solidFill>
                <a:latin typeface="Times New Roman"/>
                <a:cs typeface="Times New Roman"/>
              </a:rPr>
              <a:t>Lệch phải mạnh: trung vị 2,6 tỷ nhưng trung bình 8,9 tỷ (đơn vị: tỷ đồng)</a:t>
            </a:r>
          </a:p>
        </p:txBody>
      </p:sp>
      <p:sp>
        <p:nvSpPr>
          <p:cNvPr id="484" name="Rounded Rectangle 483"/>
          <p:cNvSpPr/>
          <p:nvPr/>
        </p:nvSpPr>
        <p:spPr>
          <a:xfrm>
            <a:off x="6153912" y="1371600"/>
            <a:ext cx="5669280" cy="461772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5" name="Rounded Rectangle 484"/>
          <p:cNvSpPr/>
          <p:nvPr/>
        </p:nvSpPr>
        <p:spPr>
          <a:xfrm>
            <a:off x="6153912" y="1371600"/>
            <a:ext cx="5669280"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Mức độ tập trung theo khách hàng</a:t>
            </a:r>
          </a:p>
        </p:txBody>
      </p:sp>
      <p:graphicFrame>
        <p:nvGraphicFramePr>
          <p:cNvPr id="486" name="Chart 485"/>
          <p:cNvGraphicFramePr>
            <a:graphicFrameLocks noGrp="1"/>
          </p:cNvGraphicFramePr>
          <p:nvPr/>
        </p:nvGraphicFramePr>
        <p:xfrm>
          <a:off x="6199632" y="1783080"/>
          <a:ext cx="557784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487" name="TextBox 486"/>
          <p:cNvSpPr txBox="1"/>
          <p:nvPr/>
        </p:nvSpPr>
        <p:spPr>
          <a:xfrm>
            <a:off x="6263640" y="4800600"/>
            <a:ext cx="5486400" cy="274320"/>
          </a:xfrm>
          <a:prstGeom prst="rect">
            <a:avLst/>
          </a:prstGeom>
          <a:noFill/>
        </p:spPr>
        <p:txBody>
          <a:bodyPr wrap="square" lIns="0" tIns="0" rIns="0" bIns="0" anchor="ctr"/>
          <a:lstStyle/>
          <a:p>
            <a:pPr algn="ctr"/>
            <a:r>
              <a:rPr lang="vi-VN" sz="1100" b="0" i="1">
                <a:solidFill>
                  <a:srgbClr val="595959"/>
                </a:solidFill>
                <a:latin typeface="Times New Roman"/>
                <a:cs typeface="Times New Roman"/>
              </a:rPr>
              <a:t>Trục ngang: % khách hàng xếp từ lớn đến nhỏ · trục dọc: % dư nợ lũy kế</a:t>
            </a:r>
          </a:p>
        </p:txBody>
      </p:sp>
      <p:sp>
        <p:nvSpPr>
          <p:cNvPr id="488" name="Rounded Rectangle 487"/>
          <p:cNvSpPr/>
          <p:nvPr/>
        </p:nvSpPr>
        <p:spPr>
          <a:xfrm>
            <a:off x="6263640" y="5166360"/>
            <a:ext cx="5486400"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Pareto (cột dư nợ từng khách + đường lũy kế) hoặc đường cong Lorenz</a:t>
            </a:r>
          </a:p>
        </p:txBody>
      </p:sp>
      <p:sp>
        <p:nvSpPr>
          <p:cNvPr id="489" name="Rounded Rectangle 488"/>
          <p:cNvSpPr/>
          <p:nvPr/>
        </p:nvSpPr>
        <p:spPr>
          <a:xfrm>
            <a:off x="6263640" y="5532120"/>
            <a:ext cx="5486400"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Histogram theo khoảng dư nợ, box plot theo phân khúc hoặc trục logarit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30</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Phân phối NII, TOI và lãi suất cho vay</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Chú ý nhận diện </a:t>
            </a:r>
            <a:r>
              <a:rPr lang="vi-VN" sz="1800" b="1" i="0">
                <a:solidFill>
                  <a:srgbClr val="C00000"/>
                </a:solidFill>
                <a:latin typeface="Times New Roman"/>
                <a:cs typeface="Times New Roman"/>
              </a:rPr>
              <a:t>giá trị âm</a:t>
            </a:r>
            <a:r>
              <a:rPr lang="vi-VN" sz="1800" b="0" i="0">
                <a:solidFill>
                  <a:srgbClr val="000000"/>
                </a:solidFill>
                <a:latin typeface="Times New Roman"/>
                <a:cs typeface="Times New Roman"/>
              </a:rPr>
              <a:t> (2,9% hợp đồng NII âm) và </a:t>
            </a:r>
            <a:r>
              <a:rPr lang="vi-VN" sz="1800" b="1" i="0">
                <a:solidFill>
                  <a:srgbClr val="123A7A"/>
                </a:solidFill>
                <a:latin typeface="Times New Roman"/>
                <a:cs typeface="Times New Roman"/>
              </a:rPr>
              <a:t>giá trị bằng 0</a:t>
            </a:r>
            <a:r>
              <a:rPr lang="vi-VN" sz="1800" b="0" i="0">
                <a:solidFill>
                  <a:srgbClr val="000000"/>
                </a:solidFill>
                <a:latin typeface="Times New Roman"/>
                <a:cs typeface="Times New Roman"/>
              </a:rPr>
              <a:t> (74,7% không phát sinh NFI)</a:t>
            </a:r>
          </a:p>
        </p:txBody>
      </p:sp>
      <p:sp>
        <p:nvSpPr>
          <p:cNvPr id="474" name="Rounded Rectangle 473"/>
          <p:cNvSpPr/>
          <p:nvPr/>
        </p:nvSpPr>
        <p:spPr>
          <a:xfrm>
            <a:off x="365760" y="1371600"/>
            <a:ext cx="5943600" cy="4617720"/>
          </a:xfrm>
          <a:prstGeom prst="roundRect">
            <a:avLst>
              <a:gd name="adj" fmla="val 3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5" name="Rounded Rectangle 474"/>
          <p:cNvSpPr/>
          <p:nvPr/>
        </p:nvSpPr>
        <p:spPr>
          <a:xfrm>
            <a:off x="365760" y="1371600"/>
            <a:ext cx="5943600" cy="384048"/>
          </a:xfrm>
          <a:prstGeom prst="roundRect">
            <a:avLst>
              <a:gd name="adj" fmla="val 25000"/>
            </a:avLst>
          </a:prstGeom>
          <a:solidFill>
            <a:srgbClr val="C55A1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NII theo hợp đồng trong tháng 06/2026</a:t>
            </a:r>
          </a:p>
        </p:txBody>
      </p:sp>
      <p:graphicFrame>
        <p:nvGraphicFramePr>
          <p:cNvPr id="476" name="Chart 475"/>
          <p:cNvGraphicFramePr>
            <a:graphicFrameLocks noGrp="1"/>
          </p:cNvGraphicFramePr>
          <p:nvPr/>
        </p:nvGraphicFramePr>
        <p:xfrm>
          <a:off x="411480" y="1783080"/>
          <a:ext cx="585216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477" name="TextBox 476"/>
          <p:cNvSpPr txBox="1"/>
          <p:nvPr/>
        </p:nvSpPr>
        <p:spPr>
          <a:xfrm>
            <a:off x="457200" y="4160520"/>
            <a:ext cx="5760720" cy="274320"/>
          </a:xfrm>
          <a:prstGeom prst="rect">
            <a:avLst/>
          </a:prstGeom>
          <a:noFill/>
        </p:spPr>
        <p:txBody>
          <a:bodyPr wrap="square" lIns="0" tIns="0" rIns="0" bIns="0" anchor="ctr"/>
          <a:lstStyle/>
          <a:p>
            <a:pPr algn="ctr"/>
            <a:r>
              <a:rPr lang="vi-VN" sz="1100" b="0" i="1">
                <a:solidFill>
                  <a:srgbClr val="595959"/>
                </a:solidFill>
                <a:latin typeface="Times New Roman"/>
                <a:cs typeface="Times New Roman"/>
              </a:rPr>
              <a:t>Số hợp đồng theo khoảng NII (triệu đồng)</a:t>
            </a:r>
          </a:p>
        </p:txBody>
      </p:sp>
      <p:sp>
        <p:nvSpPr>
          <p:cNvPr id="478" name="Rounded Rectangle 477"/>
          <p:cNvSpPr/>
          <p:nvPr/>
        </p:nvSpPr>
        <p:spPr>
          <a:xfrm>
            <a:off x="457200" y="4526280"/>
            <a:ext cx="1115568" cy="777240"/>
          </a:xfrm>
          <a:prstGeom prst="roundRect">
            <a:avLst>
              <a:gd name="adj" fmla="val 10000"/>
            </a:avLst>
          </a:prstGeom>
          <a:solidFill>
            <a:srgbClr val="FBE5D6"/>
          </a:solidFill>
          <a:ln>
            <a:noFill/>
          </a:ln>
        </p:spPr>
        <p:txBody>
          <a:bodyPr wrap="square" lIns="73152" tIns="36576" rIns="73152" bIns="36576" rtlCol="0" anchor="ctr"/>
          <a:lstStyle/>
          <a:p>
            <a:pPr algn="ctr"/>
            <a:r>
              <a:rPr lang="vi-VN" sz="1700" b="1" i="0">
                <a:solidFill>
                  <a:srgbClr val="C55A11"/>
                </a:solidFill>
                <a:latin typeface="Times New Roman"/>
                <a:cs typeface="Times New Roman"/>
              </a:rPr>
              <a:t>4,6</a:t>
            </a:r>
          </a:p>
          <a:p>
            <a:pPr algn="ctr"/>
            <a:r>
              <a:rPr lang="vi-VN" sz="1200" b="0" i="0">
                <a:solidFill>
                  <a:srgbClr val="222222"/>
                </a:solidFill>
                <a:latin typeface="Times New Roman"/>
                <a:cs typeface="Times New Roman"/>
              </a:rPr>
              <a:t>Trung vị</a:t>
            </a:r>
          </a:p>
        </p:txBody>
      </p:sp>
      <p:sp>
        <p:nvSpPr>
          <p:cNvPr id="479" name="Rounded Rectangle 478"/>
          <p:cNvSpPr/>
          <p:nvPr/>
        </p:nvSpPr>
        <p:spPr>
          <a:xfrm>
            <a:off x="1627632" y="4526280"/>
            <a:ext cx="1115568" cy="777240"/>
          </a:xfrm>
          <a:prstGeom prst="roundRect">
            <a:avLst>
              <a:gd name="adj" fmla="val 10000"/>
            </a:avLst>
          </a:prstGeom>
          <a:solidFill>
            <a:srgbClr val="FBE5D6"/>
          </a:solidFill>
          <a:ln>
            <a:noFill/>
          </a:ln>
        </p:spPr>
        <p:txBody>
          <a:bodyPr wrap="square" lIns="73152" tIns="36576" rIns="73152" bIns="36576" rtlCol="0" anchor="ctr"/>
          <a:lstStyle/>
          <a:p>
            <a:pPr algn="ctr"/>
            <a:r>
              <a:rPr lang="vi-VN" sz="1700" b="1" i="0">
                <a:solidFill>
                  <a:srgbClr val="C55A11"/>
                </a:solidFill>
                <a:latin typeface="Times New Roman"/>
                <a:cs typeface="Times New Roman"/>
              </a:rPr>
              <a:t>0,5</a:t>
            </a:r>
          </a:p>
          <a:p>
            <a:pPr algn="ctr"/>
            <a:r>
              <a:rPr lang="vi-VN" sz="1200" b="0" i="0">
                <a:solidFill>
                  <a:srgbClr val="222222"/>
                </a:solidFill>
                <a:latin typeface="Times New Roman"/>
                <a:cs typeface="Times New Roman"/>
              </a:rPr>
              <a:t>P10</a:t>
            </a:r>
          </a:p>
        </p:txBody>
      </p:sp>
      <p:sp>
        <p:nvSpPr>
          <p:cNvPr id="480" name="Rounded Rectangle 479"/>
          <p:cNvSpPr/>
          <p:nvPr/>
        </p:nvSpPr>
        <p:spPr>
          <a:xfrm>
            <a:off x="2798064" y="4526280"/>
            <a:ext cx="1115568" cy="777240"/>
          </a:xfrm>
          <a:prstGeom prst="roundRect">
            <a:avLst>
              <a:gd name="adj" fmla="val 10000"/>
            </a:avLst>
          </a:prstGeom>
          <a:solidFill>
            <a:srgbClr val="FBE5D6"/>
          </a:solidFill>
          <a:ln>
            <a:noFill/>
          </a:ln>
        </p:spPr>
        <p:txBody>
          <a:bodyPr wrap="square" lIns="73152" tIns="36576" rIns="73152" bIns="36576" rtlCol="0" anchor="ctr"/>
          <a:lstStyle/>
          <a:p>
            <a:pPr algn="ctr"/>
            <a:r>
              <a:rPr lang="vi-VN" sz="1700" b="1" i="0">
                <a:solidFill>
                  <a:srgbClr val="C55A11"/>
                </a:solidFill>
                <a:latin typeface="Times New Roman"/>
                <a:cs typeface="Times New Roman"/>
              </a:rPr>
              <a:t>28,3</a:t>
            </a:r>
          </a:p>
          <a:p>
            <a:pPr algn="ctr"/>
            <a:r>
              <a:rPr lang="vi-VN" sz="1200" b="0" i="0">
                <a:solidFill>
                  <a:srgbClr val="222222"/>
                </a:solidFill>
                <a:latin typeface="Times New Roman"/>
                <a:cs typeface="Times New Roman"/>
              </a:rPr>
              <a:t>P90</a:t>
            </a:r>
          </a:p>
        </p:txBody>
      </p:sp>
      <p:sp>
        <p:nvSpPr>
          <p:cNvPr id="481" name="Rounded Rectangle 480"/>
          <p:cNvSpPr/>
          <p:nvPr/>
        </p:nvSpPr>
        <p:spPr>
          <a:xfrm>
            <a:off x="3968496" y="4526280"/>
            <a:ext cx="1115568" cy="777240"/>
          </a:xfrm>
          <a:prstGeom prst="roundRect">
            <a:avLst>
              <a:gd name="adj" fmla="val 10000"/>
            </a:avLst>
          </a:prstGeom>
          <a:solidFill>
            <a:srgbClr val="FBE5D6"/>
          </a:solidFill>
          <a:ln>
            <a:noFill/>
          </a:ln>
        </p:spPr>
        <p:txBody>
          <a:bodyPr wrap="square" lIns="73152" tIns="36576" rIns="73152" bIns="36576" rtlCol="0" anchor="ctr"/>
          <a:lstStyle/>
          <a:p>
            <a:pPr algn="ctr"/>
            <a:r>
              <a:rPr lang="vi-VN" sz="1700" b="1" i="0">
                <a:solidFill>
                  <a:srgbClr val="C00000"/>
                </a:solidFill>
                <a:latin typeface="Times New Roman"/>
                <a:cs typeface="Times New Roman"/>
              </a:rPr>
              <a:t>2,9%</a:t>
            </a:r>
          </a:p>
          <a:p>
            <a:pPr algn="ctr"/>
            <a:r>
              <a:rPr lang="vi-VN" sz="1200" b="0" i="0">
                <a:solidFill>
                  <a:srgbClr val="222222"/>
                </a:solidFill>
                <a:latin typeface="Times New Roman"/>
                <a:cs typeface="Times New Roman"/>
              </a:rPr>
              <a:t>NII âm</a:t>
            </a:r>
          </a:p>
        </p:txBody>
      </p:sp>
      <p:sp>
        <p:nvSpPr>
          <p:cNvPr id="482" name="Rounded Rectangle 481"/>
          <p:cNvSpPr/>
          <p:nvPr/>
        </p:nvSpPr>
        <p:spPr>
          <a:xfrm>
            <a:off x="5138928" y="4526280"/>
            <a:ext cx="1115568" cy="777240"/>
          </a:xfrm>
          <a:prstGeom prst="roundRect">
            <a:avLst>
              <a:gd name="adj" fmla="val 10000"/>
            </a:avLst>
          </a:prstGeom>
          <a:solidFill>
            <a:srgbClr val="FBE5D6"/>
          </a:solidFill>
          <a:ln>
            <a:noFill/>
          </a:ln>
        </p:spPr>
        <p:txBody>
          <a:bodyPr wrap="square" lIns="73152" tIns="36576" rIns="73152" bIns="36576" rtlCol="0" anchor="ctr"/>
          <a:lstStyle/>
          <a:p>
            <a:pPr algn="ctr"/>
            <a:r>
              <a:rPr lang="vi-VN" sz="1700" b="1" i="0">
                <a:solidFill>
                  <a:srgbClr val="C55A11"/>
                </a:solidFill>
                <a:latin typeface="Times New Roman"/>
                <a:cs typeface="Times New Roman"/>
              </a:rPr>
              <a:t>74,7%</a:t>
            </a:r>
          </a:p>
          <a:p>
            <a:pPr algn="ctr"/>
            <a:r>
              <a:rPr lang="vi-VN" sz="1200" b="0" i="0">
                <a:solidFill>
                  <a:srgbClr val="222222"/>
                </a:solidFill>
                <a:latin typeface="Times New Roman"/>
                <a:cs typeface="Times New Roman"/>
              </a:rPr>
              <a:t>Không NFI</a:t>
            </a:r>
          </a:p>
        </p:txBody>
      </p:sp>
      <p:sp>
        <p:nvSpPr>
          <p:cNvPr id="483" name="TextBox 482"/>
          <p:cNvSpPr txBox="1"/>
          <p:nvPr/>
        </p:nvSpPr>
        <p:spPr>
          <a:xfrm>
            <a:off x="457200" y="5349240"/>
            <a:ext cx="5760720" cy="594360"/>
          </a:xfrm>
          <a:prstGeom prst="rect">
            <a:avLst/>
          </a:prstGeom>
          <a:noFill/>
        </p:spPr>
        <p:txBody>
          <a:bodyPr wrap="square" lIns="0" tIns="0" rIns="0" bIns="0" anchor="ctr"/>
          <a:lstStyle/>
          <a:p>
            <a:pPr algn="l"/>
            <a:r>
              <a:rPr lang="vi-VN" sz="1200" b="0" i="1">
                <a:solidFill>
                  <a:srgbClr val="595959"/>
                </a:solidFill>
                <a:latin typeface="Times New Roman"/>
                <a:cs typeface="Times New Roman"/>
              </a:rPr>
              <a:t>Số liệu NII: triệu đồng / hợp đồng / tháng</a:t>
            </a:r>
          </a:p>
        </p:txBody>
      </p:sp>
      <p:sp>
        <p:nvSpPr>
          <p:cNvPr id="484" name="Rounded Rectangle 483"/>
          <p:cNvSpPr/>
          <p:nvPr/>
        </p:nvSpPr>
        <p:spPr>
          <a:xfrm>
            <a:off x="6428232" y="1371600"/>
            <a:ext cx="5394960" cy="461772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5" name="Rounded Rectangle 484"/>
          <p:cNvSpPr/>
          <p:nvPr/>
        </p:nvSpPr>
        <p:spPr>
          <a:xfrm>
            <a:off x="6428232" y="1371600"/>
            <a:ext cx="5394960"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Lãi suất cho vay bình quân (%/năm)</a:t>
            </a:r>
          </a:p>
        </p:txBody>
      </p:sp>
      <p:graphicFrame>
        <p:nvGraphicFramePr>
          <p:cNvPr id="486" name="Chart 485"/>
          <p:cNvGraphicFramePr>
            <a:graphicFrameLocks noGrp="1"/>
          </p:cNvGraphicFramePr>
          <p:nvPr/>
        </p:nvGraphicFramePr>
        <p:xfrm>
          <a:off x="6473952" y="1783080"/>
          <a:ext cx="530352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487" name="TextBox 486"/>
          <p:cNvSpPr txBox="1"/>
          <p:nvPr/>
        </p:nvSpPr>
        <p:spPr>
          <a:xfrm>
            <a:off x="6537960" y="4846320"/>
            <a:ext cx="5212080" cy="411480"/>
          </a:xfrm>
          <a:prstGeom prst="rect">
            <a:avLst/>
          </a:prstGeom>
          <a:noFill/>
        </p:spPr>
        <p:txBody>
          <a:bodyPr wrap="square" lIns="0" tIns="0" rIns="0" bIns="0" anchor="ctr"/>
          <a:lstStyle/>
          <a:p>
            <a:pPr algn="l"/>
            <a:r>
              <a:rPr lang="vi-VN" sz="1200" b="0" i="1">
                <a:solidFill>
                  <a:srgbClr val="595959"/>
                </a:solidFill>
                <a:latin typeface="Times New Roman"/>
                <a:cs typeface="Times New Roman"/>
              </a:rPr>
              <a:t>Theo tiền tệ: VND ≈ 11,0%, USD ≈ 5,3% (bình quân theo hợp đồng)</a:t>
            </a:r>
          </a:p>
        </p:txBody>
      </p:sp>
      <p:sp>
        <p:nvSpPr>
          <p:cNvPr id="488" name="Rounded Rectangle 487"/>
          <p:cNvSpPr/>
          <p:nvPr/>
        </p:nvSpPr>
        <p:spPr>
          <a:xfrm>
            <a:off x="6537960" y="5303520"/>
            <a:ext cx="5212080"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box plot lãi suất theo kỳ hạn và theo tiền tệ</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31</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Cơ cấu dư nợ theo phân khúc, kỳ hạn, sản phẩm, tiền tệ, vùng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Tại 30/06/2026: BIGCORP 1 </a:t>
            </a:r>
            <a:r>
              <a:rPr lang="vi-VN" sz="1800" b="1" i="0">
                <a:solidFill>
                  <a:srgbClr val="C55A11"/>
                </a:solidFill>
                <a:latin typeface="Times New Roman"/>
                <a:cs typeface="Times New Roman"/>
              </a:rPr>
              <a:t>21,4%</a:t>
            </a:r>
            <a:r>
              <a:rPr lang="vi-VN" sz="1800" b="0" i="0">
                <a:solidFill>
                  <a:srgbClr val="000000"/>
                </a:solidFill>
                <a:latin typeface="Times New Roman"/>
                <a:cs typeface="Times New Roman"/>
              </a:rPr>
              <a:t> · ngắn hạn </a:t>
            </a:r>
            <a:r>
              <a:rPr lang="vi-VN" sz="1800" b="1" i="0">
                <a:solidFill>
                  <a:srgbClr val="C55A11"/>
                </a:solidFill>
                <a:latin typeface="Times New Roman"/>
                <a:cs typeface="Times New Roman"/>
              </a:rPr>
              <a:t>63,9%</a:t>
            </a:r>
            <a:r>
              <a:rPr lang="vi-VN" sz="1800" b="0" i="0">
                <a:solidFill>
                  <a:srgbClr val="000000"/>
                </a:solidFill>
                <a:latin typeface="Times New Roman"/>
                <a:cs typeface="Times New Roman"/>
              </a:rPr>
              <a:t> · USD </a:t>
            </a:r>
            <a:r>
              <a:rPr lang="vi-VN" sz="1800" b="1" i="0">
                <a:solidFill>
                  <a:srgbClr val="C55A11"/>
                </a:solidFill>
                <a:latin typeface="Times New Roman"/>
                <a:cs typeface="Times New Roman"/>
              </a:rPr>
              <a:t>14,9%</a:t>
            </a:r>
            <a:r>
              <a:rPr lang="vi-VN" sz="1800" b="0" i="0">
                <a:solidFill>
                  <a:srgbClr val="000000"/>
                </a:solidFill>
                <a:latin typeface="Times New Roman"/>
                <a:cs typeface="Times New Roman"/>
              </a:rPr>
              <a:t> · miền Nam </a:t>
            </a:r>
            <a:r>
              <a:rPr lang="vi-VN" sz="1800" b="1" i="0">
                <a:solidFill>
                  <a:srgbClr val="C55A11"/>
                </a:solidFill>
                <a:latin typeface="Times New Roman"/>
                <a:cs typeface="Times New Roman"/>
              </a:rPr>
              <a:t>52,6%</a:t>
            </a:r>
          </a:p>
        </p:txBody>
      </p:sp>
      <p:sp>
        <p:nvSpPr>
          <p:cNvPr id="474" name="Rounded Rectangle 473"/>
          <p:cNvSpPr/>
          <p:nvPr/>
        </p:nvSpPr>
        <p:spPr>
          <a:xfrm>
            <a:off x="365760" y="1371600"/>
            <a:ext cx="4937760" cy="4114800"/>
          </a:xfrm>
          <a:prstGeom prst="roundRect">
            <a:avLst>
              <a:gd name="adj" fmla="val 3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5" name="Rounded Rectangle 474"/>
          <p:cNvSpPr/>
          <p:nvPr/>
        </p:nvSpPr>
        <p:spPr>
          <a:xfrm>
            <a:off x="365760" y="1371600"/>
            <a:ext cx="4937760" cy="384048"/>
          </a:xfrm>
          <a:prstGeom prst="roundRect">
            <a:avLst>
              <a:gd name="adj" fmla="val 25000"/>
            </a:avLst>
          </a:prstGeom>
          <a:solidFill>
            <a:srgbClr val="C55A1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Phân khúc</a:t>
            </a:r>
          </a:p>
        </p:txBody>
      </p:sp>
      <p:graphicFrame>
        <p:nvGraphicFramePr>
          <p:cNvPr id="476" name="Chart 475"/>
          <p:cNvGraphicFramePr>
            <a:graphicFrameLocks noGrp="1"/>
          </p:cNvGraphicFramePr>
          <p:nvPr/>
        </p:nvGraphicFramePr>
        <p:xfrm>
          <a:off x="411480" y="1783080"/>
          <a:ext cx="484632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477" name="Rounded Rectangle 476"/>
          <p:cNvSpPr/>
          <p:nvPr/>
        </p:nvSpPr>
        <p:spPr>
          <a:xfrm>
            <a:off x="5440680" y="1371600"/>
            <a:ext cx="3136392" cy="201168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78" name="Rounded Rectangle 477"/>
          <p:cNvSpPr/>
          <p:nvPr/>
        </p:nvSpPr>
        <p:spPr>
          <a:xfrm>
            <a:off x="5440680" y="1371600"/>
            <a:ext cx="3136392"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Kỳ hạn</a:t>
            </a:r>
          </a:p>
        </p:txBody>
      </p:sp>
      <p:graphicFrame>
        <p:nvGraphicFramePr>
          <p:cNvPr id="479" name="Chart 478"/>
          <p:cNvGraphicFramePr>
            <a:graphicFrameLocks noGrp="1"/>
          </p:cNvGraphicFramePr>
          <p:nvPr/>
        </p:nvGraphicFramePr>
        <p:xfrm>
          <a:off x="5458968" y="1755648"/>
          <a:ext cx="3090672" cy="1600200"/>
        </p:xfrm>
        <a:graphic>
          <a:graphicData uri="http://schemas.openxmlformats.org/drawingml/2006/chart">
            <c:chart xmlns:c="http://schemas.openxmlformats.org/drawingml/2006/chart" xmlns:r="http://schemas.openxmlformats.org/officeDocument/2006/relationships" r:id="rId5"/>
          </a:graphicData>
        </a:graphic>
      </p:graphicFrame>
      <p:sp>
        <p:nvSpPr>
          <p:cNvPr id="480" name="Rounded Rectangle 479"/>
          <p:cNvSpPr/>
          <p:nvPr/>
        </p:nvSpPr>
        <p:spPr>
          <a:xfrm>
            <a:off x="8641080" y="1371600"/>
            <a:ext cx="3136392" cy="201168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1" name="Rounded Rectangle 480"/>
          <p:cNvSpPr/>
          <p:nvPr/>
        </p:nvSpPr>
        <p:spPr>
          <a:xfrm>
            <a:off x="8641080" y="1371600"/>
            <a:ext cx="3136392"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Sản phẩm</a:t>
            </a:r>
          </a:p>
        </p:txBody>
      </p:sp>
      <p:graphicFrame>
        <p:nvGraphicFramePr>
          <p:cNvPr id="482" name="Chart 481"/>
          <p:cNvGraphicFramePr>
            <a:graphicFrameLocks noGrp="1"/>
          </p:cNvGraphicFramePr>
          <p:nvPr/>
        </p:nvGraphicFramePr>
        <p:xfrm>
          <a:off x="8659367" y="1755648"/>
          <a:ext cx="3090672" cy="1600200"/>
        </p:xfrm>
        <a:graphic>
          <a:graphicData uri="http://schemas.openxmlformats.org/drawingml/2006/chart">
            <c:chart xmlns:c="http://schemas.openxmlformats.org/drawingml/2006/chart" xmlns:r="http://schemas.openxmlformats.org/officeDocument/2006/relationships" r:id="rId6"/>
          </a:graphicData>
        </a:graphic>
      </p:graphicFrame>
      <p:sp>
        <p:nvSpPr>
          <p:cNvPr id="483" name="Rounded Rectangle 482"/>
          <p:cNvSpPr/>
          <p:nvPr/>
        </p:nvSpPr>
        <p:spPr>
          <a:xfrm>
            <a:off x="5440680" y="3474720"/>
            <a:ext cx="3136392" cy="201168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4" name="Rounded Rectangle 483"/>
          <p:cNvSpPr/>
          <p:nvPr/>
        </p:nvSpPr>
        <p:spPr>
          <a:xfrm>
            <a:off x="5440680" y="3474720"/>
            <a:ext cx="3136392"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Tiền tệ</a:t>
            </a:r>
          </a:p>
        </p:txBody>
      </p:sp>
      <p:graphicFrame>
        <p:nvGraphicFramePr>
          <p:cNvPr id="485" name="Chart 484"/>
          <p:cNvGraphicFramePr>
            <a:graphicFrameLocks noGrp="1"/>
          </p:cNvGraphicFramePr>
          <p:nvPr/>
        </p:nvGraphicFramePr>
        <p:xfrm>
          <a:off x="5458968" y="3858768"/>
          <a:ext cx="3090672" cy="1600200"/>
        </p:xfrm>
        <a:graphic>
          <a:graphicData uri="http://schemas.openxmlformats.org/drawingml/2006/chart">
            <c:chart xmlns:c="http://schemas.openxmlformats.org/drawingml/2006/chart" xmlns:r="http://schemas.openxmlformats.org/officeDocument/2006/relationships" r:id="rId7"/>
          </a:graphicData>
        </a:graphic>
      </p:graphicFrame>
      <p:sp>
        <p:nvSpPr>
          <p:cNvPr id="486" name="Rounded Rectangle 485"/>
          <p:cNvSpPr/>
          <p:nvPr/>
        </p:nvSpPr>
        <p:spPr>
          <a:xfrm>
            <a:off x="8641080" y="3474720"/>
            <a:ext cx="3136392" cy="201168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7" name="Rounded Rectangle 486"/>
          <p:cNvSpPr/>
          <p:nvPr/>
        </p:nvSpPr>
        <p:spPr>
          <a:xfrm>
            <a:off x="8641080" y="3474720"/>
            <a:ext cx="3136392"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Vùng</a:t>
            </a:r>
          </a:p>
        </p:txBody>
      </p:sp>
      <p:graphicFrame>
        <p:nvGraphicFramePr>
          <p:cNvPr id="488" name="Chart 487"/>
          <p:cNvGraphicFramePr>
            <a:graphicFrameLocks noGrp="1"/>
          </p:cNvGraphicFramePr>
          <p:nvPr/>
        </p:nvGraphicFramePr>
        <p:xfrm>
          <a:off x="8659367" y="3858768"/>
          <a:ext cx="3090672" cy="1600200"/>
        </p:xfrm>
        <a:graphic>
          <a:graphicData uri="http://schemas.openxmlformats.org/drawingml/2006/chart">
            <c:chart xmlns:c="http://schemas.openxmlformats.org/drawingml/2006/chart" xmlns:r="http://schemas.openxmlformats.org/officeDocument/2006/relationships" r:id="rId8"/>
          </a:graphicData>
        </a:graphic>
      </p:graphicFrame>
      <p:sp>
        <p:nvSpPr>
          <p:cNvPr id="489" name="Rounded Rectangle 488"/>
          <p:cNvSpPr/>
          <p:nvPr/>
        </p:nvSpPr>
        <p:spPr>
          <a:xfrm>
            <a:off x="365760" y="5577840"/>
            <a:ext cx="11457432"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cột chồng 100% hoặc biểu đồ tròn (tối đa 7 lát) có nhãn phần trăm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32</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Cơ cấu dư nợ theo ngành, ĐVKD và nhóm nợ</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Top 10 ngành </a:t>
            </a:r>
            <a:r>
              <a:rPr lang="vi-VN" sz="1800" b="1" i="0">
                <a:solidFill>
                  <a:srgbClr val="C55A11"/>
                </a:solidFill>
                <a:latin typeface="Times New Roman"/>
                <a:cs typeface="Times New Roman"/>
              </a:rPr>
              <a:t>71,7%</a:t>
            </a:r>
            <a:r>
              <a:rPr lang="vi-VN" sz="1800" b="0" i="0">
                <a:solidFill>
                  <a:srgbClr val="000000"/>
                </a:solidFill>
                <a:latin typeface="Times New Roman"/>
                <a:cs typeface="Times New Roman"/>
              </a:rPr>
              <a:t> · Top 10 ĐVKD </a:t>
            </a:r>
            <a:r>
              <a:rPr lang="vi-VN" sz="1800" b="1" i="0">
                <a:solidFill>
                  <a:srgbClr val="C55A11"/>
                </a:solidFill>
                <a:latin typeface="Times New Roman"/>
                <a:cs typeface="Times New Roman"/>
              </a:rPr>
              <a:t>40,1%</a:t>
            </a:r>
            <a:r>
              <a:rPr lang="vi-VN" sz="1800" b="0" i="0">
                <a:solidFill>
                  <a:srgbClr val="000000"/>
                </a:solidFill>
                <a:latin typeface="Times New Roman"/>
                <a:cs typeface="Times New Roman"/>
              </a:rPr>
              <a:t> · nhóm 1 chiếm </a:t>
            </a:r>
            <a:r>
              <a:rPr lang="vi-VN" sz="1800" b="1" i="0">
                <a:solidFill>
                  <a:srgbClr val="C55A11"/>
                </a:solidFill>
                <a:latin typeface="Times New Roman"/>
                <a:cs typeface="Times New Roman"/>
              </a:rPr>
              <a:t>96,4%</a:t>
            </a:r>
          </a:p>
        </p:txBody>
      </p:sp>
      <p:sp>
        <p:nvSpPr>
          <p:cNvPr id="474" name="Rounded Rectangle 473"/>
          <p:cNvSpPr/>
          <p:nvPr/>
        </p:nvSpPr>
        <p:spPr>
          <a:xfrm>
            <a:off x="365760" y="1371600"/>
            <a:ext cx="4206240" cy="4114800"/>
          </a:xfrm>
          <a:prstGeom prst="roundRect">
            <a:avLst>
              <a:gd name="adj" fmla="val 3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371600"/>
            <a:ext cx="4206240"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Top 10 ngành (tỷ đồng)</a:t>
            </a:r>
          </a:p>
        </p:txBody>
      </p:sp>
      <p:graphicFrame>
        <p:nvGraphicFramePr>
          <p:cNvPr id="476" name="Chart 475"/>
          <p:cNvGraphicFramePr>
            <a:graphicFrameLocks noGrp="1"/>
          </p:cNvGraphicFramePr>
          <p:nvPr/>
        </p:nvGraphicFramePr>
        <p:xfrm>
          <a:off x="384048" y="1783080"/>
          <a:ext cx="416052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477" name="Rounded Rectangle 476"/>
          <p:cNvSpPr/>
          <p:nvPr/>
        </p:nvSpPr>
        <p:spPr>
          <a:xfrm>
            <a:off x="4681728" y="1371600"/>
            <a:ext cx="3657600" cy="4114800"/>
          </a:xfrm>
          <a:prstGeom prst="roundRect">
            <a:avLst>
              <a:gd name="adj" fmla="val 3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8" name="Rounded Rectangle 477"/>
          <p:cNvSpPr/>
          <p:nvPr/>
        </p:nvSpPr>
        <p:spPr>
          <a:xfrm>
            <a:off x="4681728" y="1371600"/>
            <a:ext cx="3657600" cy="384048"/>
          </a:xfrm>
          <a:prstGeom prst="roundRect">
            <a:avLst>
              <a:gd name="adj" fmla="val 25000"/>
            </a:avLst>
          </a:prstGeom>
          <a:solidFill>
            <a:srgbClr val="C55A1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Top 10 ĐVKD (tỷ đồng)</a:t>
            </a:r>
          </a:p>
        </p:txBody>
      </p:sp>
      <p:graphicFrame>
        <p:nvGraphicFramePr>
          <p:cNvPr id="479" name="Chart 478"/>
          <p:cNvGraphicFramePr>
            <a:graphicFrameLocks noGrp="1"/>
          </p:cNvGraphicFramePr>
          <p:nvPr/>
        </p:nvGraphicFramePr>
        <p:xfrm>
          <a:off x="4700016" y="1783080"/>
          <a:ext cx="361188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480" name="Rounded Rectangle 479"/>
          <p:cNvSpPr/>
          <p:nvPr/>
        </p:nvSpPr>
        <p:spPr>
          <a:xfrm>
            <a:off x="8449056" y="1371600"/>
            <a:ext cx="3374136" cy="411480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1" name="Rounded Rectangle 480"/>
          <p:cNvSpPr/>
          <p:nvPr/>
        </p:nvSpPr>
        <p:spPr>
          <a:xfrm>
            <a:off x="8449056" y="1371600"/>
            <a:ext cx="3374136"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Nhóm nợ (% dư nợ)</a:t>
            </a:r>
          </a:p>
        </p:txBody>
      </p:sp>
      <p:graphicFrame>
        <p:nvGraphicFramePr>
          <p:cNvPr id="482" name="Chart 481"/>
          <p:cNvGraphicFramePr>
            <a:graphicFrameLocks noGrp="1"/>
          </p:cNvGraphicFramePr>
          <p:nvPr/>
        </p:nvGraphicFramePr>
        <p:xfrm>
          <a:off x="8467344" y="1783080"/>
          <a:ext cx="3337560" cy="3657600"/>
        </p:xfrm>
        <a:graphic>
          <a:graphicData uri="http://schemas.openxmlformats.org/drawingml/2006/chart">
            <c:chart xmlns:c="http://schemas.openxmlformats.org/drawingml/2006/chart" xmlns:r="http://schemas.openxmlformats.org/officeDocument/2006/relationships" r:id="rId6"/>
          </a:graphicData>
        </a:graphic>
      </p:graphicFrame>
      <p:sp>
        <p:nvSpPr>
          <p:cNvPr id="483" name="Rounded Rectangle 482"/>
          <p:cNvSpPr/>
          <p:nvPr/>
        </p:nvSpPr>
        <p:spPr>
          <a:xfrm>
            <a:off x="365760" y="5577840"/>
            <a:ext cx="11457432"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treemap hoặc cột ngang Top 10 ngành · cột ngang Top 10 ĐVKD hoặc Pareto 78 ĐVKD · cột ngang theo nhóm nợ (không dùng biểu đồ tròn vì các nhóm xấu quá nhỏ)</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33</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Quan hệ giữa các biến: lãi suất – biên lãi, quy mô – thu nhập</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Dư nợ và NII YTD theo ĐVKD tương quan rất cao (≈ </a:t>
            </a:r>
            <a:r>
              <a:rPr lang="vi-VN" sz="1800" b="1" i="0">
                <a:solidFill>
                  <a:srgbClr val="C00000"/>
                </a:solidFill>
                <a:latin typeface="Times New Roman"/>
                <a:cs typeface="Times New Roman"/>
              </a:rPr>
              <a:t>0,92</a:t>
            </a:r>
            <a:r>
              <a:rPr lang="vi-VN" sz="1800" b="0" i="0">
                <a:solidFill>
                  <a:srgbClr val="000000"/>
                </a:solidFill>
                <a:latin typeface="Times New Roman"/>
                <a:cs typeface="Times New Roman"/>
              </a:rPr>
              <a:t>); điểm lệch xu hướng gợi ý phân tích sâu</a:t>
            </a:r>
          </a:p>
        </p:txBody>
      </p:sp>
      <p:sp>
        <p:nvSpPr>
          <p:cNvPr id="474" name="Rounded Rectangle 473"/>
          <p:cNvSpPr/>
          <p:nvPr/>
        </p:nvSpPr>
        <p:spPr>
          <a:xfrm>
            <a:off x="365760" y="1371600"/>
            <a:ext cx="3429000" cy="4114800"/>
          </a:xfrm>
          <a:prstGeom prst="roundRect">
            <a:avLst>
              <a:gd name="adj" fmla="val 3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371600"/>
            <a:ext cx="3429000"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Lãi suất bình quân (%/năm)</a:t>
            </a:r>
          </a:p>
        </p:txBody>
      </p:sp>
      <p:graphicFrame>
        <p:nvGraphicFramePr>
          <p:cNvPr id="476" name="Chart 475"/>
          <p:cNvGraphicFramePr>
            <a:graphicFrameLocks noGrp="1"/>
          </p:cNvGraphicFramePr>
          <p:nvPr/>
        </p:nvGraphicFramePr>
        <p:xfrm>
          <a:off x="384048" y="1783080"/>
          <a:ext cx="338328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477" name="Rounded Rectangle 476"/>
          <p:cNvSpPr/>
          <p:nvPr/>
        </p:nvSpPr>
        <p:spPr>
          <a:xfrm>
            <a:off x="3886200" y="1371600"/>
            <a:ext cx="3429000" cy="4114800"/>
          </a:xfrm>
          <a:prstGeom prst="roundRect">
            <a:avLst>
              <a:gd name="adj" fmla="val 3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8" name="Rounded Rectangle 477"/>
          <p:cNvSpPr/>
          <p:nvPr/>
        </p:nvSpPr>
        <p:spPr>
          <a:xfrm>
            <a:off x="3886200" y="1371600"/>
            <a:ext cx="3429000" cy="384048"/>
          </a:xfrm>
          <a:prstGeom prst="roundRect">
            <a:avLst>
              <a:gd name="adj" fmla="val 25000"/>
            </a:avLst>
          </a:prstGeom>
          <a:solidFill>
            <a:srgbClr val="C55A1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NIM năm hóa 6T/2026 (%)</a:t>
            </a:r>
          </a:p>
        </p:txBody>
      </p:sp>
      <p:graphicFrame>
        <p:nvGraphicFramePr>
          <p:cNvPr id="479" name="Chart 478"/>
          <p:cNvGraphicFramePr>
            <a:graphicFrameLocks noGrp="1"/>
          </p:cNvGraphicFramePr>
          <p:nvPr/>
        </p:nvGraphicFramePr>
        <p:xfrm>
          <a:off x="3904487" y="1783080"/>
          <a:ext cx="338328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480" name="Rounded Rectangle 479"/>
          <p:cNvSpPr/>
          <p:nvPr/>
        </p:nvSpPr>
        <p:spPr>
          <a:xfrm>
            <a:off x="7406640" y="1371600"/>
            <a:ext cx="4416552" cy="411480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1" name="Rounded Rectangle 480"/>
          <p:cNvSpPr/>
          <p:nvPr/>
        </p:nvSpPr>
        <p:spPr>
          <a:xfrm>
            <a:off x="7406640" y="1371600"/>
            <a:ext cx="4416552"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Dư nợ và NII YTD theo ĐVKD</a:t>
            </a:r>
          </a:p>
        </p:txBody>
      </p:sp>
      <p:graphicFrame>
        <p:nvGraphicFramePr>
          <p:cNvPr id="482" name="Chart 481"/>
          <p:cNvGraphicFramePr>
            <a:graphicFrameLocks noGrp="1"/>
          </p:cNvGraphicFramePr>
          <p:nvPr/>
        </p:nvGraphicFramePr>
        <p:xfrm>
          <a:off x="7452360" y="1783080"/>
          <a:ext cx="4343400" cy="3200400"/>
        </p:xfrm>
        <a:graphic>
          <a:graphicData uri="http://schemas.openxmlformats.org/drawingml/2006/chart">
            <c:chart xmlns:c="http://schemas.openxmlformats.org/drawingml/2006/chart" xmlns:r="http://schemas.openxmlformats.org/officeDocument/2006/relationships" r:id="rId6"/>
          </a:graphicData>
        </a:graphic>
      </p:graphicFrame>
      <p:sp>
        <p:nvSpPr>
          <p:cNvPr id="483" name="TextBox 482"/>
          <p:cNvSpPr txBox="1"/>
          <p:nvPr/>
        </p:nvSpPr>
        <p:spPr>
          <a:xfrm>
            <a:off x="7498079" y="5029200"/>
            <a:ext cx="4251960" cy="411480"/>
          </a:xfrm>
          <a:prstGeom prst="rect">
            <a:avLst/>
          </a:prstGeom>
          <a:noFill/>
        </p:spPr>
        <p:txBody>
          <a:bodyPr wrap="square" lIns="0" tIns="0" rIns="0" bIns="0" anchor="ctr"/>
          <a:lstStyle/>
          <a:p>
            <a:pPr algn="l"/>
            <a:r>
              <a:rPr lang="vi-VN" sz="1050" b="0" i="1">
                <a:solidFill>
                  <a:srgbClr val="595959"/>
                </a:solidFill>
                <a:latin typeface="Times New Roman"/>
                <a:cs typeface="Times New Roman"/>
              </a:rPr>
              <a:t>Trục x: dư nợ (tỷ đồng) · trục y: NII YTD (tỷ đồng) · mỗi điểm là một ĐVKD (78 điểm)</a:t>
            </a:r>
          </a:p>
        </p:txBody>
      </p:sp>
      <p:sp>
        <p:nvSpPr>
          <p:cNvPr id="484" name="Rounded Rectangle 483"/>
          <p:cNvSpPr/>
          <p:nvPr/>
        </p:nvSpPr>
        <p:spPr>
          <a:xfrm>
            <a:off x="365760" y="5577840"/>
            <a:ext cx="11457432"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biểu đồ kết hợp cột và đường (lãi suất, NIM theo phân khúc) · biểu đồ phân tán (mỗi điểm là một ĐVKD)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34</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Diễn biến 18 tháng: dư nợ, thu nhập và chất lượng tín dụng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Dư nợ tăng từ </a:t>
            </a:r>
            <a:r>
              <a:rPr lang="vi-VN" sz="1800" b="1" i="0">
                <a:solidFill>
                  <a:srgbClr val="C55A11"/>
                </a:solidFill>
                <a:latin typeface="Times New Roman"/>
                <a:cs typeface="Times New Roman"/>
              </a:rPr>
              <a:t>82,1</a:t>
            </a:r>
            <a:r>
              <a:rPr lang="vi-VN" sz="1800" b="0" i="0">
                <a:solidFill>
                  <a:srgbClr val="000000"/>
                </a:solidFill>
                <a:latin typeface="Times New Roman"/>
                <a:cs typeface="Times New Roman"/>
              </a:rPr>
              <a:t> lên </a:t>
            </a:r>
            <a:r>
              <a:rPr lang="vi-VN" sz="1800" b="1" i="0">
                <a:solidFill>
                  <a:srgbClr val="C55A11"/>
                </a:solidFill>
                <a:latin typeface="Times New Roman"/>
                <a:cs typeface="Times New Roman"/>
              </a:rPr>
              <a:t>98,4 nghìn tỷ</a:t>
            </a:r>
            <a:r>
              <a:rPr lang="vi-VN" sz="1800" b="0" i="0">
                <a:solidFill>
                  <a:srgbClr val="000000"/>
                </a:solidFill>
                <a:latin typeface="Times New Roman"/>
                <a:cs typeface="Times New Roman"/>
              </a:rPr>
              <a:t> (12/2024 → 06/2026); ba đường cùng trục thời gian</a:t>
            </a:r>
          </a:p>
        </p:txBody>
      </p:sp>
      <p:sp>
        <p:nvSpPr>
          <p:cNvPr id="474" name="Rounded Rectangle 473"/>
          <p:cNvSpPr/>
          <p:nvPr/>
        </p:nvSpPr>
        <p:spPr>
          <a:xfrm>
            <a:off x="365760" y="1371600"/>
            <a:ext cx="3749039" cy="4114800"/>
          </a:xfrm>
          <a:prstGeom prst="roundRect">
            <a:avLst>
              <a:gd name="adj" fmla="val 3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5" name="Rounded Rectangle 474"/>
          <p:cNvSpPr/>
          <p:nvPr/>
        </p:nvSpPr>
        <p:spPr>
          <a:xfrm>
            <a:off x="365760" y="1371600"/>
            <a:ext cx="3749039"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Dư nợ cuối tháng (nghìn tỷ)</a:t>
            </a:r>
          </a:p>
        </p:txBody>
      </p:sp>
      <p:graphicFrame>
        <p:nvGraphicFramePr>
          <p:cNvPr id="476" name="Chart 475"/>
          <p:cNvGraphicFramePr>
            <a:graphicFrameLocks noGrp="1"/>
          </p:cNvGraphicFramePr>
          <p:nvPr/>
        </p:nvGraphicFramePr>
        <p:xfrm>
          <a:off x="384048" y="1783080"/>
          <a:ext cx="370332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477" name="Rounded Rectangle 476"/>
          <p:cNvSpPr/>
          <p:nvPr/>
        </p:nvSpPr>
        <p:spPr>
          <a:xfrm>
            <a:off x="4224528" y="1371600"/>
            <a:ext cx="3749039" cy="4114800"/>
          </a:xfrm>
          <a:prstGeom prst="roundRect">
            <a:avLst>
              <a:gd name="adj" fmla="val 3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78" name="Rounded Rectangle 477"/>
          <p:cNvSpPr/>
          <p:nvPr/>
        </p:nvSpPr>
        <p:spPr>
          <a:xfrm>
            <a:off x="4224528" y="1371600"/>
            <a:ext cx="3749039"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NII và TOI tháng (tỷ đồng)</a:t>
            </a:r>
          </a:p>
        </p:txBody>
      </p:sp>
      <p:graphicFrame>
        <p:nvGraphicFramePr>
          <p:cNvPr id="479" name="Chart 478"/>
          <p:cNvGraphicFramePr>
            <a:graphicFrameLocks noGrp="1"/>
          </p:cNvGraphicFramePr>
          <p:nvPr/>
        </p:nvGraphicFramePr>
        <p:xfrm>
          <a:off x="4242816" y="1783080"/>
          <a:ext cx="3703320" cy="3657600"/>
        </p:xfrm>
        <a:graphic>
          <a:graphicData uri="http://schemas.openxmlformats.org/drawingml/2006/chart">
            <c:chart xmlns:c="http://schemas.openxmlformats.org/drawingml/2006/chart" xmlns:r="http://schemas.openxmlformats.org/officeDocument/2006/relationships" r:id="rId5"/>
          </a:graphicData>
        </a:graphic>
      </p:graphicFrame>
      <p:sp>
        <p:nvSpPr>
          <p:cNvPr id="480" name="Rounded Rectangle 479"/>
          <p:cNvSpPr/>
          <p:nvPr/>
        </p:nvSpPr>
        <p:spPr>
          <a:xfrm>
            <a:off x="8074152" y="1371600"/>
            <a:ext cx="3749039" cy="4114800"/>
          </a:xfrm>
          <a:prstGeom prst="roundRect">
            <a:avLst>
              <a:gd name="adj" fmla="val 3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481" name="Rounded Rectangle 480"/>
          <p:cNvSpPr/>
          <p:nvPr/>
        </p:nvSpPr>
        <p:spPr>
          <a:xfrm>
            <a:off x="8074152" y="1371600"/>
            <a:ext cx="3749039" cy="384048"/>
          </a:xfrm>
          <a:prstGeom prst="roundRect">
            <a:avLst>
              <a:gd name="adj" fmla="val 25000"/>
            </a:avLst>
          </a:prstGeom>
          <a:solidFill>
            <a:srgbClr val="C00000"/>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Tỷ lệ OD2, OD3-5 (%)</a:t>
            </a:r>
          </a:p>
        </p:txBody>
      </p:sp>
      <p:graphicFrame>
        <p:nvGraphicFramePr>
          <p:cNvPr id="482" name="Chart 481"/>
          <p:cNvGraphicFramePr>
            <a:graphicFrameLocks noGrp="1"/>
          </p:cNvGraphicFramePr>
          <p:nvPr/>
        </p:nvGraphicFramePr>
        <p:xfrm>
          <a:off x="8092440" y="1783080"/>
          <a:ext cx="3703320" cy="3657600"/>
        </p:xfrm>
        <a:graphic>
          <a:graphicData uri="http://schemas.openxmlformats.org/drawingml/2006/chart">
            <c:chart xmlns:c="http://schemas.openxmlformats.org/drawingml/2006/chart" xmlns:r="http://schemas.openxmlformats.org/officeDocument/2006/relationships" r:id="rId6"/>
          </a:graphicData>
        </a:graphic>
      </p:graphicFrame>
      <p:sp>
        <p:nvSpPr>
          <p:cNvPr id="483" name="Rounded Rectangle 482"/>
          <p:cNvSpPr/>
          <p:nvPr/>
        </p:nvSpPr>
        <p:spPr>
          <a:xfrm>
            <a:off x="365760" y="5577840"/>
            <a:ext cx="11457432"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ba biểu đồ đường (dư nợ · NII và TOI tháng · tỷ lệ OD2 và OD3-5) đặt cạnh nhau, cùng trục thời gian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Khám phá dữ liệu</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35</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Mùa vụ, điểm bất thường và chất lượng dữ liệu</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Dư nợ ngắn hạn thấp sau Tết, cao cuối năm → so sánh </a:t>
            </a:r>
            <a:r>
              <a:rPr lang="vi-VN" sz="1800" b="1" i="0">
                <a:solidFill>
                  <a:srgbClr val="123A7A"/>
                </a:solidFill>
                <a:latin typeface="Times New Roman"/>
                <a:cs typeface="Times New Roman"/>
              </a:rPr>
              <a:t>cùng tháng</a:t>
            </a:r>
            <a:r>
              <a:rPr lang="vi-VN" sz="1800" b="0" i="0">
                <a:solidFill>
                  <a:srgbClr val="000000"/>
                </a:solidFill>
                <a:latin typeface="Times New Roman"/>
                <a:cs typeface="Times New Roman"/>
              </a:rPr>
              <a:t> giữa các năm để loại mùa vụ</a:t>
            </a:r>
          </a:p>
        </p:txBody>
      </p:sp>
      <p:sp>
        <p:nvSpPr>
          <p:cNvPr id="474" name="Rounded Rectangle 473"/>
          <p:cNvSpPr/>
          <p:nvPr/>
        </p:nvSpPr>
        <p:spPr>
          <a:xfrm>
            <a:off x="365760" y="1371600"/>
            <a:ext cx="6675120" cy="4114800"/>
          </a:xfrm>
          <a:prstGeom prst="roundRect">
            <a:avLst>
              <a:gd name="adj" fmla="val 3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5" name="Rounded Rectangle 474"/>
          <p:cNvSpPr/>
          <p:nvPr/>
        </p:nvSpPr>
        <p:spPr>
          <a:xfrm>
            <a:off x="365760" y="1371600"/>
            <a:ext cx="6675120" cy="384048"/>
          </a:xfrm>
          <a:prstGeom prst="roundRect">
            <a:avLst>
              <a:gd name="adj" fmla="val 25000"/>
            </a:avLst>
          </a:prstGeom>
          <a:solidFill>
            <a:srgbClr val="C55A1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Tăng trưởng dư nợ theo tháng so với tháng trước (%)</a:t>
            </a:r>
          </a:p>
        </p:txBody>
      </p:sp>
      <p:sp>
        <p:nvSpPr>
          <p:cNvPr id="476" name="Rectangle 475"/>
          <p:cNvSpPr/>
          <p:nvPr/>
        </p:nvSpPr>
        <p:spPr>
          <a:xfrm>
            <a:off x="502920" y="1874519"/>
            <a:ext cx="62179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Năm</a:t>
            </a:r>
          </a:p>
        </p:txBody>
      </p:sp>
      <p:sp>
        <p:nvSpPr>
          <p:cNvPr id="477" name="Rectangle 476"/>
          <p:cNvSpPr/>
          <p:nvPr/>
        </p:nvSpPr>
        <p:spPr>
          <a:xfrm>
            <a:off x="11430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T1</a:t>
            </a:r>
          </a:p>
        </p:txBody>
      </p:sp>
      <p:sp>
        <p:nvSpPr>
          <p:cNvPr id="478" name="Rectangle 477"/>
          <p:cNvSpPr/>
          <p:nvPr/>
        </p:nvSpPr>
        <p:spPr>
          <a:xfrm>
            <a:off x="16002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T2</a:t>
            </a:r>
          </a:p>
        </p:txBody>
      </p:sp>
      <p:sp>
        <p:nvSpPr>
          <p:cNvPr id="479" name="Rectangle 478"/>
          <p:cNvSpPr/>
          <p:nvPr/>
        </p:nvSpPr>
        <p:spPr>
          <a:xfrm>
            <a:off x="20574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T3</a:t>
            </a:r>
          </a:p>
        </p:txBody>
      </p:sp>
      <p:sp>
        <p:nvSpPr>
          <p:cNvPr id="480" name="Rectangle 479"/>
          <p:cNvSpPr/>
          <p:nvPr/>
        </p:nvSpPr>
        <p:spPr>
          <a:xfrm>
            <a:off x="25146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T4</a:t>
            </a:r>
          </a:p>
        </p:txBody>
      </p:sp>
      <p:sp>
        <p:nvSpPr>
          <p:cNvPr id="481" name="Rectangle 480"/>
          <p:cNvSpPr/>
          <p:nvPr/>
        </p:nvSpPr>
        <p:spPr>
          <a:xfrm>
            <a:off x="29718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T5</a:t>
            </a:r>
          </a:p>
        </p:txBody>
      </p:sp>
      <p:sp>
        <p:nvSpPr>
          <p:cNvPr id="482" name="Rectangle 481"/>
          <p:cNvSpPr/>
          <p:nvPr/>
        </p:nvSpPr>
        <p:spPr>
          <a:xfrm>
            <a:off x="34290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T6</a:t>
            </a:r>
          </a:p>
        </p:txBody>
      </p:sp>
      <p:sp>
        <p:nvSpPr>
          <p:cNvPr id="483" name="Rectangle 482"/>
          <p:cNvSpPr/>
          <p:nvPr/>
        </p:nvSpPr>
        <p:spPr>
          <a:xfrm>
            <a:off x="38862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T7</a:t>
            </a:r>
          </a:p>
        </p:txBody>
      </p:sp>
      <p:sp>
        <p:nvSpPr>
          <p:cNvPr id="484" name="Rectangle 483"/>
          <p:cNvSpPr/>
          <p:nvPr/>
        </p:nvSpPr>
        <p:spPr>
          <a:xfrm>
            <a:off x="43434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T8</a:t>
            </a:r>
          </a:p>
        </p:txBody>
      </p:sp>
      <p:sp>
        <p:nvSpPr>
          <p:cNvPr id="485" name="Rectangle 484"/>
          <p:cNvSpPr/>
          <p:nvPr/>
        </p:nvSpPr>
        <p:spPr>
          <a:xfrm>
            <a:off x="48006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T9</a:t>
            </a:r>
          </a:p>
        </p:txBody>
      </p:sp>
      <p:sp>
        <p:nvSpPr>
          <p:cNvPr id="486" name="Rectangle 485"/>
          <p:cNvSpPr/>
          <p:nvPr/>
        </p:nvSpPr>
        <p:spPr>
          <a:xfrm>
            <a:off x="52578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T10</a:t>
            </a:r>
          </a:p>
        </p:txBody>
      </p:sp>
      <p:sp>
        <p:nvSpPr>
          <p:cNvPr id="487" name="Rectangle 486"/>
          <p:cNvSpPr/>
          <p:nvPr/>
        </p:nvSpPr>
        <p:spPr>
          <a:xfrm>
            <a:off x="57150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T11</a:t>
            </a:r>
          </a:p>
        </p:txBody>
      </p:sp>
      <p:sp>
        <p:nvSpPr>
          <p:cNvPr id="488" name="Rectangle 487"/>
          <p:cNvSpPr/>
          <p:nvPr/>
        </p:nvSpPr>
        <p:spPr>
          <a:xfrm>
            <a:off x="6172200" y="1874519"/>
            <a:ext cx="438912" cy="365760"/>
          </a:xfrm>
          <a:prstGeom prst="rect">
            <a:avLst/>
          </a:prstGeom>
          <a:solidFill>
            <a:srgbClr val="1A365D"/>
          </a:solidFill>
          <a:ln>
            <a:noFill/>
          </a:ln>
        </p:spPr>
        <p:txBody>
          <a:bodyPr wrap="square" lIns="0" tIns="0" rIns="0" bIns="0" rtlCol="0" anchor="ctr"/>
          <a:lstStyle/>
          <a:p>
            <a:pPr algn="ctr"/>
            <a:r>
              <a:rPr lang="vi-VN" sz="1150" b="1" i="0">
                <a:solidFill>
                  <a:srgbClr val="FFFFFF"/>
                </a:solidFill>
                <a:latin typeface="Times New Roman"/>
                <a:cs typeface="Times New Roman"/>
              </a:rPr>
              <a:t>T12</a:t>
            </a:r>
          </a:p>
        </p:txBody>
      </p:sp>
      <p:sp>
        <p:nvSpPr>
          <p:cNvPr id="489" name="Rectangle 488"/>
          <p:cNvSpPr/>
          <p:nvPr/>
        </p:nvSpPr>
        <p:spPr>
          <a:xfrm>
            <a:off x="502920" y="2286000"/>
            <a:ext cx="621792" cy="457200"/>
          </a:xfrm>
          <a:prstGeom prst="rect">
            <a:avLst/>
          </a:prstGeom>
          <a:solidFill>
            <a:srgbClr val="F2F2F2"/>
          </a:solidFill>
          <a:ln>
            <a:noFill/>
          </a:ln>
        </p:spPr>
        <p:txBody>
          <a:bodyPr wrap="square" lIns="0" tIns="0" rIns="0" bIns="0" rtlCol="0" anchor="ctr"/>
          <a:lstStyle/>
          <a:p>
            <a:pPr algn="ctr"/>
            <a:r>
              <a:rPr lang="vi-VN" sz="1250" b="1" i="0">
                <a:solidFill>
                  <a:srgbClr val="1A365D"/>
                </a:solidFill>
                <a:latin typeface="Times New Roman"/>
                <a:cs typeface="Times New Roman"/>
              </a:rPr>
              <a:t>2024</a:t>
            </a:r>
          </a:p>
        </p:txBody>
      </p:sp>
      <p:sp>
        <p:nvSpPr>
          <p:cNvPr id="490" name="Rectangle 489"/>
          <p:cNvSpPr/>
          <p:nvPr/>
        </p:nvSpPr>
        <p:spPr>
          <a:xfrm>
            <a:off x="11430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1,4</a:t>
            </a:r>
          </a:p>
        </p:txBody>
      </p:sp>
      <p:sp>
        <p:nvSpPr>
          <p:cNvPr id="491" name="Rectangle 490"/>
          <p:cNvSpPr/>
          <p:nvPr/>
        </p:nvSpPr>
        <p:spPr>
          <a:xfrm>
            <a:off x="16002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1,0</a:t>
            </a:r>
          </a:p>
        </p:txBody>
      </p:sp>
      <p:sp>
        <p:nvSpPr>
          <p:cNvPr id="492" name="Rectangle 491"/>
          <p:cNvSpPr/>
          <p:nvPr/>
        </p:nvSpPr>
        <p:spPr>
          <a:xfrm>
            <a:off x="20574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1,1</a:t>
            </a:r>
          </a:p>
        </p:txBody>
      </p:sp>
      <p:sp>
        <p:nvSpPr>
          <p:cNvPr id="493" name="Rectangle 492"/>
          <p:cNvSpPr/>
          <p:nvPr/>
        </p:nvSpPr>
        <p:spPr>
          <a:xfrm>
            <a:off x="2514600" y="2286000"/>
            <a:ext cx="438912" cy="457200"/>
          </a:xfrm>
          <a:prstGeom prst="rect">
            <a:avLst/>
          </a:prstGeom>
          <a:solidFill>
            <a:srgbClr val="5E9B3A"/>
          </a:solidFill>
          <a:ln>
            <a:noFill/>
          </a:ln>
        </p:spPr>
        <p:txBody>
          <a:bodyPr wrap="square" lIns="0" tIns="0" rIns="0" bIns="0" rtlCol="0" anchor="ctr"/>
          <a:lstStyle/>
          <a:p>
            <a:pPr algn="ctr"/>
            <a:r>
              <a:rPr lang="vi-VN" sz="1100" b="1" i="0">
                <a:solidFill>
                  <a:srgbClr val="FFFFFF"/>
                </a:solidFill>
                <a:latin typeface="Times New Roman"/>
                <a:cs typeface="Times New Roman"/>
              </a:rPr>
              <a:t>2,5</a:t>
            </a:r>
          </a:p>
        </p:txBody>
      </p:sp>
      <p:sp>
        <p:nvSpPr>
          <p:cNvPr id="494" name="Rectangle 493"/>
          <p:cNvSpPr/>
          <p:nvPr/>
        </p:nvSpPr>
        <p:spPr>
          <a:xfrm>
            <a:off x="29718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1,3</a:t>
            </a:r>
          </a:p>
        </p:txBody>
      </p:sp>
      <p:sp>
        <p:nvSpPr>
          <p:cNvPr id="495" name="Rectangle 494"/>
          <p:cNvSpPr/>
          <p:nvPr/>
        </p:nvSpPr>
        <p:spPr>
          <a:xfrm>
            <a:off x="3429000" y="228600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0,6</a:t>
            </a:r>
          </a:p>
        </p:txBody>
      </p:sp>
      <p:sp>
        <p:nvSpPr>
          <p:cNvPr id="496" name="Rectangle 495"/>
          <p:cNvSpPr/>
          <p:nvPr/>
        </p:nvSpPr>
        <p:spPr>
          <a:xfrm>
            <a:off x="38862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1,2</a:t>
            </a:r>
          </a:p>
        </p:txBody>
      </p:sp>
      <p:sp>
        <p:nvSpPr>
          <p:cNvPr id="497" name="Rectangle 496"/>
          <p:cNvSpPr/>
          <p:nvPr/>
        </p:nvSpPr>
        <p:spPr>
          <a:xfrm>
            <a:off x="43434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1,3</a:t>
            </a:r>
          </a:p>
        </p:txBody>
      </p:sp>
      <p:sp>
        <p:nvSpPr>
          <p:cNvPr id="498" name="Rectangle 497"/>
          <p:cNvSpPr/>
          <p:nvPr/>
        </p:nvSpPr>
        <p:spPr>
          <a:xfrm>
            <a:off x="4800600" y="228600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0,8</a:t>
            </a:r>
          </a:p>
        </p:txBody>
      </p:sp>
      <p:sp>
        <p:nvSpPr>
          <p:cNvPr id="499" name="Rectangle 498"/>
          <p:cNvSpPr/>
          <p:nvPr/>
        </p:nvSpPr>
        <p:spPr>
          <a:xfrm>
            <a:off x="5257800" y="228600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1,2</a:t>
            </a:r>
          </a:p>
        </p:txBody>
      </p:sp>
      <p:sp>
        <p:nvSpPr>
          <p:cNvPr id="500" name="Rectangle 499"/>
          <p:cNvSpPr/>
          <p:nvPr/>
        </p:nvSpPr>
        <p:spPr>
          <a:xfrm>
            <a:off x="5715000" y="2286000"/>
            <a:ext cx="438912" cy="457200"/>
          </a:xfrm>
          <a:prstGeom prst="rect">
            <a:avLst/>
          </a:prstGeom>
          <a:solidFill>
            <a:srgbClr val="5E9B3A"/>
          </a:solidFill>
          <a:ln>
            <a:noFill/>
          </a:ln>
        </p:spPr>
        <p:txBody>
          <a:bodyPr wrap="square" lIns="0" tIns="0" rIns="0" bIns="0" rtlCol="0" anchor="ctr"/>
          <a:lstStyle/>
          <a:p>
            <a:pPr algn="ctr"/>
            <a:r>
              <a:rPr lang="vi-VN" sz="1100" b="1" i="0">
                <a:solidFill>
                  <a:srgbClr val="FFFFFF"/>
                </a:solidFill>
                <a:latin typeface="Times New Roman"/>
                <a:cs typeface="Times New Roman"/>
              </a:rPr>
              <a:t>2,4</a:t>
            </a:r>
          </a:p>
        </p:txBody>
      </p:sp>
      <p:sp>
        <p:nvSpPr>
          <p:cNvPr id="501" name="Rectangle 500"/>
          <p:cNvSpPr/>
          <p:nvPr/>
        </p:nvSpPr>
        <p:spPr>
          <a:xfrm>
            <a:off x="6172200" y="2286000"/>
            <a:ext cx="438912" cy="457200"/>
          </a:xfrm>
          <a:prstGeom prst="rect">
            <a:avLst/>
          </a:prstGeom>
          <a:solidFill>
            <a:srgbClr val="5E9B3A"/>
          </a:solidFill>
          <a:ln>
            <a:noFill/>
          </a:ln>
        </p:spPr>
        <p:txBody>
          <a:bodyPr wrap="square" lIns="0" tIns="0" rIns="0" bIns="0" rtlCol="0" anchor="ctr"/>
          <a:lstStyle/>
          <a:p>
            <a:pPr algn="ctr"/>
            <a:r>
              <a:rPr lang="vi-VN" sz="1100" b="1" i="0">
                <a:solidFill>
                  <a:srgbClr val="FFFFFF"/>
                </a:solidFill>
                <a:latin typeface="Times New Roman"/>
                <a:cs typeface="Times New Roman"/>
              </a:rPr>
              <a:t>2,1</a:t>
            </a:r>
          </a:p>
        </p:txBody>
      </p:sp>
      <p:sp>
        <p:nvSpPr>
          <p:cNvPr id="502" name="Rectangle 501"/>
          <p:cNvSpPr/>
          <p:nvPr/>
        </p:nvSpPr>
        <p:spPr>
          <a:xfrm>
            <a:off x="502920" y="2788920"/>
            <a:ext cx="621792" cy="457200"/>
          </a:xfrm>
          <a:prstGeom prst="rect">
            <a:avLst/>
          </a:prstGeom>
          <a:solidFill>
            <a:srgbClr val="F2F2F2"/>
          </a:solidFill>
          <a:ln>
            <a:noFill/>
          </a:ln>
        </p:spPr>
        <p:txBody>
          <a:bodyPr wrap="square" lIns="0" tIns="0" rIns="0" bIns="0" rtlCol="0" anchor="ctr"/>
          <a:lstStyle/>
          <a:p>
            <a:pPr algn="ctr"/>
            <a:r>
              <a:rPr lang="vi-VN" sz="1250" b="1" i="0">
                <a:solidFill>
                  <a:srgbClr val="1A365D"/>
                </a:solidFill>
                <a:latin typeface="Times New Roman"/>
                <a:cs typeface="Times New Roman"/>
              </a:rPr>
              <a:t>2025</a:t>
            </a:r>
          </a:p>
        </p:txBody>
      </p:sp>
      <p:sp>
        <p:nvSpPr>
          <p:cNvPr id="503" name="Rectangle 502"/>
          <p:cNvSpPr/>
          <p:nvPr/>
        </p:nvSpPr>
        <p:spPr>
          <a:xfrm>
            <a:off x="1143000" y="278892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0,6</a:t>
            </a:r>
          </a:p>
        </p:txBody>
      </p:sp>
      <p:sp>
        <p:nvSpPr>
          <p:cNvPr id="504" name="Rectangle 503"/>
          <p:cNvSpPr/>
          <p:nvPr/>
        </p:nvSpPr>
        <p:spPr>
          <a:xfrm>
            <a:off x="1600200" y="2788920"/>
            <a:ext cx="438912" cy="457200"/>
          </a:xfrm>
          <a:prstGeom prst="rect">
            <a:avLst/>
          </a:prstGeom>
          <a:solidFill>
            <a:srgbClr val="F4B6A6"/>
          </a:solidFill>
          <a:ln>
            <a:noFill/>
          </a:ln>
        </p:spPr>
        <p:txBody>
          <a:bodyPr wrap="square" lIns="0" tIns="0" rIns="0" bIns="0" rtlCol="0" anchor="ctr"/>
          <a:lstStyle/>
          <a:p>
            <a:pPr algn="ctr"/>
            <a:r>
              <a:rPr lang="vi-VN" sz="1100" b="1" i="0">
                <a:solidFill>
                  <a:srgbClr val="7A1F0B"/>
                </a:solidFill>
                <a:latin typeface="Times New Roman"/>
                <a:cs typeface="Times New Roman"/>
              </a:rPr>
              <a:t>-0,4</a:t>
            </a:r>
          </a:p>
        </p:txBody>
      </p:sp>
      <p:sp>
        <p:nvSpPr>
          <p:cNvPr id="505" name="Rectangle 504"/>
          <p:cNvSpPr/>
          <p:nvPr/>
        </p:nvSpPr>
        <p:spPr>
          <a:xfrm>
            <a:off x="2057400" y="2788920"/>
            <a:ext cx="438912" cy="457200"/>
          </a:xfrm>
          <a:prstGeom prst="rect">
            <a:avLst/>
          </a:prstGeom>
          <a:solidFill>
            <a:srgbClr val="5E9B3A"/>
          </a:solidFill>
          <a:ln>
            <a:noFill/>
          </a:ln>
        </p:spPr>
        <p:txBody>
          <a:bodyPr wrap="square" lIns="0" tIns="0" rIns="0" bIns="0" rtlCol="0" anchor="ctr"/>
          <a:lstStyle/>
          <a:p>
            <a:pPr algn="ctr"/>
            <a:r>
              <a:rPr lang="vi-VN" sz="1100" b="1" i="0">
                <a:solidFill>
                  <a:srgbClr val="FFFFFF"/>
                </a:solidFill>
                <a:latin typeface="Times New Roman"/>
                <a:cs typeface="Times New Roman"/>
              </a:rPr>
              <a:t>2,3</a:t>
            </a:r>
          </a:p>
        </p:txBody>
      </p:sp>
      <p:sp>
        <p:nvSpPr>
          <p:cNvPr id="506" name="Rectangle 505"/>
          <p:cNvSpPr/>
          <p:nvPr/>
        </p:nvSpPr>
        <p:spPr>
          <a:xfrm>
            <a:off x="2514600" y="2788920"/>
            <a:ext cx="438912" cy="457200"/>
          </a:xfrm>
          <a:prstGeom prst="rect">
            <a:avLst/>
          </a:prstGeom>
          <a:solidFill>
            <a:srgbClr val="5E9B3A"/>
          </a:solidFill>
          <a:ln>
            <a:noFill/>
          </a:ln>
        </p:spPr>
        <p:txBody>
          <a:bodyPr wrap="square" lIns="0" tIns="0" rIns="0" bIns="0" rtlCol="0" anchor="ctr"/>
          <a:lstStyle/>
          <a:p>
            <a:pPr algn="ctr"/>
            <a:r>
              <a:rPr lang="vi-VN" sz="1100" b="1" i="0">
                <a:solidFill>
                  <a:srgbClr val="FFFFFF"/>
                </a:solidFill>
                <a:latin typeface="Times New Roman"/>
                <a:cs typeface="Times New Roman"/>
              </a:rPr>
              <a:t>3,2</a:t>
            </a:r>
          </a:p>
        </p:txBody>
      </p:sp>
      <p:sp>
        <p:nvSpPr>
          <p:cNvPr id="507" name="Rectangle 506"/>
          <p:cNvSpPr/>
          <p:nvPr/>
        </p:nvSpPr>
        <p:spPr>
          <a:xfrm>
            <a:off x="2971800" y="278892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0,3</a:t>
            </a:r>
          </a:p>
        </p:txBody>
      </p:sp>
      <p:sp>
        <p:nvSpPr>
          <p:cNvPr id="508" name="Rectangle 507"/>
          <p:cNvSpPr/>
          <p:nvPr/>
        </p:nvSpPr>
        <p:spPr>
          <a:xfrm>
            <a:off x="3429000" y="278892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1,7</a:t>
            </a:r>
          </a:p>
        </p:txBody>
      </p:sp>
      <p:sp>
        <p:nvSpPr>
          <p:cNvPr id="509" name="Rectangle 508"/>
          <p:cNvSpPr/>
          <p:nvPr/>
        </p:nvSpPr>
        <p:spPr>
          <a:xfrm>
            <a:off x="3886200" y="278892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1,1</a:t>
            </a:r>
          </a:p>
        </p:txBody>
      </p:sp>
      <p:sp>
        <p:nvSpPr>
          <p:cNvPr id="510" name="Rectangle 509"/>
          <p:cNvSpPr/>
          <p:nvPr/>
        </p:nvSpPr>
        <p:spPr>
          <a:xfrm>
            <a:off x="4343400" y="278892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1,6</a:t>
            </a:r>
          </a:p>
        </p:txBody>
      </p:sp>
      <p:sp>
        <p:nvSpPr>
          <p:cNvPr id="511" name="Rectangle 510"/>
          <p:cNvSpPr/>
          <p:nvPr/>
        </p:nvSpPr>
        <p:spPr>
          <a:xfrm>
            <a:off x="4800600" y="278892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0,3</a:t>
            </a:r>
          </a:p>
        </p:txBody>
      </p:sp>
      <p:sp>
        <p:nvSpPr>
          <p:cNvPr id="512" name="Rectangle 511"/>
          <p:cNvSpPr/>
          <p:nvPr/>
        </p:nvSpPr>
        <p:spPr>
          <a:xfrm>
            <a:off x="5257800" y="278892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1,5</a:t>
            </a:r>
          </a:p>
        </p:txBody>
      </p:sp>
      <p:sp>
        <p:nvSpPr>
          <p:cNvPr id="513" name="Rectangle 512"/>
          <p:cNvSpPr/>
          <p:nvPr/>
        </p:nvSpPr>
        <p:spPr>
          <a:xfrm>
            <a:off x="5715000" y="278892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1,1</a:t>
            </a:r>
          </a:p>
        </p:txBody>
      </p:sp>
      <p:sp>
        <p:nvSpPr>
          <p:cNvPr id="514" name="Rectangle 513"/>
          <p:cNvSpPr/>
          <p:nvPr/>
        </p:nvSpPr>
        <p:spPr>
          <a:xfrm>
            <a:off x="6172200" y="278892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0,6</a:t>
            </a:r>
          </a:p>
        </p:txBody>
      </p:sp>
      <p:sp>
        <p:nvSpPr>
          <p:cNvPr id="515" name="Rectangle 514"/>
          <p:cNvSpPr/>
          <p:nvPr/>
        </p:nvSpPr>
        <p:spPr>
          <a:xfrm>
            <a:off x="502920" y="3291840"/>
            <a:ext cx="621792" cy="457200"/>
          </a:xfrm>
          <a:prstGeom prst="rect">
            <a:avLst/>
          </a:prstGeom>
          <a:solidFill>
            <a:srgbClr val="F2F2F2"/>
          </a:solidFill>
          <a:ln>
            <a:noFill/>
          </a:ln>
        </p:spPr>
        <p:txBody>
          <a:bodyPr wrap="square" lIns="0" tIns="0" rIns="0" bIns="0" rtlCol="0" anchor="ctr"/>
          <a:lstStyle/>
          <a:p>
            <a:pPr algn="ctr"/>
            <a:r>
              <a:rPr lang="vi-VN" sz="1250" b="1" i="0">
                <a:solidFill>
                  <a:srgbClr val="1A365D"/>
                </a:solidFill>
                <a:latin typeface="Times New Roman"/>
                <a:cs typeface="Times New Roman"/>
              </a:rPr>
              <a:t>2026</a:t>
            </a:r>
          </a:p>
        </p:txBody>
      </p:sp>
      <p:sp>
        <p:nvSpPr>
          <p:cNvPr id="516" name="Rectangle 515"/>
          <p:cNvSpPr/>
          <p:nvPr/>
        </p:nvSpPr>
        <p:spPr>
          <a:xfrm>
            <a:off x="1143000" y="329184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0,9</a:t>
            </a:r>
          </a:p>
        </p:txBody>
      </p:sp>
      <p:sp>
        <p:nvSpPr>
          <p:cNvPr id="517" name="Rectangle 516"/>
          <p:cNvSpPr/>
          <p:nvPr/>
        </p:nvSpPr>
        <p:spPr>
          <a:xfrm>
            <a:off x="1600200" y="3291840"/>
            <a:ext cx="438912" cy="457200"/>
          </a:xfrm>
          <a:prstGeom prst="rect">
            <a:avLst/>
          </a:prstGeom>
          <a:solidFill>
            <a:srgbClr val="F4B6A6"/>
          </a:solidFill>
          <a:ln>
            <a:noFill/>
          </a:ln>
        </p:spPr>
        <p:txBody>
          <a:bodyPr wrap="square" lIns="0" tIns="0" rIns="0" bIns="0" rtlCol="0" anchor="ctr"/>
          <a:lstStyle/>
          <a:p>
            <a:pPr algn="ctr"/>
            <a:r>
              <a:rPr lang="vi-VN" sz="1100" b="1" i="0">
                <a:solidFill>
                  <a:srgbClr val="7A1F0B"/>
                </a:solidFill>
                <a:latin typeface="Times New Roman"/>
                <a:cs typeface="Times New Roman"/>
              </a:rPr>
              <a:t>-0,8</a:t>
            </a:r>
          </a:p>
        </p:txBody>
      </p:sp>
      <p:sp>
        <p:nvSpPr>
          <p:cNvPr id="518" name="Rectangle 517"/>
          <p:cNvSpPr/>
          <p:nvPr/>
        </p:nvSpPr>
        <p:spPr>
          <a:xfrm>
            <a:off x="2057400" y="329184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1,8</a:t>
            </a:r>
          </a:p>
        </p:txBody>
      </p:sp>
      <p:sp>
        <p:nvSpPr>
          <p:cNvPr id="519" name="Rectangle 518"/>
          <p:cNvSpPr/>
          <p:nvPr/>
        </p:nvSpPr>
        <p:spPr>
          <a:xfrm>
            <a:off x="2514600" y="329184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0,6</a:t>
            </a:r>
          </a:p>
        </p:txBody>
      </p:sp>
      <p:sp>
        <p:nvSpPr>
          <p:cNvPr id="520" name="Rectangle 519"/>
          <p:cNvSpPr/>
          <p:nvPr/>
        </p:nvSpPr>
        <p:spPr>
          <a:xfrm>
            <a:off x="2971800" y="3291840"/>
            <a:ext cx="438912" cy="457200"/>
          </a:xfrm>
          <a:prstGeom prst="rect">
            <a:avLst/>
          </a:prstGeom>
          <a:solidFill>
            <a:srgbClr val="DCEBCB"/>
          </a:solidFill>
          <a:ln>
            <a:noFill/>
          </a:ln>
        </p:spPr>
        <p:txBody>
          <a:bodyPr wrap="square" lIns="0" tIns="0" rIns="0" bIns="0" rtlCol="0" anchor="ctr"/>
          <a:lstStyle/>
          <a:p>
            <a:pPr algn="ctr"/>
            <a:r>
              <a:rPr lang="vi-VN" sz="1100" b="1" i="0">
                <a:solidFill>
                  <a:srgbClr val="222222"/>
                </a:solidFill>
                <a:latin typeface="Times New Roman"/>
                <a:cs typeface="Times New Roman"/>
              </a:rPr>
              <a:t>0,4</a:t>
            </a:r>
          </a:p>
        </p:txBody>
      </p:sp>
      <p:sp>
        <p:nvSpPr>
          <p:cNvPr id="521" name="Rectangle 520"/>
          <p:cNvSpPr/>
          <p:nvPr/>
        </p:nvSpPr>
        <p:spPr>
          <a:xfrm>
            <a:off x="3429000" y="3291840"/>
            <a:ext cx="438912" cy="457200"/>
          </a:xfrm>
          <a:prstGeom prst="rect">
            <a:avLst/>
          </a:prstGeom>
          <a:solidFill>
            <a:srgbClr val="A9CF8A"/>
          </a:solidFill>
          <a:ln>
            <a:noFill/>
          </a:ln>
        </p:spPr>
        <p:txBody>
          <a:bodyPr wrap="square" lIns="0" tIns="0" rIns="0" bIns="0" rtlCol="0" anchor="ctr"/>
          <a:lstStyle/>
          <a:p>
            <a:pPr algn="ctr"/>
            <a:r>
              <a:rPr lang="vi-VN" sz="1100" b="1" i="0">
                <a:solidFill>
                  <a:srgbClr val="222222"/>
                </a:solidFill>
                <a:latin typeface="Times New Roman"/>
                <a:cs typeface="Times New Roman"/>
              </a:rPr>
              <a:t>1,3</a:t>
            </a:r>
          </a:p>
        </p:txBody>
      </p:sp>
      <p:sp>
        <p:nvSpPr>
          <p:cNvPr id="522" name="Rectangle 521"/>
          <p:cNvSpPr/>
          <p:nvPr/>
        </p:nvSpPr>
        <p:spPr>
          <a:xfrm>
            <a:off x="3886200" y="3291840"/>
            <a:ext cx="438912" cy="457200"/>
          </a:xfrm>
          <a:prstGeom prst="rect">
            <a:avLst/>
          </a:prstGeom>
          <a:solidFill>
            <a:srgbClr val="FAFAFA"/>
          </a:solidFill>
          <a:ln>
            <a:noFill/>
          </a:ln>
        </p:spPr>
        <p:txBody>
          <a:bodyPr wrap="square" lIns="0" tIns="0" rIns="0" bIns="0" rtlCol="0" anchor="ctr"/>
          <a:lstStyle/>
          <a:p>
            <a:pPr algn="ctr"/>
            <a:endParaRPr/>
          </a:p>
        </p:txBody>
      </p:sp>
      <p:sp>
        <p:nvSpPr>
          <p:cNvPr id="523" name="Rectangle 522"/>
          <p:cNvSpPr/>
          <p:nvPr/>
        </p:nvSpPr>
        <p:spPr>
          <a:xfrm>
            <a:off x="4343400" y="3291840"/>
            <a:ext cx="438912" cy="457200"/>
          </a:xfrm>
          <a:prstGeom prst="rect">
            <a:avLst/>
          </a:prstGeom>
          <a:solidFill>
            <a:srgbClr val="FAFAFA"/>
          </a:solidFill>
          <a:ln>
            <a:noFill/>
          </a:ln>
        </p:spPr>
        <p:txBody>
          <a:bodyPr wrap="square" lIns="0" tIns="0" rIns="0" bIns="0" rtlCol="0" anchor="ctr"/>
          <a:lstStyle/>
          <a:p>
            <a:pPr algn="ctr"/>
            <a:endParaRPr/>
          </a:p>
        </p:txBody>
      </p:sp>
      <p:sp>
        <p:nvSpPr>
          <p:cNvPr id="524" name="Rectangle 523"/>
          <p:cNvSpPr/>
          <p:nvPr/>
        </p:nvSpPr>
        <p:spPr>
          <a:xfrm>
            <a:off x="4800600" y="3291840"/>
            <a:ext cx="438912" cy="457200"/>
          </a:xfrm>
          <a:prstGeom prst="rect">
            <a:avLst/>
          </a:prstGeom>
          <a:solidFill>
            <a:srgbClr val="FAFAFA"/>
          </a:solidFill>
          <a:ln>
            <a:noFill/>
          </a:ln>
        </p:spPr>
        <p:txBody>
          <a:bodyPr wrap="square" lIns="0" tIns="0" rIns="0" bIns="0" rtlCol="0" anchor="ctr"/>
          <a:lstStyle/>
          <a:p>
            <a:pPr algn="ctr"/>
            <a:endParaRPr/>
          </a:p>
        </p:txBody>
      </p:sp>
      <p:sp>
        <p:nvSpPr>
          <p:cNvPr id="525" name="Rectangle 524"/>
          <p:cNvSpPr/>
          <p:nvPr/>
        </p:nvSpPr>
        <p:spPr>
          <a:xfrm>
            <a:off x="5257800" y="3291840"/>
            <a:ext cx="438912" cy="457200"/>
          </a:xfrm>
          <a:prstGeom prst="rect">
            <a:avLst/>
          </a:prstGeom>
          <a:solidFill>
            <a:srgbClr val="FAFAFA"/>
          </a:solidFill>
          <a:ln>
            <a:noFill/>
          </a:ln>
        </p:spPr>
        <p:txBody>
          <a:bodyPr wrap="square" lIns="0" tIns="0" rIns="0" bIns="0" rtlCol="0" anchor="ctr"/>
          <a:lstStyle/>
          <a:p>
            <a:pPr algn="ctr"/>
            <a:endParaRPr/>
          </a:p>
        </p:txBody>
      </p:sp>
      <p:sp>
        <p:nvSpPr>
          <p:cNvPr id="526" name="Rectangle 525"/>
          <p:cNvSpPr/>
          <p:nvPr/>
        </p:nvSpPr>
        <p:spPr>
          <a:xfrm>
            <a:off x="5715000" y="3291840"/>
            <a:ext cx="438912" cy="457200"/>
          </a:xfrm>
          <a:prstGeom prst="rect">
            <a:avLst/>
          </a:prstGeom>
          <a:solidFill>
            <a:srgbClr val="FAFAFA"/>
          </a:solidFill>
          <a:ln>
            <a:noFill/>
          </a:ln>
        </p:spPr>
        <p:txBody>
          <a:bodyPr wrap="square" lIns="0" tIns="0" rIns="0" bIns="0" rtlCol="0" anchor="ctr"/>
          <a:lstStyle/>
          <a:p>
            <a:pPr algn="ctr"/>
            <a:endParaRPr/>
          </a:p>
        </p:txBody>
      </p:sp>
      <p:sp>
        <p:nvSpPr>
          <p:cNvPr id="527" name="Rectangle 526"/>
          <p:cNvSpPr/>
          <p:nvPr/>
        </p:nvSpPr>
        <p:spPr>
          <a:xfrm>
            <a:off x="6172200" y="3291840"/>
            <a:ext cx="438912" cy="457200"/>
          </a:xfrm>
          <a:prstGeom prst="rect">
            <a:avLst/>
          </a:prstGeom>
          <a:solidFill>
            <a:srgbClr val="FAFAFA"/>
          </a:solidFill>
          <a:ln>
            <a:noFill/>
          </a:ln>
        </p:spPr>
        <p:txBody>
          <a:bodyPr wrap="square" lIns="0" tIns="0" rIns="0" bIns="0" rtlCol="0" anchor="ctr"/>
          <a:lstStyle/>
          <a:p>
            <a:pPr algn="ctr"/>
            <a:endParaRPr/>
          </a:p>
        </p:txBody>
      </p:sp>
      <p:sp>
        <p:nvSpPr>
          <p:cNvPr id="528" name="TextBox 527"/>
          <p:cNvSpPr txBox="1"/>
          <p:nvPr/>
        </p:nvSpPr>
        <p:spPr>
          <a:xfrm>
            <a:off x="502920" y="3886200"/>
            <a:ext cx="6400800" cy="1554480"/>
          </a:xfrm>
          <a:prstGeom prst="rect">
            <a:avLst/>
          </a:prstGeom>
          <a:noFill/>
        </p:spPr>
        <p:txBody>
          <a:bodyPr wrap="square" lIns="73152" tIns="36576" rIns="73152" bIns="36576" anchor="t"/>
          <a:lstStyle/>
          <a:p>
            <a:pPr algn="l"/>
            <a:r>
              <a:rPr lang="vi-VN" sz="1300" b="0" i="0">
                <a:solidFill>
                  <a:srgbClr val="222222"/>
                </a:solidFill>
                <a:latin typeface="Times New Roman"/>
                <a:cs typeface="Times New Roman"/>
              </a:rPr>
              <a:t>Tăng trưởng MoM dư nợ </a:t>
            </a:r>
            <a:r>
              <a:rPr lang="vi-VN" sz="1300" b="1" i="0">
                <a:solidFill>
                  <a:srgbClr val="222222"/>
                </a:solidFill>
                <a:latin typeface="Times New Roman"/>
                <a:cs typeface="Times New Roman"/>
              </a:rPr>
              <a:t>ngắn hạn</a:t>
            </a:r>
            <a:r>
              <a:rPr lang="vi-VN" sz="1300" b="0" i="0">
                <a:solidFill>
                  <a:srgbClr val="222222"/>
                </a:solidFill>
                <a:latin typeface="Times New Roman"/>
                <a:cs typeface="Times New Roman"/>
              </a:rPr>
              <a:t> trung bình: tháng 2 là </a:t>
            </a:r>
            <a:r>
              <a:rPr lang="vi-VN" sz="1300" b="1" i="0">
                <a:solidFill>
                  <a:srgbClr val="222222"/>
                </a:solidFill>
                <a:latin typeface="Times New Roman"/>
                <a:cs typeface="Times New Roman"/>
              </a:rPr>
              <a:t>−0,8%</a:t>
            </a:r>
            <a:r>
              <a:rPr lang="vi-VN" sz="1300" b="0" i="0">
                <a:solidFill>
                  <a:srgbClr val="222222"/>
                </a:solidFill>
                <a:latin typeface="Times New Roman"/>
                <a:cs typeface="Times New Roman"/>
              </a:rPr>
              <a:t>, tháng 12 là </a:t>
            </a:r>
            <a:r>
              <a:rPr lang="vi-VN" sz="1300" b="1" i="0">
                <a:solidFill>
                  <a:srgbClr val="222222"/>
                </a:solidFill>
                <a:latin typeface="Times New Roman"/>
                <a:cs typeface="Times New Roman"/>
              </a:rPr>
              <a:t>+1,8%</a:t>
            </a:r>
          </a:p>
          <a:p>
            <a:pPr algn="l">
              <a:spcBef>
                <a:spcPts val="500"/>
              </a:spcBef>
            </a:pPr>
            <a:r>
              <a:rPr lang="vi-VN" sz="1300" b="0" i="0">
                <a:solidFill>
                  <a:srgbClr val="222222"/>
                </a:solidFill>
                <a:latin typeface="Times New Roman"/>
                <a:cs typeface="Times New Roman"/>
              </a:rPr>
              <a:t>MoM chịu mùa vụ; so cùng tháng giữa các năm (YoY) loại được mùa vụ</a:t>
            </a:r>
          </a:p>
          <a:p>
            <a:pPr algn="l">
              <a:spcBef>
                <a:spcPts val="500"/>
              </a:spcBef>
            </a:pPr>
            <a:r>
              <a:rPr lang="vi-VN" sz="1300" b="1" i="1">
                <a:solidFill>
                  <a:srgbClr val="595959"/>
                </a:solidFill>
                <a:latin typeface="Times New Roman"/>
                <a:cs typeface="Times New Roman"/>
              </a:rPr>
              <a:t>Biểu đồ đề xuất:</a:t>
            </a:r>
            <a:r>
              <a:rPr lang="vi-VN" sz="1300" b="0" i="1">
                <a:solidFill>
                  <a:srgbClr val="595959"/>
                </a:solidFill>
                <a:latin typeface="Times New Roman"/>
                <a:cs typeface="Times New Roman"/>
              </a:rPr>
              <a:t> heatmap ma trận năm × tháng của mức tăng trưởng, hoặc cột tăng trưởng theo tháng</a:t>
            </a:r>
          </a:p>
        </p:txBody>
      </p:sp>
      <p:sp>
        <p:nvSpPr>
          <p:cNvPr id="529" name="Rounded Rectangle 528"/>
          <p:cNvSpPr/>
          <p:nvPr/>
        </p:nvSpPr>
        <p:spPr>
          <a:xfrm>
            <a:off x="7159752" y="1371600"/>
            <a:ext cx="4663440" cy="4114800"/>
          </a:xfrm>
          <a:prstGeom prst="roundRect">
            <a:avLst>
              <a:gd name="adj" fmla="val 3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530" name="Rounded Rectangle 529"/>
          <p:cNvSpPr/>
          <p:nvPr/>
        </p:nvSpPr>
        <p:spPr>
          <a:xfrm>
            <a:off x="7159752" y="1371600"/>
            <a:ext cx="4663440"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Chất lượng dữ liệu: mỗi phép thử một dòng</a:t>
            </a:r>
          </a:p>
        </p:txBody>
      </p:sp>
      <p:sp>
        <p:nvSpPr>
          <p:cNvPr id="531" name="Rounded Rectangle 530"/>
          <p:cNvSpPr/>
          <p:nvPr/>
        </p:nvSpPr>
        <p:spPr>
          <a:xfrm>
            <a:off x="7269480" y="1828800"/>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Khách hàng trùng khóa (cif)</a:t>
            </a:r>
          </a:p>
        </p:txBody>
      </p:sp>
      <p:sp>
        <p:nvSpPr>
          <p:cNvPr id="532" name="Rounded Rectangle 531"/>
          <p:cNvSpPr/>
          <p:nvPr/>
        </p:nvSpPr>
        <p:spPr>
          <a:xfrm>
            <a:off x="10927080" y="1828800"/>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33" name="Rounded Rectangle 532"/>
          <p:cNvSpPr/>
          <p:nvPr/>
        </p:nvSpPr>
        <p:spPr>
          <a:xfrm>
            <a:off x="7269480" y="2350008"/>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Dòng mồ côi giữa các quan hệ (13/13 khóa ngoại)</a:t>
            </a:r>
          </a:p>
        </p:txBody>
      </p:sp>
      <p:sp>
        <p:nvSpPr>
          <p:cNvPr id="534" name="Rounded Rectangle 533"/>
          <p:cNvSpPr/>
          <p:nvPr/>
        </p:nvSpPr>
        <p:spPr>
          <a:xfrm>
            <a:off x="10927080" y="2350008"/>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35" name="Rounded Rectangle 534"/>
          <p:cNvSpPr/>
          <p:nvPr/>
        </p:nvSpPr>
        <p:spPr>
          <a:xfrm>
            <a:off x="7269480" y="2871215"/>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Dòng trùng khóa ở 2 bảng fact</a:t>
            </a:r>
          </a:p>
        </p:txBody>
      </p:sp>
      <p:sp>
        <p:nvSpPr>
          <p:cNvPr id="536" name="Rounded Rectangle 535"/>
          <p:cNvSpPr/>
          <p:nvPr/>
        </p:nvSpPr>
        <p:spPr>
          <a:xfrm>
            <a:off x="10927080" y="2871215"/>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37" name="Rounded Rectangle 536"/>
          <p:cNvSpPr/>
          <p:nvPr/>
        </p:nvSpPr>
        <p:spPr>
          <a:xfrm>
            <a:off x="7269480" y="3392424"/>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TOI ≠ NII + NFI (sai lệch tuyệt đối)</a:t>
            </a:r>
          </a:p>
        </p:txBody>
      </p:sp>
      <p:sp>
        <p:nvSpPr>
          <p:cNvPr id="538" name="Rounded Rectangle 537"/>
          <p:cNvSpPr/>
          <p:nvPr/>
        </p:nvSpPr>
        <p:spPr>
          <a:xfrm>
            <a:off x="10927080" y="3392424"/>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39" name="Rounded Rectangle 538"/>
          <p:cNvSpPr/>
          <p:nvPr/>
        </p:nvSpPr>
        <p:spPr>
          <a:xfrm>
            <a:off x="7269480" y="3913631"/>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Số dư ≤ 0</a:t>
            </a:r>
          </a:p>
        </p:txBody>
      </p:sp>
      <p:sp>
        <p:nvSpPr>
          <p:cNvPr id="540" name="Rounded Rectangle 539"/>
          <p:cNvSpPr/>
          <p:nvPr/>
        </p:nvSpPr>
        <p:spPr>
          <a:xfrm>
            <a:off x="10927080" y="3913631"/>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41" name="Rounded Rectangle 540"/>
          <p:cNvSpPr/>
          <p:nvPr/>
        </p:nvSpPr>
        <p:spPr>
          <a:xfrm>
            <a:off x="7269480" y="4434840"/>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Số ngày quá hạn không khớp nhóm nợ</a:t>
            </a:r>
          </a:p>
        </p:txBody>
      </p:sp>
      <p:sp>
        <p:nvSpPr>
          <p:cNvPr id="542" name="Rounded Rectangle 541"/>
          <p:cNvSpPr/>
          <p:nvPr/>
        </p:nvSpPr>
        <p:spPr>
          <a:xfrm>
            <a:off x="10927080" y="4434840"/>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43" name="Rounded Rectangle 542"/>
          <p:cNvSpPr/>
          <p:nvPr/>
        </p:nvSpPr>
        <p:spPr>
          <a:xfrm>
            <a:off x="7269480" y="4956048"/>
            <a:ext cx="3611880" cy="475488"/>
          </a:xfrm>
          <a:prstGeom prst="roundRect">
            <a:avLst>
              <a:gd name="adj" fmla="val 15000"/>
            </a:avLst>
          </a:prstGeom>
          <a:solidFill>
            <a:srgbClr val="F2F2F2"/>
          </a:solidFill>
          <a:ln>
            <a:noFill/>
          </a:ln>
        </p:spPr>
        <p:txBody>
          <a:bodyPr wrap="square" tIns="18288" rIns="45720" bIns="18288" rtlCol="0" anchor="ctr"/>
          <a:lstStyle/>
          <a:p>
            <a:pPr algn="l"/>
            <a:r>
              <a:rPr lang="vi-VN" sz="1200" b="0" i="0">
                <a:solidFill>
                  <a:srgbClr val="222222"/>
                </a:solidFill>
                <a:latin typeface="Times New Roman"/>
                <a:cs typeface="Times New Roman"/>
              </a:rPr>
              <a:t>Giá trị trống ngoài 6 cột cho phép</a:t>
            </a:r>
          </a:p>
        </p:txBody>
      </p:sp>
      <p:sp>
        <p:nvSpPr>
          <p:cNvPr id="544" name="Rounded Rectangle 543"/>
          <p:cNvSpPr/>
          <p:nvPr/>
        </p:nvSpPr>
        <p:spPr>
          <a:xfrm>
            <a:off x="10927080" y="4956048"/>
            <a:ext cx="777240" cy="475488"/>
          </a:xfrm>
          <a:prstGeom prst="roundRect">
            <a:avLst>
              <a:gd name="adj" fmla="val 15000"/>
            </a:avLst>
          </a:prstGeom>
          <a:solidFill>
            <a:srgbClr val="E2F0D9"/>
          </a:solidFill>
          <a:ln>
            <a:noFill/>
          </a:ln>
        </p:spPr>
        <p:txBody>
          <a:bodyPr wrap="square" lIns="0" tIns="0" rIns="0" bIns="0" rtlCol="0" anchor="ctr"/>
          <a:lstStyle/>
          <a:p>
            <a:pPr algn="ctr"/>
            <a:r>
              <a:rPr lang="vi-VN" sz="1250" b="1" i="0">
                <a:solidFill>
                  <a:srgbClr val="2E5B31"/>
                </a:solidFill>
                <a:latin typeface="Times New Roman"/>
                <a:cs typeface="Times New Roman"/>
              </a:rPr>
              <a:t>0 lỗi</a:t>
            </a:r>
          </a:p>
        </p:txBody>
      </p:sp>
      <p:sp>
        <p:nvSpPr>
          <p:cNvPr id="545" name="Rounded Rectangle 544"/>
          <p:cNvSpPr/>
          <p:nvPr/>
        </p:nvSpPr>
        <p:spPr>
          <a:xfrm>
            <a:off x="365760" y="5577840"/>
            <a:ext cx="11457432" cy="384048"/>
          </a:xfrm>
          <a:prstGeom prst="roundRect">
            <a:avLst>
              <a:gd name="adj" fmla="val 20000"/>
            </a:avLst>
          </a:prstGeom>
          <a:solidFill>
            <a:srgbClr val="F2F2F2"/>
          </a:solidFill>
          <a:ln>
            <a:noFill/>
          </a:ln>
        </p:spPr>
        <p:txBody>
          <a:bodyPr wrap="square" tIns="18288" bIns="18288" rtlCol="0" anchor="ctr"/>
          <a:lstStyle/>
          <a:p>
            <a:pPr algn="l"/>
            <a:r>
              <a:rPr lang="vi-VN" sz="1200" b="1" i="0">
                <a:solidFill>
                  <a:srgbClr val="595959"/>
                </a:solidFill>
                <a:latin typeface="Times New Roman"/>
                <a:cs typeface="Times New Roman"/>
              </a:rPr>
              <a:t>Biểu đồ đề xuất:</a:t>
            </a:r>
            <a:r>
              <a:rPr lang="vi-VN" sz="1200" b="0" i="0">
                <a:solidFill>
                  <a:srgbClr val="595959"/>
                </a:solidFill>
                <a:latin typeface="Times New Roman"/>
                <a:cs typeface="Times New Roman"/>
              </a:rPr>
              <a:t> bảng kiểm tra, mỗi phép thử một dòng (kết quả 0 lỗi) · heatmap tăng trưởng theo tháng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36</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Bản đồ chuyển từ chỉ tiêu nghiệp vụ sang measure DAX</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Từ </a:t>
            </a:r>
            <a:r>
              <a:rPr lang="vi-VN" sz="1800" b="1" i="0">
                <a:solidFill>
                  <a:srgbClr val="123A7A"/>
                </a:solidFill>
                <a:latin typeface="Times New Roman"/>
                <a:cs typeface="Times New Roman"/>
              </a:rPr>
              <a:t>chỉ tiêu nghiệp vụ</a:t>
            </a:r>
            <a:r>
              <a:rPr lang="vi-VN" sz="1800" b="0" i="0">
                <a:solidFill>
                  <a:srgbClr val="000000"/>
                </a:solidFill>
                <a:latin typeface="Times New Roman"/>
                <a:cs typeface="Times New Roman"/>
              </a:rPr>
              <a:t> đến </a:t>
            </a:r>
            <a:r>
              <a:rPr lang="vi-VN" sz="1800" b="1" i="0">
                <a:solidFill>
                  <a:srgbClr val="C55A11"/>
                </a:solidFill>
                <a:latin typeface="Times New Roman"/>
                <a:cs typeface="Times New Roman"/>
              </a:rPr>
              <a:t>measure DAX</a:t>
            </a:r>
            <a:r>
              <a:rPr lang="vi-VN" sz="1800" b="0" i="0">
                <a:solidFill>
                  <a:srgbClr val="000000"/>
                </a:solidFill>
                <a:latin typeface="Times New Roman"/>
                <a:cs typeface="Times New Roman"/>
              </a:rPr>
              <a:t>: mỗi công thức theo mạch định nghĩa → công thức</a:t>
            </a:r>
          </a:p>
        </p:txBody>
      </p:sp>
      <p:sp>
        <p:nvSpPr>
          <p:cNvPr id="474" name="Pentagon 473"/>
          <p:cNvSpPr/>
          <p:nvPr/>
        </p:nvSpPr>
        <p:spPr>
          <a:xfrm>
            <a:off x="365760" y="1371600"/>
            <a:ext cx="2834640" cy="777240"/>
          </a:xfrm>
          <a:prstGeom prst="homePlate">
            <a:avLst>
              <a:gd name="adj" fmla="val 28000"/>
            </a:avLst>
          </a:prstGeom>
          <a:solidFill>
            <a:srgbClr val="2E5B31"/>
          </a:solidFill>
          <a:ln>
            <a:noFill/>
          </a:ln>
        </p:spPr>
        <p:txBody>
          <a:bodyPr wrap="square" tIns="18288" rIns="274320" bIns="18288" rtlCol="0" anchor="ctr"/>
          <a:lstStyle/>
          <a:p>
            <a:pPr algn="ctr"/>
            <a:r>
              <a:rPr lang="vi-VN" sz="1400" b="1" i="0">
                <a:solidFill>
                  <a:srgbClr val="FFFFFF"/>
                </a:solidFill>
                <a:latin typeface="Times New Roman"/>
                <a:cs typeface="Times New Roman"/>
              </a:rPr>
              <a:t>1  Xác định ngày báo cáo</a:t>
            </a:r>
          </a:p>
        </p:txBody>
      </p:sp>
      <p:sp>
        <p:nvSpPr>
          <p:cNvPr id="475" name="Pentagon 474"/>
          <p:cNvSpPr/>
          <p:nvPr/>
        </p:nvSpPr>
        <p:spPr>
          <a:xfrm>
            <a:off x="3264408" y="1371600"/>
            <a:ext cx="2834640" cy="777240"/>
          </a:xfrm>
          <a:prstGeom prst="homePlate">
            <a:avLst>
              <a:gd name="adj" fmla="val 28000"/>
            </a:avLst>
          </a:prstGeom>
          <a:solidFill>
            <a:srgbClr val="548235"/>
          </a:solidFill>
          <a:ln>
            <a:noFill/>
          </a:ln>
        </p:spPr>
        <p:txBody>
          <a:bodyPr wrap="square" tIns="18288" rIns="274320" bIns="18288" rtlCol="0" anchor="ctr"/>
          <a:lstStyle/>
          <a:p>
            <a:pPr algn="ctr"/>
            <a:r>
              <a:rPr lang="vi-VN" sz="1400" b="1" i="0">
                <a:solidFill>
                  <a:srgbClr val="FFFFFF"/>
                </a:solidFill>
                <a:latin typeface="Times New Roman"/>
                <a:cs typeface="Times New Roman"/>
              </a:rPr>
              <a:t>2  Chốt đúng một ngày (chỉ tiêu số dư)</a:t>
            </a:r>
          </a:p>
        </p:txBody>
      </p:sp>
      <p:sp>
        <p:nvSpPr>
          <p:cNvPr id="476" name="Pentagon 475"/>
          <p:cNvSpPr/>
          <p:nvPr/>
        </p:nvSpPr>
        <p:spPr>
          <a:xfrm>
            <a:off x="6163056" y="1371600"/>
            <a:ext cx="2834640" cy="777240"/>
          </a:xfrm>
          <a:prstGeom prst="homePlate">
            <a:avLst>
              <a:gd name="adj" fmla="val 28000"/>
            </a:avLst>
          </a:prstGeom>
          <a:solidFill>
            <a:srgbClr val="C55A11"/>
          </a:solidFill>
          <a:ln>
            <a:noFill/>
          </a:ln>
        </p:spPr>
        <p:txBody>
          <a:bodyPr wrap="square" tIns="18288" rIns="274320" bIns="18288" rtlCol="0" anchor="ctr"/>
          <a:lstStyle/>
          <a:p>
            <a:pPr algn="ctr"/>
            <a:r>
              <a:rPr lang="vi-VN" sz="1400" b="1" i="0">
                <a:solidFill>
                  <a:srgbClr val="FFFFFF"/>
                </a:solidFill>
                <a:latin typeface="Times New Roman"/>
                <a:cs typeface="Times New Roman"/>
              </a:rPr>
              <a:t>3  Cộng dồn đúng kỳ (chỉ tiêu phát sinh)</a:t>
            </a:r>
          </a:p>
        </p:txBody>
      </p:sp>
      <p:sp>
        <p:nvSpPr>
          <p:cNvPr id="477" name="Pentagon 476"/>
          <p:cNvSpPr/>
          <p:nvPr/>
        </p:nvSpPr>
        <p:spPr>
          <a:xfrm>
            <a:off x="9061704" y="1371600"/>
            <a:ext cx="2834640" cy="777240"/>
          </a:xfrm>
          <a:prstGeom prst="homePlate">
            <a:avLst>
              <a:gd name="adj" fmla="val 28000"/>
            </a:avLst>
          </a:prstGeom>
          <a:solidFill>
            <a:srgbClr val="123A7A"/>
          </a:solidFill>
          <a:ln>
            <a:noFill/>
          </a:ln>
        </p:spPr>
        <p:txBody>
          <a:bodyPr wrap="square" tIns="18288" rIns="274320" bIns="18288" rtlCol="0" anchor="ctr"/>
          <a:lstStyle/>
          <a:p>
            <a:pPr algn="ctr"/>
            <a:r>
              <a:rPr lang="vi-VN" sz="1400" b="1" i="0">
                <a:solidFill>
                  <a:srgbClr val="FFFFFF"/>
                </a:solidFill>
                <a:latin typeface="Times New Roman"/>
                <a:cs typeface="Times New Roman"/>
              </a:rPr>
              <a:t>4  Dịch ngày để lấy kỳ so sánh</a:t>
            </a:r>
          </a:p>
        </p:txBody>
      </p:sp>
      <p:sp>
        <p:nvSpPr>
          <p:cNvPr id="478" name="TextBox 477"/>
          <p:cNvSpPr txBox="1"/>
          <p:nvPr/>
        </p:nvSpPr>
        <p:spPr>
          <a:xfrm>
            <a:off x="365760" y="2212848"/>
            <a:ext cx="11457432" cy="320040"/>
          </a:xfrm>
          <a:prstGeom prst="rect">
            <a:avLst/>
          </a:prstGeom>
          <a:noFill/>
        </p:spPr>
        <p:txBody>
          <a:bodyPr wrap="square" lIns="0" tIns="0" rIns="0" bIns="0" anchor="ctr"/>
          <a:lstStyle/>
          <a:p>
            <a:pPr algn="ctr"/>
            <a:r>
              <a:rPr lang="vi-VN" sz="1300" b="0" i="1">
                <a:solidFill>
                  <a:srgbClr val="595959"/>
                </a:solidFill>
                <a:latin typeface="Times New Roman"/>
                <a:cs typeface="Times New Roman"/>
              </a:rPr>
              <a:t>Toàn bộ measure dựa trên bốn khuôn trên</a:t>
            </a:r>
          </a:p>
        </p:txBody>
      </p:sp>
      <p:sp>
        <p:nvSpPr>
          <p:cNvPr id="479" name="Rounded Rectangle 478"/>
          <p:cNvSpPr/>
          <p:nvPr/>
        </p:nvSpPr>
        <p:spPr>
          <a:xfrm>
            <a:off x="365760" y="2606040"/>
            <a:ext cx="4023360" cy="384048"/>
          </a:xfrm>
          <a:prstGeom prst="roundRect">
            <a:avLst>
              <a:gd name="adj" fmla="val 15000"/>
            </a:avLst>
          </a:prstGeom>
          <a:solidFill>
            <a:srgbClr val="1A365D"/>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Chỉ tiêu nghiệp vụ (Phần 3)</a:t>
            </a:r>
          </a:p>
        </p:txBody>
      </p:sp>
      <p:sp>
        <p:nvSpPr>
          <p:cNvPr id="480" name="Rounded Rectangle 479"/>
          <p:cNvSpPr/>
          <p:nvPr/>
        </p:nvSpPr>
        <p:spPr>
          <a:xfrm>
            <a:off x="5120640" y="2606040"/>
            <a:ext cx="6702552" cy="384048"/>
          </a:xfrm>
          <a:prstGeom prst="roundRect">
            <a:avLst>
              <a:gd name="adj" fmla="val 1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Measure DAX cần xây dựng</a:t>
            </a:r>
          </a:p>
        </p:txBody>
      </p:sp>
      <p:sp>
        <p:nvSpPr>
          <p:cNvPr id="481" name="Rounded Rectangle 480"/>
          <p:cNvSpPr/>
          <p:nvPr/>
        </p:nvSpPr>
        <p:spPr>
          <a:xfrm>
            <a:off x="365760" y="3044952"/>
            <a:ext cx="4023360" cy="713232"/>
          </a:xfrm>
          <a:prstGeom prst="roundRect">
            <a:avLst>
              <a:gd name="adj" fmla="val 12000"/>
            </a:avLst>
          </a:prstGeom>
          <a:solidFill>
            <a:srgbClr val="F2F2F2"/>
          </a:solidFill>
          <a:ln w="19050">
            <a:solidFill>
              <a:srgbClr val="2E5B31"/>
            </a:solidFill>
          </a:ln>
        </p:spPr>
        <p:txBody>
          <a:bodyPr wrap="square" lIns="137160" tIns="18288" bIns="18288" rtlCol="0" anchor="ctr"/>
          <a:lstStyle/>
          <a:p>
            <a:pPr algn="l"/>
            <a:r>
              <a:rPr lang="vi-VN" sz="1450" b="1" i="0">
                <a:solidFill>
                  <a:srgbClr val="2E5B31"/>
                </a:solidFill>
                <a:latin typeface="Times New Roman"/>
                <a:cs typeface="Times New Roman"/>
              </a:rPr>
              <a:t>Quy mô</a:t>
            </a:r>
          </a:p>
          <a:p>
            <a:pPr algn="l"/>
            <a:r>
              <a:rPr lang="vi-VN" sz="1300" b="0" i="0">
                <a:solidFill>
                  <a:srgbClr val="222222"/>
                </a:solidFill>
                <a:latin typeface="Times New Roman"/>
                <a:cs typeface="Times New Roman"/>
              </a:rPr>
              <a:t>Dư nợ, DNBQ YTD, biến động</a:t>
            </a:r>
          </a:p>
        </p:txBody>
      </p:sp>
      <p:sp>
        <p:nvSpPr>
          <p:cNvPr id="482" name="Right Arrow 481"/>
          <p:cNvSpPr/>
          <p:nvPr/>
        </p:nvSpPr>
        <p:spPr>
          <a:xfrm>
            <a:off x="4480560" y="3182112"/>
            <a:ext cx="502920" cy="438912"/>
          </a:xfrm>
          <a:prstGeom prst="rightArrow">
            <a:avLst/>
          </a:prstGeom>
          <a:solidFill>
            <a:srgbClr val="2E5B31"/>
          </a:solidFill>
          <a:ln>
            <a:noFill/>
          </a:ln>
        </p:spPr>
        <p:txBody>
          <a:bodyPr wrap="square" lIns="73152" tIns="36576" rIns="73152" bIns="36576" rtlCol="0" anchor="ctr"/>
          <a:lstStyle/>
          <a:p>
            <a:pPr algn="ctr"/>
            <a:endParaRPr/>
          </a:p>
        </p:txBody>
      </p:sp>
      <p:sp>
        <p:nvSpPr>
          <p:cNvPr id="483" name="Rounded Rectangle 482"/>
          <p:cNvSpPr/>
          <p:nvPr/>
        </p:nvSpPr>
        <p:spPr>
          <a:xfrm>
            <a:off x="5120640" y="3044952"/>
            <a:ext cx="6702552" cy="713232"/>
          </a:xfrm>
          <a:prstGeom prst="roundRect">
            <a:avLst>
              <a:gd name="adj" fmla="val 12000"/>
            </a:avLst>
          </a:prstGeom>
          <a:solidFill>
            <a:srgbClr val="FFFFFF"/>
          </a:solidFill>
          <a:ln w="19050">
            <a:solidFill>
              <a:srgbClr val="2E5B31"/>
            </a:solidFill>
          </a:ln>
        </p:spPr>
        <p:txBody>
          <a:bodyPr wrap="square" lIns="137160" tIns="18288" bIns="18288" rtlCol="0" anchor="ctr"/>
          <a:lstStyle/>
          <a:p>
            <a:pPr algn="l"/>
            <a:r>
              <a:rPr lang="vi-VN" sz="1400" b="0" i="0">
                <a:solidFill>
                  <a:srgbClr val="222222"/>
                </a:solidFill>
                <a:latin typeface="Times New Roman"/>
                <a:cs typeface="Times New Roman"/>
              </a:rPr>
              <a:t>Dư nợ cuối kỳ · các chỉ tiêu chênh lệch · DNBQ YTD (optional)</a:t>
            </a:r>
          </a:p>
        </p:txBody>
      </p:sp>
      <p:sp>
        <p:nvSpPr>
          <p:cNvPr id="484" name="Rounded Rectangle 483"/>
          <p:cNvSpPr/>
          <p:nvPr/>
        </p:nvSpPr>
        <p:spPr>
          <a:xfrm>
            <a:off x="365760" y="3813048"/>
            <a:ext cx="4023360" cy="713232"/>
          </a:xfrm>
          <a:prstGeom prst="roundRect">
            <a:avLst>
              <a:gd name="adj" fmla="val 12000"/>
            </a:avLst>
          </a:prstGeom>
          <a:solidFill>
            <a:srgbClr val="F2F2F2"/>
          </a:solidFill>
          <a:ln w="19050">
            <a:solidFill>
              <a:srgbClr val="C55A11"/>
            </a:solidFill>
          </a:ln>
        </p:spPr>
        <p:txBody>
          <a:bodyPr wrap="square" lIns="137160" tIns="18288" bIns="18288" rtlCol="0" anchor="ctr"/>
          <a:lstStyle/>
          <a:p>
            <a:pPr algn="l"/>
            <a:r>
              <a:rPr lang="vi-VN" sz="1450" b="1" i="0">
                <a:solidFill>
                  <a:srgbClr val="C55A11"/>
                </a:solidFill>
                <a:latin typeface="Times New Roman"/>
                <a:cs typeface="Times New Roman"/>
              </a:rPr>
              <a:t>Sinh lời</a:t>
            </a:r>
          </a:p>
          <a:p>
            <a:pPr algn="l"/>
            <a:r>
              <a:rPr lang="vi-VN" sz="1300" b="0" i="0">
                <a:solidFill>
                  <a:srgbClr val="222222"/>
                </a:solidFill>
                <a:latin typeface="Times New Roman"/>
                <a:cs typeface="Times New Roman"/>
              </a:rPr>
              <a:t>NII, NFI, TOI, YTD</a:t>
            </a:r>
          </a:p>
        </p:txBody>
      </p:sp>
      <p:sp>
        <p:nvSpPr>
          <p:cNvPr id="485" name="Right Arrow 484"/>
          <p:cNvSpPr/>
          <p:nvPr/>
        </p:nvSpPr>
        <p:spPr>
          <a:xfrm>
            <a:off x="4480560" y="3950208"/>
            <a:ext cx="502920" cy="438912"/>
          </a:xfrm>
          <a:prstGeom prst="rightArrow">
            <a:avLst/>
          </a:prstGeom>
          <a:solidFill>
            <a:srgbClr val="C55A11"/>
          </a:solidFill>
          <a:ln>
            <a:noFill/>
          </a:ln>
        </p:spPr>
        <p:txBody>
          <a:bodyPr wrap="square" lIns="73152" tIns="36576" rIns="73152" bIns="36576" rtlCol="0" anchor="ctr"/>
          <a:lstStyle/>
          <a:p>
            <a:pPr algn="ctr"/>
            <a:endParaRPr/>
          </a:p>
        </p:txBody>
      </p:sp>
      <p:sp>
        <p:nvSpPr>
          <p:cNvPr id="486" name="Rounded Rectangle 485"/>
          <p:cNvSpPr/>
          <p:nvPr/>
        </p:nvSpPr>
        <p:spPr>
          <a:xfrm>
            <a:off x="5120640" y="3813048"/>
            <a:ext cx="6702552" cy="713232"/>
          </a:xfrm>
          <a:prstGeom prst="roundRect">
            <a:avLst>
              <a:gd name="adj" fmla="val 12000"/>
            </a:avLst>
          </a:prstGeom>
          <a:solidFill>
            <a:srgbClr val="FFFFFF"/>
          </a:solidFill>
          <a:ln w="19050">
            <a:solidFill>
              <a:srgbClr val="C55A11"/>
            </a:solidFill>
          </a:ln>
        </p:spPr>
        <p:txBody>
          <a:bodyPr wrap="square" lIns="137160" tIns="18288" bIns="18288" rtlCol="0" anchor="ctr"/>
          <a:lstStyle/>
          <a:p>
            <a:pPr algn="l"/>
            <a:r>
              <a:rPr lang="vi-VN" sz="1400" b="0" i="0">
                <a:solidFill>
                  <a:srgbClr val="222222"/>
                </a:solidFill>
                <a:latin typeface="Times New Roman"/>
                <a:cs typeface="Times New Roman"/>
              </a:rPr>
              <a:t>NII, TOI lũy kế năm (tháng đã đóng + tháng hiện tại) · chỉ tiêu cùng kỳ năm trước</a:t>
            </a:r>
          </a:p>
        </p:txBody>
      </p:sp>
      <p:sp>
        <p:nvSpPr>
          <p:cNvPr id="487" name="Rounded Rectangle 486"/>
          <p:cNvSpPr/>
          <p:nvPr/>
        </p:nvSpPr>
        <p:spPr>
          <a:xfrm>
            <a:off x="365760" y="4581144"/>
            <a:ext cx="4023360" cy="713232"/>
          </a:xfrm>
          <a:prstGeom prst="roundRect">
            <a:avLst>
              <a:gd name="adj" fmla="val 12000"/>
            </a:avLst>
          </a:prstGeom>
          <a:solidFill>
            <a:srgbClr val="F2F2F2"/>
          </a:solidFill>
          <a:ln w="19050">
            <a:solidFill>
              <a:srgbClr val="123A7A"/>
            </a:solidFill>
          </a:ln>
        </p:spPr>
        <p:txBody>
          <a:bodyPr wrap="square" lIns="137160" tIns="18288" bIns="18288" rtlCol="0" anchor="ctr"/>
          <a:lstStyle/>
          <a:p>
            <a:pPr algn="l"/>
            <a:r>
              <a:rPr lang="vi-VN" sz="1450" b="1" i="0">
                <a:solidFill>
                  <a:srgbClr val="123A7A"/>
                </a:solidFill>
                <a:latin typeface="Times New Roman"/>
                <a:cs typeface="Times New Roman"/>
              </a:rPr>
              <a:t>Chất lượng tín dụng</a:t>
            </a:r>
          </a:p>
          <a:p>
            <a:pPr algn="l"/>
            <a:r>
              <a:rPr lang="vi-VN" sz="1300" b="0" i="0">
                <a:solidFill>
                  <a:srgbClr val="222222"/>
                </a:solidFill>
                <a:latin typeface="Times New Roman"/>
                <a:cs typeface="Times New Roman"/>
              </a:rPr>
              <a:t>OD2, OD3-5</a:t>
            </a:r>
          </a:p>
        </p:txBody>
      </p:sp>
      <p:sp>
        <p:nvSpPr>
          <p:cNvPr id="488" name="Right Arrow 487"/>
          <p:cNvSpPr/>
          <p:nvPr/>
        </p:nvSpPr>
        <p:spPr>
          <a:xfrm>
            <a:off x="4480560" y="4718304"/>
            <a:ext cx="502920" cy="438912"/>
          </a:xfrm>
          <a:prstGeom prst="rightArrow">
            <a:avLst/>
          </a:prstGeom>
          <a:solidFill>
            <a:srgbClr val="123A7A"/>
          </a:solidFill>
          <a:ln>
            <a:noFill/>
          </a:ln>
        </p:spPr>
        <p:txBody>
          <a:bodyPr wrap="square" lIns="73152" tIns="36576" rIns="73152" bIns="36576" rtlCol="0" anchor="ctr"/>
          <a:lstStyle/>
          <a:p>
            <a:pPr algn="ctr"/>
            <a:endParaRPr/>
          </a:p>
        </p:txBody>
      </p:sp>
      <p:sp>
        <p:nvSpPr>
          <p:cNvPr id="489" name="Rounded Rectangle 488"/>
          <p:cNvSpPr/>
          <p:nvPr/>
        </p:nvSpPr>
        <p:spPr>
          <a:xfrm>
            <a:off x="5120640" y="4581144"/>
            <a:ext cx="6702552" cy="713232"/>
          </a:xfrm>
          <a:prstGeom prst="roundRect">
            <a:avLst>
              <a:gd name="adj" fmla="val 12000"/>
            </a:avLst>
          </a:prstGeom>
          <a:solidFill>
            <a:srgbClr val="FFFFFF"/>
          </a:solidFill>
          <a:ln w="19050">
            <a:solidFill>
              <a:srgbClr val="123A7A"/>
            </a:solidFill>
          </a:ln>
        </p:spPr>
        <p:txBody>
          <a:bodyPr wrap="square" lIns="137160" tIns="18288" bIns="18288" rtlCol="0" anchor="ctr"/>
          <a:lstStyle/>
          <a:p>
            <a:pPr algn="l"/>
            <a:r>
              <a:rPr lang="vi-VN" sz="1400" b="0" i="0">
                <a:solidFill>
                  <a:srgbClr val="222222"/>
                </a:solidFill>
                <a:latin typeface="Times New Roman"/>
                <a:cs typeface="Times New Roman"/>
              </a:rPr>
              <a:t>OD2, OD3-5 · chênh lệch (quy tắc màu đảo) · quy mô dư nợ OD2, OD3-5</a:t>
            </a:r>
          </a:p>
        </p:txBody>
      </p:sp>
      <p:sp>
        <p:nvSpPr>
          <p:cNvPr id="490" name="Rounded Rectangle 489"/>
          <p:cNvSpPr/>
          <p:nvPr/>
        </p:nvSpPr>
        <p:spPr>
          <a:xfrm>
            <a:off x="365760" y="5349240"/>
            <a:ext cx="4023360" cy="713232"/>
          </a:xfrm>
          <a:prstGeom prst="roundRect">
            <a:avLst>
              <a:gd name="adj" fmla="val 12000"/>
            </a:avLst>
          </a:prstGeom>
          <a:solidFill>
            <a:srgbClr val="F2F2F2"/>
          </a:solidFill>
          <a:ln w="19050">
            <a:solidFill>
              <a:srgbClr val="1B7F6E"/>
            </a:solidFill>
          </a:ln>
        </p:spPr>
        <p:txBody>
          <a:bodyPr wrap="square" lIns="137160" tIns="18288" bIns="18288" rtlCol="0" anchor="ctr"/>
          <a:lstStyle/>
          <a:p>
            <a:pPr algn="l"/>
            <a:r>
              <a:rPr lang="vi-VN" sz="1450" b="1" i="0">
                <a:solidFill>
                  <a:srgbClr val="1B7F6E"/>
                </a:solidFill>
                <a:latin typeface="Times New Roman"/>
                <a:cs typeface="Times New Roman"/>
              </a:rPr>
              <a:t>Giao diện</a:t>
            </a:r>
          </a:p>
          <a:p>
            <a:pPr algn="l"/>
            <a:r>
              <a:rPr lang="vi-VN" sz="1300" b="0" i="0">
                <a:solidFill>
                  <a:srgbClr val="222222"/>
                </a:solidFill>
                <a:latin typeface="Times New Roman"/>
                <a:cs typeface="Times New Roman"/>
              </a:rPr>
              <a:t>Hiển thị trên dashboard</a:t>
            </a:r>
          </a:p>
        </p:txBody>
      </p:sp>
      <p:sp>
        <p:nvSpPr>
          <p:cNvPr id="491" name="Right Arrow 490"/>
          <p:cNvSpPr/>
          <p:nvPr/>
        </p:nvSpPr>
        <p:spPr>
          <a:xfrm>
            <a:off x="4480560" y="5486400"/>
            <a:ext cx="502920" cy="438912"/>
          </a:xfrm>
          <a:prstGeom prst="rightArrow">
            <a:avLst/>
          </a:prstGeom>
          <a:solidFill>
            <a:srgbClr val="1B7F6E"/>
          </a:solidFill>
          <a:ln>
            <a:noFill/>
          </a:ln>
        </p:spPr>
        <p:txBody>
          <a:bodyPr wrap="square" lIns="73152" tIns="36576" rIns="73152" bIns="36576" rtlCol="0" anchor="ctr"/>
          <a:lstStyle/>
          <a:p>
            <a:pPr algn="ctr"/>
            <a:endParaRPr/>
          </a:p>
        </p:txBody>
      </p:sp>
      <p:sp>
        <p:nvSpPr>
          <p:cNvPr id="492" name="Rounded Rectangle 491"/>
          <p:cNvSpPr/>
          <p:nvPr/>
        </p:nvSpPr>
        <p:spPr>
          <a:xfrm>
            <a:off x="5120640" y="5349240"/>
            <a:ext cx="6702552" cy="713232"/>
          </a:xfrm>
          <a:prstGeom prst="roundRect">
            <a:avLst>
              <a:gd name="adj" fmla="val 12000"/>
            </a:avLst>
          </a:prstGeom>
          <a:solidFill>
            <a:srgbClr val="FFFFFF"/>
          </a:solidFill>
          <a:ln w="19050">
            <a:solidFill>
              <a:srgbClr val="1B7F6E"/>
            </a:solidFill>
          </a:ln>
        </p:spPr>
        <p:txBody>
          <a:bodyPr wrap="square" lIns="137160" tIns="18288" bIns="18288" rtlCol="0" anchor="ctr"/>
          <a:lstStyle/>
          <a:p>
            <a:pPr algn="l"/>
            <a:r>
              <a:rPr lang="vi-VN" sz="1400" b="0" i="0">
                <a:solidFill>
                  <a:srgbClr val="222222"/>
                </a:solidFill>
                <a:latin typeface="Times New Roman"/>
                <a:cs typeface="Times New Roman"/>
              </a:rPr>
              <a:t>Ký hiệu ▲/▼ và màu sắc · xử lý chia cho 0 và giá trị trống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37</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Mốc thời gian: ngày báo cáo, ngày mới nhất, kỳ so sánh</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Không dùng TODAY() hay MAX(fact[date]): ngày báo cáo do </a:t>
            </a:r>
            <a:r>
              <a:rPr lang="vi-VN" sz="1800" b="1" i="0">
                <a:solidFill>
                  <a:srgbClr val="123A7A"/>
                </a:solidFill>
                <a:latin typeface="Times New Roman"/>
                <a:cs typeface="Times New Roman"/>
              </a:rPr>
              <a:t>người dùng chọn qua slicer</a:t>
            </a:r>
          </a:p>
        </p:txBody>
      </p:sp>
      <p:sp>
        <p:nvSpPr>
          <p:cNvPr id="474" name="Rounded Rectangle 473"/>
          <p:cNvSpPr/>
          <p:nvPr/>
        </p:nvSpPr>
        <p:spPr>
          <a:xfrm>
            <a:off x="365760" y="1417320"/>
            <a:ext cx="6766560" cy="77723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6675120" cy="722375"/>
          </a:xfrm>
          <a:prstGeom prst="rect">
            <a:avLst/>
          </a:prstGeom>
          <a:noFill/>
        </p:spPr>
        <p:txBody>
          <a:bodyPr wrap="square" lIns="73152" tIns="27432" rIns="73152" bIns="27432">
            <a:spAutoFit/>
          </a:bodyPr>
          <a:lstStyle/>
          <a:p>
            <a:pPr algn="l"/>
            <a:r>
              <a:rPr sz="1300" b="0">
                <a:solidFill>
                  <a:srgbClr val="24292F"/>
                </a:solidFill>
                <a:latin typeface="Courier New"/>
              </a:rPr>
              <a:t>Ngày BC =</a:t>
            </a:r>
          </a:p>
          <a:p>
            <a:pPr algn="l"/>
            <a:r>
              <a:rPr sz="1300" b="1">
                <a:solidFill>
                  <a:srgbClr val="0550AE"/>
                </a:solidFill>
                <a:latin typeface="Courier New"/>
              </a:rPr>
              <a:t>CALCULATE</a:t>
            </a:r>
            <a:r>
              <a:rPr sz="1300" b="0">
                <a:solidFill>
                  <a:srgbClr val="24292F"/>
                </a:solidFill>
                <a:latin typeface="Courier New"/>
              </a:rPr>
              <a:t> ( </a:t>
            </a:r>
            <a:r>
              <a:rPr sz="1300" b="1">
                <a:solidFill>
                  <a:srgbClr val="0550AE"/>
                </a:solidFill>
                <a:latin typeface="Courier New"/>
              </a:rPr>
              <a:t>MAX</a:t>
            </a:r>
            <a:r>
              <a:rPr sz="1300" b="0">
                <a:solidFill>
                  <a:srgbClr val="24292F"/>
                </a:solidFill>
                <a:latin typeface="Courier New"/>
              </a:rPr>
              <a:t> ( dim_date</a:t>
            </a:r>
            <a:r>
              <a:rPr sz="1300" b="0">
                <a:solidFill>
                  <a:srgbClr val="0F6E56"/>
                </a:solidFill>
                <a:latin typeface="Courier New"/>
              </a:rPr>
              <a:t>[date]</a:t>
            </a:r>
            <a:r>
              <a:rPr sz="1300" b="0">
                <a:solidFill>
                  <a:srgbClr val="24292F"/>
                </a:solidFill>
                <a:latin typeface="Courier New"/>
              </a:rPr>
              <a:t> ),</a:t>
            </a:r>
          </a:p>
          <a:p>
            <a:pPr algn="l"/>
            <a:r>
              <a:rPr sz="1300" b="0">
                <a:solidFill>
                  <a:srgbClr val="24292F"/>
                </a:solidFill>
                <a:latin typeface="Courier New"/>
              </a:rPr>
              <a:t>    dim_date</a:t>
            </a:r>
            <a:r>
              <a:rPr sz="1300" b="0">
                <a:solidFill>
                  <a:srgbClr val="0F6E56"/>
                </a:solidFill>
                <a:latin typeface="Courier New"/>
              </a:rPr>
              <a:t>[has_data]</a:t>
            </a:r>
            <a:r>
              <a:rPr sz="1300" b="0">
                <a:solidFill>
                  <a:srgbClr val="24292F"/>
                </a:solidFill>
                <a:latin typeface="Courier New"/>
              </a:rPr>
              <a:t> = </a:t>
            </a:r>
            <a:r>
              <a:rPr sz="1300" b="1">
                <a:solidFill>
                  <a:srgbClr val="0550AE"/>
                </a:solidFill>
                <a:latin typeface="Courier New"/>
              </a:rPr>
              <a:t>TRUE</a:t>
            </a:r>
            <a:r>
              <a:rPr sz="1300" b="0">
                <a:solidFill>
                  <a:srgbClr val="24292F"/>
                </a:solidFill>
                <a:latin typeface="Courier New"/>
              </a:rPr>
              <a:t> )</a:t>
            </a:r>
          </a:p>
        </p:txBody>
      </p:sp>
      <p:sp>
        <p:nvSpPr>
          <p:cNvPr id="476" name="Rounded Rectangle 475"/>
          <p:cNvSpPr/>
          <p:nvPr/>
        </p:nvSpPr>
        <p:spPr>
          <a:xfrm>
            <a:off x="365760" y="2304288"/>
            <a:ext cx="6766560" cy="97536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2331720"/>
            <a:ext cx="6675120" cy="920495"/>
          </a:xfrm>
          <a:prstGeom prst="rect">
            <a:avLst/>
          </a:prstGeom>
          <a:noFill/>
        </p:spPr>
        <p:txBody>
          <a:bodyPr wrap="square" lIns="73152" tIns="27432" rIns="73152" bIns="27432">
            <a:spAutoFit/>
          </a:bodyPr>
          <a:lstStyle/>
          <a:p>
            <a:pPr algn="l"/>
            <a:r>
              <a:rPr sz="1300" b="0">
                <a:solidFill>
                  <a:srgbClr val="24292F"/>
                </a:solidFill>
                <a:latin typeface="Courier New"/>
              </a:rPr>
              <a:t>Ngày mới nhất =</a:t>
            </a:r>
          </a:p>
          <a:p>
            <a:pPr algn="l"/>
            <a:r>
              <a:rPr sz="1300" b="1">
                <a:solidFill>
                  <a:srgbClr val="0550AE"/>
                </a:solidFill>
                <a:latin typeface="Courier New"/>
              </a:rPr>
              <a:t>CALCULATE</a:t>
            </a:r>
            <a:r>
              <a:rPr sz="1300" b="0">
                <a:solidFill>
                  <a:srgbClr val="24292F"/>
                </a:solidFill>
                <a:latin typeface="Courier New"/>
              </a:rPr>
              <a:t> ( </a:t>
            </a:r>
            <a:r>
              <a:rPr sz="1300" b="1">
                <a:solidFill>
                  <a:srgbClr val="0550AE"/>
                </a:solidFill>
                <a:latin typeface="Courier New"/>
              </a:rPr>
              <a:t>MAX</a:t>
            </a:r>
            <a:r>
              <a:rPr sz="1300" b="0">
                <a:solidFill>
                  <a:srgbClr val="24292F"/>
                </a:solidFill>
                <a:latin typeface="Courier New"/>
              </a:rPr>
              <a:t> ( dim_date</a:t>
            </a:r>
            <a:r>
              <a:rPr sz="1300" b="0">
                <a:solidFill>
                  <a:srgbClr val="0F6E56"/>
                </a:solidFill>
                <a:latin typeface="Courier New"/>
              </a:rPr>
              <a:t>[date]</a:t>
            </a:r>
            <a:r>
              <a:rPr sz="1300" b="0">
                <a:solidFill>
                  <a:srgbClr val="24292F"/>
                </a:solidFill>
                <a:latin typeface="Courier New"/>
              </a:rPr>
              <a:t> ),</a:t>
            </a:r>
          </a:p>
          <a:p>
            <a:pPr algn="l"/>
            <a:r>
              <a:rPr sz="1300" b="0">
                <a:solidFill>
                  <a:srgbClr val="24292F"/>
                </a:solidFill>
                <a:latin typeface="Courier New"/>
              </a:rPr>
              <a:t>    </a:t>
            </a:r>
            <a:r>
              <a:rPr sz="1300" b="1">
                <a:solidFill>
                  <a:srgbClr val="0550AE"/>
                </a:solidFill>
                <a:latin typeface="Courier New"/>
              </a:rPr>
              <a:t>REMOVEFILTERS</a:t>
            </a:r>
            <a:r>
              <a:rPr sz="1300" b="0">
                <a:solidFill>
                  <a:srgbClr val="24292F"/>
                </a:solidFill>
                <a:latin typeface="Courier New"/>
              </a:rPr>
              <a:t> ( dim_date ),</a:t>
            </a:r>
          </a:p>
          <a:p>
            <a:pPr algn="l"/>
            <a:r>
              <a:rPr sz="1300" b="0">
                <a:solidFill>
                  <a:srgbClr val="24292F"/>
                </a:solidFill>
                <a:latin typeface="Courier New"/>
              </a:rPr>
              <a:t>    dim_date</a:t>
            </a:r>
            <a:r>
              <a:rPr sz="1300" b="0">
                <a:solidFill>
                  <a:srgbClr val="0F6E56"/>
                </a:solidFill>
                <a:latin typeface="Courier New"/>
              </a:rPr>
              <a:t>[is_latest_date]</a:t>
            </a:r>
            <a:r>
              <a:rPr sz="1300" b="0">
                <a:solidFill>
                  <a:srgbClr val="24292F"/>
                </a:solidFill>
                <a:latin typeface="Courier New"/>
              </a:rPr>
              <a:t> = </a:t>
            </a:r>
            <a:r>
              <a:rPr sz="1300" b="1">
                <a:solidFill>
                  <a:srgbClr val="0550AE"/>
                </a:solidFill>
                <a:latin typeface="Courier New"/>
              </a:rPr>
              <a:t>TRUE</a:t>
            </a:r>
            <a:r>
              <a:rPr sz="1300" b="0">
                <a:solidFill>
                  <a:srgbClr val="24292F"/>
                </a:solidFill>
                <a:latin typeface="Courier New"/>
              </a:rPr>
              <a:t> )</a:t>
            </a:r>
          </a:p>
        </p:txBody>
      </p:sp>
      <p:sp>
        <p:nvSpPr>
          <p:cNvPr id="478" name="Rounded Rectangle 477"/>
          <p:cNvSpPr/>
          <p:nvPr/>
        </p:nvSpPr>
        <p:spPr>
          <a:xfrm>
            <a:off x="365760" y="3389376"/>
            <a:ext cx="6766560" cy="77723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9" name="TextBox 478"/>
          <p:cNvSpPr txBox="1"/>
          <p:nvPr/>
        </p:nvSpPr>
        <p:spPr>
          <a:xfrm>
            <a:off x="411480" y="3416807"/>
            <a:ext cx="6675120" cy="722375"/>
          </a:xfrm>
          <a:prstGeom prst="rect">
            <a:avLst/>
          </a:prstGeom>
          <a:noFill/>
        </p:spPr>
        <p:txBody>
          <a:bodyPr wrap="square" lIns="73152" tIns="27432" rIns="73152" bIns="27432">
            <a:spAutoFit/>
          </a:bodyPr>
          <a:lstStyle/>
          <a:p>
            <a:pPr algn="l"/>
            <a:r>
              <a:rPr sz="1300" b="0">
                <a:solidFill>
                  <a:srgbClr val="24292F"/>
                </a:solidFill>
                <a:latin typeface="Courier New"/>
              </a:rPr>
              <a:t>Ngày LM =</a:t>
            </a:r>
          </a:p>
          <a:p>
            <a:pPr algn="l"/>
            <a:r>
              <a:rPr sz="1300" b="1">
                <a:solidFill>
                  <a:srgbClr val="0550AE"/>
                </a:solidFill>
                <a:latin typeface="Courier New"/>
              </a:rPr>
              <a:t>VAR</a:t>
            </a:r>
            <a:r>
              <a:rPr sz="1300" b="0">
                <a:solidFill>
                  <a:srgbClr val="24292F"/>
                </a:solidFill>
                <a:latin typeface="Courier New"/>
              </a:rPr>
              <a:t> d = </a:t>
            </a:r>
            <a:r>
              <a:rPr sz="1300" b="0">
                <a:solidFill>
                  <a:srgbClr val="0F6E56"/>
                </a:solidFill>
                <a:latin typeface="Courier New"/>
              </a:rPr>
              <a:t>[Ngày BC]</a:t>
            </a:r>
          </a:p>
          <a:p>
            <a:pPr algn="l"/>
            <a:r>
              <a:rPr sz="1300" b="1">
                <a:solidFill>
                  <a:srgbClr val="0550AE"/>
                </a:solidFill>
                <a:latin typeface="Courier New"/>
              </a:rPr>
              <a:t>RETURN</a:t>
            </a:r>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a:t>
            </a:r>
            <a:r>
              <a:rPr sz="1300" b="1">
                <a:solidFill>
                  <a:srgbClr val="0550AE"/>
                </a:solidFill>
                <a:latin typeface="Courier New"/>
              </a:rPr>
              <a:t>NOT</a:t>
            </a:r>
            <a:r>
              <a:rPr sz="1300" b="0">
                <a:solidFill>
                  <a:srgbClr val="24292F"/>
                </a:solidFill>
                <a:latin typeface="Courier New"/>
              </a:rPr>
              <a:t> </a:t>
            </a:r>
            <a:r>
              <a:rPr sz="1300" b="1">
                <a:solidFill>
                  <a:srgbClr val="0550AE"/>
                </a:solidFill>
                <a:latin typeface="Courier New"/>
              </a:rPr>
              <a:t>ISBLANK</a:t>
            </a:r>
            <a:r>
              <a:rPr sz="1300" b="0">
                <a:solidFill>
                  <a:srgbClr val="24292F"/>
                </a:solidFill>
                <a:latin typeface="Courier New"/>
              </a:rPr>
              <a:t> ( d ), </a:t>
            </a:r>
            <a:r>
              <a:rPr sz="1300" b="1">
                <a:solidFill>
                  <a:srgbClr val="0550AE"/>
                </a:solidFill>
                <a:latin typeface="Courier New"/>
              </a:rPr>
              <a:t>EOMONTH</a:t>
            </a:r>
            <a:r>
              <a:rPr sz="1300" b="0">
                <a:solidFill>
                  <a:srgbClr val="24292F"/>
                </a:solidFill>
                <a:latin typeface="Courier New"/>
              </a:rPr>
              <a:t> ( d, -1 ) )</a:t>
            </a:r>
          </a:p>
        </p:txBody>
      </p:sp>
      <p:sp>
        <p:nvSpPr>
          <p:cNvPr id="480" name="Rounded Rectangle 479"/>
          <p:cNvSpPr/>
          <p:nvPr/>
        </p:nvSpPr>
        <p:spPr>
          <a:xfrm>
            <a:off x="365760" y="4276344"/>
            <a:ext cx="6766560" cy="77723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81" name="TextBox 480"/>
          <p:cNvSpPr txBox="1"/>
          <p:nvPr/>
        </p:nvSpPr>
        <p:spPr>
          <a:xfrm>
            <a:off x="411480" y="4303776"/>
            <a:ext cx="6675120" cy="722375"/>
          </a:xfrm>
          <a:prstGeom prst="rect">
            <a:avLst/>
          </a:prstGeom>
          <a:noFill/>
        </p:spPr>
        <p:txBody>
          <a:bodyPr wrap="square" lIns="73152" tIns="27432" rIns="73152" bIns="27432">
            <a:spAutoFit/>
          </a:bodyPr>
          <a:lstStyle/>
          <a:p>
            <a:pPr algn="l"/>
            <a:r>
              <a:rPr sz="1300" b="0">
                <a:solidFill>
                  <a:srgbClr val="24292F"/>
                </a:solidFill>
                <a:latin typeface="Courier New"/>
              </a:rPr>
              <a:t>Ngày SPLY =</a:t>
            </a:r>
          </a:p>
          <a:p>
            <a:pPr algn="l"/>
            <a:r>
              <a:rPr sz="1300" b="1">
                <a:solidFill>
                  <a:srgbClr val="0550AE"/>
                </a:solidFill>
                <a:latin typeface="Courier New"/>
              </a:rPr>
              <a:t>VAR</a:t>
            </a:r>
            <a:r>
              <a:rPr sz="1300" b="0">
                <a:solidFill>
                  <a:srgbClr val="24292F"/>
                </a:solidFill>
                <a:latin typeface="Courier New"/>
              </a:rPr>
              <a:t> d = </a:t>
            </a:r>
            <a:r>
              <a:rPr sz="1300" b="0">
                <a:solidFill>
                  <a:srgbClr val="0F6E56"/>
                </a:solidFill>
                <a:latin typeface="Courier New"/>
              </a:rPr>
              <a:t>[Ngày BC]</a:t>
            </a:r>
          </a:p>
          <a:p>
            <a:pPr algn="l"/>
            <a:r>
              <a:rPr sz="1300" b="1">
                <a:solidFill>
                  <a:srgbClr val="0550AE"/>
                </a:solidFill>
                <a:latin typeface="Courier New"/>
              </a:rPr>
              <a:t>RETURN</a:t>
            </a:r>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a:t>
            </a:r>
            <a:r>
              <a:rPr sz="1300" b="1">
                <a:solidFill>
                  <a:srgbClr val="0550AE"/>
                </a:solidFill>
                <a:latin typeface="Courier New"/>
              </a:rPr>
              <a:t>NOT</a:t>
            </a:r>
            <a:r>
              <a:rPr sz="1300" b="0">
                <a:solidFill>
                  <a:srgbClr val="24292F"/>
                </a:solidFill>
                <a:latin typeface="Courier New"/>
              </a:rPr>
              <a:t> </a:t>
            </a:r>
            <a:r>
              <a:rPr sz="1300" b="1">
                <a:solidFill>
                  <a:srgbClr val="0550AE"/>
                </a:solidFill>
                <a:latin typeface="Courier New"/>
              </a:rPr>
              <a:t>ISBLANK</a:t>
            </a:r>
            <a:r>
              <a:rPr sz="1300" b="0">
                <a:solidFill>
                  <a:srgbClr val="24292F"/>
                </a:solidFill>
                <a:latin typeface="Courier New"/>
              </a:rPr>
              <a:t> ( d ), </a:t>
            </a:r>
            <a:r>
              <a:rPr sz="1300" b="1">
                <a:solidFill>
                  <a:srgbClr val="0550AE"/>
                </a:solidFill>
                <a:latin typeface="Courier New"/>
              </a:rPr>
              <a:t>EOMONTH</a:t>
            </a:r>
            <a:r>
              <a:rPr sz="1300" b="0">
                <a:solidFill>
                  <a:srgbClr val="24292F"/>
                </a:solidFill>
                <a:latin typeface="Courier New"/>
              </a:rPr>
              <a:t> ( d, -12 ) )</a:t>
            </a:r>
          </a:p>
        </p:txBody>
      </p:sp>
      <p:sp>
        <p:nvSpPr>
          <p:cNvPr id="482" name="Rounded Rectangle 481"/>
          <p:cNvSpPr/>
          <p:nvPr/>
        </p:nvSpPr>
        <p:spPr>
          <a:xfrm>
            <a:off x="7315200" y="1417320"/>
            <a:ext cx="4507992"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3" name="Rounded Rectangle 482"/>
          <p:cNvSpPr/>
          <p:nvPr/>
        </p:nvSpPr>
        <p:spPr>
          <a:xfrm>
            <a:off x="7315200" y="1417320"/>
            <a:ext cx="4507992" cy="411480"/>
          </a:xfrm>
          <a:prstGeom prst="roundRect">
            <a:avLst>
              <a:gd name="adj" fmla="val 25000"/>
            </a:avLst>
          </a:prstGeom>
          <a:solidFill>
            <a:srgbClr val="123A7A"/>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Cách đọc</a:t>
            </a:r>
          </a:p>
        </p:txBody>
      </p:sp>
      <p:sp>
        <p:nvSpPr>
          <p:cNvPr id="484" name="TextBox 483"/>
          <p:cNvSpPr txBox="1"/>
          <p:nvPr/>
        </p:nvSpPr>
        <p:spPr>
          <a:xfrm>
            <a:off x="7406640" y="1892808"/>
            <a:ext cx="4325112" cy="3977640"/>
          </a:xfrm>
          <a:prstGeom prst="rect">
            <a:avLst/>
          </a:prstGeom>
          <a:noFill/>
        </p:spPr>
        <p:txBody>
          <a:bodyPr wrap="square" lIns="73152" tIns="36576" rIns="73152" bIns="36576" anchor="t"/>
          <a:lstStyle/>
          <a:p>
            <a:pPr marL="182880" indent="-182880" algn="l">
              <a:spcBef>
                <a:spcPts val="800"/>
              </a:spcBef>
              <a:buFont typeface="Arial"/>
              <a:buChar char="•"/>
            </a:pPr>
            <a:r>
              <a:rPr lang="vi-VN" sz="1350" b="1" i="0">
                <a:solidFill>
                  <a:srgbClr val="222222"/>
                </a:solidFill>
                <a:latin typeface="Times New Roman"/>
                <a:cs typeface="Times New Roman"/>
              </a:rPr>
              <a:t>Ngày BC</a:t>
            </a:r>
            <a:r>
              <a:rPr lang="vi-VN" sz="1350" b="0" i="0">
                <a:solidFill>
                  <a:srgbClr val="222222"/>
                </a:solidFill>
                <a:latin typeface="Times New Roman"/>
                <a:cs typeface="Times New Roman"/>
              </a:rPr>
              <a:t>: ngày cuối tháng chọn ở slicer; mặc định tháng mới nhất (30/06/2026)</a:t>
            </a:r>
          </a:p>
          <a:p>
            <a:pPr marL="182880" indent="-182880" algn="l">
              <a:spcBef>
                <a:spcPts val="800"/>
              </a:spcBef>
              <a:buFont typeface="Arial"/>
              <a:buChar char="•"/>
            </a:pPr>
            <a:r>
              <a:rPr lang="vi-VN" sz="1350" b="1" i="0">
                <a:solidFill>
                  <a:srgbClr val="222222"/>
                </a:solidFill>
                <a:latin typeface="Times New Roman"/>
                <a:cs typeface="Times New Roman"/>
              </a:rPr>
              <a:t>Ngày LM</a:t>
            </a:r>
            <a:r>
              <a:rPr lang="vi-VN" sz="1350" b="0" i="0">
                <a:solidFill>
                  <a:srgbClr val="222222"/>
                </a:solidFill>
                <a:latin typeface="Times New Roman"/>
                <a:cs typeface="Times New Roman"/>
              </a:rPr>
              <a:t>: cuối tháng trước (31/05/2026)</a:t>
            </a:r>
          </a:p>
          <a:p>
            <a:pPr marL="182880" indent="-182880" algn="l">
              <a:spcBef>
                <a:spcPts val="800"/>
              </a:spcBef>
              <a:buFont typeface="Arial"/>
              <a:buChar char="•"/>
            </a:pPr>
            <a:r>
              <a:rPr lang="vi-VN" sz="1350" b="1" i="0">
                <a:solidFill>
                  <a:srgbClr val="222222"/>
                </a:solidFill>
                <a:latin typeface="Times New Roman"/>
                <a:cs typeface="Times New Roman"/>
              </a:rPr>
              <a:t>Ngày SPLY</a:t>
            </a:r>
            <a:r>
              <a:rPr lang="vi-VN" sz="1350" b="0" i="0">
                <a:solidFill>
                  <a:srgbClr val="222222"/>
                </a:solidFill>
                <a:latin typeface="Times New Roman"/>
                <a:cs typeface="Times New Roman"/>
              </a:rPr>
              <a:t>: cuối tháng tương ứng năm trước (30/06/2025)</a:t>
            </a:r>
          </a:p>
          <a:p>
            <a:pPr marL="182880" indent="-182880" algn="l">
              <a:spcBef>
                <a:spcPts val="800"/>
              </a:spcBef>
              <a:buFont typeface="Arial"/>
              <a:buChar char="•"/>
            </a:pPr>
            <a:r>
              <a:rPr lang="vi-VN" sz="1350" b="0" i="0">
                <a:solidFill>
                  <a:srgbClr val="222222"/>
                </a:solidFill>
                <a:latin typeface="Times New Roman"/>
                <a:cs typeface="Times New Roman"/>
              </a:rPr>
              <a:t>Bảng ngày liên tục từng ngày, đánh dấu </a:t>
            </a:r>
            <a:r>
              <a:rPr lang="vi-VN" sz="1350" b="1" i="0">
                <a:solidFill>
                  <a:srgbClr val="222222"/>
                </a:solidFill>
                <a:latin typeface="Times New Roman"/>
                <a:cs typeface="Times New Roman"/>
              </a:rPr>
              <a:t>Mark as date table</a:t>
            </a:r>
          </a:p>
          <a:p>
            <a:pPr marL="182880" indent="-182880" algn="l">
              <a:spcBef>
                <a:spcPts val="800"/>
              </a:spcBef>
              <a:buFont typeface="Arial"/>
              <a:buChar char="•"/>
            </a:pPr>
            <a:r>
              <a:rPr lang="vi-VN" sz="1350" b="0" i="0">
                <a:solidFill>
                  <a:srgbClr val="222222"/>
                </a:solidFill>
                <a:latin typeface="Times New Roman"/>
                <a:cs typeface="Times New Roman"/>
              </a:rPr>
              <a:t>EOMONTH tự xử lý tháng 28, 29, 30, 31 ngày → đúng cả năm nhuận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38</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nhóm Quy mô (1): dư nợ cuối kỳ và mẫu dịch kỳ</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REMOVEFILTERS + dim_date[date] = d → </a:t>
            </a:r>
            <a:r>
              <a:rPr lang="vi-VN" sz="1800" b="1" i="0">
                <a:solidFill>
                  <a:srgbClr val="123A7A"/>
                </a:solidFill>
                <a:latin typeface="Times New Roman"/>
                <a:cs typeface="Times New Roman"/>
              </a:rPr>
              <a:t>giữ đúng một ngày chốt</a:t>
            </a:r>
            <a:r>
              <a:rPr lang="vi-VN" sz="1800" b="0" i="0">
                <a:solidFill>
                  <a:srgbClr val="000000"/>
                </a:solidFill>
                <a:latin typeface="Times New Roman"/>
                <a:cs typeface="Times New Roman"/>
              </a:rPr>
              <a:t>, không cộng dồn qua tháng</a:t>
            </a:r>
          </a:p>
        </p:txBody>
      </p:sp>
      <p:sp>
        <p:nvSpPr>
          <p:cNvPr id="474" name="Rounded Rectangle 473"/>
          <p:cNvSpPr/>
          <p:nvPr/>
        </p:nvSpPr>
        <p:spPr>
          <a:xfrm>
            <a:off x="365760" y="1417320"/>
            <a:ext cx="5577840" cy="188976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5486400" cy="1834896"/>
          </a:xfrm>
          <a:prstGeom prst="rect">
            <a:avLst/>
          </a:prstGeom>
          <a:noFill/>
        </p:spPr>
        <p:txBody>
          <a:bodyPr wrap="square" lIns="73152" tIns="27432" rIns="73152" bIns="27432">
            <a:spAutoFit/>
          </a:bodyPr>
          <a:lstStyle/>
          <a:p>
            <a:pPr algn="l"/>
            <a:r>
              <a:rPr sz="1400" b="0">
                <a:solidFill>
                  <a:srgbClr val="24292F"/>
                </a:solidFill>
                <a:latin typeface="Courier New"/>
              </a:rPr>
              <a:t>Dư nợ =</a:t>
            </a:r>
          </a:p>
          <a:p>
            <a:pPr algn="l"/>
            <a:r>
              <a:rPr sz="1400" b="1">
                <a:solidFill>
                  <a:srgbClr val="0550AE"/>
                </a:solidFill>
                <a:latin typeface="Courier New"/>
              </a:rPr>
              <a:t>VAR</a:t>
            </a:r>
            <a:r>
              <a:rPr sz="1400" b="0">
                <a:solidFill>
                  <a:srgbClr val="24292F"/>
                </a:solidFill>
                <a:latin typeface="Courier New"/>
              </a:rPr>
              <a:t> d = </a:t>
            </a:r>
            <a:r>
              <a:rPr sz="1400" b="0">
                <a:solidFill>
                  <a:srgbClr val="0F6E56"/>
                </a:solidFill>
                <a:latin typeface="Courier New"/>
              </a:rPr>
              <a:t>[Ngày BC]</a:t>
            </a:r>
          </a:p>
          <a:p>
            <a:pPr algn="l"/>
            <a:r>
              <a:rPr sz="1400" b="1">
                <a:solidFill>
                  <a:srgbClr val="0550AE"/>
                </a:solidFill>
                <a:latin typeface="Courier New"/>
              </a:rPr>
              <a:t>RETURN</a:t>
            </a:r>
          </a:p>
          <a:p>
            <a:pPr algn="l"/>
            <a:r>
              <a:rPr sz="1400" b="0">
                <a:solidFill>
                  <a:srgbClr val="24292F"/>
                </a:solidFill>
                <a:latin typeface="Courier New"/>
              </a:rPr>
              <a:t>    </a:t>
            </a:r>
            <a:r>
              <a:rPr sz="1400" b="1">
                <a:solidFill>
                  <a:srgbClr val="0550AE"/>
                </a:solidFill>
                <a:latin typeface="Courier New"/>
              </a:rPr>
              <a:t>CALCULATE</a:t>
            </a:r>
            <a:r>
              <a:rPr sz="1400" b="0">
                <a:solidFill>
                  <a:srgbClr val="24292F"/>
                </a:solidFill>
                <a:latin typeface="Courier New"/>
              </a:rPr>
              <a:t> (</a:t>
            </a:r>
          </a:p>
          <a:p>
            <a:pPr algn="l"/>
            <a:r>
              <a:rPr sz="1400" b="0">
                <a:solidFill>
                  <a:srgbClr val="24292F"/>
                </a:solidFill>
                <a:latin typeface="Courier New"/>
              </a:rPr>
              <a:t>        </a:t>
            </a:r>
            <a:r>
              <a:rPr sz="1400" b="1">
                <a:solidFill>
                  <a:srgbClr val="0550AE"/>
                </a:solidFill>
                <a:latin typeface="Courier New"/>
              </a:rPr>
              <a:t>SUM</a:t>
            </a:r>
            <a:r>
              <a:rPr sz="1400" b="0">
                <a:solidFill>
                  <a:srgbClr val="24292F"/>
                </a:solidFill>
                <a:latin typeface="Courier New"/>
              </a:rPr>
              <a:t> ( fact_loan_balance</a:t>
            </a:r>
            <a:r>
              <a:rPr sz="1400" b="0">
                <a:solidFill>
                  <a:srgbClr val="0F6E56"/>
                </a:solidFill>
                <a:latin typeface="Courier New"/>
              </a:rPr>
              <a:t>[balance_vnd]</a:t>
            </a:r>
            <a:r>
              <a:rPr sz="1400" b="0">
                <a:solidFill>
                  <a:srgbClr val="24292F"/>
                </a:solidFill>
                <a:latin typeface="Courier New"/>
              </a:rPr>
              <a:t> ),</a:t>
            </a:r>
          </a:p>
          <a:p>
            <a:pPr algn="l"/>
            <a:r>
              <a:rPr sz="1400" b="0">
                <a:solidFill>
                  <a:srgbClr val="24292F"/>
                </a:solidFill>
                <a:latin typeface="Courier New"/>
              </a:rPr>
              <a:t>        </a:t>
            </a:r>
            <a:r>
              <a:rPr sz="1400" b="1">
                <a:solidFill>
                  <a:srgbClr val="0550AE"/>
                </a:solidFill>
                <a:latin typeface="Courier New"/>
              </a:rPr>
              <a:t>REMOVEFILTERS</a:t>
            </a:r>
            <a:r>
              <a:rPr sz="1400" b="0">
                <a:solidFill>
                  <a:srgbClr val="24292F"/>
                </a:solidFill>
                <a:latin typeface="Courier New"/>
              </a:rPr>
              <a:t> ( dim_date ),</a:t>
            </a:r>
          </a:p>
          <a:p>
            <a:pPr algn="l"/>
            <a:r>
              <a:rPr sz="1400" b="0">
                <a:solidFill>
                  <a:srgbClr val="24292F"/>
                </a:solidFill>
                <a:latin typeface="Courier New"/>
              </a:rPr>
              <a:t>        dim_date</a:t>
            </a:r>
            <a:r>
              <a:rPr sz="1400" b="0">
                <a:solidFill>
                  <a:srgbClr val="0F6E56"/>
                </a:solidFill>
                <a:latin typeface="Courier New"/>
              </a:rPr>
              <a:t>[date]</a:t>
            </a:r>
            <a:r>
              <a:rPr sz="1400" b="0">
                <a:solidFill>
                  <a:srgbClr val="24292F"/>
                </a:solidFill>
                <a:latin typeface="Courier New"/>
              </a:rPr>
              <a:t> = d</a:t>
            </a:r>
          </a:p>
          <a:p>
            <a:pPr algn="l"/>
            <a:r>
              <a:rPr sz="1400" b="0">
                <a:solidFill>
                  <a:srgbClr val="24292F"/>
                </a:solidFill>
                <a:latin typeface="Courier New"/>
              </a:rPr>
              <a:t>    )</a:t>
            </a:r>
          </a:p>
        </p:txBody>
      </p:sp>
      <p:sp>
        <p:nvSpPr>
          <p:cNvPr id="476" name="TextBox 475"/>
          <p:cNvSpPr txBox="1"/>
          <p:nvPr/>
        </p:nvSpPr>
        <p:spPr>
          <a:xfrm>
            <a:off x="365760" y="3840480"/>
            <a:ext cx="5577840" cy="2103120"/>
          </a:xfrm>
          <a:prstGeom prst="rect">
            <a:avLst/>
          </a:prstGeom>
          <a:noFill/>
        </p:spPr>
        <p:txBody>
          <a:bodyPr wrap="square" lIns="73152" tIns="36576" rIns="73152" bIns="36576" anchor="t"/>
          <a:lstStyle/>
          <a:p>
            <a:pPr marL="182880" indent="-182880" algn="l">
              <a:buFont typeface="Arial"/>
              <a:buChar char="•"/>
            </a:pPr>
            <a:r>
              <a:rPr lang="vi-VN" sz="1450" b="0" i="0">
                <a:solidFill>
                  <a:srgbClr val="222222"/>
                </a:solidFill>
                <a:latin typeface="Times New Roman"/>
                <a:cs typeface="Times New Roman"/>
              </a:rPr>
              <a:t>Định nghĩa: </a:t>
            </a:r>
            <a:r>
              <a:rPr lang="vi-VN" sz="1450" b="1" i="0">
                <a:solidFill>
                  <a:srgbClr val="222222"/>
                </a:solidFill>
                <a:latin typeface="Times New Roman"/>
                <a:cs typeface="Times New Roman"/>
              </a:rPr>
              <a:t>số dư</a:t>
            </a:r>
            <a:r>
              <a:rPr lang="vi-VN" sz="1450" b="0" i="0">
                <a:solidFill>
                  <a:srgbClr val="222222"/>
                </a:solidFill>
                <a:latin typeface="Times New Roman"/>
                <a:cs typeface="Times New Roman"/>
              </a:rPr>
              <a:t> tại đúng Ngày BC</a:t>
            </a:r>
          </a:p>
          <a:p>
            <a:pPr marL="182880" indent="-182880" algn="l">
              <a:spcBef>
                <a:spcPts val="600"/>
              </a:spcBef>
              <a:buFont typeface="Arial"/>
              <a:buChar char="•"/>
            </a:pPr>
            <a:r>
              <a:rPr lang="vi-VN" sz="1450" b="0" i="0">
                <a:solidFill>
                  <a:srgbClr val="222222"/>
                </a:solidFill>
                <a:latin typeface="Times New Roman"/>
                <a:cs typeface="Times New Roman"/>
              </a:rPr>
              <a:t>REMOVEFILTERS bỏ bộ lọc tháng; điều kiện ngày giữ lại một ngày chốt</a:t>
            </a:r>
          </a:p>
          <a:p>
            <a:pPr marL="182880" indent="-182880" algn="l">
              <a:spcBef>
                <a:spcPts val="600"/>
              </a:spcBef>
              <a:buFont typeface="Arial"/>
              <a:buChar char="•"/>
            </a:pPr>
            <a:r>
              <a:rPr lang="vi-VN" sz="1450" b="0" i="0">
                <a:solidFill>
                  <a:srgbClr val="222222"/>
                </a:solidFill>
                <a:latin typeface="Times New Roman"/>
                <a:cs typeface="Times New Roman"/>
              </a:rPr>
              <a:t>Δ% = (hiện tại − kỳ so sánh) ÷ kỳ so sánh, tính bằng DIVIDE</a:t>
            </a:r>
          </a:p>
        </p:txBody>
      </p:sp>
      <p:sp>
        <p:nvSpPr>
          <p:cNvPr id="477" name="Rounded Rectangle 476"/>
          <p:cNvSpPr/>
          <p:nvPr/>
        </p:nvSpPr>
        <p:spPr>
          <a:xfrm>
            <a:off x="6126480" y="1417320"/>
            <a:ext cx="5696712" cy="137159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8" name="TextBox 477"/>
          <p:cNvSpPr txBox="1"/>
          <p:nvPr/>
        </p:nvSpPr>
        <p:spPr>
          <a:xfrm>
            <a:off x="6172200" y="1444752"/>
            <a:ext cx="5605272" cy="1316735"/>
          </a:xfrm>
          <a:prstGeom prst="rect">
            <a:avLst/>
          </a:prstGeom>
          <a:noFill/>
        </p:spPr>
        <p:txBody>
          <a:bodyPr wrap="square" lIns="73152" tIns="27432" rIns="73152" bIns="27432">
            <a:spAutoFit/>
          </a:bodyPr>
          <a:lstStyle/>
          <a:p>
            <a:pPr algn="l"/>
            <a:r>
              <a:rPr sz="1300" b="0">
                <a:solidFill>
                  <a:srgbClr val="24292F"/>
                </a:solidFill>
                <a:latin typeface="Courier New"/>
              </a:rPr>
              <a:t>Dư nợ LM =</a:t>
            </a:r>
          </a:p>
          <a:p>
            <a:pPr algn="l"/>
            <a:r>
              <a:rPr sz="1300" b="1">
                <a:solidFill>
                  <a:srgbClr val="0550AE"/>
                </a:solidFill>
                <a:latin typeface="Courier New"/>
              </a:rPr>
              <a:t>VAR</a:t>
            </a:r>
            <a:r>
              <a:rPr sz="1300" b="0">
                <a:solidFill>
                  <a:srgbClr val="24292F"/>
                </a:solidFill>
                <a:latin typeface="Courier New"/>
              </a:rPr>
              <a:t> d = </a:t>
            </a:r>
            <a:r>
              <a:rPr sz="1300" b="0">
                <a:solidFill>
                  <a:srgbClr val="0F6E56"/>
                </a:solidFill>
                <a:latin typeface="Courier New"/>
              </a:rPr>
              <a:t>[Ngày LM]</a:t>
            </a:r>
          </a:p>
          <a:p>
            <a:pPr algn="l"/>
            <a:r>
              <a:rPr sz="1300" b="1">
                <a:solidFill>
                  <a:srgbClr val="0550AE"/>
                </a:solidFill>
                <a:latin typeface="Courier New"/>
              </a:rPr>
              <a:t>RETURN</a:t>
            </a:r>
          </a:p>
          <a:p>
            <a:pPr algn="l"/>
            <a:r>
              <a:rPr sz="1300" b="0">
                <a:solidFill>
                  <a:srgbClr val="24292F"/>
                </a:solidFill>
                <a:latin typeface="Courier New"/>
              </a:rPr>
              <a:t>    </a:t>
            </a:r>
            <a:r>
              <a:rPr sz="1300" b="1">
                <a:solidFill>
                  <a:srgbClr val="0550AE"/>
                </a:solidFill>
                <a:latin typeface="Courier New"/>
              </a:rPr>
              <a:t>CALCULATE</a:t>
            </a:r>
            <a:r>
              <a:rPr sz="1300" b="0">
                <a:solidFill>
                  <a:srgbClr val="24292F"/>
                </a:solidFill>
                <a:latin typeface="Courier New"/>
              </a:rPr>
              <a:t> ( </a:t>
            </a:r>
            <a:r>
              <a:rPr sz="1300" b="0">
                <a:solidFill>
                  <a:srgbClr val="0F6E56"/>
                </a:solidFill>
                <a:latin typeface="Courier New"/>
              </a:rPr>
              <a:t>[Dư nợ]</a:t>
            </a:r>
            <a:r>
              <a:rPr sz="1300" b="0">
                <a:solidFill>
                  <a:srgbClr val="24292F"/>
                </a:solidFill>
                <a:latin typeface="Courier New"/>
              </a:rPr>
              <a:t>,</a:t>
            </a:r>
          </a:p>
          <a:p>
            <a:pPr algn="l"/>
            <a:r>
              <a:rPr sz="1300" b="0">
                <a:solidFill>
                  <a:srgbClr val="24292F"/>
                </a:solidFill>
                <a:latin typeface="Courier New"/>
              </a:rPr>
              <a:t>        </a:t>
            </a:r>
            <a:r>
              <a:rPr sz="1300" b="1">
                <a:solidFill>
                  <a:srgbClr val="0550AE"/>
                </a:solidFill>
                <a:latin typeface="Courier New"/>
              </a:rPr>
              <a:t>REMOVEFILTERS</a:t>
            </a:r>
            <a:r>
              <a:rPr sz="1300" b="0">
                <a:solidFill>
                  <a:srgbClr val="24292F"/>
                </a:solidFill>
                <a:latin typeface="Courier New"/>
              </a:rPr>
              <a:t> ( dim_date ),</a:t>
            </a:r>
          </a:p>
          <a:p>
            <a:pPr algn="l"/>
            <a:r>
              <a:rPr sz="1300" b="0">
                <a:solidFill>
                  <a:srgbClr val="24292F"/>
                </a:solidFill>
                <a:latin typeface="Courier New"/>
              </a:rPr>
              <a:t>        dim_date</a:t>
            </a:r>
            <a:r>
              <a:rPr sz="1300" b="0">
                <a:solidFill>
                  <a:srgbClr val="0F6E56"/>
                </a:solidFill>
                <a:latin typeface="Courier New"/>
              </a:rPr>
              <a:t>[date]</a:t>
            </a:r>
            <a:r>
              <a:rPr sz="1300" b="0">
                <a:solidFill>
                  <a:srgbClr val="24292F"/>
                </a:solidFill>
                <a:latin typeface="Courier New"/>
              </a:rPr>
              <a:t> = d )</a:t>
            </a:r>
          </a:p>
        </p:txBody>
      </p:sp>
      <p:sp>
        <p:nvSpPr>
          <p:cNvPr id="479" name="Rounded Rectangle 478"/>
          <p:cNvSpPr/>
          <p:nvPr/>
        </p:nvSpPr>
        <p:spPr>
          <a:xfrm>
            <a:off x="6126480" y="2898648"/>
            <a:ext cx="5696712" cy="137159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80" name="TextBox 479"/>
          <p:cNvSpPr txBox="1"/>
          <p:nvPr/>
        </p:nvSpPr>
        <p:spPr>
          <a:xfrm>
            <a:off x="6172200" y="2926079"/>
            <a:ext cx="5605272" cy="1316735"/>
          </a:xfrm>
          <a:prstGeom prst="rect">
            <a:avLst/>
          </a:prstGeom>
          <a:noFill/>
        </p:spPr>
        <p:txBody>
          <a:bodyPr wrap="square" lIns="73152" tIns="27432" rIns="73152" bIns="27432">
            <a:spAutoFit/>
          </a:bodyPr>
          <a:lstStyle/>
          <a:p>
            <a:pPr algn="l"/>
            <a:r>
              <a:rPr sz="1300" b="0">
                <a:solidFill>
                  <a:srgbClr val="24292F"/>
                </a:solidFill>
                <a:latin typeface="Courier New"/>
              </a:rPr>
              <a:t>Dư nợ SPLY =</a:t>
            </a:r>
          </a:p>
          <a:p>
            <a:pPr algn="l"/>
            <a:r>
              <a:rPr sz="1300" b="1">
                <a:solidFill>
                  <a:srgbClr val="0550AE"/>
                </a:solidFill>
                <a:latin typeface="Courier New"/>
              </a:rPr>
              <a:t>VAR</a:t>
            </a:r>
            <a:r>
              <a:rPr sz="1300" b="0">
                <a:solidFill>
                  <a:srgbClr val="24292F"/>
                </a:solidFill>
                <a:latin typeface="Courier New"/>
              </a:rPr>
              <a:t> d = </a:t>
            </a:r>
            <a:r>
              <a:rPr sz="1300" b="0">
                <a:solidFill>
                  <a:srgbClr val="0F6E56"/>
                </a:solidFill>
                <a:latin typeface="Courier New"/>
              </a:rPr>
              <a:t>[Ngày SPLY]</a:t>
            </a:r>
          </a:p>
          <a:p>
            <a:pPr algn="l"/>
            <a:r>
              <a:rPr sz="1300" b="1">
                <a:solidFill>
                  <a:srgbClr val="0550AE"/>
                </a:solidFill>
                <a:latin typeface="Courier New"/>
              </a:rPr>
              <a:t>RETURN</a:t>
            </a:r>
          </a:p>
          <a:p>
            <a:pPr algn="l"/>
            <a:r>
              <a:rPr sz="1300" b="0">
                <a:solidFill>
                  <a:srgbClr val="24292F"/>
                </a:solidFill>
                <a:latin typeface="Courier New"/>
              </a:rPr>
              <a:t>    </a:t>
            </a:r>
            <a:r>
              <a:rPr sz="1300" b="1">
                <a:solidFill>
                  <a:srgbClr val="0550AE"/>
                </a:solidFill>
                <a:latin typeface="Courier New"/>
              </a:rPr>
              <a:t>CALCULATE</a:t>
            </a:r>
            <a:r>
              <a:rPr sz="1300" b="0">
                <a:solidFill>
                  <a:srgbClr val="24292F"/>
                </a:solidFill>
                <a:latin typeface="Courier New"/>
              </a:rPr>
              <a:t> ( </a:t>
            </a:r>
            <a:r>
              <a:rPr sz="1300" b="0">
                <a:solidFill>
                  <a:srgbClr val="0F6E56"/>
                </a:solidFill>
                <a:latin typeface="Courier New"/>
              </a:rPr>
              <a:t>[Dư nợ]</a:t>
            </a:r>
            <a:r>
              <a:rPr sz="1300" b="0">
                <a:solidFill>
                  <a:srgbClr val="24292F"/>
                </a:solidFill>
                <a:latin typeface="Courier New"/>
              </a:rPr>
              <a:t>,</a:t>
            </a:r>
          </a:p>
          <a:p>
            <a:pPr algn="l"/>
            <a:r>
              <a:rPr sz="1300" b="0">
                <a:solidFill>
                  <a:srgbClr val="24292F"/>
                </a:solidFill>
                <a:latin typeface="Courier New"/>
              </a:rPr>
              <a:t>        </a:t>
            </a:r>
            <a:r>
              <a:rPr sz="1300" b="1">
                <a:solidFill>
                  <a:srgbClr val="0550AE"/>
                </a:solidFill>
                <a:latin typeface="Courier New"/>
              </a:rPr>
              <a:t>REMOVEFILTERS</a:t>
            </a:r>
            <a:r>
              <a:rPr sz="1300" b="0">
                <a:solidFill>
                  <a:srgbClr val="24292F"/>
                </a:solidFill>
                <a:latin typeface="Courier New"/>
              </a:rPr>
              <a:t> ( dim_date ),</a:t>
            </a:r>
          </a:p>
          <a:p>
            <a:pPr algn="l"/>
            <a:r>
              <a:rPr sz="1300" b="0">
                <a:solidFill>
                  <a:srgbClr val="24292F"/>
                </a:solidFill>
                <a:latin typeface="Courier New"/>
              </a:rPr>
              <a:t>        dim_date</a:t>
            </a:r>
            <a:r>
              <a:rPr sz="1300" b="0">
                <a:solidFill>
                  <a:srgbClr val="0F6E56"/>
                </a:solidFill>
                <a:latin typeface="Courier New"/>
              </a:rPr>
              <a:t>[date]</a:t>
            </a:r>
            <a:r>
              <a:rPr sz="1300" b="0">
                <a:solidFill>
                  <a:srgbClr val="24292F"/>
                </a:solidFill>
                <a:latin typeface="Courier New"/>
              </a:rPr>
              <a:t> = d )</a:t>
            </a:r>
          </a:p>
        </p:txBody>
      </p:sp>
      <p:sp>
        <p:nvSpPr>
          <p:cNvPr id="481" name="Rounded Rectangle 480"/>
          <p:cNvSpPr/>
          <p:nvPr/>
        </p:nvSpPr>
        <p:spPr>
          <a:xfrm>
            <a:off x="6126480" y="5120640"/>
            <a:ext cx="5696712" cy="868680"/>
          </a:xfrm>
          <a:prstGeom prst="roundRect">
            <a:avLst>
              <a:gd name="adj" fmla="val 12000"/>
            </a:avLst>
          </a:prstGeom>
          <a:solidFill>
            <a:srgbClr val="FBE5D6"/>
          </a:solidFill>
          <a:ln w="12700">
            <a:solidFill>
              <a:srgbClr val="C55A11"/>
            </a:solidFill>
          </a:ln>
        </p:spPr>
        <p:txBody>
          <a:bodyPr wrap="square" lIns="137160" tIns="27432" bIns="27432" rtlCol="0" anchor="ctr"/>
          <a:lstStyle/>
          <a:p>
            <a:pPr algn="l"/>
            <a:r>
              <a:rPr lang="vi-VN" sz="1400" b="1" i="0">
                <a:solidFill>
                  <a:srgbClr val="222222"/>
                </a:solidFill>
                <a:latin typeface="Times New Roman"/>
                <a:cs typeface="Times New Roman"/>
              </a:rPr>
              <a:t>Mẫu dịch kỳ:</a:t>
            </a:r>
            <a:r>
              <a:rPr lang="vi-VN" sz="1400" b="0" i="0">
                <a:solidFill>
                  <a:srgbClr val="222222"/>
                </a:solidFill>
                <a:latin typeface="Times New Roman"/>
                <a:cs typeface="Times New Roman"/>
              </a:rPr>
              <a:t> mọi phiên bản so sánh cùng một khuôn, chỉ đổi measure gốc và mốc ngày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39</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nhóm Quy mô (2): DNBQ tháng và DNBQ YTD (optional)</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DNBQ YTD là </a:t>
            </a:r>
            <a:r>
              <a:rPr lang="vi-VN" sz="1800" b="1" i="0">
                <a:solidFill>
                  <a:srgbClr val="C55A11"/>
                </a:solidFill>
                <a:latin typeface="Times New Roman"/>
                <a:cs typeface="Times New Roman"/>
              </a:rPr>
              <a:t>bình quân</a:t>
            </a:r>
            <a:r>
              <a:rPr lang="vi-VN" sz="1800" b="0" i="0">
                <a:solidFill>
                  <a:srgbClr val="000000"/>
                </a:solidFill>
                <a:latin typeface="Times New Roman"/>
                <a:cs typeface="Times New Roman"/>
              </a:rPr>
              <a:t>: tổng DNBQ các tháng chia cho số tháng đã qua</a:t>
            </a:r>
          </a:p>
        </p:txBody>
      </p:sp>
      <p:sp>
        <p:nvSpPr>
          <p:cNvPr id="474" name="Rounded Rectangle 473"/>
          <p:cNvSpPr/>
          <p:nvPr/>
        </p:nvSpPr>
        <p:spPr>
          <a:xfrm>
            <a:off x="365760" y="1417320"/>
            <a:ext cx="7498079" cy="158495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7406640" cy="1530095"/>
          </a:xfrm>
          <a:prstGeom prst="rect">
            <a:avLst/>
          </a:prstGeom>
          <a:noFill/>
        </p:spPr>
        <p:txBody>
          <a:bodyPr wrap="square" lIns="73152" tIns="27432" rIns="73152" bIns="27432">
            <a:spAutoFit/>
          </a:bodyPr>
          <a:lstStyle/>
          <a:p>
            <a:pPr algn="l"/>
            <a:r>
              <a:rPr sz="1150" b="0">
                <a:solidFill>
                  <a:srgbClr val="24292F"/>
                </a:solidFill>
                <a:latin typeface="Courier New"/>
              </a:rPr>
              <a:t>DNBQ tháng =</a:t>
            </a:r>
          </a:p>
          <a:p>
            <a:pPr algn="l"/>
            <a:r>
              <a:rPr sz="1150" b="1">
                <a:solidFill>
                  <a:srgbClr val="0550AE"/>
                </a:solidFill>
                <a:latin typeface="Courier New"/>
              </a:rPr>
              <a:t>VAR</a:t>
            </a:r>
            <a:r>
              <a:rPr sz="1150" b="0">
                <a:solidFill>
                  <a:srgbClr val="24292F"/>
                </a:solidFill>
                <a:latin typeface="Courier New"/>
              </a:rPr>
              <a:t> d = </a:t>
            </a:r>
            <a:r>
              <a:rPr sz="1150" b="0">
                <a:solidFill>
                  <a:srgbClr val="0F6E56"/>
                </a:solidFill>
                <a:latin typeface="Courier New"/>
              </a:rPr>
              <a:t>[Ngày BC]</a:t>
            </a:r>
          </a:p>
          <a:p>
            <a:pPr algn="l"/>
            <a:r>
              <a:rPr sz="1150" b="1">
                <a:solidFill>
                  <a:srgbClr val="0550AE"/>
                </a:solidFill>
                <a:latin typeface="Courier New"/>
              </a:rPr>
              <a:t>RETURN</a:t>
            </a:r>
          </a:p>
          <a:p>
            <a:pPr algn="l"/>
            <a:r>
              <a:rPr sz="1150" b="0">
                <a:solidFill>
                  <a:srgbClr val="24292F"/>
                </a:solidFill>
                <a:latin typeface="Courier New"/>
              </a:rPr>
              <a:t>    </a:t>
            </a:r>
            <a:r>
              <a:rPr sz="1150" b="1">
                <a:solidFill>
                  <a:srgbClr val="0550AE"/>
                </a:solidFill>
                <a:latin typeface="Courier New"/>
              </a:rPr>
              <a:t>CALCULATE</a:t>
            </a:r>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SUM</a:t>
            </a:r>
            <a:r>
              <a:rPr sz="1150" b="0">
                <a:solidFill>
                  <a:srgbClr val="24292F"/>
                </a:solidFill>
                <a:latin typeface="Courier New"/>
              </a:rPr>
              <a:t> ( fact_income_monthly</a:t>
            </a:r>
            <a:r>
              <a:rPr sz="1150" b="0">
                <a:solidFill>
                  <a:srgbClr val="0F6E56"/>
                </a:solidFill>
                <a:latin typeface="Courier New"/>
              </a:rPr>
              <a:t>[avg_balance_vnd]</a:t>
            </a:r>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REMOVEFILTERS</a:t>
            </a:r>
            <a:r>
              <a:rPr sz="1150" b="0">
                <a:solidFill>
                  <a:srgbClr val="24292F"/>
                </a:solidFill>
                <a:latin typeface="Courier New"/>
              </a:rPr>
              <a:t> ( dim_date ),</a:t>
            </a:r>
          </a:p>
          <a:p>
            <a:pPr algn="l"/>
            <a:r>
              <a:rPr sz="1150" b="0">
                <a:solidFill>
                  <a:srgbClr val="24292F"/>
                </a:solidFill>
                <a:latin typeface="Courier New"/>
              </a:rPr>
              <a:t>        dim_date</a:t>
            </a:r>
            <a:r>
              <a:rPr sz="1150" b="0">
                <a:solidFill>
                  <a:srgbClr val="0F6E56"/>
                </a:solidFill>
                <a:latin typeface="Courier New"/>
              </a:rPr>
              <a:t>[date]</a:t>
            </a:r>
            <a:r>
              <a:rPr sz="1150" b="0">
                <a:solidFill>
                  <a:srgbClr val="24292F"/>
                </a:solidFill>
                <a:latin typeface="Courier New"/>
              </a:rPr>
              <a:t> = d</a:t>
            </a:r>
          </a:p>
          <a:p>
            <a:pPr algn="l"/>
            <a:r>
              <a:rPr sz="1150" b="0">
                <a:solidFill>
                  <a:srgbClr val="24292F"/>
                </a:solidFill>
                <a:latin typeface="Courier New"/>
              </a:rPr>
              <a:t>    )</a:t>
            </a:r>
          </a:p>
        </p:txBody>
      </p:sp>
      <p:sp>
        <p:nvSpPr>
          <p:cNvPr id="476" name="Rounded Rectangle 475"/>
          <p:cNvSpPr/>
          <p:nvPr/>
        </p:nvSpPr>
        <p:spPr>
          <a:xfrm>
            <a:off x="365760" y="3075432"/>
            <a:ext cx="7498079" cy="281178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3102864"/>
            <a:ext cx="7406640" cy="2756916"/>
          </a:xfrm>
          <a:prstGeom prst="rect">
            <a:avLst/>
          </a:prstGeom>
          <a:noFill/>
        </p:spPr>
        <p:txBody>
          <a:bodyPr wrap="square" lIns="73152" tIns="27432" rIns="73152" bIns="27432">
            <a:spAutoFit/>
          </a:bodyPr>
          <a:lstStyle/>
          <a:p>
            <a:pPr algn="l"/>
            <a:r>
              <a:rPr sz="1150" b="0">
                <a:solidFill>
                  <a:srgbClr val="24292F"/>
                </a:solidFill>
                <a:latin typeface="Courier New"/>
              </a:rPr>
              <a:t>DNBQ YTD =</a:t>
            </a:r>
          </a:p>
          <a:p>
            <a:pPr algn="l"/>
            <a:r>
              <a:rPr sz="1150" b="1">
                <a:solidFill>
                  <a:srgbClr val="0550AE"/>
                </a:solidFill>
                <a:latin typeface="Courier New"/>
              </a:rPr>
              <a:t>VAR</a:t>
            </a:r>
            <a:r>
              <a:rPr sz="1150" b="0">
                <a:solidFill>
                  <a:srgbClr val="24292F"/>
                </a:solidFill>
                <a:latin typeface="Courier New"/>
              </a:rPr>
              <a:t> d  = </a:t>
            </a:r>
            <a:r>
              <a:rPr sz="1150" b="0">
                <a:solidFill>
                  <a:srgbClr val="0F6E56"/>
                </a:solidFill>
                <a:latin typeface="Courier New"/>
              </a:rPr>
              <a:t>[Ngày BC]</a:t>
            </a:r>
          </a:p>
          <a:p>
            <a:pPr algn="l"/>
            <a:r>
              <a:rPr sz="1150" b="1">
                <a:solidFill>
                  <a:srgbClr val="0550AE"/>
                </a:solidFill>
                <a:latin typeface="Courier New"/>
              </a:rPr>
              <a:t>VAR</a:t>
            </a:r>
            <a:r>
              <a:rPr sz="1150" b="0">
                <a:solidFill>
                  <a:srgbClr val="24292F"/>
                </a:solidFill>
                <a:latin typeface="Courier New"/>
              </a:rPr>
              <a:t> d0 = </a:t>
            </a:r>
            <a:r>
              <a:rPr sz="1150" b="1">
                <a:solidFill>
                  <a:srgbClr val="0550AE"/>
                </a:solidFill>
                <a:latin typeface="Courier New"/>
              </a:rPr>
              <a:t>DATE</a:t>
            </a:r>
            <a:r>
              <a:rPr sz="1150" b="0">
                <a:solidFill>
                  <a:srgbClr val="24292F"/>
                </a:solidFill>
                <a:latin typeface="Courier New"/>
              </a:rPr>
              <a:t> ( </a:t>
            </a:r>
            <a:r>
              <a:rPr sz="1150" b="1">
                <a:solidFill>
                  <a:srgbClr val="0550AE"/>
                </a:solidFill>
                <a:latin typeface="Courier New"/>
              </a:rPr>
              <a:t>YEAR</a:t>
            </a:r>
            <a:r>
              <a:rPr sz="1150" b="0">
                <a:solidFill>
                  <a:srgbClr val="24292F"/>
                </a:solidFill>
                <a:latin typeface="Courier New"/>
              </a:rPr>
              <a:t> ( d ), 1, 1 )</a:t>
            </a:r>
          </a:p>
          <a:p>
            <a:pPr algn="l"/>
            <a:r>
              <a:rPr sz="1150" b="1">
                <a:solidFill>
                  <a:srgbClr val="0550AE"/>
                </a:solidFill>
                <a:latin typeface="Courier New"/>
              </a:rPr>
              <a:t>RETURN</a:t>
            </a:r>
          </a:p>
          <a:p>
            <a:pPr algn="l"/>
            <a:r>
              <a:rPr sz="1150" b="0">
                <a:solidFill>
                  <a:srgbClr val="24292F"/>
                </a:solidFill>
                <a:latin typeface="Courier New"/>
              </a:rPr>
              <a:t>    </a:t>
            </a:r>
            <a:r>
              <a:rPr sz="1150" b="1">
                <a:solidFill>
                  <a:srgbClr val="0550AE"/>
                </a:solidFill>
                <a:latin typeface="Courier New"/>
              </a:rPr>
              <a:t>IF</a:t>
            </a:r>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NOT</a:t>
            </a:r>
            <a:r>
              <a:rPr sz="1150" b="0">
                <a:solidFill>
                  <a:srgbClr val="24292F"/>
                </a:solidFill>
                <a:latin typeface="Courier New"/>
              </a:rPr>
              <a:t> </a:t>
            </a:r>
            <a:r>
              <a:rPr sz="1150" b="1">
                <a:solidFill>
                  <a:srgbClr val="0550AE"/>
                </a:solidFill>
                <a:latin typeface="Courier New"/>
              </a:rPr>
              <a:t>ISBLANK</a:t>
            </a:r>
            <a:r>
              <a:rPr sz="1150" b="0">
                <a:solidFill>
                  <a:srgbClr val="24292F"/>
                </a:solidFill>
                <a:latin typeface="Courier New"/>
              </a:rPr>
              <a:t> ( d ),</a:t>
            </a:r>
          </a:p>
          <a:p>
            <a:pPr algn="l"/>
            <a:r>
              <a:rPr sz="1150" b="0">
                <a:solidFill>
                  <a:srgbClr val="24292F"/>
                </a:solidFill>
                <a:latin typeface="Courier New"/>
              </a:rPr>
              <a:t>        </a:t>
            </a:r>
            <a:r>
              <a:rPr sz="1150" b="1">
                <a:solidFill>
                  <a:srgbClr val="0550AE"/>
                </a:solidFill>
                <a:latin typeface="Courier New"/>
              </a:rPr>
              <a:t>DIVIDE</a:t>
            </a:r>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CALCULATE</a:t>
            </a:r>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SUM</a:t>
            </a:r>
            <a:r>
              <a:rPr sz="1150" b="0">
                <a:solidFill>
                  <a:srgbClr val="24292F"/>
                </a:solidFill>
                <a:latin typeface="Courier New"/>
              </a:rPr>
              <a:t> ( fact_income_monthly</a:t>
            </a:r>
            <a:r>
              <a:rPr sz="1150" b="0">
                <a:solidFill>
                  <a:srgbClr val="0F6E56"/>
                </a:solidFill>
                <a:latin typeface="Courier New"/>
              </a:rPr>
              <a:t>[avg_balance_vnd]</a:t>
            </a:r>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REMOVEFILTERS</a:t>
            </a:r>
            <a:r>
              <a:rPr sz="1150" b="0">
                <a:solidFill>
                  <a:srgbClr val="24292F"/>
                </a:solidFill>
                <a:latin typeface="Courier New"/>
              </a:rPr>
              <a:t> ( dim_date ),</a:t>
            </a:r>
          </a:p>
          <a:p>
            <a:pPr algn="l"/>
            <a:r>
              <a:rPr sz="1150" b="0">
                <a:solidFill>
                  <a:srgbClr val="24292F"/>
                </a:solidFill>
                <a:latin typeface="Courier New"/>
              </a:rPr>
              <a:t>                </a:t>
            </a:r>
            <a:r>
              <a:rPr sz="1150" b="1">
                <a:solidFill>
                  <a:srgbClr val="0550AE"/>
                </a:solidFill>
                <a:latin typeface="Courier New"/>
              </a:rPr>
              <a:t>DATESBETWEEN</a:t>
            </a:r>
            <a:r>
              <a:rPr sz="1150" b="0">
                <a:solidFill>
                  <a:srgbClr val="24292F"/>
                </a:solidFill>
                <a:latin typeface="Courier New"/>
              </a:rPr>
              <a:t> ( dim_date</a:t>
            </a:r>
            <a:r>
              <a:rPr sz="1150" b="0">
                <a:solidFill>
                  <a:srgbClr val="0F6E56"/>
                </a:solidFill>
                <a:latin typeface="Courier New"/>
              </a:rPr>
              <a:t>[date]</a:t>
            </a:r>
            <a:r>
              <a:rPr sz="1150" b="0">
                <a:solidFill>
                  <a:srgbClr val="24292F"/>
                </a:solidFill>
                <a:latin typeface="Courier New"/>
              </a:rPr>
              <a:t>, d0, d )</a:t>
            </a:r>
          </a:p>
          <a:p>
            <a:pPr algn="l"/>
            <a:r>
              <a:rPr sz="1150" b="0">
                <a:solidFill>
                  <a:srgbClr val="24292F"/>
                </a:solidFill>
                <a:latin typeface="Courier New"/>
              </a:rPr>
              <a:t>            ),</a:t>
            </a:r>
          </a:p>
          <a:p>
            <a:pPr algn="l"/>
            <a:r>
              <a:rPr sz="1150" b="0">
                <a:solidFill>
                  <a:srgbClr val="24292F"/>
                </a:solidFill>
                <a:latin typeface="Courier New"/>
              </a:rPr>
              <a:t>            </a:t>
            </a:r>
            <a:r>
              <a:rPr sz="1150" b="1">
                <a:solidFill>
                  <a:srgbClr val="0550AE"/>
                </a:solidFill>
                <a:latin typeface="Courier New"/>
              </a:rPr>
              <a:t>MONTH</a:t>
            </a:r>
            <a:r>
              <a:rPr sz="1150" b="0">
                <a:solidFill>
                  <a:srgbClr val="24292F"/>
                </a:solidFill>
                <a:latin typeface="Courier New"/>
              </a:rPr>
              <a:t> ( d )</a:t>
            </a:r>
          </a:p>
          <a:p>
            <a:pPr algn="l"/>
            <a:r>
              <a:rPr sz="1150" b="0">
                <a:solidFill>
                  <a:srgbClr val="24292F"/>
                </a:solidFill>
                <a:latin typeface="Courier New"/>
              </a:rPr>
              <a:t>        )</a:t>
            </a:r>
          </a:p>
          <a:p>
            <a:pPr algn="l"/>
            <a:r>
              <a:rPr sz="1150" b="0">
                <a:solidFill>
                  <a:srgbClr val="24292F"/>
                </a:solidFill>
                <a:latin typeface="Courier New"/>
              </a:rPr>
              <a:t>    )</a:t>
            </a:r>
          </a:p>
        </p:txBody>
      </p:sp>
      <p:sp>
        <p:nvSpPr>
          <p:cNvPr id="478" name="Rounded Rectangle 477"/>
          <p:cNvSpPr/>
          <p:nvPr/>
        </p:nvSpPr>
        <p:spPr>
          <a:xfrm>
            <a:off x="8046720" y="1417320"/>
            <a:ext cx="3776472"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79" name="Rounded Rectangle 478"/>
          <p:cNvSpPr/>
          <p:nvPr/>
        </p:nvSpPr>
        <p:spPr>
          <a:xfrm>
            <a:off x="8046720" y="1417320"/>
            <a:ext cx="3776472" cy="411480"/>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Cách đọc</a:t>
            </a:r>
          </a:p>
        </p:txBody>
      </p:sp>
      <p:sp>
        <p:nvSpPr>
          <p:cNvPr id="480" name="TextBox 479"/>
          <p:cNvSpPr txBox="1"/>
          <p:nvPr/>
        </p:nvSpPr>
        <p:spPr>
          <a:xfrm>
            <a:off x="8138160" y="1892808"/>
            <a:ext cx="3593591" cy="3977640"/>
          </a:xfrm>
          <a:prstGeom prst="rect">
            <a:avLst/>
          </a:prstGeom>
          <a:noFill/>
        </p:spPr>
        <p:txBody>
          <a:bodyPr wrap="square" lIns="73152" tIns="36576" rIns="73152" bIns="36576" anchor="t"/>
          <a:lstStyle/>
          <a:p>
            <a:pPr marL="182880" indent="-182880" algn="l">
              <a:spcBef>
                <a:spcPts val="800"/>
              </a:spcBef>
              <a:buFont typeface="Arial"/>
              <a:buChar char="•"/>
            </a:pPr>
            <a:r>
              <a:rPr lang="vi-VN" sz="1300" b="1" i="0">
                <a:solidFill>
                  <a:srgbClr val="222222"/>
                </a:solidFill>
                <a:latin typeface="Times New Roman"/>
                <a:cs typeface="Times New Roman"/>
              </a:rPr>
              <a:t>DNBQ tháng</a:t>
            </a:r>
            <a:r>
              <a:rPr lang="vi-VN" sz="1300" b="0" i="0">
                <a:solidFill>
                  <a:srgbClr val="222222"/>
                </a:solidFill>
                <a:latin typeface="Times New Roman"/>
                <a:cs typeface="Times New Roman"/>
              </a:rPr>
              <a:t> là thành phần của DNBQ YTD</a:t>
            </a:r>
          </a:p>
          <a:p>
            <a:pPr marL="182880" indent="-182880" algn="l">
              <a:spcBef>
                <a:spcPts val="800"/>
              </a:spcBef>
              <a:buFont typeface="Arial"/>
              <a:buChar char="•"/>
            </a:pPr>
            <a:r>
              <a:rPr lang="vi-VN" sz="1300" b="1" i="0">
                <a:solidFill>
                  <a:srgbClr val="222222"/>
                </a:solidFill>
                <a:latin typeface="Times New Roman"/>
                <a:cs typeface="Times New Roman"/>
              </a:rPr>
              <a:t>DNBQ YTD</a:t>
            </a:r>
            <a:r>
              <a:rPr lang="vi-VN" sz="1300" b="0" i="0">
                <a:solidFill>
                  <a:srgbClr val="222222"/>
                </a:solidFill>
                <a:latin typeface="Times New Roman"/>
                <a:cs typeface="Times New Roman"/>
              </a:rPr>
              <a:t> = bình quân của DNBQ các tháng từ tháng 1 đến tháng báo cáo</a:t>
            </a:r>
          </a:p>
          <a:p>
            <a:pPr marL="182880" indent="-182880" algn="l">
              <a:spcBef>
                <a:spcPts val="800"/>
              </a:spcBef>
              <a:buFont typeface="Arial"/>
              <a:buChar char="•"/>
            </a:pPr>
            <a:r>
              <a:rPr lang="vi-VN" sz="1300" b="0" i="0">
                <a:solidFill>
                  <a:srgbClr val="222222"/>
                </a:solidFill>
                <a:latin typeface="Times New Roman"/>
                <a:cs typeface="Times New Roman"/>
              </a:rPr>
              <a:t>Tại tháng 1, DNBQ YTD bằng DNBQ tháng 1</a:t>
            </a:r>
          </a:p>
          <a:p>
            <a:pPr marL="182880" indent="-182880" algn="l">
              <a:spcBef>
                <a:spcPts val="800"/>
              </a:spcBef>
              <a:buFont typeface="Arial"/>
              <a:buChar char="•"/>
            </a:pPr>
            <a:r>
              <a:rPr lang="vi-VN" sz="1300" b="0" i="0">
                <a:solidFill>
                  <a:srgbClr val="222222"/>
                </a:solidFill>
                <a:latin typeface="Times New Roman"/>
                <a:cs typeface="Times New Roman"/>
              </a:rPr>
              <a:t>DNBQ YTD LM, SPLY viết theo mẫu dịch kỳ; tháng 1 thì DNBQ YTD LM để trống</a:t>
            </a:r>
          </a:p>
          <a:p>
            <a:pPr marL="182880" indent="-182880" algn="l">
              <a:spcBef>
                <a:spcPts val="800"/>
              </a:spcBef>
              <a:buFont typeface="Arial"/>
              <a:buChar char="•"/>
            </a:pPr>
            <a:r>
              <a:rPr lang="vi-VN" sz="1300" b="0" i="0">
                <a:solidFill>
                  <a:srgbClr val="222222"/>
                </a:solidFill>
                <a:latin typeface="Times New Roman"/>
                <a:cs typeface="Times New Roman"/>
              </a:rPr>
              <a:t>Lỗi hay gặp: cộng DNBQ các tháng mà không chia số tháng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40</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nhóm Sinh lời (1): NII, TOI theo tháng và lũy kế năm</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Chỉ tiêu phát sinh: tháng là một dòng tại ngày cuối tháng, </a:t>
            </a:r>
            <a:r>
              <a:rPr lang="vi-VN" sz="1800" b="1" i="0">
                <a:solidFill>
                  <a:srgbClr val="C55A11"/>
                </a:solidFill>
                <a:latin typeface="Times New Roman"/>
                <a:cs typeface="Times New Roman"/>
              </a:rPr>
              <a:t>YTD</a:t>
            </a:r>
            <a:r>
              <a:rPr lang="vi-VN" sz="1800" b="0" i="0">
                <a:solidFill>
                  <a:srgbClr val="000000"/>
                </a:solidFill>
                <a:latin typeface="Times New Roman"/>
                <a:cs typeface="Times New Roman"/>
              </a:rPr>
              <a:t> là tổng từ 01/01 đến Ngày BC</a:t>
            </a:r>
          </a:p>
        </p:txBody>
      </p:sp>
      <p:sp>
        <p:nvSpPr>
          <p:cNvPr id="474" name="Rounded Rectangle 473"/>
          <p:cNvSpPr/>
          <p:nvPr/>
        </p:nvSpPr>
        <p:spPr>
          <a:xfrm>
            <a:off x="365760" y="1417320"/>
            <a:ext cx="7498079" cy="97536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7406640" cy="920495"/>
          </a:xfrm>
          <a:prstGeom prst="rect">
            <a:avLst/>
          </a:prstGeom>
          <a:noFill/>
        </p:spPr>
        <p:txBody>
          <a:bodyPr wrap="square" lIns="73152" tIns="27432" rIns="73152" bIns="27432">
            <a:spAutoFit/>
          </a:bodyPr>
          <a:lstStyle/>
          <a:p>
            <a:pPr algn="l"/>
            <a:r>
              <a:rPr sz="1300" b="0">
                <a:solidFill>
                  <a:srgbClr val="24292F"/>
                </a:solidFill>
                <a:latin typeface="Courier New"/>
              </a:rPr>
              <a:t>NII tháng =</a:t>
            </a:r>
          </a:p>
          <a:p>
            <a:pPr algn="l"/>
            <a:r>
              <a:rPr sz="1300" b="1">
                <a:solidFill>
                  <a:srgbClr val="0550AE"/>
                </a:solidFill>
                <a:latin typeface="Courier New"/>
              </a:rPr>
              <a:t>VAR</a:t>
            </a:r>
            <a:r>
              <a:rPr sz="1300" b="0">
                <a:solidFill>
                  <a:srgbClr val="24292F"/>
                </a:solidFill>
                <a:latin typeface="Courier New"/>
              </a:rPr>
              <a:t> d = </a:t>
            </a:r>
            <a:r>
              <a:rPr sz="1300" b="0">
                <a:solidFill>
                  <a:srgbClr val="0F6E56"/>
                </a:solidFill>
                <a:latin typeface="Courier New"/>
              </a:rPr>
              <a:t>[Ngày BC]</a:t>
            </a:r>
          </a:p>
          <a:p>
            <a:pPr algn="l"/>
            <a:r>
              <a:rPr sz="1300" b="1">
                <a:solidFill>
                  <a:srgbClr val="0550AE"/>
                </a:solidFill>
                <a:latin typeface="Courier New"/>
              </a:rPr>
              <a:t>RETURN</a:t>
            </a:r>
            <a:r>
              <a:rPr sz="1300" b="0">
                <a:solidFill>
                  <a:srgbClr val="24292F"/>
                </a:solidFill>
                <a:latin typeface="Courier New"/>
              </a:rPr>
              <a:t> </a:t>
            </a:r>
            <a:r>
              <a:rPr sz="1300" b="1">
                <a:solidFill>
                  <a:srgbClr val="0550AE"/>
                </a:solidFill>
                <a:latin typeface="Courier New"/>
              </a:rPr>
              <a:t>CALCULATE</a:t>
            </a:r>
            <a:r>
              <a:rPr sz="1300" b="0">
                <a:solidFill>
                  <a:srgbClr val="24292F"/>
                </a:solidFill>
                <a:latin typeface="Courier New"/>
              </a:rPr>
              <a:t> ( </a:t>
            </a:r>
            <a:r>
              <a:rPr sz="1300" b="1">
                <a:solidFill>
                  <a:srgbClr val="0550AE"/>
                </a:solidFill>
                <a:latin typeface="Courier New"/>
              </a:rPr>
              <a:t>SUM</a:t>
            </a:r>
            <a:r>
              <a:rPr sz="1300" b="0">
                <a:solidFill>
                  <a:srgbClr val="24292F"/>
                </a:solidFill>
                <a:latin typeface="Courier New"/>
              </a:rPr>
              <a:t> ( fact_income_monthly</a:t>
            </a:r>
            <a:r>
              <a:rPr sz="1300" b="0">
                <a:solidFill>
                  <a:srgbClr val="0F6E56"/>
                </a:solidFill>
                <a:latin typeface="Courier New"/>
              </a:rPr>
              <a:t>[nii_mtd]</a:t>
            </a:r>
            <a:r>
              <a:rPr sz="1300" b="0">
                <a:solidFill>
                  <a:srgbClr val="24292F"/>
                </a:solidFill>
                <a:latin typeface="Courier New"/>
              </a:rPr>
              <a:t> ),</a:t>
            </a:r>
          </a:p>
          <a:p>
            <a:pPr algn="l"/>
            <a:r>
              <a:rPr sz="1300" b="0">
                <a:solidFill>
                  <a:srgbClr val="24292F"/>
                </a:solidFill>
                <a:latin typeface="Courier New"/>
              </a:rPr>
              <a:t>    </a:t>
            </a:r>
            <a:r>
              <a:rPr sz="1300" b="1">
                <a:solidFill>
                  <a:srgbClr val="0550AE"/>
                </a:solidFill>
                <a:latin typeface="Courier New"/>
              </a:rPr>
              <a:t>REMOVEFILTERS</a:t>
            </a:r>
            <a:r>
              <a:rPr sz="1300" b="0">
                <a:solidFill>
                  <a:srgbClr val="24292F"/>
                </a:solidFill>
                <a:latin typeface="Courier New"/>
              </a:rPr>
              <a:t> ( dim_date ), dim_date</a:t>
            </a:r>
            <a:r>
              <a:rPr sz="1300" b="0">
                <a:solidFill>
                  <a:srgbClr val="0F6E56"/>
                </a:solidFill>
                <a:latin typeface="Courier New"/>
              </a:rPr>
              <a:t>[date]</a:t>
            </a:r>
            <a:r>
              <a:rPr sz="1300" b="0">
                <a:solidFill>
                  <a:srgbClr val="24292F"/>
                </a:solidFill>
                <a:latin typeface="Courier New"/>
              </a:rPr>
              <a:t> = d )</a:t>
            </a:r>
          </a:p>
        </p:txBody>
      </p:sp>
      <p:sp>
        <p:nvSpPr>
          <p:cNvPr id="476" name="Rounded Rectangle 475"/>
          <p:cNvSpPr/>
          <p:nvPr/>
        </p:nvSpPr>
        <p:spPr>
          <a:xfrm>
            <a:off x="365760" y="2502407"/>
            <a:ext cx="7498079" cy="38100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2529839"/>
            <a:ext cx="7406640" cy="326136"/>
          </a:xfrm>
          <a:prstGeom prst="rect">
            <a:avLst/>
          </a:prstGeom>
          <a:noFill/>
        </p:spPr>
        <p:txBody>
          <a:bodyPr wrap="square" lIns="73152" tIns="27432" rIns="73152" bIns="27432">
            <a:spAutoFit/>
          </a:bodyPr>
          <a:lstStyle/>
          <a:p>
            <a:pPr algn="l"/>
            <a:r>
              <a:rPr sz="1300" b="0">
                <a:solidFill>
                  <a:srgbClr val="24292F"/>
                </a:solidFill>
                <a:latin typeface="Courier New"/>
              </a:rPr>
              <a:t>TOI tháng = </a:t>
            </a:r>
            <a:r>
              <a:rPr sz="1300" b="0">
                <a:solidFill>
                  <a:srgbClr val="0F6E56"/>
                </a:solidFill>
                <a:latin typeface="Courier New"/>
              </a:rPr>
              <a:t>[NII tháng]</a:t>
            </a:r>
            <a:r>
              <a:rPr sz="1300" b="0">
                <a:solidFill>
                  <a:srgbClr val="24292F"/>
                </a:solidFill>
                <a:latin typeface="Courier New"/>
              </a:rPr>
              <a:t> + </a:t>
            </a:r>
            <a:r>
              <a:rPr sz="1300" b="0">
                <a:solidFill>
                  <a:srgbClr val="0F6E56"/>
                </a:solidFill>
                <a:latin typeface="Courier New"/>
              </a:rPr>
              <a:t>[NFI tháng]</a:t>
            </a:r>
          </a:p>
        </p:txBody>
      </p:sp>
      <p:sp>
        <p:nvSpPr>
          <p:cNvPr id="478" name="Rounded Rectangle 477"/>
          <p:cNvSpPr/>
          <p:nvPr/>
        </p:nvSpPr>
        <p:spPr>
          <a:xfrm>
            <a:off x="365760" y="2993135"/>
            <a:ext cx="7498079" cy="256032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9" name="TextBox 478"/>
          <p:cNvSpPr txBox="1"/>
          <p:nvPr/>
        </p:nvSpPr>
        <p:spPr>
          <a:xfrm>
            <a:off x="411480" y="3020567"/>
            <a:ext cx="7406640" cy="2505456"/>
          </a:xfrm>
          <a:prstGeom prst="rect">
            <a:avLst/>
          </a:prstGeom>
          <a:noFill/>
        </p:spPr>
        <p:txBody>
          <a:bodyPr wrap="square" lIns="73152" tIns="27432" rIns="73152" bIns="27432">
            <a:spAutoFit/>
          </a:bodyPr>
          <a:lstStyle/>
          <a:p>
            <a:pPr algn="l"/>
            <a:r>
              <a:rPr sz="1300" b="0">
                <a:solidFill>
                  <a:srgbClr val="24292F"/>
                </a:solidFill>
                <a:latin typeface="Courier New"/>
              </a:rPr>
              <a:t>NII YTD =</a:t>
            </a:r>
          </a:p>
          <a:p>
            <a:pPr algn="l"/>
            <a:r>
              <a:rPr sz="1300" b="1">
                <a:solidFill>
                  <a:srgbClr val="0550AE"/>
                </a:solidFill>
                <a:latin typeface="Courier New"/>
              </a:rPr>
              <a:t>VAR</a:t>
            </a:r>
            <a:r>
              <a:rPr sz="1300" b="0">
                <a:solidFill>
                  <a:srgbClr val="24292F"/>
                </a:solidFill>
                <a:latin typeface="Courier New"/>
              </a:rPr>
              <a:t> d  = </a:t>
            </a:r>
            <a:r>
              <a:rPr sz="1300" b="0">
                <a:solidFill>
                  <a:srgbClr val="0F6E56"/>
                </a:solidFill>
                <a:latin typeface="Courier New"/>
              </a:rPr>
              <a:t>[Ngày BC]</a:t>
            </a:r>
          </a:p>
          <a:p>
            <a:pPr algn="l"/>
            <a:r>
              <a:rPr sz="1300" b="1">
                <a:solidFill>
                  <a:srgbClr val="0550AE"/>
                </a:solidFill>
                <a:latin typeface="Courier New"/>
              </a:rPr>
              <a:t>VAR</a:t>
            </a:r>
            <a:r>
              <a:rPr sz="1300" b="0">
                <a:solidFill>
                  <a:srgbClr val="24292F"/>
                </a:solidFill>
                <a:latin typeface="Courier New"/>
              </a:rPr>
              <a:t> d0 = </a:t>
            </a:r>
            <a:r>
              <a:rPr sz="1300" b="1">
                <a:solidFill>
                  <a:srgbClr val="0550AE"/>
                </a:solidFill>
                <a:latin typeface="Courier New"/>
              </a:rPr>
              <a:t>DATE</a:t>
            </a:r>
            <a:r>
              <a:rPr sz="1300" b="0">
                <a:solidFill>
                  <a:srgbClr val="24292F"/>
                </a:solidFill>
                <a:latin typeface="Courier New"/>
              </a:rPr>
              <a:t> ( </a:t>
            </a:r>
            <a:r>
              <a:rPr sz="1300" b="1">
                <a:solidFill>
                  <a:srgbClr val="0550AE"/>
                </a:solidFill>
                <a:latin typeface="Courier New"/>
              </a:rPr>
              <a:t>YEAR</a:t>
            </a:r>
            <a:r>
              <a:rPr sz="1300" b="0">
                <a:solidFill>
                  <a:srgbClr val="24292F"/>
                </a:solidFill>
                <a:latin typeface="Courier New"/>
              </a:rPr>
              <a:t> ( d ), 1, 1 )</a:t>
            </a:r>
          </a:p>
          <a:p>
            <a:pPr algn="l"/>
            <a:r>
              <a:rPr sz="1300" b="1">
                <a:solidFill>
                  <a:srgbClr val="0550AE"/>
                </a:solidFill>
                <a:latin typeface="Courier New"/>
              </a:rPr>
              <a:t>RETURN</a:t>
            </a:r>
          </a:p>
          <a:p>
            <a:pPr algn="l"/>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a:t>
            </a:r>
          </a:p>
          <a:p>
            <a:pPr algn="l"/>
            <a:r>
              <a:rPr sz="1300" b="0">
                <a:solidFill>
                  <a:srgbClr val="24292F"/>
                </a:solidFill>
                <a:latin typeface="Courier New"/>
              </a:rPr>
              <a:t>        </a:t>
            </a:r>
            <a:r>
              <a:rPr sz="1300" b="1">
                <a:solidFill>
                  <a:srgbClr val="0550AE"/>
                </a:solidFill>
                <a:latin typeface="Courier New"/>
              </a:rPr>
              <a:t>NOT</a:t>
            </a:r>
            <a:r>
              <a:rPr sz="1300" b="0">
                <a:solidFill>
                  <a:srgbClr val="24292F"/>
                </a:solidFill>
                <a:latin typeface="Courier New"/>
              </a:rPr>
              <a:t> </a:t>
            </a:r>
            <a:r>
              <a:rPr sz="1300" b="1">
                <a:solidFill>
                  <a:srgbClr val="0550AE"/>
                </a:solidFill>
                <a:latin typeface="Courier New"/>
              </a:rPr>
              <a:t>ISBLANK</a:t>
            </a:r>
            <a:r>
              <a:rPr sz="1300" b="0">
                <a:solidFill>
                  <a:srgbClr val="24292F"/>
                </a:solidFill>
                <a:latin typeface="Courier New"/>
              </a:rPr>
              <a:t> ( d ),</a:t>
            </a:r>
          </a:p>
          <a:p>
            <a:pPr algn="l"/>
            <a:r>
              <a:rPr sz="1300" b="0">
                <a:solidFill>
                  <a:srgbClr val="24292F"/>
                </a:solidFill>
                <a:latin typeface="Courier New"/>
              </a:rPr>
              <a:t>        </a:t>
            </a:r>
            <a:r>
              <a:rPr sz="1300" b="1">
                <a:solidFill>
                  <a:srgbClr val="0550AE"/>
                </a:solidFill>
                <a:latin typeface="Courier New"/>
              </a:rPr>
              <a:t>CALCULATE</a:t>
            </a:r>
            <a:r>
              <a:rPr sz="1300" b="0">
                <a:solidFill>
                  <a:srgbClr val="24292F"/>
                </a:solidFill>
                <a:latin typeface="Courier New"/>
              </a:rPr>
              <a:t> (</a:t>
            </a:r>
          </a:p>
          <a:p>
            <a:pPr algn="l"/>
            <a:r>
              <a:rPr sz="1300" b="0">
                <a:solidFill>
                  <a:srgbClr val="24292F"/>
                </a:solidFill>
                <a:latin typeface="Courier New"/>
              </a:rPr>
              <a:t>            </a:t>
            </a:r>
            <a:r>
              <a:rPr sz="1300" b="1">
                <a:solidFill>
                  <a:srgbClr val="0550AE"/>
                </a:solidFill>
                <a:latin typeface="Courier New"/>
              </a:rPr>
              <a:t>SUM</a:t>
            </a:r>
            <a:r>
              <a:rPr sz="1300" b="0">
                <a:solidFill>
                  <a:srgbClr val="24292F"/>
                </a:solidFill>
                <a:latin typeface="Courier New"/>
              </a:rPr>
              <a:t> ( fact_income_monthly</a:t>
            </a:r>
            <a:r>
              <a:rPr sz="1300" b="0">
                <a:solidFill>
                  <a:srgbClr val="0F6E56"/>
                </a:solidFill>
                <a:latin typeface="Courier New"/>
              </a:rPr>
              <a:t>[nii_mtd]</a:t>
            </a:r>
            <a:r>
              <a:rPr sz="1300" b="0">
                <a:solidFill>
                  <a:srgbClr val="24292F"/>
                </a:solidFill>
                <a:latin typeface="Courier New"/>
              </a:rPr>
              <a:t> ),</a:t>
            </a:r>
          </a:p>
          <a:p>
            <a:pPr algn="l"/>
            <a:r>
              <a:rPr sz="1300" b="0">
                <a:solidFill>
                  <a:srgbClr val="24292F"/>
                </a:solidFill>
                <a:latin typeface="Courier New"/>
              </a:rPr>
              <a:t>            </a:t>
            </a:r>
            <a:r>
              <a:rPr sz="1300" b="1">
                <a:solidFill>
                  <a:srgbClr val="0550AE"/>
                </a:solidFill>
                <a:latin typeface="Courier New"/>
              </a:rPr>
              <a:t>REMOVEFILTERS</a:t>
            </a:r>
            <a:r>
              <a:rPr sz="1300" b="0">
                <a:solidFill>
                  <a:srgbClr val="24292F"/>
                </a:solidFill>
                <a:latin typeface="Courier New"/>
              </a:rPr>
              <a:t> ( dim_date ),</a:t>
            </a:r>
          </a:p>
          <a:p>
            <a:pPr algn="l"/>
            <a:r>
              <a:rPr sz="1300" b="0">
                <a:solidFill>
                  <a:srgbClr val="24292F"/>
                </a:solidFill>
                <a:latin typeface="Courier New"/>
              </a:rPr>
              <a:t>            </a:t>
            </a:r>
            <a:r>
              <a:rPr sz="1300" b="1">
                <a:solidFill>
                  <a:srgbClr val="0550AE"/>
                </a:solidFill>
                <a:latin typeface="Courier New"/>
              </a:rPr>
              <a:t>DATESBETWEEN</a:t>
            </a:r>
            <a:r>
              <a:rPr sz="1300" b="0">
                <a:solidFill>
                  <a:srgbClr val="24292F"/>
                </a:solidFill>
                <a:latin typeface="Courier New"/>
              </a:rPr>
              <a:t> ( dim_date</a:t>
            </a:r>
            <a:r>
              <a:rPr sz="1300" b="0">
                <a:solidFill>
                  <a:srgbClr val="0F6E56"/>
                </a:solidFill>
                <a:latin typeface="Courier New"/>
              </a:rPr>
              <a:t>[date]</a:t>
            </a:r>
            <a:r>
              <a:rPr sz="1300" b="0">
                <a:solidFill>
                  <a:srgbClr val="24292F"/>
                </a:solidFill>
                <a:latin typeface="Courier New"/>
              </a:rPr>
              <a:t>, d0, d )</a:t>
            </a:r>
          </a:p>
          <a:p>
            <a:pPr algn="l"/>
            <a:r>
              <a:rPr sz="1300" b="0">
                <a:solidFill>
                  <a:srgbClr val="24292F"/>
                </a:solidFill>
                <a:latin typeface="Courier New"/>
              </a:rPr>
              <a:t>        )</a:t>
            </a:r>
          </a:p>
          <a:p>
            <a:pPr algn="l"/>
            <a:r>
              <a:rPr sz="1300" b="0">
                <a:solidFill>
                  <a:srgbClr val="24292F"/>
                </a:solidFill>
                <a:latin typeface="Courier New"/>
              </a:rPr>
              <a:t>    )</a:t>
            </a:r>
          </a:p>
        </p:txBody>
      </p:sp>
      <p:sp>
        <p:nvSpPr>
          <p:cNvPr id="480" name="Rounded Rectangle 479"/>
          <p:cNvSpPr/>
          <p:nvPr/>
        </p:nvSpPr>
        <p:spPr>
          <a:xfrm>
            <a:off x="8046720" y="1417320"/>
            <a:ext cx="3776472"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1" name="Rounded Rectangle 480"/>
          <p:cNvSpPr/>
          <p:nvPr/>
        </p:nvSpPr>
        <p:spPr>
          <a:xfrm>
            <a:off x="8046720" y="1417320"/>
            <a:ext cx="3776472" cy="411480"/>
          </a:xfrm>
          <a:prstGeom prst="roundRect">
            <a:avLst>
              <a:gd name="adj" fmla="val 25000"/>
            </a:avLst>
          </a:prstGeom>
          <a:solidFill>
            <a:srgbClr val="2E5B3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Cách đọc</a:t>
            </a:r>
          </a:p>
        </p:txBody>
      </p:sp>
      <p:sp>
        <p:nvSpPr>
          <p:cNvPr id="482" name="TextBox 481"/>
          <p:cNvSpPr txBox="1"/>
          <p:nvPr/>
        </p:nvSpPr>
        <p:spPr>
          <a:xfrm>
            <a:off x="8138160" y="1892808"/>
            <a:ext cx="3593591" cy="3977640"/>
          </a:xfrm>
          <a:prstGeom prst="rect">
            <a:avLst/>
          </a:prstGeom>
          <a:noFill/>
        </p:spPr>
        <p:txBody>
          <a:bodyPr wrap="square" lIns="73152" tIns="36576" rIns="73152" bIns="36576" anchor="t"/>
          <a:lstStyle/>
          <a:p>
            <a:pPr marL="182880" indent="-182880" algn="l">
              <a:spcBef>
                <a:spcPts val="800"/>
              </a:spcBef>
              <a:buFont typeface="Arial"/>
              <a:buChar char="•"/>
            </a:pPr>
            <a:r>
              <a:rPr lang="vi-VN" sz="1350" b="1" i="0">
                <a:solidFill>
                  <a:srgbClr val="222222"/>
                </a:solidFill>
                <a:latin typeface="Times New Roman"/>
                <a:cs typeface="Times New Roman"/>
              </a:rPr>
              <a:t>NII, NFI tháng</a:t>
            </a:r>
            <a:r>
              <a:rPr lang="vi-VN" sz="1350" b="0" i="0">
                <a:solidFill>
                  <a:srgbClr val="222222"/>
                </a:solidFill>
                <a:latin typeface="Times New Roman"/>
                <a:cs typeface="Times New Roman"/>
              </a:rPr>
              <a:t>: tổng nii_mtd, nfi_mtd tại ngày cuối tháng báo cáo</a:t>
            </a:r>
          </a:p>
          <a:p>
            <a:pPr marL="182880" indent="-182880" algn="l">
              <a:spcBef>
                <a:spcPts val="800"/>
              </a:spcBef>
              <a:buFont typeface="Arial"/>
              <a:buChar char="•"/>
            </a:pPr>
            <a:r>
              <a:rPr lang="vi-VN" sz="1350" b="1" i="0">
                <a:solidFill>
                  <a:srgbClr val="222222"/>
                </a:solidFill>
                <a:latin typeface="Times New Roman"/>
                <a:cs typeface="Times New Roman"/>
              </a:rPr>
              <a:t>TOI tháng</a:t>
            </a:r>
            <a:r>
              <a:rPr lang="vi-VN" sz="1350" b="0" i="0">
                <a:solidFill>
                  <a:srgbClr val="222222"/>
                </a:solidFill>
                <a:latin typeface="Times New Roman"/>
                <a:cs typeface="Times New Roman"/>
              </a:rPr>
              <a:t> = NII tháng + NFI tháng</a:t>
            </a:r>
          </a:p>
          <a:p>
            <a:pPr marL="182880" indent="-182880" algn="l">
              <a:spcBef>
                <a:spcPts val="800"/>
              </a:spcBef>
              <a:buFont typeface="Arial"/>
              <a:buChar char="•"/>
            </a:pPr>
            <a:r>
              <a:rPr lang="vi-VN" sz="1350" b="1" i="0">
                <a:solidFill>
                  <a:srgbClr val="222222"/>
                </a:solidFill>
                <a:latin typeface="Times New Roman"/>
                <a:cs typeface="Times New Roman"/>
              </a:rPr>
              <a:t>NII YTD</a:t>
            </a:r>
            <a:r>
              <a:rPr lang="vi-VN" sz="1350" b="0" i="0">
                <a:solidFill>
                  <a:srgbClr val="222222"/>
                </a:solidFill>
                <a:latin typeface="Times New Roman"/>
                <a:cs typeface="Times New Roman"/>
              </a:rPr>
              <a:t>: tổng từ 01/01 đến Ngày BC (DATESBETWEEN) = các tháng đã đóng + tháng hiện tại</a:t>
            </a:r>
          </a:p>
          <a:p>
            <a:pPr marL="182880" indent="-182880" algn="l">
              <a:spcBef>
                <a:spcPts val="800"/>
              </a:spcBef>
              <a:buFont typeface="Arial"/>
              <a:buChar char="•"/>
            </a:pPr>
            <a:r>
              <a:rPr lang="vi-VN" sz="1350" b="1" i="0">
                <a:solidFill>
                  <a:srgbClr val="222222"/>
                </a:solidFill>
                <a:latin typeface="Times New Roman"/>
                <a:cs typeface="Times New Roman"/>
              </a:rPr>
              <a:t>NFI YTD</a:t>
            </a:r>
            <a:r>
              <a:rPr lang="vi-VN" sz="1350" b="0" i="0">
                <a:solidFill>
                  <a:srgbClr val="222222"/>
                </a:solidFill>
                <a:latin typeface="Times New Roman"/>
                <a:cs typeface="Times New Roman"/>
              </a:rPr>
              <a:t> cùng khuôn với NII YTD; </a:t>
            </a:r>
            <a:r>
              <a:rPr lang="vi-VN" sz="1350" b="1" i="0">
                <a:solidFill>
                  <a:srgbClr val="222222"/>
                </a:solidFill>
                <a:latin typeface="Times New Roman"/>
                <a:cs typeface="Times New Roman"/>
              </a:rPr>
              <a:t>TOI YTD</a:t>
            </a:r>
            <a:r>
              <a:rPr lang="vi-VN" sz="1350" b="0" i="0">
                <a:solidFill>
                  <a:srgbClr val="222222"/>
                </a:solidFill>
                <a:latin typeface="Times New Roman"/>
                <a:cs typeface="Times New Roman"/>
              </a:rPr>
              <a:t> = NII YTD + NFI YTD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41</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nhóm Sinh lời (2): YTD cuối tháng trước và YTD cùng kỳ năm trước</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Tháng 1: YTD của tháng trước là cả năm trước → measure </a:t>
            </a:r>
            <a:r>
              <a:rPr lang="vi-VN" sz="1800" b="1" i="0">
                <a:solidFill>
                  <a:srgbClr val="C00000"/>
                </a:solidFill>
                <a:latin typeface="Times New Roman"/>
                <a:cs typeface="Times New Roman"/>
              </a:rPr>
              <a:t>trả về trống</a:t>
            </a:r>
          </a:p>
        </p:txBody>
      </p:sp>
      <p:sp>
        <p:nvSpPr>
          <p:cNvPr id="474" name="Rounded Rectangle 473"/>
          <p:cNvSpPr/>
          <p:nvPr/>
        </p:nvSpPr>
        <p:spPr>
          <a:xfrm>
            <a:off x="365760" y="1417320"/>
            <a:ext cx="6949440" cy="167640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6858000" cy="1621536"/>
          </a:xfrm>
          <a:prstGeom prst="rect">
            <a:avLst/>
          </a:prstGeom>
          <a:noFill/>
        </p:spPr>
        <p:txBody>
          <a:bodyPr wrap="square" lIns="73152" tIns="27432" rIns="73152" bIns="27432">
            <a:spAutoFit/>
          </a:bodyPr>
          <a:lstStyle/>
          <a:p>
            <a:pPr algn="l"/>
            <a:r>
              <a:rPr sz="1400" b="0">
                <a:solidFill>
                  <a:srgbClr val="24292F"/>
                </a:solidFill>
                <a:latin typeface="Courier New"/>
              </a:rPr>
              <a:t>NII YTD LM =</a:t>
            </a:r>
          </a:p>
          <a:p>
            <a:pPr algn="l"/>
            <a:r>
              <a:rPr sz="1400" b="1">
                <a:solidFill>
                  <a:srgbClr val="0550AE"/>
                </a:solidFill>
                <a:latin typeface="Courier New"/>
              </a:rPr>
              <a:t>VAR</a:t>
            </a:r>
            <a:r>
              <a:rPr sz="1400" b="0">
                <a:solidFill>
                  <a:srgbClr val="24292F"/>
                </a:solidFill>
                <a:latin typeface="Courier New"/>
              </a:rPr>
              <a:t> d = </a:t>
            </a:r>
            <a:r>
              <a:rPr sz="1400" b="0">
                <a:solidFill>
                  <a:srgbClr val="0F6E56"/>
                </a:solidFill>
                <a:latin typeface="Courier New"/>
              </a:rPr>
              <a:t>[Ngày LM]</a:t>
            </a:r>
          </a:p>
          <a:p>
            <a:pPr algn="l"/>
            <a:r>
              <a:rPr sz="1400" b="1">
                <a:solidFill>
                  <a:srgbClr val="0550AE"/>
                </a:solidFill>
                <a:latin typeface="Courier New"/>
              </a:rPr>
              <a:t>RETURN</a:t>
            </a:r>
          </a:p>
          <a:p>
            <a:pPr algn="l"/>
            <a:r>
              <a:rPr sz="1400" b="0">
                <a:solidFill>
                  <a:srgbClr val="24292F"/>
                </a:solidFill>
                <a:latin typeface="Courier New"/>
              </a:rPr>
              <a:t>    </a:t>
            </a:r>
            <a:r>
              <a:rPr sz="1400" b="1">
                <a:solidFill>
                  <a:srgbClr val="0550AE"/>
                </a:solidFill>
                <a:latin typeface="Courier New"/>
              </a:rPr>
              <a:t>IF</a:t>
            </a:r>
            <a:r>
              <a:rPr sz="1400" b="0">
                <a:solidFill>
                  <a:srgbClr val="24292F"/>
                </a:solidFill>
                <a:latin typeface="Courier New"/>
              </a:rPr>
              <a:t> ( </a:t>
            </a:r>
            <a:r>
              <a:rPr sz="1400" b="1">
                <a:solidFill>
                  <a:srgbClr val="0550AE"/>
                </a:solidFill>
                <a:latin typeface="Courier New"/>
              </a:rPr>
              <a:t>MONTH</a:t>
            </a:r>
            <a:r>
              <a:rPr sz="1400" b="0">
                <a:solidFill>
                  <a:srgbClr val="24292F"/>
                </a:solidFill>
                <a:latin typeface="Courier New"/>
              </a:rPr>
              <a:t> ( </a:t>
            </a:r>
            <a:r>
              <a:rPr sz="1400" b="0">
                <a:solidFill>
                  <a:srgbClr val="0F6E56"/>
                </a:solidFill>
                <a:latin typeface="Courier New"/>
              </a:rPr>
              <a:t>[Ngày BC]</a:t>
            </a:r>
            <a:r>
              <a:rPr sz="1400" b="0">
                <a:solidFill>
                  <a:srgbClr val="24292F"/>
                </a:solidFill>
                <a:latin typeface="Courier New"/>
              </a:rPr>
              <a:t> ) &gt; 1,</a:t>
            </a:r>
          </a:p>
          <a:p>
            <a:pPr algn="l"/>
            <a:r>
              <a:rPr sz="1400" b="0">
                <a:solidFill>
                  <a:srgbClr val="24292F"/>
                </a:solidFill>
                <a:latin typeface="Courier New"/>
              </a:rPr>
              <a:t>        </a:t>
            </a:r>
            <a:r>
              <a:rPr sz="1400" b="1">
                <a:solidFill>
                  <a:srgbClr val="0550AE"/>
                </a:solidFill>
                <a:latin typeface="Courier New"/>
              </a:rPr>
              <a:t>CALCULATE</a:t>
            </a:r>
            <a:r>
              <a:rPr sz="1400" b="0">
                <a:solidFill>
                  <a:srgbClr val="24292F"/>
                </a:solidFill>
                <a:latin typeface="Courier New"/>
              </a:rPr>
              <a:t> ( </a:t>
            </a:r>
            <a:r>
              <a:rPr sz="1400" b="0">
                <a:solidFill>
                  <a:srgbClr val="0F6E56"/>
                </a:solidFill>
                <a:latin typeface="Courier New"/>
              </a:rPr>
              <a:t>[NII YTD]</a:t>
            </a:r>
            <a:r>
              <a:rPr sz="1400" b="0">
                <a:solidFill>
                  <a:srgbClr val="24292F"/>
                </a:solidFill>
                <a:latin typeface="Courier New"/>
              </a:rPr>
              <a:t>,</a:t>
            </a:r>
          </a:p>
          <a:p>
            <a:pPr algn="l"/>
            <a:r>
              <a:rPr sz="1400" b="0">
                <a:solidFill>
                  <a:srgbClr val="24292F"/>
                </a:solidFill>
                <a:latin typeface="Courier New"/>
              </a:rPr>
              <a:t>            </a:t>
            </a:r>
            <a:r>
              <a:rPr sz="1400" b="1">
                <a:solidFill>
                  <a:srgbClr val="0550AE"/>
                </a:solidFill>
                <a:latin typeface="Courier New"/>
              </a:rPr>
              <a:t>REMOVEFILTERS</a:t>
            </a:r>
            <a:r>
              <a:rPr sz="1400" b="0">
                <a:solidFill>
                  <a:srgbClr val="24292F"/>
                </a:solidFill>
                <a:latin typeface="Courier New"/>
              </a:rPr>
              <a:t> ( dim_date ),</a:t>
            </a:r>
          </a:p>
          <a:p>
            <a:pPr algn="l"/>
            <a:r>
              <a:rPr sz="1400" b="0">
                <a:solidFill>
                  <a:srgbClr val="24292F"/>
                </a:solidFill>
                <a:latin typeface="Courier New"/>
              </a:rPr>
              <a:t>            dim_date</a:t>
            </a:r>
            <a:r>
              <a:rPr sz="1400" b="0">
                <a:solidFill>
                  <a:srgbClr val="0F6E56"/>
                </a:solidFill>
                <a:latin typeface="Courier New"/>
              </a:rPr>
              <a:t>[date]</a:t>
            </a:r>
            <a:r>
              <a:rPr sz="1400" b="0">
                <a:solidFill>
                  <a:srgbClr val="24292F"/>
                </a:solidFill>
                <a:latin typeface="Courier New"/>
              </a:rPr>
              <a:t> = d ) )</a:t>
            </a:r>
          </a:p>
        </p:txBody>
      </p:sp>
      <p:sp>
        <p:nvSpPr>
          <p:cNvPr id="476" name="Rounded Rectangle 475"/>
          <p:cNvSpPr/>
          <p:nvPr/>
        </p:nvSpPr>
        <p:spPr>
          <a:xfrm>
            <a:off x="365760" y="3203447"/>
            <a:ext cx="6949440" cy="146303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3230879"/>
            <a:ext cx="6858000" cy="1408175"/>
          </a:xfrm>
          <a:prstGeom prst="rect">
            <a:avLst/>
          </a:prstGeom>
          <a:noFill/>
        </p:spPr>
        <p:txBody>
          <a:bodyPr wrap="square" lIns="73152" tIns="27432" rIns="73152" bIns="27432">
            <a:spAutoFit/>
          </a:bodyPr>
          <a:lstStyle/>
          <a:p>
            <a:pPr algn="l"/>
            <a:r>
              <a:rPr sz="1400" b="0">
                <a:solidFill>
                  <a:srgbClr val="24292F"/>
                </a:solidFill>
                <a:latin typeface="Courier New"/>
              </a:rPr>
              <a:t>NII YTD SPLY =</a:t>
            </a:r>
          </a:p>
          <a:p>
            <a:pPr algn="l"/>
            <a:r>
              <a:rPr sz="1400" b="1">
                <a:solidFill>
                  <a:srgbClr val="0550AE"/>
                </a:solidFill>
                <a:latin typeface="Courier New"/>
              </a:rPr>
              <a:t>VAR</a:t>
            </a:r>
            <a:r>
              <a:rPr sz="1400" b="0">
                <a:solidFill>
                  <a:srgbClr val="24292F"/>
                </a:solidFill>
                <a:latin typeface="Courier New"/>
              </a:rPr>
              <a:t> d = </a:t>
            </a:r>
            <a:r>
              <a:rPr sz="1400" b="0">
                <a:solidFill>
                  <a:srgbClr val="0F6E56"/>
                </a:solidFill>
                <a:latin typeface="Courier New"/>
              </a:rPr>
              <a:t>[Ngày SPLY]</a:t>
            </a:r>
          </a:p>
          <a:p>
            <a:pPr algn="l"/>
            <a:r>
              <a:rPr sz="1400" b="1">
                <a:solidFill>
                  <a:srgbClr val="0550AE"/>
                </a:solidFill>
                <a:latin typeface="Courier New"/>
              </a:rPr>
              <a:t>RETURN</a:t>
            </a:r>
          </a:p>
          <a:p>
            <a:pPr algn="l"/>
            <a:r>
              <a:rPr sz="1400" b="0">
                <a:solidFill>
                  <a:srgbClr val="24292F"/>
                </a:solidFill>
                <a:latin typeface="Courier New"/>
              </a:rPr>
              <a:t>    </a:t>
            </a:r>
            <a:r>
              <a:rPr sz="1400" b="1">
                <a:solidFill>
                  <a:srgbClr val="0550AE"/>
                </a:solidFill>
                <a:latin typeface="Courier New"/>
              </a:rPr>
              <a:t>CALCULATE</a:t>
            </a:r>
            <a:r>
              <a:rPr sz="1400" b="0">
                <a:solidFill>
                  <a:srgbClr val="24292F"/>
                </a:solidFill>
                <a:latin typeface="Courier New"/>
              </a:rPr>
              <a:t> ( </a:t>
            </a:r>
            <a:r>
              <a:rPr sz="1400" b="0">
                <a:solidFill>
                  <a:srgbClr val="0F6E56"/>
                </a:solidFill>
                <a:latin typeface="Courier New"/>
              </a:rPr>
              <a:t>[NII YTD]</a:t>
            </a:r>
            <a:r>
              <a:rPr sz="1400" b="0">
                <a:solidFill>
                  <a:srgbClr val="24292F"/>
                </a:solidFill>
                <a:latin typeface="Courier New"/>
              </a:rPr>
              <a:t>,</a:t>
            </a:r>
          </a:p>
          <a:p>
            <a:pPr algn="l"/>
            <a:r>
              <a:rPr sz="1400" b="0">
                <a:solidFill>
                  <a:srgbClr val="24292F"/>
                </a:solidFill>
                <a:latin typeface="Courier New"/>
              </a:rPr>
              <a:t>        </a:t>
            </a:r>
            <a:r>
              <a:rPr sz="1400" b="1">
                <a:solidFill>
                  <a:srgbClr val="0550AE"/>
                </a:solidFill>
                <a:latin typeface="Courier New"/>
              </a:rPr>
              <a:t>REMOVEFILTERS</a:t>
            </a:r>
            <a:r>
              <a:rPr sz="1400" b="0">
                <a:solidFill>
                  <a:srgbClr val="24292F"/>
                </a:solidFill>
                <a:latin typeface="Courier New"/>
              </a:rPr>
              <a:t> ( dim_date ),</a:t>
            </a:r>
          </a:p>
          <a:p>
            <a:pPr algn="l"/>
            <a:r>
              <a:rPr sz="1400" b="0">
                <a:solidFill>
                  <a:srgbClr val="24292F"/>
                </a:solidFill>
                <a:latin typeface="Courier New"/>
              </a:rPr>
              <a:t>        dim_date</a:t>
            </a:r>
            <a:r>
              <a:rPr sz="1400" b="0">
                <a:solidFill>
                  <a:srgbClr val="0F6E56"/>
                </a:solidFill>
                <a:latin typeface="Courier New"/>
              </a:rPr>
              <a:t>[date]</a:t>
            </a:r>
            <a:r>
              <a:rPr sz="1400" b="0">
                <a:solidFill>
                  <a:srgbClr val="24292F"/>
                </a:solidFill>
                <a:latin typeface="Courier New"/>
              </a:rPr>
              <a:t> = d )</a:t>
            </a:r>
          </a:p>
        </p:txBody>
      </p:sp>
      <p:sp>
        <p:nvSpPr>
          <p:cNvPr id="478" name="Rounded Rectangle 477"/>
          <p:cNvSpPr/>
          <p:nvPr/>
        </p:nvSpPr>
        <p:spPr>
          <a:xfrm>
            <a:off x="365760" y="4776215"/>
            <a:ext cx="6949440" cy="39624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9" name="TextBox 478"/>
          <p:cNvSpPr txBox="1"/>
          <p:nvPr/>
        </p:nvSpPr>
        <p:spPr>
          <a:xfrm>
            <a:off x="411480" y="4803648"/>
            <a:ext cx="6858000" cy="341376"/>
          </a:xfrm>
          <a:prstGeom prst="rect">
            <a:avLst/>
          </a:prstGeom>
          <a:noFill/>
        </p:spPr>
        <p:txBody>
          <a:bodyPr wrap="square" lIns="73152" tIns="27432" rIns="73152" bIns="27432">
            <a:spAutoFit/>
          </a:bodyPr>
          <a:lstStyle/>
          <a:p>
            <a:pPr algn="l"/>
            <a:r>
              <a:rPr sz="1400" b="0">
                <a:solidFill>
                  <a:srgbClr val="24292F"/>
                </a:solidFill>
                <a:latin typeface="Courier New"/>
              </a:rPr>
              <a:t>TOI YTD = </a:t>
            </a:r>
            <a:r>
              <a:rPr sz="1400" b="0">
                <a:solidFill>
                  <a:srgbClr val="0F6E56"/>
                </a:solidFill>
                <a:latin typeface="Courier New"/>
              </a:rPr>
              <a:t>[NII YTD]</a:t>
            </a:r>
            <a:r>
              <a:rPr sz="1400" b="0">
                <a:solidFill>
                  <a:srgbClr val="24292F"/>
                </a:solidFill>
                <a:latin typeface="Courier New"/>
              </a:rPr>
              <a:t> + </a:t>
            </a:r>
            <a:r>
              <a:rPr sz="1400" b="0">
                <a:solidFill>
                  <a:srgbClr val="0F6E56"/>
                </a:solidFill>
                <a:latin typeface="Courier New"/>
              </a:rPr>
              <a:t>[NFI YTD]</a:t>
            </a:r>
          </a:p>
        </p:txBody>
      </p:sp>
      <p:sp>
        <p:nvSpPr>
          <p:cNvPr id="480" name="Rounded Rectangle 479"/>
          <p:cNvSpPr/>
          <p:nvPr/>
        </p:nvSpPr>
        <p:spPr>
          <a:xfrm>
            <a:off x="7498079" y="1417320"/>
            <a:ext cx="4325112"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1" name="Rounded Rectangle 480"/>
          <p:cNvSpPr/>
          <p:nvPr/>
        </p:nvSpPr>
        <p:spPr>
          <a:xfrm>
            <a:off x="7498079" y="1417320"/>
            <a:ext cx="4325112" cy="411480"/>
          </a:xfrm>
          <a:prstGeom prst="roundRect">
            <a:avLst>
              <a:gd name="adj" fmla="val 25000"/>
            </a:avLst>
          </a:prstGeom>
          <a:solidFill>
            <a:srgbClr val="123A7A"/>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Cách đọc</a:t>
            </a:r>
          </a:p>
        </p:txBody>
      </p:sp>
      <p:sp>
        <p:nvSpPr>
          <p:cNvPr id="482" name="TextBox 481"/>
          <p:cNvSpPr txBox="1"/>
          <p:nvPr/>
        </p:nvSpPr>
        <p:spPr>
          <a:xfrm>
            <a:off x="7589519" y="1892808"/>
            <a:ext cx="4142232" cy="3977640"/>
          </a:xfrm>
          <a:prstGeom prst="rect">
            <a:avLst/>
          </a:prstGeom>
          <a:noFill/>
        </p:spPr>
        <p:txBody>
          <a:bodyPr wrap="square" lIns="73152" tIns="36576" rIns="73152" bIns="36576" anchor="t"/>
          <a:lstStyle/>
          <a:p>
            <a:pPr marL="182880" indent="-182880" algn="l">
              <a:spcBef>
                <a:spcPts val="800"/>
              </a:spcBef>
              <a:buFont typeface="Arial"/>
              <a:buChar char="•"/>
            </a:pPr>
            <a:r>
              <a:rPr lang="vi-VN" sz="1350" b="1" i="0">
                <a:solidFill>
                  <a:srgbClr val="222222"/>
                </a:solidFill>
                <a:latin typeface="Times New Roman"/>
                <a:cs typeface="Times New Roman"/>
              </a:rPr>
              <a:t>LM</a:t>
            </a:r>
            <a:r>
              <a:rPr lang="vi-VN" sz="1350" b="0" i="0">
                <a:solidFill>
                  <a:srgbClr val="222222"/>
                </a:solidFill>
                <a:latin typeface="Times New Roman"/>
                <a:cs typeface="Times New Roman"/>
              </a:rPr>
              <a:t>: YTD đến cuối tháng trước; </a:t>
            </a:r>
            <a:r>
              <a:rPr lang="vi-VN" sz="1350" b="1" i="0">
                <a:solidFill>
                  <a:srgbClr val="222222"/>
                </a:solidFill>
                <a:latin typeface="Times New Roman"/>
                <a:cs typeface="Times New Roman"/>
              </a:rPr>
              <a:t>SPLY</a:t>
            </a:r>
            <a:r>
              <a:rPr lang="vi-VN" sz="1350" b="0" i="0">
                <a:solidFill>
                  <a:srgbClr val="222222"/>
                </a:solidFill>
                <a:latin typeface="Times New Roman"/>
                <a:cs typeface="Times New Roman"/>
              </a:rPr>
              <a:t>: YTD cùng kỳ năm trước</a:t>
            </a:r>
          </a:p>
          <a:p>
            <a:pPr marL="182880" indent="-182880" algn="l">
              <a:spcBef>
                <a:spcPts val="800"/>
              </a:spcBef>
              <a:buFont typeface="Arial"/>
              <a:buChar char="•"/>
            </a:pPr>
            <a:r>
              <a:rPr lang="vi-VN" sz="1350" b="0" i="0">
                <a:solidFill>
                  <a:srgbClr val="222222"/>
                </a:solidFill>
                <a:latin typeface="Times New Roman"/>
                <a:cs typeface="Times New Roman"/>
              </a:rPr>
              <a:t>Điều kiện MONTH ( [Ngày BC] ) &gt; 1 → tháng 1 trả về trống, thẻ hiển thị “–”</a:t>
            </a:r>
          </a:p>
          <a:p>
            <a:pPr marL="182880" indent="-182880" algn="l">
              <a:spcBef>
                <a:spcPts val="800"/>
              </a:spcBef>
              <a:buFont typeface="Arial"/>
              <a:buChar char="•"/>
            </a:pPr>
            <a:r>
              <a:rPr lang="vi-VN" sz="1350" b="0" i="0">
                <a:solidFill>
                  <a:srgbClr val="222222"/>
                </a:solidFill>
                <a:latin typeface="Times New Roman"/>
                <a:cs typeface="Times New Roman"/>
              </a:rPr>
              <a:t>Làm tương tự cho NFI YTD LM, NFI YTD SPLY, TOI YTD LM, TOI YTD SPLY</a:t>
            </a:r>
          </a:p>
          <a:p>
            <a:pPr marL="182880" indent="-182880" algn="l">
              <a:spcBef>
                <a:spcPts val="800"/>
              </a:spcBef>
              <a:buFont typeface="Arial"/>
              <a:buChar char="•"/>
            </a:pPr>
            <a:r>
              <a:rPr lang="vi-VN" sz="1350" b="0" i="0">
                <a:solidFill>
                  <a:srgbClr val="222222"/>
                </a:solidFill>
                <a:latin typeface="Times New Roman"/>
                <a:cs typeface="Times New Roman"/>
              </a:rPr>
              <a:t>Cùng khuôn dịch ngày như nhóm Quy mô</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42</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nhóm Chất lượng tín dụng: dư nợ và tỷ lệ OD</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Dùng cờ </a:t>
            </a:r>
            <a:r>
              <a:rPr lang="vi-VN" sz="1800" b="1" i="0">
                <a:solidFill>
                  <a:srgbClr val="123A7A"/>
                </a:solidFill>
                <a:latin typeface="Times New Roman"/>
                <a:cs typeface="Times New Roman"/>
              </a:rPr>
              <a:t>is_od2, is_od35</a:t>
            </a:r>
            <a:r>
              <a:rPr lang="vi-VN" sz="1800" b="0" i="0">
                <a:solidFill>
                  <a:srgbClr val="000000"/>
                </a:solidFill>
                <a:latin typeface="Times New Roman"/>
                <a:cs typeface="Times New Roman"/>
              </a:rPr>
              <a:t>; tỷ lệ luôn chia cho tổng dư nợ </a:t>
            </a:r>
            <a:r>
              <a:rPr lang="vi-VN" sz="1800" b="1" i="0">
                <a:solidFill>
                  <a:srgbClr val="C55A11"/>
                </a:solidFill>
                <a:latin typeface="Times New Roman"/>
                <a:cs typeface="Times New Roman"/>
              </a:rPr>
              <a:t>cùng ngày</a:t>
            </a:r>
          </a:p>
        </p:txBody>
      </p:sp>
      <p:sp>
        <p:nvSpPr>
          <p:cNvPr id="474" name="Rounded Rectangle 473"/>
          <p:cNvSpPr/>
          <p:nvPr/>
        </p:nvSpPr>
        <p:spPr>
          <a:xfrm>
            <a:off x="365760" y="1417320"/>
            <a:ext cx="5669280" cy="80010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5577840" cy="745236"/>
          </a:xfrm>
          <a:prstGeom prst="rect">
            <a:avLst/>
          </a:prstGeom>
          <a:noFill/>
        </p:spPr>
        <p:txBody>
          <a:bodyPr wrap="square" lIns="73152" tIns="27432" rIns="73152" bIns="27432">
            <a:spAutoFit/>
          </a:bodyPr>
          <a:lstStyle/>
          <a:p>
            <a:pPr algn="l"/>
            <a:r>
              <a:rPr sz="1350" b="0">
                <a:solidFill>
                  <a:srgbClr val="24292F"/>
                </a:solidFill>
                <a:latin typeface="Courier New"/>
              </a:rPr>
              <a:t>Dư nợ OD2 =</a:t>
            </a:r>
          </a:p>
          <a:p>
            <a:pPr algn="l"/>
            <a:r>
              <a:rPr sz="1350" b="1">
                <a:solidFill>
                  <a:srgbClr val="0550AE"/>
                </a:solidFill>
                <a:latin typeface="Courier New"/>
              </a:rPr>
              <a:t>CALCULATE</a:t>
            </a:r>
            <a:r>
              <a:rPr sz="1350" b="0">
                <a:solidFill>
                  <a:srgbClr val="24292F"/>
                </a:solidFill>
                <a:latin typeface="Courier New"/>
              </a:rPr>
              <a:t> ( </a:t>
            </a:r>
            <a:r>
              <a:rPr sz="1350" b="0">
                <a:solidFill>
                  <a:srgbClr val="0F6E56"/>
                </a:solidFill>
                <a:latin typeface="Courier New"/>
              </a:rPr>
              <a:t>[Dư nợ]</a:t>
            </a:r>
            <a:r>
              <a:rPr sz="1350" b="0">
                <a:solidFill>
                  <a:srgbClr val="24292F"/>
                </a:solidFill>
                <a:latin typeface="Courier New"/>
              </a:rPr>
              <a:t>,</a:t>
            </a:r>
          </a:p>
          <a:p>
            <a:pPr algn="l"/>
            <a:r>
              <a:rPr sz="1350" b="0">
                <a:solidFill>
                  <a:srgbClr val="24292F"/>
                </a:solidFill>
                <a:latin typeface="Courier New"/>
              </a:rPr>
              <a:t>    dim_debt_group</a:t>
            </a:r>
            <a:r>
              <a:rPr sz="1350" b="0">
                <a:solidFill>
                  <a:srgbClr val="0F6E56"/>
                </a:solidFill>
                <a:latin typeface="Courier New"/>
              </a:rPr>
              <a:t>[is_od2]</a:t>
            </a:r>
            <a:r>
              <a:rPr sz="1350" b="0">
                <a:solidFill>
                  <a:srgbClr val="24292F"/>
                </a:solidFill>
                <a:latin typeface="Courier New"/>
              </a:rPr>
              <a:t> = </a:t>
            </a:r>
            <a:r>
              <a:rPr sz="1350" b="1">
                <a:solidFill>
                  <a:srgbClr val="0550AE"/>
                </a:solidFill>
                <a:latin typeface="Courier New"/>
              </a:rPr>
              <a:t>TRUE</a:t>
            </a:r>
            <a:r>
              <a:rPr sz="1350" b="0">
                <a:solidFill>
                  <a:srgbClr val="24292F"/>
                </a:solidFill>
                <a:latin typeface="Courier New"/>
              </a:rPr>
              <a:t> )</a:t>
            </a:r>
          </a:p>
        </p:txBody>
      </p:sp>
      <p:sp>
        <p:nvSpPr>
          <p:cNvPr id="476" name="Rounded Rectangle 475"/>
          <p:cNvSpPr/>
          <p:nvPr/>
        </p:nvSpPr>
        <p:spPr>
          <a:xfrm>
            <a:off x="365760" y="2327148"/>
            <a:ext cx="5669280" cy="80010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2354579"/>
            <a:ext cx="5577840" cy="745236"/>
          </a:xfrm>
          <a:prstGeom prst="rect">
            <a:avLst/>
          </a:prstGeom>
          <a:noFill/>
        </p:spPr>
        <p:txBody>
          <a:bodyPr wrap="square" lIns="73152" tIns="27432" rIns="73152" bIns="27432">
            <a:spAutoFit/>
          </a:bodyPr>
          <a:lstStyle/>
          <a:p>
            <a:pPr algn="l"/>
            <a:r>
              <a:rPr sz="1350" b="0">
                <a:solidFill>
                  <a:srgbClr val="24292F"/>
                </a:solidFill>
                <a:latin typeface="Courier New"/>
              </a:rPr>
              <a:t>Dư nợ OD3-5 =</a:t>
            </a:r>
          </a:p>
          <a:p>
            <a:pPr algn="l"/>
            <a:r>
              <a:rPr sz="1350" b="1">
                <a:solidFill>
                  <a:srgbClr val="0550AE"/>
                </a:solidFill>
                <a:latin typeface="Courier New"/>
              </a:rPr>
              <a:t>CALCULATE</a:t>
            </a:r>
            <a:r>
              <a:rPr sz="1350" b="0">
                <a:solidFill>
                  <a:srgbClr val="24292F"/>
                </a:solidFill>
                <a:latin typeface="Courier New"/>
              </a:rPr>
              <a:t> ( </a:t>
            </a:r>
            <a:r>
              <a:rPr sz="1350" b="0">
                <a:solidFill>
                  <a:srgbClr val="0F6E56"/>
                </a:solidFill>
                <a:latin typeface="Courier New"/>
              </a:rPr>
              <a:t>[Dư nợ]</a:t>
            </a:r>
            <a:r>
              <a:rPr sz="1350" b="0">
                <a:solidFill>
                  <a:srgbClr val="24292F"/>
                </a:solidFill>
                <a:latin typeface="Courier New"/>
              </a:rPr>
              <a:t>,</a:t>
            </a:r>
          </a:p>
          <a:p>
            <a:pPr algn="l"/>
            <a:r>
              <a:rPr sz="1350" b="0">
                <a:solidFill>
                  <a:srgbClr val="24292F"/>
                </a:solidFill>
                <a:latin typeface="Courier New"/>
              </a:rPr>
              <a:t>    dim_debt_group</a:t>
            </a:r>
            <a:r>
              <a:rPr sz="1350" b="0">
                <a:solidFill>
                  <a:srgbClr val="0F6E56"/>
                </a:solidFill>
                <a:latin typeface="Courier New"/>
              </a:rPr>
              <a:t>[is_od35]</a:t>
            </a:r>
            <a:r>
              <a:rPr sz="1350" b="0">
                <a:solidFill>
                  <a:srgbClr val="24292F"/>
                </a:solidFill>
                <a:latin typeface="Courier New"/>
              </a:rPr>
              <a:t> = </a:t>
            </a:r>
            <a:r>
              <a:rPr sz="1350" b="1">
                <a:solidFill>
                  <a:srgbClr val="0550AE"/>
                </a:solidFill>
                <a:latin typeface="Courier New"/>
              </a:rPr>
              <a:t>TRUE</a:t>
            </a:r>
            <a:r>
              <a:rPr sz="1350" b="0">
                <a:solidFill>
                  <a:srgbClr val="24292F"/>
                </a:solidFill>
                <a:latin typeface="Courier New"/>
              </a:rPr>
              <a:t> )</a:t>
            </a:r>
          </a:p>
        </p:txBody>
      </p:sp>
      <p:sp>
        <p:nvSpPr>
          <p:cNvPr id="478" name="Rounded Rectangle 477"/>
          <p:cNvSpPr/>
          <p:nvPr/>
        </p:nvSpPr>
        <p:spPr>
          <a:xfrm>
            <a:off x="365760" y="3236976"/>
            <a:ext cx="5669280" cy="59435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9" name="TextBox 478"/>
          <p:cNvSpPr txBox="1"/>
          <p:nvPr/>
        </p:nvSpPr>
        <p:spPr>
          <a:xfrm>
            <a:off x="411480" y="3264408"/>
            <a:ext cx="5577840" cy="539495"/>
          </a:xfrm>
          <a:prstGeom prst="rect">
            <a:avLst/>
          </a:prstGeom>
          <a:noFill/>
        </p:spPr>
        <p:txBody>
          <a:bodyPr wrap="square" lIns="73152" tIns="27432" rIns="73152" bIns="27432">
            <a:spAutoFit/>
          </a:bodyPr>
          <a:lstStyle/>
          <a:p>
            <a:pPr algn="l"/>
            <a:r>
              <a:rPr sz="1350" b="0">
                <a:solidFill>
                  <a:srgbClr val="24292F"/>
                </a:solidFill>
                <a:latin typeface="Courier New"/>
              </a:rPr>
              <a:t>Tỷ lệ OD2 =</a:t>
            </a:r>
          </a:p>
          <a:p>
            <a:pPr algn="l"/>
            <a:r>
              <a:rPr sz="1350" b="1">
                <a:solidFill>
                  <a:srgbClr val="0550AE"/>
                </a:solidFill>
                <a:latin typeface="Courier New"/>
              </a:rPr>
              <a:t>DIVIDE</a:t>
            </a:r>
            <a:r>
              <a:rPr sz="1350" b="0">
                <a:solidFill>
                  <a:srgbClr val="24292F"/>
                </a:solidFill>
                <a:latin typeface="Courier New"/>
              </a:rPr>
              <a:t> ( </a:t>
            </a:r>
            <a:r>
              <a:rPr sz="1350" b="0">
                <a:solidFill>
                  <a:srgbClr val="0F6E56"/>
                </a:solidFill>
                <a:latin typeface="Courier New"/>
              </a:rPr>
              <a:t>[Dư nợ OD2]</a:t>
            </a:r>
            <a:r>
              <a:rPr sz="1350" b="0">
                <a:solidFill>
                  <a:srgbClr val="24292F"/>
                </a:solidFill>
                <a:latin typeface="Courier New"/>
              </a:rPr>
              <a:t>, </a:t>
            </a:r>
            <a:r>
              <a:rPr sz="1350" b="0">
                <a:solidFill>
                  <a:srgbClr val="0F6E56"/>
                </a:solidFill>
                <a:latin typeface="Courier New"/>
              </a:rPr>
              <a:t>[Dư nợ]</a:t>
            </a:r>
            <a:r>
              <a:rPr sz="1350" b="0">
                <a:solidFill>
                  <a:srgbClr val="24292F"/>
                </a:solidFill>
                <a:latin typeface="Courier New"/>
              </a:rPr>
              <a:t> )</a:t>
            </a:r>
          </a:p>
        </p:txBody>
      </p:sp>
      <p:sp>
        <p:nvSpPr>
          <p:cNvPr id="480" name="Rounded Rectangle 479"/>
          <p:cNvSpPr/>
          <p:nvPr/>
        </p:nvSpPr>
        <p:spPr>
          <a:xfrm>
            <a:off x="365760" y="3941063"/>
            <a:ext cx="5669280" cy="594359"/>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81" name="TextBox 480"/>
          <p:cNvSpPr txBox="1"/>
          <p:nvPr/>
        </p:nvSpPr>
        <p:spPr>
          <a:xfrm>
            <a:off x="411480" y="3968496"/>
            <a:ext cx="5577840" cy="539495"/>
          </a:xfrm>
          <a:prstGeom prst="rect">
            <a:avLst/>
          </a:prstGeom>
          <a:noFill/>
        </p:spPr>
        <p:txBody>
          <a:bodyPr wrap="square" lIns="73152" tIns="27432" rIns="73152" bIns="27432">
            <a:spAutoFit/>
          </a:bodyPr>
          <a:lstStyle/>
          <a:p>
            <a:pPr algn="l"/>
            <a:r>
              <a:rPr sz="1350" b="0">
                <a:solidFill>
                  <a:srgbClr val="24292F"/>
                </a:solidFill>
                <a:latin typeface="Courier New"/>
              </a:rPr>
              <a:t>Tỷ lệ OD3-5 =</a:t>
            </a:r>
          </a:p>
          <a:p>
            <a:pPr algn="l"/>
            <a:r>
              <a:rPr sz="1350" b="1">
                <a:solidFill>
                  <a:srgbClr val="0550AE"/>
                </a:solidFill>
                <a:latin typeface="Courier New"/>
              </a:rPr>
              <a:t>DIVIDE</a:t>
            </a:r>
            <a:r>
              <a:rPr sz="1350" b="0">
                <a:solidFill>
                  <a:srgbClr val="24292F"/>
                </a:solidFill>
                <a:latin typeface="Courier New"/>
              </a:rPr>
              <a:t> ( </a:t>
            </a:r>
            <a:r>
              <a:rPr sz="1350" b="0">
                <a:solidFill>
                  <a:srgbClr val="0F6E56"/>
                </a:solidFill>
                <a:latin typeface="Courier New"/>
              </a:rPr>
              <a:t>[Dư nợ OD3-5]</a:t>
            </a:r>
            <a:r>
              <a:rPr sz="1350" b="0">
                <a:solidFill>
                  <a:srgbClr val="24292F"/>
                </a:solidFill>
                <a:latin typeface="Courier New"/>
              </a:rPr>
              <a:t>, </a:t>
            </a:r>
            <a:r>
              <a:rPr sz="1350" b="0">
                <a:solidFill>
                  <a:srgbClr val="0F6E56"/>
                </a:solidFill>
                <a:latin typeface="Courier New"/>
              </a:rPr>
              <a:t>[Dư nợ]</a:t>
            </a:r>
            <a:r>
              <a:rPr sz="1350" b="0">
                <a:solidFill>
                  <a:srgbClr val="24292F"/>
                </a:solidFill>
                <a:latin typeface="Courier New"/>
              </a:rPr>
              <a:t> )</a:t>
            </a:r>
          </a:p>
        </p:txBody>
      </p:sp>
      <p:sp>
        <p:nvSpPr>
          <p:cNvPr id="482" name="Rounded Rectangle 481"/>
          <p:cNvSpPr/>
          <p:nvPr/>
        </p:nvSpPr>
        <p:spPr>
          <a:xfrm>
            <a:off x="6172200" y="1417320"/>
            <a:ext cx="5650992" cy="121158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83" name="TextBox 482"/>
          <p:cNvSpPr txBox="1"/>
          <p:nvPr/>
        </p:nvSpPr>
        <p:spPr>
          <a:xfrm>
            <a:off x="6217920" y="1444752"/>
            <a:ext cx="5559552" cy="1156716"/>
          </a:xfrm>
          <a:prstGeom prst="rect">
            <a:avLst/>
          </a:prstGeom>
          <a:noFill/>
        </p:spPr>
        <p:txBody>
          <a:bodyPr wrap="square" lIns="73152" tIns="27432" rIns="73152" bIns="27432">
            <a:spAutoFit/>
          </a:bodyPr>
          <a:lstStyle/>
          <a:p>
            <a:pPr algn="l"/>
            <a:r>
              <a:rPr sz="1350" b="0">
                <a:solidFill>
                  <a:srgbClr val="24292F"/>
                </a:solidFill>
                <a:latin typeface="Courier New"/>
              </a:rPr>
              <a:t>Tỷ lệ OD2 LM =</a:t>
            </a:r>
          </a:p>
          <a:p>
            <a:pPr algn="l"/>
            <a:r>
              <a:rPr sz="1350" b="1">
                <a:solidFill>
                  <a:srgbClr val="0550AE"/>
                </a:solidFill>
                <a:latin typeface="Courier New"/>
              </a:rPr>
              <a:t>VAR</a:t>
            </a:r>
            <a:r>
              <a:rPr sz="1350" b="0">
                <a:solidFill>
                  <a:srgbClr val="24292F"/>
                </a:solidFill>
                <a:latin typeface="Courier New"/>
              </a:rPr>
              <a:t> d = </a:t>
            </a:r>
            <a:r>
              <a:rPr sz="1350" b="0">
                <a:solidFill>
                  <a:srgbClr val="0F6E56"/>
                </a:solidFill>
                <a:latin typeface="Courier New"/>
              </a:rPr>
              <a:t>[Ngày LM]</a:t>
            </a:r>
          </a:p>
          <a:p>
            <a:pPr algn="l"/>
            <a:r>
              <a:rPr sz="1350" b="1">
                <a:solidFill>
                  <a:srgbClr val="0550AE"/>
                </a:solidFill>
                <a:latin typeface="Courier New"/>
              </a:rPr>
              <a:t>RETURN</a:t>
            </a:r>
            <a:r>
              <a:rPr sz="1350" b="0">
                <a:solidFill>
                  <a:srgbClr val="24292F"/>
                </a:solidFill>
                <a:latin typeface="Courier New"/>
              </a:rPr>
              <a:t> </a:t>
            </a:r>
            <a:r>
              <a:rPr sz="1350" b="1">
                <a:solidFill>
                  <a:srgbClr val="0550AE"/>
                </a:solidFill>
                <a:latin typeface="Courier New"/>
              </a:rPr>
              <a:t>CALCULATE</a:t>
            </a:r>
            <a:r>
              <a:rPr sz="1350" b="0">
                <a:solidFill>
                  <a:srgbClr val="24292F"/>
                </a:solidFill>
                <a:latin typeface="Courier New"/>
              </a:rPr>
              <a:t> ( </a:t>
            </a:r>
            <a:r>
              <a:rPr sz="1350" b="0">
                <a:solidFill>
                  <a:srgbClr val="0F6E56"/>
                </a:solidFill>
                <a:latin typeface="Courier New"/>
              </a:rPr>
              <a:t>[Tỷ lệ OD2]</a:t>
            </a:r>
            <a:r>
              <a:rPr sz="1350" b="0">
                <a:solidFill>
                  <a:srgbClr val="24292F"/>
                </a:solidFill>
                <a:latin typeface="Courier New"/>
              </a:rPr>
              <a:t>,</a:t>
            </a:r>
          </a:p>
          <a:p>
            <a:pPr algn="l"/>
            <a:r>
              <a:rPr sz="1350" b="0">
                <a:solidFill>
                  <a:srgbClr val="24292F"/>
                </a:solidFill>
                <a:latin typeface="Courier New"/>
              </a:rPr>
              <a:t>    </a:t>
            </a:r>
            <a:r>
              <a:rPr sz="1350" b="1">
                <a:solidFill>
                  <a:srgbClr val="0550AE"/>
                </a:solidFill>
                <a:latin typeface="Courier New"/>
              </a:rPr>
              <a:t>REMOVEFILTERS</a:t>
            </a:r>
            <a:r>
              <a:rPr sz="1350" b="0">
                <a:solidFill>
                  <a:srgbClr val="24292F"/>
                </a:solidFill>
                <a:latin typeface="Courier New"/>
              </a:rPr>
              <a:t> ( dim_date ),</a:t>
            </a:r>
          </a:p>
          <a:p>
            <a:pPr algn="l"/>
            <a:r>
              <a:rPr sz="1350" b="0">
                <a:solidFill>
                  <a:srgbClr val="24292F"/>
                </a:solidFill>
                <a:latin typeface="Courier New"/>
              </a:rPr>
              <a:t>    dim_date</a:t>
            </a:r>
            <a:r>
              <a:rPr sz="1350" b="0">
                <a:solidFill>
                  <a:srgbClr val="0F6E56"/>
                </a:solidFill>
                <a:latin typeface="Courier New"/>
              </a:rPr>
              <a:t>[date]</a:t>
            </a:r>
            <a:r>
              <a:rPr sz="1350" b="0">
                <a:solidFill>
                  <a:srgbClr val="24292F"/>
                </a:solidFill>
                <a:latin typeface="Courier New"/>
              </a:rPr>
              <a:t> = d )</a:t>
            </a:r>
          </a:p>
        </p:txBody>
      </p:sp>
      <p:sp>
        <p:nvSpPr>
          <p:cNvPr id="484" name="Rounded Rectangle 483"/>
          <p:cNvSpPr/>
          <p:nvPr/>
        </p:nvSpPr>
        <p:spPr>
          <a:xfrm>
            <a:off x="6172200" y="3383280"/>
            <a:ext cx="5650992" cy="26974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5" name="Rounded Rectangle 484"/>
          <p:cNvSpPr/>
          <p:nvPr/>
        </p:nvSpPr>
        <p:spPr>
          <a:xfrm>
            <a:off x="6172200" y="3383280"/>
            <a:ext cx="5650992" cy="411480"/>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Cách đọc</a:t>
            </a:r>
          </a:p>
        </p:txBody>
      </p:sp>
      <p:sp>
        <p:nvSpPr>
          <p:cNvPr id="486" name="TextBox 485"/>
          <p:cNvSpPr txBox="1"/>
          <p:nvPr/>
        </p:nvSpPr>
        <p:spPr>
          <a:xfrm>
            <a:off x="6263640" y="3858768"/>
            <a:ext cx="5468112" cy="2148840"/>
          </a:xfrm>
          <a:prstGeom prst="rect">
            <a:avLst/>
          </a:prstGeom>
          <a:noFill/>
        </p:spPr>
        <p:txBody>
          <a:bodyPr wrap="square" lIns="73152" tIns="36576" rIns="73152" bIns="36576" anchor="t"/>
          <a:lstStyle/>
          <a:p>
            <a:pPr marL="182880" indent="-182880" algn="l">
              <a:spcBef>
                <a:spcPts val="800"/>
              </a:spcBef>
              <a:buFont typeface="Arial"/>
              <a:buChar char="•"/>
            </a:pPr>
            <a:r>
              <a:rPr lang="vi-VN" sz="1350" b="0" i="0">
                <a:solidFill>
                  <a:srgbClr val="222222"/>
                </a:solidFill>
                <a:latin typeface="Times New Roman"/>
                <a:cs typeface="Times New Roman"/>
              </a:rPr>
              <a:t>Nhân bản mẫu dịch kỳ cho 4 measure OD ở mốc LM và SPLY (tổng 8 measure)</a:t>
            </a:r>
          </a:p>
          <a:p>
            <a:pPr marL="182880" indent="-182880" algn="l">
              <a:spcBef>
                <a:spcPts val="800"/>
              </a:spcBef>
              <a:buFont typeface="Arial"/>
              <a:buChar char="•"/>
            </a:pPr>
            <a:r>
              <a:rPr lang="vi-VN" sz="1350" b="0" i="0">
                <a:solidFill>
                  <a:srgbClr val="222222"/>
                </a:solidFill>
                <a:latin typeface="Times New Roman"/>
                <a:cs typeface="Times New Roman"/>
              </a:rPr>
              <a:t>Tỷ lệ là tỷ số hai số </a:t>
            </a:r>
            <a:r>
              <a:rPr lang="vi-VN" sz="1350" b="1" i="0">
                <a:solidFill>
                  <a:srgbClr val="222222"/>
                </a:solidFill>
                <a:latin typeface="Times New Roman"/>
                <a:cs typeface="Times New Roman"/>
              </a:rPr>
              <a:t>cùng ngày</a:t>
            </a:r>
            <a:r>
              <a:rPr lang="vi-VN" sz="1350" b="0" i="0">
                <a:solidFill>
                  <a:srgbClr val="222222"/>
                </a:solidFill>
                <a:latin typeface="Times New Roman"/>
                <a:cs typeface="Times New Roman"/>
              </a:rPr>
              <a:t> → tính trên chính ngày đó, không trung bình các tháng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43</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so sánh: phần trăm thay đổi và chênh lệch điểm phần trăm</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Quy mô, thu nhập: </a:t>
            </a:r>
            <a:r>
              <a:rPr lang="vi-VN" sz="1800" b="1" i="0">
                <a:solidFill>
                  <a:srgbClr val="123A7A"/>
                </a:solidFill>
                <a:latin typeface="Times New Roman"/>
                <a:cs typeface="Times New Roman"/>
              </a:rPr>
              <a:t>% thay đổi</a:t>
            </a:r>
            <a:r>
              <a:rPr lang="vi-VN" sz="1800" b="0" i="0">
                <a:solidFill>
                  <a:srgbClr val="000000"/>
                </a:solidFill>
                <a:latin typeface="Times New Roman"/>
                <a:cs typeface="Times New Roman"/>
              </a:rPr>
              <a:t>. Tỷ lệ OD: </a:t>
            </a:r>
            <a:r>
              <a:rPr lang="vi-VN" sz="1800" b="1" i="0">
                <a:solidFill>
                  <a:srgbClr val="C00000"/>
                </a:solidFill>
                <a:latin typeface="Times New Roman"/>
                <a:cs typeface="Times New Roman"/>
              </a:rPr>
              <a:t>hiệu số × 100</a:t>
            </a:r>
            <a:r>
              <a:rPr lang="vi-VN" sz="1800" b="0" i="0">
                <a:solidFill>
                  <a:srgbClr val="000000"/>
                </a:solidFill>
                <a:latin typeface="Times New Roman"/>
                <a:cs typeface="Times New Roman"/>
              </a:rPr>
              <a:t> (điểm %)</a:t>
            </a:r>
          </a:p>
        </p:txBody>
      </p:sp>
      <p:sp>
        <p:nvSpPr>
          <p:cNvPr id="474" name="Rounded Rectangle 473"/>
          <p:cNvSpPr/>
          <p:nvPr/>
        </p:nvSpPr>
        <p:spPr>
          <a:xfrm>
            <a:off x="365760" y="1417320"/>
            <a:ext cx="5943600" cy="54864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5852160" cy="493776"/>
          </a:xfrm>
          <a:prstGeom prst="rect">
            <a:avLst/>
          </a:prstGeom>
          <a:noFill/>
        </p:spPr>
        <p:txBody>
          <a:bodyPr wrap="square" lIns="73152" tIns="27432" rIns="73152" bIns="27432">
            <a:spAutoFit/>
          </a:bodyPr>
          <a:lstStyle/>
          <a:p>
            <a:pPr algn="l"/>
            <a:r>
              <a:rPr sz="1200" b="0">
                <a:solidFill>
                  <a:srgbClr val="24292F"/>
                </a:solidFill>
                <a:latin typeface="Courier New"/>
              </a:rPr>
              <a:t>Δ% Dư nợ vs LM =</a:t>
            </a:r>
          </a:p>
          <a:p>
            <a:pPr algn="l"/>
            <a:r>
              <a:rPr sz="1200" b="1">
                <a:solidFill>
                  <a:srgbClr val="0550AE"/>
                </a:solidFill>
                <a:latin typeface="Courier New"/>
              </a:rPr>
              <a:t>DIVIDE</a:t>
            </a:r>
            <a:r>
              <a:rPr sz="1200" b="0">
                <a:solidFill>
                  <a:srgbClr val="24292F"/>
                </a:solidFill>
                <a:latin typeface="Courier New"/>
              </a:rPr>
              <a:t> ( </a:t>
            </a:r>
            <a:r>
              <a:rPr sz="1200" b="0">
                <a:solidFill>
                  <a:srgbClr val="0F6E56"/>
                </a:solidFill>
                <a:latin typeface="Courier New"/>
              </a:rPr>
              <a:t>[Dư nợ]</a:t>
            </a:r>
            <a:r>
              <a:rPr sz="1200" b="0">
                <a:solidFill>
                  <a:srgbClr val="24292F"/>
                </a:solidFill>
                <a:latin typeface="Courier New"/>
              </a:rPr>
              <a:t> - </a:t>
            </a:r>
            <a:r>
              <a:rPr sz="1200" b="0">
                <a:solidFill>
                  <a:srgbClr val="0F6E56"/>
                </a:solidFill>
                <a:latin typeface="Courier New"/>
              </a:rPr>
              <a:t>[Dư nợ LM]</a:t>
            </a:r>
            <a:r>
              <a:rPr sz="1200" b="0">
                <a:solidFill>
                  <a:srgbClr val="24292F"/>
                </a:solidFill>
                <a:latin typeface="Courier New"/>
              </a:rPr>
              <a:t>, </a:t>
            </a:r>
            <a:r>
              <a:rPr sz="1200" b="0">
                <a:solidFill>
                  <a:srgbClr val="0F6E56"/>
                </a:solidFill>
                <a:latin typeface="Courier New"/>
              </a:rPr>
              <a:t>[Dư nợ LM]</a:t>
            </a:r>
            <a:r>
              <a:rPr sz="1200" b="0">
                <a:solidFill>
                  <a:srgbClr val="24292F"/>
                </a:solidFill>
                <a:latin typeface="Courier New"/>
              </a:rPr>
              <a:t> )</a:t>
            </a:r>
          </a:p>
        </p:txBody>
      </p:sp>
      <p:sp>
        <p:nvSpPr>
          <p:cNvPr id="476" name="Rounded Rectangle 475"/>
          <p:cNvSpPr/>
          <p:nvPr/>
        </p:nvSpPr>
        <p:spPr>
          <a:xfrm>
            <a:off x="365760" y="2075688"/>
            <a:ext cx="5943600" cy="73152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2103120"/>
            <a:ext cx="5852160" cy="676656"/>
          </a:xfrm>
          <a:prstGeom prst="rect">
            <a:avLst/>
          </a:prstGeom>
          <a:noFill/>
        </p:spPr>
        <p:txBody>
          <a:bodyPr wrap="square" lIns="73152" tIns="27432" rIns="73152" bIns="27432">
            <a:spAutoFit/>
          </a:bodyPr>
          <a:lstStyle/>
          <a:p>
            <a:pPr algn="l"/>
            <a:r>
              <a:rPr sz="1200" b="0">
                <a:solidFill>
                  <a:srgbClr val="24292F"/>
                </a:solidFill>
                <a:latin typeface="Courier New"/>
              </a:rPr>
              <a:t>Δ% Dư nợ vs SPLY =</a:t>
            </a:r>
          </a:p>
          <a:p>
            <a:pPr algn="l"/>
            <a:r>
              <a:rPr sz="1200" b="1">
                <a:solidFill>
                  <a:srgbClr val="0550AE"/>
                </a:solidFill>
                <a:latin typeface="Courier New"/>
              </a:rPr>
              <a:t>DIVIDE</a:t>
            </a:r>
            <a:r>
              <a:rPr sz="1200" b="0">
                <a:solidFill>
                  <a:srgbClr val="24292F"/>
                </a:solidFill>
                <a:latin typeface="Courier New"/>
              </a:rPr>
              <a:t> ( </a:t>
            </a:r>
            <a:r>
              <a:rPr sz="1200" b="0">
                <a:solidFill>
                  <a:srgbClr val="0F6E56"/>
                </a:solidFill>
                <a:latin typeface="Courier New"/>
              </a:rPr>
              <a:t>[Dư nợ]</a:t>
            </a:r>
            <a:r>
              <a:rPr sz="1200" b="0">
                <a:solidFill>
                  <a:srgbClr val="24292F"/>
                </a:solidFill>
                <a:latin typeface="Courier New"/>
              </a:rPr>
              <a:t> - </a:t>
            </a:r>
            <a:r>
              <a:rPr sz="1200" b="0">
                <a:solidFill>
                  <a:srgbClr val="0F6E56"/>
                </a:solidFill>
                <a:latin typeface="Courier New"/>
              </a:rPr>
              <a:t>[Dư nợ SPLY]</a:t>
            </a:r>
            <a:r>
              <a:rPr sz="1200" b="0">
                <a:solidFill>
                  <a:srgbClr val="24292F"/>
                </a:solidFill>
                <a:latin typeface="Courier New"/>
              </a:rPr>
              <a:t>,</a:t>
            </a:r>
          </a:p>
          <a:p>
            <a:pPr algn="l"/>
            <a:r>
              <a:rPr sz="1200" b="0">
                <a:solidFill>
                  <a:srgbClr val="24292F"/>
                </a:solidFill>
                <a:latin typeface="Courier New"/>
              </a:rPr>
              <a:t>    </a:t>
            </a:r>
            <a:r>
              <a:rPr sz="1200" b="0">
                <a:solidFill>
                  <a:srgbClr val="0F6E56"/>
                </a:solidFill>
                <a:latin typeface="Courier New"/>
              </a:rPr>
              <a:t>[Dư nợ SPLY]</a:t>
            </a:r>
            <a:r>
              <a:rPr sz="1200" b="0">
                <a:solidFill>
                  <a:srgbClr val="24292F"/>
                </a:solidFill>
                <a:latin typeface="Courier New"/>
              </a:rPr>
              <a:t> )</a:t>
            </a:r>
          </a:p>
        </p:txBody>
      </p:sp>
      <p:sp>
        <p:nvSpPr>
          <p:cNvPr id="478" name="Rounded Rectangle 477"/>
          <p:cNvSpPr/>
          <p:nvPr/>
        </p:nvSpPr>
        <p:spPr>
          <a:xfrm>
            <a:off x="365760" y="2916936"/>
            <a:ext cx="5943600" cy="73152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9" name="TextBox 478"/>
          <p:cNvSpPr txBox="1"/>
          <p:nvPr/>
        </p:nvSpPr>
        <p:spPr>
          <a:xfrm>
            <a:off x="411480" y="2944368"/>
            <a:ext cx="5852160" cy="676656"/>
          </a:xfrm>
          <a:prstGeom prst="rect">
            <a:avLst/>
          </a:prstGeom>
          <a:noFill/>
        </p:spPr>
        <p:txBody>
          <a:bodyPr wrap="square" lIns="73152" tIns="27432" rIns="73152" bIns="27432">
            <a:spAutoFit/>
          </a:bodyPr>
          <a:lstStyle/>
          <a:p>
            <a:pPr algn="l"/>
            <a:r>
              <a:rPr sz="1200" b="0">
                <a:solidFill>
                  <a:srgbClr val="24292F"/>
                </a:solidFill>
                <a:latin typeface="Courier New"/>
              </a:rPr>
              <a:t>Δ% NII YTD vs SPLY =</a:t>
            </a:r>
          </a:p>
          <a:p>
            <a:pPr algn="l"/>
            <a:r>
              <a:rPr sz="1200" b="1">
                <a:solidFill>
                  <a:srgbClr val="0550AE"/>
                </a:solidFill>
                <a:latin typeface="Courier New"/>
              </a:rPr>
              <a:t>DIVIDE</a:t>
            </a:r>
            <a:r>
              <a:rPr sz="1200" b="0">
                <a:solidFill>
                  <a:srgbClr val="24292F"/>
                </a:solidFill>
                <a:latin typeface="Courier New"/>
              </a:rPr>
              <a:t> ( </a:t>
            </a:r>
            <a:r>
              <a:rPr sz="1200" b="0">
                <a:solidFill>
                  <a:srgbClr val="0F6E56"/>
                </a:solidFill>
                <a:latin typeface="Courier New"/>
              </a:rPr>
              <a:t>[NII YTD]</a:t>
            </a:r>
            <a:r>
              <a:rPr sz="1200" b="0">
                <a:solidFill>
                  <a:srgbClr val="24292F"/>
                </a:solidFill>
                <a:latin typeface="Courier New"/>
              </a:rPr>
              <a:t> - </a:t>
            </a:r>
            <a:r>
              <a:rPr sz="1200" b="0">
                <a:solidFill>
                  <a:srgbClr val="0F6E56"/>
                </a:solidFill>
                <a:latin typeface="Courier New"/>
              </a:rPr>
              <a:t>[NII YTD SPLY]</a:t>
            </a:r>
            <a:r>
              <a:rPr sz="1200" b="0">
                <a:solidFill>
                  <a:srgbClr val="24292F"/>
                </a:solidFill>
                <a:latin typeface="Courier New"/>
              </a:rPr>
              <a:t>,</a:t>
            </a:r>
          </a:p>
          <a:p>
            <a:pPr algn="l"/>
            <a:r>
              <a:rPr sz="1200" b="0">
                <a:solidFill>
                  <a:srgbClr val="24292F"/>
                </a:solidFill>
                <a:latin typeface="Courier New"/>
              </a:rPr>
              <a:t>    </a:t>
            </a:r>
            <a:r>
              <a:rPr sz="1200" b="0">
                <a:solidFill>
                  <a:srgbClr val="0F6E56"/>
                </a:solidFill>
                <a:latin typeface="Courier New"/>
              </a:rPr>
              <a:t>[NII YTD SPLY]</a:t>
            </a:r>
            <a:r>
              <a:rPr sz="1200" b="0">
                <a:solidFill>
                  <a:srgbClr val="24292F"/>
                </a:solidFill>
                <a:latin typeface="Courier New"/>
              </a:rPr>
              <a:t> )</a:t>
            </a:r>
          </a:p>
        </p:txBody>
      </p:sp>
      <p:sp>
        <p:nvSpPr>
          <p:cNvPr id="480" name="Rounded Rectangle 479"/>
          <p:cNvSpPr/>
          <p:nvPr/>
        </p:nvSpPr>
        <p:spPr>
          <a:xfrm>
            <a:off x="365760" y="3758184"/>
            <a:ext cx="5943600" cy="128016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81" name="TextBox 480"/>
          <p:cNvSpPr txBox="1"/>
          <p:nvPr/>
        </p:nvSpPr>
        <p:spPr>
          <a:xfrm>
            <a:off x="411480" y="3785616"/>
            <a:ext cx="5852160" cy="1225295"/>
          </a:xfrm>
          <a:prstGeom prst="rect">
            <a:avLst/>
          </a:prstGeom>
          <a:noFill/>
        </p:spPr>
        <p:txBody>
          <a:bodyPr wrap="square" lIns="73152" tIns="27432" rIns="73152" bIns="27432">
            <a:spAutoFit/>
          </a:bodyPr>
          <a:lstStyle/>
          <a:p>
            <a:pPr algn="l"/>
            <a:r>
              <a:rPr sz="1200" b="0">
                <a:solidFill>
                  <a:srgbClr val="24292F"/>
                </a:solidFill>
                <a:latin typeface="Courier New"/>
              </a:rPr>
              <a:t>Δ OD3-5 vs LM (pp) =</a:t>
            </a:r>
          </a:p>
          <a:p>
            <a:pPr algn="l"/>
            <a:r>
              <a:rPr sz="1200" b="1">
                <a:solidFill>
                  <a:srgbClr val="0550AE"/>
                </a:solidFill>
                <a:latin typeface="Courier New"/>
              </a:rPr>
              <a:t>IF</a:t>
            </a:r>
            <a:r>
              <a:rPr sz="1200" b="0">
                <a:solidFill>
                  <a:srgbClr val="24292F"/>
                </a:solidFill>
                <a:latin typeface="Courier New"/>
              </a:rPr>
              <a:t> (</a:t>
            </a:r>
          </a:p>
          <a:p>
            <a:pPr algn="l"/>
            <a:r>
              <a:rPr sz="1200" b="0">
                <a:solidFill>
                  <a:srgbClr val="24292F"/>
                </a:solidFill>
                <a:latin typeface="Courier New"/>
              </a:rPr>
              <a:t>    </a:t>
            </a:r>
            <a:r>
              <a:rPr sz="1200" b="1">
                <a:solidFill>
                  <a:srgbClr val="0550AE"/>
                </a:solidFill>
                <a:latin typeface="Courier New"/>
              </a:rPr>
              <a:t>ISBLANK</a:t>
            </a:r>
            <a:r>
              <a:rPr sz="1200" b="0">
                <a:solidFill>
                  <a:srgbClr val="24292F"/>
                </a:solidFill>
                <a:latin typeface="Courier New"/>
              </a:rPr>
              <a:t> ( </a:t>
            </a:r>
            <a:r>
              <a:rPr sz="1200" b="0">
                <a:solidFill>
                  <a:srgbClr val="0F6E56"/>
                </a:solidFill>
                <a:latin typeface="Courier New"/>
              </a:rPr>
              <a:t>[Tỷ lệ OD3-5 LM]</a:t>
            </a:r>
            <a:r>
              <a:rPr sz="1200" b="0">
                <a:solidFill>
                  <a:srgbClr val="24292F"/>
                </a:solidFill>
                <a:latin typeface="Courier New"/>
              </a:rPr>
              <a:t> ),</a:t>
            </a:r>
          </a:p>
          <a:p>
            <a:pPr algn="l"/>
            <a:r>
              <a:rPr sz="1200" b="0">
                <a:solidFill>
                  <a:srgbClr val="24292F"/>
                </a:solidFill>
                <a:latin typeface="Courier New"/>
              </a:rPr>
              <a:t>    </a:t>
            </a:r>
            <a:r>
              <a:rPr sz="1200" b="1">
                <a:solidFill>
                  <a:srgbClr val="0550AE"/>
                </a:solidFill>
                <a:latin typeface="Courier New"/>
              </a:rPr>
              <a:t>BLANK</a:t>
            </a:r>
            <a:r>
              <a:rPr sz="1200" b="0">
                <a:solidFill>
                  <a:srgbClr val="24292F"/>
                </a:solidFill>
                <a:latin typeface="Courier New"/>
              </a:rPr>
              <a:t> (),</a:t>
            </a:r>
          </a:p>
          <a:p>
            <a:pPr algn="l"/>
            <a:r>
              <a:rPr sz="1200" b="0">
                <a:solidFill>
                  <a:srgbClr val="24292F"/>
                </a:solidFill>
                <a:latin typeface="Courier New"/>
              </a:rPr>
              <a:t>    ( </a:t>
            </a:r>
            <a:r>
              <a:rPr sz="1200" b="0">
                <a:solidFill>
                  <a:srgbClr val="0F6E56"/>
                </a:solidFill>
                <a:latin typeface="Courier New"/>
              </a:rPr>
              <a:t>[Tỷ lệ OD3-5]</a:t>
            </a:r>
            <a:r>
              <a:rPr sz="1200" b="0">
                <a:solidFill>
                  <a:srgbClr val="24292F"/>
                </a:solidFill>
                <a:latin typeface="Courier New"/>
              </a:rPr>
              <a:t> - </a:t>
            </a:r>
            <a:r>
              <a:rPr sz="1200" b="0">
                <a:solidFill>
                  <a:srgbClr val="0F6E56"/>
                </a:solidFill>
                <a:latin typeface="Courier New"/>
              </a:rPr>
              <a:t>[Tỷ lệ OD3-5 LM]</a:t>
            </a:r>
            <a:r>
              <a:rPr sz="1200" b="0">
                <a:solidFill>
                  <a:srgbClr val="24292F"/>
                </a:solidFill>
                <a:latin typeface="Courier New"/>
              </a:rPr>
              <a:t> ) * 100</a:t>
            </a:r>
          </a:p>
          <a:p>
            <a:pPr algn="l"/>
            <a:r>
              <a:rPr sz="1200" b="0">
                <a:solidFill>
                  <a:srgbClr val="24292F"/>
                </a:solidFill>
                <a:latin typeface="Courier New"/>
              </a:rPr>
              <a:t>)</a:t>
            </a:r>
          </a:p>
        </p:txBody>
      </p:sp>
      <p:sp>
        <p:nvSpPr>
          <p:cNvPr id="482" name="Rounded Rectangle 481"/>
          <p:cNvSpPr/>
          <p:nvPr/>
        </p:nvSpPr>
        <p:spPr>
          <a:xfrm>
            <a:off x="6492240" y="1417320"/>
            <a:ext cx="5330952"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83" name="Rounded Rectangle 482"/>
          <p:cNvSpPr/>
          <p:nvPr/>
        </p:nvSpPr>
        <p:spPr>
          <a:xfrm>
            <a:off x="6492240" y="1417320"/>
            <a:ext cx="5330952" cy="411480"/>
          </a:xfrm>
          <a:prstGeom prst="roundRect">
            <a:avLst>
              <a:gd name="adj" fmla="val 25000"/>
            </a:avLst>
          </a:prstGeom>
          <a:solidFill>
            <a:srgbClr val="123A7A"/>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Định dạng chuẩn</a:t>
            </a:r>
          </a:p>
        </p:txBody>
      </p:sp>
      <p:sp>
        <p:nvSpPr>
          <p:cNvPr id="484" name="TextBox 483"/>
          <p:cNvSpPr txBox="1"/>
          <p:nvPr/>
        </p:nvSpPr>
        <p:spPr>
          <a:xfrm>
            <a:off x="6583679" y="1892808"/>
            <a:ext cx="5148072" cy="3977640"/>
          </a:xfrm>
          <a:prstGeom prst="rect">
            <a:avLst/>
          </a:prstGeom>
          <a:noFill/>
        </p:spPr>
        <p:txBody>
          <a:bodyPr wrap="square" lIns="73152" tIns="36576" rIns="73152" bIns="36576" anchor="t"/>
          <a:lstStyle/>
          <a:p>
            <a:pPr marL="182880" indent="-182880" algn="l">
              <a:spcBef>
                <a:spcPts val="800"/>
              </a:spcBef>
              <a:buFont typeface="Arial"/>
              <a:buChar char="•"/>
            </a:pPr>
            <a:r>
              <a:rPr lang="vi-VN" sz="1350" b="0" i="0">
                <a:solidFill>
                  <a:srgbClr val="222222"/>
                </a:solidFill>
                <a:latin typeface="Times New Roman"/>
                <a:cs typeface="Times New Roman"/>
              </a:rPr>
              <a:t>Tiền: </a:t>
            </a:r>
            <a:r>
              <a:rPr lang="vi-VN" sz="1350" b="1" i="0">
                <a:solidFill>
                  <a:srgbClr val="222222"/>
                </a:solidFill>
                <a:latin typeface="Times New Roman"/>
                <a:cs typeface="Times New Roman"/>
              </a:rPr>
              <a:t>#,##0.0,,," tỷ"</a:t>
            </a:r>
          </a:p>
          <a:p>
            <a:pPr marL="182880" indent="-182880" algn="l">
              <a:spcBef>
                <a:spcPts val="800"/>
              </a:spcBef>
              <a:buFont typeface="Arial"/>
              <a:buChar char="•"/>
            </a:pPr>
            <a:r>
              <a:rPr lang="vi-VN" sz="1350" b="0" i="0">
                <a:solidFill>
                  <a:srgbClr val="222222"/>
                </a:solidFill>
                <a:latin typeface="Times New Roman"/>
                <a:cs typeface="Times New Roman"/>
              </a:rPr>
              <a:t>Tỷ lệ: </a:t>
            </a:r>
            <a:r>
              <a:rPr lang="vi-VN" sz="1350" b="1" i="0">
                <a:solidFill>
                  <a:srgbClr val="222222"/>
                </a:solidFill>
                <a:latin typeface="Times New Roman"/>
                <a:cs typeface="Times New Roman"/>
              </a:rPr>
              <a:t>0.00%</a:t>
            </a:r>
          </a:p>
          <a:p>
            <a:pPr marL="182880" indent="-182880" algn="l">
              <a:spcBef>
                <a:spcPts val="800"/>
              </a:spcBef>
              <a:buFont typeface="Arial"/>
              <a:buChar char="•"/>
            </a:pPr>
            <a:r>
              <a:rPr lang="vi-VN" sz="1350" b="0" i="0">
                <a:solidFill>
                  <a:srgbClr val="222222"/>
                </a:solidFill>
                <a:latin typeface="Times New Roman"/>
                <a:cs typeface="Times New Roman"/>
              </a:rPr>
              <a:t>Chênh lệch tỷ lệ: </a:t>
            </a:r>
            <a:r>
              <a:rPr lang="vi-VN" sz="1350" b="1" i="0">
                <a:solidFill>
                  <a:srgbClr val="222222"/>
                </a:solidFill>
                <a:latin typeface="Times New Roman"/>
                <a:cs typeface="Times New Roman"/>
              </a:rPr>
              <a:t>+0.00" pp";-0.00" pp";0.00" pp"</a:t>
            </a:r>
          </a:p>
          <a:p>
            <a:pPr marL="182880" indent="-182880" algn="l">
              <a:spcBef>
                <a:spcPts val="800"/>
              </a:spcBef>
              <a:buFont typeface="Arial"/>
              <a:buChar char="•"/>
            </a:pPr>
            <a:r>
              <a:rPr lang="vi-VN" sz="1350" b="0" i="0">
                <a:solidFill>
                  <a:srgbClr val="222222"/>
                </a:solidFill>
                <a:latin typeface="Times New Roman"/>
                <a:cs typeface="Times New Roman"/>
              </a:rPr>
              <a:t>Thay đổi phần trăm: </a:t>
            </a:r>
            <a:r>
              <a:rPr lang="vi-VN" sz="1350" b="1" i="0">
                <a:solidFill>
                  <a:srgbClr val="222222"/>
                </a:solidFill>
                <a:latin typeface="Times New Roman"/>
                <a:cs typeface="Times New Roman"/>
              </a:rPr>
              <a:t>+0.0%;-0.0%;0.0%</a:t>
            </a:r>
          </a:p>
          <a:p>
            <a:pPr marL="182880" indent="-182880" algn="l">
              <a:spcBef>
                <a:spcPts val="800"/>
              </a:spcBef>
              <a:buFont typeface="Arial"/>
              <a:buChar char="•"/>
            </a:pPr>
            <a:r>
              <a:rPr lang="vi-VN" sz="1350" b="0" i="0">
                <a:solidFill>
                  <a:srgbClr val="222222"/>
                </a:solidFill>
                <a:latin typeface="Times New Roman"/>
                <a:cs typeface="Times New Roman"/>
              </a:rPr>
              <a:t>Chênh lệch OD để trống nếu không có kỳ so sánh → thẻ hiển thị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Các mẫu công thức DAX</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44</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DAX giao diện: ký hiệu ▲/▼, màu sắc, chia cho 0 và giá trị trống</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Nhãn là measure văn bản, màu là measure mã màu; OD dùng </a:t>
            </a:r>
            <a:r>
              <a:rPr lang="vi-VN" sz="1800" b="1" i="0">
                <a:solidFill>
                  <a:srgbClr val="C00000"/>
                </a:solidFill>
                <a:latin typeface="Times New Roman"/>
                <a:cs typeface="Times New Roman"/>
              </a:rPr>
              <a:t>màu đảo</a:t>
            </a:r>
          </a:p>
        </p:txBody>
      </p:sp>
      <p:sp>
        <p:nvSpPr>
          <p:cNvPr id="474" name="Rounded Rectangle 473"/>
          <p:cNvSpPr/>
          <p:nvPr/>
        </p:nvSpPr>
        <p:spPr>
          <a:xfrm>
            <a:off x="365760" y="1417320"/>
            <a:ext cx="6583680" cy="176784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5" name="TextBox 474"/>
          <p:cNvSpPr txBox="1"/>
          <p:nvPr/>
        </p:nvSpPr>
        <p:spPr>
          <a:xfrm>
            <a:off x="411480" y="1444752"/>
            <a:ext cx="6492240" cy="1712976"/>
          </a:xfrm>
          <a:prstGeom prst="rect">
            <a:avLst/>
          </a:prstGeom>
          <a:noFill/>
        </p:spPr>
        <p:txBody>
          <a:bodyPr wrap="square" lIns="73152" tIns="27432" rIns="73152" bIns="27432">
            <a:spAutoFit/>
          </a:bodyPr>
          <a:lstStyle/>
          <a:p>
            <a:pPr algn="l"/>
            <a:r>
              <a:rPr sz="1300" b="0">
                <a:solidFill>
                  <a:srgbClr val="24292F"/>
                </a:solidFill>
                <a:latin typeface="Courier New"/>
              </a:rPr>
              <a:t>Nhãn Δ Dư nợ vs LM =</a:t>
            </a:r>
          </a:p>
          <a:p>
            <a:pPr algn="l"/>
            <a:r>
              <a:rPr sz="1300" b="1">
                <a:solidFill>
                  <a:srgbClr val="0550AE"/>
                </a:solidFill>
                <a:latin typeface="Courier New"/>
              </a:rPr>
              <a:t>VAR</a:t>
            </a:r>
            <a:r>
              <a:rPr sz="1300" b="0">
                <a:solidFill>
                  <a:srgbClr val="24292F"/>
                </a:solidFill>
                <a:latin typeface="Courier New"/>
              </a:rPr>
              <a:t> x = </a:t>
            </a:r>
            <a:r>
              <a:rPr sz="1300" b="0">
                <a:solidFill>
                  <a:srgbClr val="0F6E56"/>
                </a:solidFill>
                <a:latin typeface="Courier New"/>
              </a:rPr>
              <a:t>[Δ% Dư nợ vs LM]</a:t>
            </a:r>
          </a:p>
          <a:p>
            <a:pPr algn="l"/>
            <a:r>
              <a:rPr sz="1300" b="1">
                <a:solidFill>
                  <a:srgbClr val="0550AE"/>
                </a:solidFill>
                <a:latin typeface="Courier New"/>
              </a:rPr>
              <a:t>RETURN</a:t>
            </a:r>
          </a:p>
          <a:p>
            <a:pPr algn="l"/>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a:t>
            </a:r>
          </a:p>
          <a:p>
            <a:pPr algn="l"/>
            <a:r>
              <a:rPr sz="1300" b="0">
                <a:solidFill>
                  <a:srgbClr val="24292F"/>
                </a:solidFill>
                <a:latin typeface="Courier New"/>
              </a:rPr>
              <a:t>        </a:t>
            </a:r>
            <a:r>
              <a:rPr sz="1300" b="1">
                <a:solidFill>
                  <a:srgbClr val="0550AE"/>
                </a:solidFill>
                <a:latin typeface="Courier New"/>
              </a:rPr>
              <a:t>ISBLANK</a:t>
            </a:r>
            <a:r>
              <a:rPr sz="1300" b="0">
                <a:solidFill>
                  <a:srgbClr val="24292F"/>
                </a:solidFill>
                <a:latin typeface="Courier New"/>
              </a:rPr>
              <a:t> ( x ), </a:t>
            </a:r>
            <a:r>
              <a:rPr sz="1300" b="0">
                <a:solidFill>
                  <a:srgbClr val="A31515"/>
                </a:solidFill>
                <a:latin typeface="Courier New"/>
              </a:rPr>
              <a:t>"–"</a:t>
            </a:r>
            <a:r>
              <a:rPr sz="1300" b="0">
                <a:solidFill>
                  <a:srgbClr val="24292F"/>
                </a:solidFill>
                <a:latin typeface="Courier New"/>
              </a:rPr>
              <a:t>,</a:t>
            </a:r>
          </a:p>
          <a:p>
            <a:pPr algn="l"/>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x &gt; 0, </a:t>
            </a:r>
            <a:r>
              <a:rPr sz="1300" b="0">
                <a:solidFill>
                  <a:srgbClr val="A31515"/>
                </a:solidFill>
                <a:latin typeface="Courier New"/>
              </a:rPr>
              <a:t>"▲ "</a:t>
            </a:r>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x &lt; 0, </a:t>
            </a:r>
            <a:r>
              <a:rPr sz="1300" b="0">
                <a:solidFill>
                  <a:srgbClr val="A31515"/>
                </a:solidFill>
                <a:latin typeface="Courier New"/>
              </a:rPr>
              <a:t>"▼ "</a:t>
            </a:r>
            <a:r>
              <a:rPr sz="1300" b="0">
                <a:solidFill>
                  <a:srgbClr val="24292F"/>
                </a:solidFill>
                <a:latin typeface="Courier New"/>
              </a:rPr>
              <a:t>, </a:t>
            </a:r>
            <a:r>
              <a:rPr sz="1300" b="0">
                <a:solidFill>
                  <a:srgbClr val="A31515"/>
                </a:solidFill>
                <a:latin typeface="Courier New"/>
              </a:rPr>
              <a:t>"■ "</a:t>
            </a:r>
            <a:r>
              <a:rPr sz="1300" b="0">
                <a:solidFill>
                  <a:srgbClr val="24292F"/>
                </a:solidFill>
                <a:latin typeface="Courier New"/>
              </a:rPr>
              <a:t> ) )</a:t>
            </a:r>
          </a:p>
          <a:p>
            <a:pPr algn="l"/>
            <a:r>
              <a:rPr sz="1300" b="0">
                <a:solidFill>
                  <a:srgbClr val="24292F"/>
                </a:solidFill>
                <a:latin typeface="Courier New"/>
              </a:rPr>
              <a:t>            &amp; </a:t>
            </a:r>
            <a:r>
              <a:rPr sz="1300" b="1">
                <a:solidFill>
                  <a:srgbClr val="0550AE"/>
                </a:solidFill>
                <a:latin typeface="Courier New"/>
              </a:rPr>
              <a:t>FORMAT</a:t>
            </a:r>
            <a:r>
              <a:rPr sz="1300" b="0">
                <a:solidFill>
                  <a:srgbClr val="24292F"/>
                </a:solidFill>
                <a:latin typeface="Courier New"/>
              </a:rPr>
              <a:t> ( </a:t>
            </a:r>
            <a:r>
              <a:rPr sz="1300" b="1">
                <a:solidFill>
                  <a:srgbClr val="0550AE"/>
                </a:solidFill>
                <a:latin typeface="Courier New"/>
              </a:rPr>
              <a:t>ABS</a:t>
            </a:r>
            <a:r>
              <a:rPr sz="1300" b="0">
                <a:solidFill>
                  <a:srgbClr val="24292F"/>
                </a:solidFill>
                <a:latin typeface="Courier New"/>
              </a:rPr>
              <a:t> ( x ), </a:t>
            </a:r>
            <a:r>
              <a:rPr sz="1300" b="0">
                <a:solidFill>
                  <a:srgbClr val="A31515"/>
                </a:solidFill>
                <a:latin typeface="Courier New"/>
              </a:rPr>
              <a:t>"0.0%"</a:t>
            </a:r>
            <a:r>
              <a:rPr sz="1300" b="0">
                <a:solidFill>
                  <a:srgbClr val="24292F"/>
                </a:solidFill>
                <a:latin typeface="Courier New"/>
              </a:rPr>
              <a:t> )</a:t>
            </a:r>
          </a:p>
          <a:p>
            <a:pPr algn="l"/>
            <a:r>
              <a:rPr sz="1300" b="0">
                <a:solidFill>
                  <a:srgbClr val="24292F"/>
                </a:solidFill>
                <a:latin typeface="Courier New"/>
              </a:rPr>
              <a:t>    )</a:t>
            </a:r>
          </a:p>
        </p:txBody>
      </p:sp>
      <p:sp>
        <p:nvSpPr>
          <p:cNvPr id="476" name="Rounded Rectangle 475"/>
          <p:cNvSpPr/>
          <p:nvPr/>
        </p:nvSpPr>
        <p:spPr>
          <a:xfrm>
            <a:off x="365760" y="3294888"/>
            <a:ext cx="6583680" cy="97536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7" name="TextBox 476"/>
          <p:cNvSpPr txBox="1"/>
          <p:nvPr/>
        </p:nvSpPr>
        <p:spPr>
          <a:xfrm>
            <a:off x="411480" y="3322320"/>
            <a:ext cx="6492240" cy="920495"/>
          </a:xfrm>
          <a:prstGeom prst="rect">
            <a:avLst/>
          </a:prstGeom>
          <a:noFill/>
        </p:spPr>
        <p:txBody>
          <a:bodyPr wrap="square" lIns="73152" tIns="27432" rIns="73152" bIns="27432">
            <a:spAutoFit/>
          </a:bodyPr>
          <a:lstStyle/>
          <a:p>
            <a:pPr algn="l"/>
            <a:r>
              <a:rPr sz="1300" b="0">
                <a:solidFill>
                  <a:srgbClr val="24292F"/>
                </a:solidFill>
                <a:latin typeface="Courier New"/>
              </a:rPr>
              <a:t>Màu Δ Dư nợ vs LM =</a:t>
            </a:r>
          </a:p>
          <a:p>
            <a:pPr algn="l"/>
            <a:r>
              <a:rPr sz="1300" b="1">
                <a:solidFill>
                  <a:srgbClr val="0550AE"/>
                </a:solidFill>
                <a:latin typeface="Courier New"/>
              </a:rPr>
              <a:t>VAR</a:t>
            </a:r>
            <a:r>
              <a:rPr sz="1300" b="0">
                <a:solidFill>
                  <a:srgbClr val="24292F"/>
                </a:solidFill>
                <a:latin typeface="Courier New"/>
              </a:rPr>
              <a:t> x = </a:t>
            </a:r>
            <a:r>
              <a:rPr sz="1300" b="0">
                <a:solidFill>
                  <a:srgbClr val="0F6E56"/>
                </a:solidFill>
                <a:latin typeface="Courier New"/>
              </a:rPr>
              <a:t>[Δ% Dư nợ vs LM]</a:t>
            </a:r>
          </a:p>
          <a:p>
            <a:pPr algn="l"/>
            <a:r>
              <a:rPr sz="1300" b="1">
                <a:solidFill>
                  <a:srgbClr val="0550AE"/>
                </a:solidFill>
                <a:latin typeface="Courier New"/>
              </a:rPr>
              <a:t>RETURN</a:t>
            </a:r>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a:t>
            </a:r>
            <a:r>
              <a:rPr sz="1300" b="1">
                <a:solidFill>
                  <a:srgbClr val="0550AE"/>
                </a:solidFill>
                <a:latin typeface="Courier New"/>
              </a:rPr>
              <a:t>ISBLANK</a:t>
            </a:r>
            <a:r>
              <a:rPr sz="1300" b="0">
                <a:solidFill>
                  <a:srgbClr val="24292F"/>
                </a:solidFill>
                <a:latin typeface="Courier New"/>
              </a:rPr>
              <a:t> ( x ), </a:t>
            </a:r>
            <a:r>
              <a:rPr sz="1300" b="0">
                <a:solidFill>
                  <a:srgbClr val="A31515"/>
                </a:solidFill>
                <a:latin typeface="Courier New"/>
              </a:rPr>
              <a:t>"#5F6368"</a:t>
            </a:r>
            <a:r>
              <a:rPr sz="1300" b="0">
                <a:solidFill>
                  <a:srgbClr val="24292F"/>
                </a:solidFill>
                <a:latin typeface="Courier New"/>
              </a:rPr>
              <a:t>,</a:t>
            </a:r>
          </a:p>
          <a:p>
            <a:pPr algn="l"/>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x &gt; 0, </a:t>
            </a:r>
            <a:r>
              <a:rPr sz="1300" b="0">
                <a:solidFill>
                  <a:srgbClr val="A31515"/>
                </a:solidFill>
                <a:latin typeface="Courier New"/>
              </a:rPr>
              <a:t>"#1E8E3E"</a:t>
            </a:r>
            <a:r>
              <a:rPr sz="1300" b="0">
                <a:solidFill>
                  <a:srgbClr val="24292F"/>
                </a:solidFill>
                <a:latin typeface="Courier New"/>
              </a:rPr>
              <a:t>, </a:t>
            </a:r>
            <a:r>
              <a:rPr sz="1300" b="0">
                <a:solidFill>
                  <a:srgbClr val="A31515"/>
                </a:solidFill>
                <a:latin typeface="Courier New"/>
              </a:rPr>
              <a:t>"#D93025"</a:t>
            </a:r>
            <a:r>
              <a:rPr sz="1300" b="0">
                <a:solidFill>
                  <a:srgbClr val="24292F"/>
                </a:solidFill>
                <a:latin typeface="Courier New"/>
              </a:rPr>
              <a:t> ) )</a:t>
            </a:r>
          </a:p>
        </p:txBody>
      </p:sp>
      <p:sp>
        <p:nvSpPr>
          <p:cNvPr id="478" name="Rounded Rectangle 477"/>
          <p:cNvSpPr/>
          <p:nvPr/>
        </p:nvSpPr>
        <p:spPr>
          <a:xfrm>
            <a:off x="365760" y="4379976"/>
            <a:ext cx="6583680" cy="975360"/>
          </a:xfrm>
          <a:prstGeom prst="roundRect">
            <a:avLst>
              <a:gd name="adj" fmla="val 3000"/>
            </a:avLst>
          </a:prstGeom>
          <a:solidFill>
            <a:srgbClr val="F6F8FA"/>
          </a:solidFill>
          <a:ln w="12700">
            <a:solidFill>
              <a:srgbClr val="C9D1D9"/>
            </a:solidFill>
          </a:ln>
        </p:spPr>
        <p:txBody>
          <a:bodyPr wrap="square" lIns="73152" tIns="36576" rIns="73152" bIns="36576" rtlCol="0" anchor="ctr"/>
          <a:lstStyle/>
          <a:p>
            <a:pPr algn="ctr"/>
            <a:endParaRPr/>
          </a:p>
        </p:txBody>
      </p:sp>
      <p:sp>
        <p:nvSpPr>
          <p:cNvPr id="479" name="TextBox 478"/>
          <p:cNvSpPr txBox="1"/>
          <p:nvPr/>
        </p:nvSpPr>
        <p:spPr>
          <a:xfrm>
            <a:off x="411480" y="4407408"/>
            <a:ext cx="6492240" cy="920495"/>
          </a:xfrm>
          <a:prstGeom prst="rect">
            <a:avLst/>
          </a:prstGeom>
          <a:noFill/>
        </p:spPr>
        <p:txBody>
          <a:bodyPr wrap="square" lIns="73152" tIns="27432" rIns="73152" bIns="27432">
            <a:spAutoFit/>
          </a:bodyPr>
          <a:lstStyle/>
          <a:p>
            <a:pPr algn="l"/>
            <a:r>
              <a:rPr sz="1300" b="0">
                <a:solidFill>
                  <a:srgbClr val="24292F"/>
                </a:solidFill>
                <a:latin typeface="Courier New"/>
              </a:rPr>
              <a:t>Màu Δ OD3-5 vs LM =      </a:t>
            </a:r>
            <a:r>
              <a:rPr sz="1300" b="0">
                <a:solidFill>
                  <a:srgbClr val="6E7781"/>
                </a:solidFill>
                <a:latin typeface="Courier New"/>
              </a:rPr>
              <a:t>// màu đảo</a:t>
            </a:r>
          </a:p>
          <a:p>
            <a:pPr algn="l"/>
            <a:r>
              <a:rPr sz="1300" b="1">
                <a:solidFill>
                  <a:srgbClr val="0550AE"/>
                </a:solidFill>
                <a:latin typeface="Courier New"/>
              </a:rPr>
              <a:t>VAR</a:t>
            </a:r>
            <a:r>
              <a:rPr sz="1300" b="0">
                <a:solidFill>
                  <a:srgbClr val="24292F"/>
                </a:solidFill>
                <a:latin typeface="Courier New"/>
              </a:rPr>
              <a:t> x = </a:t>
            </a:r>
            <a:r>
              <a:rPr sz="1300" b="0">
                <a:solidFill>
                  <a:srgbClr val="0F6E56"/>
                </a:solidFill>
                <a:latin typeface="Courier New"/>
              </a:rPr>
              <a:t>[Δ OD3-5 vs LM (pp)]</a:t>
            </a:r>
          </a:p>
          <a:p>
            <a:pPr algn="l"/>
            <a:r>
              <a:rPr sz="1300" b="1">
                <a:solidFill>
                  <a:srgbClr val="0550AE"/>
                </a:solidFill>
                <a:latin typeface="Courier New"/>
              </a:rPr>
              <a:t>RETURN</a:t>
            </a:r>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a:t>
            </a:r>
            <a:r>
              <a:rPr sz="1300" b="1">
                <a:solidFill>
                  <a:srgbClr val="0550AE"/>
                </a:solidFill>
                <a:latin typeface="Courier New"/>
              </a:rPr>
              <a:t>ISBLANK</a:t>
            </a:r>
            <a:r>
              <a:rPr sz="1300" b="0">
                <a:solidFill>
                  <a:srgbClr val="24292F"/>
                </a:solidFill>
                <a:latin typeface="Courier New"/>
              </a:rPr>
              <a:t> ( x ), </a:t>
            </a:r>
            <a:r>
              <a:rPr sz="1300" b="0">
                <a:solidFill>
                  <a:srgbClr val="A31515"/>
                </a:solidFill>
                <a:latin typeface="Courier New"/>
              </a:rPr>
              <a:t>"#5F6368"</a:t>
            </a:r>
            <a:r>
              <a:rPr sz="1300" b="0">
                <a:solidFill>
                  <a:srgbClr val="24292F"/>
                </a:solidFill>
                <a:latin typeface="Courier New"/>
              </a:rPr>
              <a:t>,</a:t>
            </a:r>
          </a:p>
          <a:p>
            <a:pPr algn="l"/>
            <a:r>
              <a:rPr sz="1300" b="0">
                <a:solidFill>
                  <a:srgbClr val="24292F"/>
                </a:solidFill>
                <a:latin typeface="Courier New"/>
              </a:rPr>
              <a:t>    </a:t>
            </a:r>
            <a:r>
              <a:rPr sz="1300" b="1">
                <a:solidFill>
                  <a:srgbClr val="0550AE"/>
                </a:solidFill>
                <a:latin typeface="Courier New"/>
              </a:rPr>
              <a:t>IF</a:t>
            </a:r>
            <a:r>
              <a:rPr sz="1300" b="0">
                <a:solidFill>
                  <a:srgbClr val="24292F"/>
                </a:solidFill>
                <a:latin typeface="Courier New"/>
              </a:rPr>
              <a:t> ( x &gt; 0, </a:t>
            </a:r>
            <a:r>
              <a:rPr sz="1300" b="0">
                <a:solidFill>
                  <a:srgbClr val="A31515"/>
                </a:solidFill>
                <a:latin typeface="Courier New"/>
              </a:rPr>
              <a:t>"#D93025"</a:t>
            </a:r>
            <a:r>
              <a:rPr sz="1300" b="0">
                <a:solidFill>
                  <a:srgbClr val="24292F"/>
                </a:solidFill>
                <a:latin typeface="Courier New"/>
              </a:rPr>
              <a:t>, </a:t>
            </a:r>
            <a:r>
              <a:rPr sz="1300" b="0">
                <a:solidFill>
                  <a:srgbClr val="A31515"/>
                </a:solidFill>
                <a:latin typeface="Courier New"/>
              </a:rPr>
              <a:t>"#1E8E3E"</a:t>
            </a:r>
            <a:r>
              <a:rPr sz="1300" b="0">
                <a:solidFill>
                  <a:srgbClr val="24292F"/>
                </a:solidFill>
                <a:latin typeface="Courier New"/>
              </a:rPr>
              <a:t> ) )</a:t>
            </a:r>
          </a:p>
        </p:txBody>
      </p:sp>
      <p:sp>
        <p:nvSpPr>
          <p:cNvPr id="480" name="Rounded Rectangle 479"/>
          <p:cNvSpPr/>
          <p:nvPr/>
        </p:nvSpPr>
        <p:spPr>
          <a:xfrm>
            <a:off x="7132320" y="1417320"/>
            <a:ext cx="4690872"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1" name="Rounded Rectangle 480"/>
          <p:cNvSpPr/>
          <p:nvPr/>
        </p:nvSpPr>
        <p:spPr>
          <a:xfrm>
            <a:off x="7132320" y="1417320"/>
            <a:ext cx="4690872" cy="411480"/>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Cách dùng</a:t>
            </a:r>
          </a:p>
        </p:txBody>
      </p:sp>
      <p:sp>
        <p:nvSpPr>
          <p:cNvPr id="482" name="TextBox 481"/>
          <p:cNvSpPr txBox="1"/>
          <p:nvPr/>
        </p:nvSpPr>
        <p:spPr>
          <a:xfrm>
            <a:off x="7223759" y="1892808"/>
            <a:ext cx="4507992" cy="3977640"/>
          </a:xfrm>
          <a:prstGeom prst="rect">
            <a:avLst/>
          </a:prstGeom>
          <a:noFill/>
        </p:spPr>
        <p:txBody>
          <a:bodyPr wrap="square" lIns="73152" tIns="36576" rIns="73152" bIns="36576" anchor="t"/>
          <a:lstStyle/>
          <a:p>
            <a:pPr marL="182880" indent="-182880" algn="l">
              <a:spcBef>
                <a:spcPts val="800"/>
              </a:spcBef>
              <a:buFont typeface="Arial"/>
              <a:buChar char="•"/>
            </a:pPr>
            <a:r>
              <a:rPr lang="vi-VN" sz="1350" b="0" i="0">
                <a:solidFill>
                  <a:srgbClr val="222222"/>
                </a:solidFill>
                <a:latin typeface="Times New Roman"/>
                <a:cs typeface="Times New Roman"/>
              </a:rPr>
              <a:t>Áp dụng màu: </a:t>
            </a:r>
            <a:r>
              <a:rPr lang="vi-VN" sz="1350" b="1" i="0">
                <a:solidFill>
                  <a:srgbClr val="222222"/>
                </a:solidFill>
                <a:latin typeface="Times New Roman"/>
                <a:cs typeface="Times New Roman"/>
              </a:rPr>
              <a:t>Format → Font color → Format style: Field value</a:t>
            </a:r>
            <a:r>
              <a:rPr lang="vi-VN" sz="1350" b="0" i="0">
                <a:solidFill>
                  <a:srgbClr val="222222"/>
                </a:solidFill>
                <a:latin typeface="Times New Roman"/>
                <a:cs typeface="Times New Roman"/>
              </a:rPr>
              <a:t> rồi chọn measure màu</a:t>
            </a:r>
          </a:p>
          <a:p>
            <a:pPr marL="182880" indent="-182880" algn="l">
              <a:spcBef>
                <a:spcPts val="800"/>
              </a:spcBef>
              <a:buFont typeface="Arial"/>
              <a:buChar char="•"/>
            </a:pPr>
            <a:r>
              <a:rPr lang="vi-VN" sz="1350" b="0" i="0">
                <a:solidFill>
                  <a:srgbClr val="222222"/>
                </a:solidFill>
                <a:latin typeface="Times New Roman"/>
                <a:cs typeface="Times New Roman"/>
              </a:rPr>
              <a:t>Dư nợ, NII, TOI: tăng là tốt (xanh); tỷ lệ OD: </a:t>
            </a:r>
            <a:r>
              <a:rPr lang="vi-VN" sz="1350" b="1" i="0">
                <a:solidFill>
                  <a:srgbClr val="222222"/>
                </a:solidFill>
                <a:latin typeface="Times New Roman"/>
                <a:cs typeface="Times New Roman"/>
              </a:rPr>
              <a:t>tăng là xấu (đỏ)</a:t>
            </a:r>
          </a:p>
          <a:p>
            <a:pPr marL="182880" indent="-182880" algn="l">
              <a:spcBef>
                <a:spcPts val="800"/>
              </a:spcBef>
              <a:buFont typeface="Arial"/>
              <a:buChar char="•"/>
            </a:pPr>
            <a:r>
              <a:rPr lang="vi-VN" sz="1350" b="0" i="0">
                <a:solidFill>
                  <a:srgbClr val="222222"/>
                </a:solidFill>
                <a:latin typeface="Times New Roman"/>
                <a:cs typeface="Times New Roman"/>
              </a:rPr>
              <a:t>Luôn dùng </a:t>
            </a:r>
            <a:r>
              <a:rPr lang="vi-VN" sz="1350" b="1" i="0">
                <a:solidFill>
                  <a:srgbClr val="222222"/>
                </a:solidFill>
                <a:latin typeface="Times New Roman"/>
                <a:cs typeface="Times New Roman"/>
              </a:rPr>
              <a:t>DIVIDE</a:t>
            </a:r>
            <a:r>
              <a:rPr lang="vi-VN" sz="1350" b="0" i="0">
                <a:solidFill>
                  <a:srgbClr val="222222"/>
                </a:solidFill>
                <a:latin typeface="Times New Roman"/>
                <a:cs typeface="Times New Roman"/>
              </a:rPr>
              <a:t>, không dùng dấu /</a:t>
            </a:r>
          </a:p>
          <a:p>
            <a:pPr marL="182880" indent="-182880" algn="l">
              <a:spcBef>
                <a:spcPts val="800"/>
              </a:spcBef>
              <a:buFont typeface="Arial"/>
              <a:buChar char="•"/>
            </a:pPr>
            <a:r>
              <a:rPr lang="vi-VN" sz="1350" b="0" i="0">
                <a:solidFill>
                  <a:srgbClr val="222222"/>
                </a:solidFill>
                <a:latin typeface="Times New Roman"/>
                <a:cs typeface="Times New Roman"/>
              </a:rPr>
              <a:t>Measure dịch kỳ trả </a:t>
            </a:r>
            <a:r>
              <a:rPr lang="vi-VN" sz="1350" b="1" i="0">
                <a:solidFill>
                  <a:srgbClr val="222222"/>
                </a:solidFill>
                <a:latin typeface="Times New Roman"/>
                <a:cs typeface="Times New Roman"/>
              </a:rPr>
              <a:t>BLANK</a:t>
            </a:r>
            <a:r>
              <a:rPr lang="vi-VN" sz="1350" b="0" i="0">
                <a:solidFill>
                  <a:srgbClr val="222222"/>
                </a:solidFill>
                <a:latin typeface="Times New Roman"/>
                <a:cs typeface="Times New Roman"/>
              </a:rPr>
              <a:t> khi không có kỳ so sánh để thẻ hiển thị “–” thay vì số sai</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45</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323165"/>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Bố cục đề xuất 4 trang dashboard </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Bố cục lưới của file dashboard: thẻ KPI ở trên, biểu đồ xếp quanh, bảng Top 10 ở dưới</a:t>
            </a:r>
          </a:p>
        </p:txBody>
      </p:sp>
      <p:sp>
        <p:nvSpPr>
          <p:cNvPr id="474" name="Rounded Rectangle 473"/>
          <p:cNvSpPr/>
          <p:nvPr/>
        </p:nvSpPr>
        <p:spPr>
          <a:xfrm>
            <a:off x="365760" y="1371600"/>
            <a:ext cx="2788920"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Tổng quan</a:t>
            </a:r>
          </a:p>
        </p:txBody>
      </p:sp>
      <p:sp>
        <p:nvSpPr>
          <p:cNvPr id="475" name="Rectangle 474"/>
          <p:cNvSpPr/>
          <p:nvPr/>
        </p:nvSpPr>
        <p:spPr>
          <a:xfrm>
            <a:off x="365760" y="1828800"/>
            <a:ext cx="2788920" cy="1371600"/>
          </a:xfrm>
          <a:prstGeom prst="rect">
            <a:avLst/>
          </a:prstGeom>
          <a:solidFill>
            <a:srgbClr val="ECF2EA"/>
          </a:solidFill>
          <a:ln w="15875">
            <a:solidFill>
              <a:srgbClr val="2E5B31"/>
            </a:solidFill>
          </a:ln>
        </p:spPr>
        <p:txBody>
          <a:bodyPr wrap="square" lIns="73152" tIns="36576" rIns="73152" bIns="36576" rtlCol="0" anchor="ctr"/>
          <a:lstStyle/>
          <a:p>
            <a:pPr algn="ctr"/>
            <a:endParaRPr/>
          </a:p>
        </p:txBody>
      </p:sp>
      <p:sp>
        <p:nvSpPr>
          <p:cNvPr id="476" name="Rectangle 475"/>
          <p:cNvSpPr/>
          <p:nvPr/>
        </p:nvSpPr>
        <p:spPr>
          <a:xfrm>
            <a:off x="365760" y="1828800"/>
            <a:ext cx="2788920" cy="182880"/>
          </a:xfrm>
          <a:prstGeom prst="rect">
            <a:avLst/>
          </a:prstGeom>
          <a:solidFill>
            <a:srgbClr val="2E5B31"/>
          </a:solidFill>
          <a:ln>
            <a:noFill/>
          </a:ln>
        </p:spPr>
        <p:txBody>
          <a:bodyPr wrap="square" lIns="73152" tIns="36576" rIns="73152" bIns="36576" rtlCol="0" anchor="ctr"/>
          <a:lstStyle/>
          <a:p>
            <a:pPr algn="ctr"/>
            <a:endParaRPr/>
          </a:p>
        </p:txBody>
      </p:sp>
      <p:sp>
        <p:nvSpPr>
          <p:cNvPr id="477" name="Rectangle 476"/>
          <p:cNvSpPr/>
          <p:nvPr/>
        </p:nvSpPr>
        <p:spPr>
          <a:xfrm>
            <a:off x="402336" y="2048256"/>
            <a:ext cx="416051" cy="32040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78" name="Picture 477" descr="FaTachometerAlt_g.png"/>
          <p:cNvPicPr>
            <a:picLocks noChangeAspect="1"/>
          </p:cNvPicPr>
          <p:nvPr/>
        </p:nvPicPr>
        <p:blipFill>
          <a:blip r:embed="rId4"/>
          <a:stretch>
            <a:fillRect/>
          </a:stretch>
        </p:blipFill>
        <p:spPr>
          <a:xfrm>
            <a:off x="506230" y="2104327"/>
            <a:ext cx="208263" cy="208263"/>
          </a:xfrm>
          <a:prstGeom prst="rect">
            <a:avLst/>
          </a:prstGeom>
        </p:spPr>
      </p:pic>
      <p:sp>
        <p:nvSpPr>
          <p:cNvPr id="479" name="Rectangle 478"/>
          <p:cNvSpPr/>
          <p:nvPr/>
        </p:nvSpPr>
        <p:spPr>
          <a:xfrm>
            <a:off x="854964" y="2048256"/>
            <a:ext cx="416051" cy="32040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80" name="Picture 479" descr="FaTachometerAlt_g.png"/>
          <p:cNvPicPr>
            <a:picLocks noChangeAspect="1"/>
          </p:cNvPicPr>
          <p:nvPr/>
        </p:nvPicPr>
        <p:blipFill>
          <a:blip r:embed="rId4"/>
          <a:stretch>
            <a:fillRect/>
          </a:stretch>
        </p:blipFill>
        <p:spPr>
          <a:xfrm>
            <a:off x="958858" y="2104327"/>
            <a:ext cx="208263" cy="208263"/>
          </a:xfrm>
          <a:prstGeom prst="rect">
            <a:avLst/>
          </a:prstGeom>
        </p:spPr>
      </p:pic>
      <p:sp>
        <p:nvSpPr>
          <p:cNvPr id="481" name="Rectangle 480"/>
          <p:cNvSpPr/>
          <p:nvPr/>
        </p:nvSpPr>
        <p:spPr>
          <a:xfrm>
            <a:off x="1307592" y="2048256"/>
            <a:ext cx="416051" cy="32040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82" name="Picture 481" descr="FaTachometerAlt_g.png"/>
          <p:cNvPicPr>
            <a:picLocks noChangeAspect="1"/>
          </p:cNvPicPr>
          <p:nvPr/>
        </p:nvPicPr>
        <p:blipFill>
          <a:blip r:embed="rId4"/>
          <a:stretch>
            <a:fillRect/>
          </a:stretch>
        </p:blipFill>
        <p:spPr>
          <a:xfrm>
            <a:off x="1411486" y="2104327"/>
            <a:ext cx="208263" cy="208263"/>
          </a:xfrm>
          <a:prstGeom prst="rect">
            <a:avLst/>
          </a:prstGeom>
        </p:spPr>
      </p:pic>
      <p:sp>
        <p:nvSpPr>
          <p:cNvPr id="483" name="Rectangle 482"/>
          <p:cNvSpPr/>
          <p:nvPr/>
        </p:nvSpPr>
        <p:spPr>
          <a:xfrm>
            <a:off x="1760219" y="2048256"/>
            <a:ext cx="416051" cy="32040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84" name="Picture 483" descr="FaTachometerAlt_g.png"/>
          <p:cNvPicPr>
            <a:picLocks noChangeAspect="1"/>
          </p:cNvPicPr>
          <p:nvPr/>
        </p:nvPicPr>
        <p:blipFill>
          <a:blip r:embed="rId4"/>
          <a:stretch>
            <a:fillRect/>
          </a:stretch>
        </p:blipFill>
        <p:spPr>
          <a:xfrm>
            <a:off x="1864114" y="2104327"/>
            <a:ext cx="208263" cy="208263"/>
          </a:xfrm>
          <a:prstGeom prst="rect">
            <a:avLst/>
          </a:prstGeom>
        </p:spPr>
      </p:pic>
      <p:sp>
        <p:nvSpPr>
          <p:cNvPr id="485" name="Rectangle 484"/>
          <p:cNvSpPr/>
          <p:nvPr/>
        </p:nvSpPr>
        <p:spPr>
          <a:xfrm>
            <a:off x="2212848" y="2048256"/>
            <a:ext cx="416051" cy="32040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86" name="Picture 485" descr="FaTachometerAlt_g.png"/>
          <p:cNvPicPr>
            <a:picLocks noChangeAspect="1"/>
          </p:cNvPicPr>
          <p:nvPr/>
        </p:nvPicPr>
        <p:blipFill>
          <a:blip r:embed="rId4"/>
          <a:stretch>
            <a:fillRect/>
          </a:stretch>
        </p:blipFill>
        <p:spPr>
          <a:xfrm>
            <a:off x="2316742" y="2104327"/>
            <a:ext cx="208263" cy="208263"/>
          </a:xfrm>
          <a:prstGeom prst="rect">
            <a:avLst/>
          </a:prstGeom>
        </p:spPr>
      </p:pic>
      <p:sp>
        <p:nvSpPr>
          <p:cNvPr id="487" name="Rectangle 486"/>
          <p:cNvSpPr/>
          <p:nvPr/>
        </p:nvSpPr>
        <p:spPr>
          <a:xfrm>
            <a:off x="2665476" y="2048256"/>
            <a:ext cx="416051" cy="32040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88" name="Picture 487" descr="FaTachometerAlt_g.png"/>
          <p:cNvPicPr>
            <a:picLocks noChangeAspect="1"/>
          </p:cNvPicPr>
          <p:nvPr/>
        </p:nvPicPr>
        <p:blipFill>
          <a:blip r:embed="rId4"/>
          <a:stretch>
            <a:fillRect/>
          </a:stretch>
        </p:blipFill>
        <p:spPr>
          <a:xfrm>
            <a:off x="2769370" y="2104327"/>
            <a:ext cx="208263" cy="208263"/>
          </a:xfrm>
          <a:prstGeom prst="rect">
            <a:avLst/>
          </a:prstGeom>
        </p:spPr>
      </p:pic>
      <p:sp>
        <p:nvSpPr>
          <p:cNvPr id="489" name="Rectangle 488"/>
          <p:cNvSpPr/>
          <p:nvPr/>
        </p:nvSpPr>
        <p:spPr>
          <a:xfrm>
            <a:off x="402336" y="2405237"/>
            <a:ext cx="868679" cy="722010"/>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90" name="Picture 489" descr="FaChartLine_n.png"/>
          <p:cNvPicPr>
            <a:picLocks noChangeAspect="1"/>
          </p:cNvPicPr>
          <p:nvPr/>
        </p:nvPicPr>
        <p:blipFill>
          <a:blip r:embed="rId5"/>
          <a:stretch>
            <a:fillRect/>
          </a:stretch>
        </p:blipFill>
        <p:spPr>
          <a:xfrm>
            <a:off x="653795" y="2583362"/>
            <a:ext cx="365760" cy="365760"/>
          </a:xfrm>
          <a:prstGeom prst="rect">
            <a:avLst/>
          </a:prstGeom>
        </p:spPr>
      </p:pic>
      <p:sp>
        <p:nvSpPr>
          <p:cNvPr id="491" name="Rectangle 490"/>
          <p:cNvSpPr/>
          <p:nvPr/>
        </p:nvSpPr>
        <p:spPr>
          <a:xfrm>
            <a:off x="1307592" y="2405237"/>
            <a:ext cx="868679" cy="722010"/>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92" name="Picture 491" descr="FaChartLine_n.png"/>
          <p:cNvPicPr>
            <a:picLocks noChangeAspect="1"/>
          </p:cNvPicPr>
          <p:nvPr/>
        </p:nvPicPr>
        <p:blipFill>
          <a:blip r:embed="rId5"/>
          <a:stretch>
            <a:fillRect/>
          </a:stretch>
        </p:blipFill>
        <p:spPr>
          <a:xfrm>
            <a:off x="1559051" y="2583362"/>
            <a:ext cx="365760" cy="365760"/>
          </a:xfrm>
          <a:prstGeom prst="rect">
            <a:avLst/>
          </a:prstGeom>
        </p:spPr>
      </p:pic>
      <p:sp>
        <p:nvSpPr>
          <p:cNvPr id="493" name="Rectangle 492"/>
          <p:cNvSpPr/>
          <p:nvPr/>
        </p:nvSpPr>
        <p:spPr>
          <a:xfrm>
            <a:off x="2212848" y="2405237"/>
            <a:ext cx="868679" cy="722010"/>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494" name="Picture 493" descr="FaChartLine_n.png"/>
          <p:cNvPicPr>
            <a:picLocks noChangeAspect="1"/>
          </p:cNvPicPr>
          <p:nvPr/>
        </p:nvPicPr>
        <p:blipFill>
          <a:blip r:embed="rId5"/>
          <a:stretch>
            <a:fillRect/>
          </a:stretch>
        </p:blipFill>
        <p:spPr>
          <a:xfrm>
            <a:off x="2464308" y="2583362"/>
            <a:ext cx="365760" cy="365760"/>
          </a:xfrm>
          <a:prstGeom prst="rect">
            <a:avLst/>
          </a:prstGeom>
        </p:spPr>
      </p:pic>
      <p:sp>
        <p:nvSpPr>
          <p:cNvPr id="495" name="TextBox 494"/>
          <p:cNvSpPr txBox="1"/>
          <p:nvPr/>
        </p:nvSpPr>
        <p:spPr>
          <a:xfrm>
            <a:off x="365760" y="4937760"/>
            <a:ext cx="2788920" cy="457200"/>
          </a:xfrm>
          <a:prstGeom prst="rect">
            <a:avLst/>
          </a:prstGeom>
          <a:noFill/>
        </p:spPr>
        <p:txBody>
          <a:bodyPr wrap="square" lIns="73152" tIns="36576" rIns="73152" bIns="36576" anchor="t"/>
          <a:lstStyle/>
          <a:p>
            <a:pPr algn="ctr"/>
            <a:r>
              <a:rPr lang="vi-VN" sz="1200" b="0" i="1">
                <a:solidFill>
                  <a:srgbClr val="595959"/>
                </a:solidFill>
                <a:latin typeface="Times New Roman"/>
                <a:cs typeface="Times New Roman"/>
              </a:rPr>
              <a:t>6 thẻ KPI + 3 line chart</a:t>
            </a:r>
          </a:p>
        </p:txBody>
      </p:sp>
      <p:sp>
        <p:nvSpPr>
          <p:cNvPr id="496" name="Rounded Rectangle 495"/>
          <p:cNvSpPr/>
          <p:nvPr/>
        </p:nvSpPr>
        <p:spPr>
          <a:xfrm>
            <a:off x="365760" y="5394960"/>
            <a:ext cx="2788920" cy="685800"/>
          </a:xfrm>
          <a:prstGeom prst="roundRect">
            <a:avLst>
              <a:gd name="adj" fmla="val 10000"/>
            </a:avLst>
          </a:prstGeom>
          <a:solidFill>
            <a:srgbClr val="FFFFFF"/>
          </a:solidFill>
          <a:ln w="15240">
            <a:solidFill>
              <a:srgbClr val="2E5B31"/>
            </a:solidFill>
          </a:ln>
        </p:spPr>
        <p:txBody>
          <a:bodyPr wrap="square" tIns="27432" rIns="73152" bIns="27432" rtlCol="0" anchor="t"/>
          <a:lstStyle/>
          <a:p>
            <a:pPr algn="l"/>
            <a:r>
              <a:rPr lang="vi-VN" sz="1150" b="1" i="0">
                <a:solidFill>
                  <a:srgbClr val="2E5B31"/>
                </a:solidFill>
                <a:latin typeface="Times New Roman"/>
                <a:cs typeface="Times New Roman"/>
              </a:rPr>
              <a:t>Câu hỏi để khai phá</a:t>
            </a:r>
          </a:p>
          <a:p>
            <a:pPr algn="l"/>
            <a:r>
              <a:rPr lang="vi-VN" sz="1250" b="0" i="0">
                <a:solidFill>
                  <a:srgbClr val="222222"/>
                </a:solidFill>
                <a:latin typeface="Times New Roman"/>
                <a:cs typeface="Times New Roman"/>
              </a:rPr>
              <a:t>Dư nợ, thu nhập và chất lượng tín dụng cùng chiều hay ngược chiều?</a:t>
            </a:r>
          </a:p>
        </p:txBody>
      </p:sp>
      <p:sp>
        <p:nvSpPr>
          <p:cNvPr id="497" name="Rounded Rectangle 496"/>
          <p:cNvSpPr/>
          <p:nvPr/>
        </p:nvSpPr>
        <p:spPr>
          <a:xfrm>
            <a:off x="3264408" y="1371600"/>
            <a:ext cx="2788920" cy="384048"/>
          </a:xfrm>
          <a:prstGeom prst="roundRect">
            <a:avLst>
              <a:gd name="adj" fmla="val 25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Dư nợ</a:t>
            </a:r>
          </a:p>
        </p:txBody>
      </p:sp>
      <p:sp>
        <p:nvSpPr>
          <p:cNvPr id="498" name="Rectangle 497"/>
          <p:cNvSpPr/>
          <p:nvPr/>
        </p:nvSpPr>
        <p:spPr>
          <a:xfrm>
            <a:off x="3264408" y="1828800"/>
            <a:ext cx="2788920" cy="2194560"/>
          </a:xfrm>
          <a:prstGeom prst="rect">
            <a:avLst/>
          </a:prstGeom>
          <a:solidFill>
            <a:srgbClr val="ECF2EA"/>
          </a:solidFill>
          <a:ln w="15875">
            <a:solidFill>
              <a:srgbClr val="2E5B31"/>
            </a:solidFill>
          </a:ln>
        </p:spPr>
        <p:txBody>
          <a:bodyPr wrap="square" lIns="73152" tIns="36576" rIns="73152" bIns="36576" rtlCol="0" anchor="ctr"/>
          <a:lstStyle/>
          <a:p>
            <a:pPr algn="ctr"/>
            <a:endParaRPr/>
          </a:p>
        </p:txBody>
      </p:sp>
      <p:sp>
        <p:nvSpPr>
          <p:cNvPr id="499" name="Rectangle 498"/>
          <p:cNvSpPr/>
          <p:nvPr/>
        </p:nvSpPr>
        <p:spPr>
          <a:xfrm>
            <a:off x="3264408" y="1828800"/>
            <a:ext cx="2788920" cy="182880"/>
          </a:xfrm>
          <a:prstGeom prst="rect">
            <a:avLst/>
          </a:prstGeom>
          <a:solidFill>
            <a:srgbClr val="2E5B31"/>
          </a:solidFill>
          <a:ln>
            <a:noFill/>
          </a:ln>
        </p:spPr>
        <p:txBody>
          <a:bodyPr wrap="square" lIns="73152" tIns="36576" rIns="73152" bIns="36576" rtlCol="0" anchor="ctr"/>
          <a:lstStyle/>
          <a:p>
            <a:pPr algn="ctr"/>
            <a:endParaRPr/>
          </a:p>
        </p:txBody>
      </p:sp>
      <p:sp>
        <p:nvSpPr>
          <p:cNvPr id="500" name="Rectangle 499"/>
          <p:cNvSpPr/>
          <p:nvPr/>
        </p:nvSpPr>
        <p:spPr>
          <a:xfrm>
            <a:off x="3300984" y="2048256"/>
            <a:ext cx="560892" cy="351129"/>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01" name="Picture 500" descr="FaTachometerAlt_g.png"/>
          <p:cNvPicPr>
            <a:picLocks noChangeAspect="1"/>
          </p:cNvPicPr>
          <p:nvPr/>
        </p:nvPicPr>
        <p:blipFill>
          <a:blip r:embed="rId4"/>
          <a:stretch>
            <a:fillRect/>
          </a:stretch>
        </p:blipFill>
        <p:spPr>
          <a:xfrm>
            <a:off x="3467313" y="2109703"/>
            <a:ext cx="228234" cy="228234"/>
          </a:xfrm>
          <a:prstGeom prst="rect">
            <a:avLst/>
          </a:prstGeom>
        </p:spPr>
      </p:pic>
      <p:sp>
        <p:nvSpPr>
          <p:cNvPr id="502" name="Rectangle 501"/>
          <p:cNvSpPr/>
          <p:nvPr/>
        </p:nvSpPr>
        <p:spPr>
          <a:xfrm>
            <a:off x="3898452" y="2048256"/>
            <a:ext cx="560892" cy="351129"/>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03" name="Picture 502" descr="FaTachometerAlt_g.png"/>
          <p:cNvPicPr>
            <a:picLocks noChangeAspect="1"/>
          </p:cNvPicPr>
          <p:nvPr/>
        </p:nvPicPr>
        <p:blipFill>
          <a:blip r:embed="rId4"/>
          <a:stretch>
            <a:fillRect/>
          </a:stretch>
        </p:blipFill>
        <p:spPr>
          <a:xfrm>
            <a:off x="4064782" y="2109703"/>
            <a:ext cx="228234" cy="228234"/>
          </a:xfrm>
          <a:prstGeom prst="rect">
            <a:avLst/>
          </a:prstGeom>
        </p:spPr>
      </p:pic>
      <p:sp>
        <p:nvSpPr>
          <p:cNvPr id="504" name="Rectangle 503"/>
          <p:cNvSpPr/>
          <p:nvPr/>
        </p:nvSpPr>
        <p:spPr>
          <a:xfrm>
            <a:off x="4495921" y="2048256"/>
            <a:ext cx="1484254" cy="351129"/>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05" name="Picture 504" descr="FaTable_k.png"/>
          <p:cNvPicPr>
            <a:picLocks noChangeAspect="1"/>
          </p:cNvPicPr>
          <p:nvPr/>
        </p:nvPicPr>
        <p:blipFill>
          <a:blip r:embed="rId6"/>
          <a:stretch>
            <a:fillRect/>
          </a:stretch>
        </p:blipFill>
        <p:spPr>
          <a:xfrm>
            <a:off x="5123931" y="2109703"/>
            <a:ext cx="228234" cy="228234"/>
          </a:xfrm>
          <a:prstGeom prst="rect">
            <a:avLst/>
          </a:prstGeom>
        </p:spPr>
      </p:pic>
      <p:sp>
        <p:nvSpPr>
          <p:cNvPr id="506" name="Rectangle 505"/>
          <p:cNvSpPr/>
          <p:nvPr/>
        </p:nvSpPr>
        <p:spPr>
          <a:xfrm>
            <a:off x="3300984" y="2435961"/>
            <a:ext cx="1158361" cy="622523"/>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07" name="Picture 506" descr="FaChartPie_r.png"/>
          <p:cNvPicPr>
            <a:picLocks noChangeAspect="1"/>
          </p:cNvPicPr>
          <p:nvPr/>
        </p:nvPicPr>
        <p:blipFill>
          <a:blip r:embed="rId7"/>
          <a:stretch>
            <a:fillRect/>
          </a:stretch>
        </p:blipFill>
        <p:spPr>
          <a:xfrm>
            <a:off x="3697284" y="2564343"/>
            <a:ext cx="365760" cy="365760"/>
          </a:xfrm>
          <a:prstGeom prst="rect">
            <a:avLst/>
          </a:prstGeom>
        </p:spPr>
      </p:pic>
      <p:sp>
        <p:nvSpPr>
          <p:cNvPr id="508" name="Rectangle 507"/>
          <p:cNvSpPr/>
          <p:nvPr/>
        </p:nvSpPr>
        <p:spPr>
          <a:xfrm>
            <a:off x="4495921" y="2435961"/>
            <a:ext cx="886785" cy="622523"/>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09" name="Picture 508" descr="FaThLarge_t.png"/>
          <p:cNvPicPr>
            <a:picLocks noChangeAspect="1"/>
          </p:cNvPicPr>
          <p:nvPr/>
        </p:nvPicPr>
        <p:blipFill>
          <a:blip r:embed="rId8"/>
          <a:stretch>
            <a:fillRect/>
          </a:stretch>
        </p:blipFill>
        <p:spPr>
          <a:xfrm>
            <a:off x="4756434" y="2564343"/>
            <a:ext cx="365760" cy="365760"/>
          </a:xfrm>
          <a:prstGeom prst="rect">
            <a:avLst/>
          </a:prstGeom>
        </p:spPr>
      </p:pic>
      <p:sp>
        <p:nvSpPr>
          <p:cNvPr id="510" name="Rectangle 509"/>
          <p:cNvSpPr/>
          <p:nvPr/>
        </p:nvSpPr>
        <p:spPr>
          <a:xfrm>
            <a:off x="5419283" y="2435961"/>
            <a:ext cx="560892" cy="622523"/>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11" name="Picture 510" descr="FaChartBar_o.png"/>
          <p:cNvPicPr>
            <a:picLocks noChangeAspect="1"/>
          </p:cNvPicPr>
          <p:nvPr/>
        </p:nvPicPr>
        <p:blipFill>
          <a:blip r:embed="rId9"/>
          <a:stretch>
            <a:fillRect/>
          </a:stretch>
        </p:blipFill>
        <p:spPr>
          <a:xfrm>
            <a:off x="5517439" y="2564933"/>
            <a:ext cx="364580" cy="364580"/>
          </a:xfrm>
          <a:prstGeom prst="rect">
            <a:avLst/>
          </a:prstGeom>
        </p:spPr>
      </p:pic>
      <p:sp>
        <p:nvSpPr>
          <p:cNvPr id="512" name="Rectangle 511"/>
          <p:cNvSpPr/>
          <p:nvPr/>
        </p:nvSpPr>
        <p:spPr>
          <a:xfrm>
            <a:off x="3300984" y="3095061"/>
            <a:ext cx="2679191" cy="855146"/>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13" name="Picture 512" descr="FaTable_k.png"/>
          <p:cNvPicPr>
            <a:picLocks noChangeAspect="1"/>
          </p:cNvPicPr>
          <p:nvPr/>
        </p:nvPicPr>
        <p:blipFill>
          <a:blip r:embed="rId6"/>
          <a:stretch>
            <a:fillRect/>
          </a:stretch>
        </p:blipFill>
        <p:spPr>
          <a:xfrm>
            <a:off x="4457700" y="3339754"/>
            <a:ext cx="365760" cy="365760"/>
          </a:xfrm>
          <a:prstGeom prst="rect">
            <a:avLst/>
          </a:prstGeom>
        </p:spPr>
      </p:pic>
      <p:sp>
        <p:nvSpPr>
          <p:cNvPr id="514" name="TextBox 513"/>
          <p:cNvSpPr txBox="1"/>
          <p:nvPr/>
        </p:nvSpPr>
        <p:spPr>
          <a:xfrm>
            <a:off x="3264408" y="4937760"/>
            <a:ext cx="2788920" cy="457200"/>
          </a:xfrm>
          <a:prstGeom prst="rect">
            <a:avLst/>
          </a:prstGeom>
          <a:noFill/>
        </p:spPr>
        <p:txBody>
          <a:bodyPr wrap="square" lIns="73152" tIns="36576" rIns="73152" bIns="36576" anchor="t"/>
          <a:lstStyle/>
          <a:p>
            <a:pPr algn="ctr"/>
            <a:r>
              <a:rPr lang="vi-VN" sz="1200" b="0" i="1">
                <a:solidFill>
                  <a:srgbClr val="595959"/>
                </a:solidFill>
                <a:latin typeface="Times New Roman"/>
                <a:cs typeface="Times New Roman"/>
              </a:rPr>
              <a:t>2 thẻ KPI, bảng kỳ hạn, pie, treemap, bar, Top 10 ĐVKD</a:t>
            </a:r>
          </a:p>
        </p:txBody>
      </p:sp>
      <p:sp>
        <p:nvSpPr>
          <p:cNvPr id="515" name="Rounded Rectangle 514"/>
          <p:cNvSpPr/>
          <p:nvPr/>
        </p:nvSpPr>
        <p:spPr>
          <a:xfrm>
            <a:off x="3264408" y="5394960"/>
            <a:ext cx="2788920" cy="685800"/>
          </a:xfrm>
          <a:prstGeom prst="roundRect">
            <a:avLst>
              <a:gd name="adj" fmla="val 10000"/>
            </a:avLst>
          </a:prstGeom>
          <a:solidFill>
            <a:srgbClr val="FFFFFF"/>
          </a:solidFill>
          <a:ln w="15240">
            <a:solidFill>
              <a:srgbClr val="C55A11"/>
            </a:solidFill>
          </a:ln>
        </p:spPr>
        <p:txBody>
          <a:bodyPr wrap="square" tIns="27432" rIns="73152" bIns="27432" rtlCol="0" anchor="t"/>
          <a:lstStyle/>
          <a:p>
            <a:pPr algn="l"/>
            <a:r>
              <a:rPr lang="vi-VN" sz="1150" b="1" i="0">
                <a:solidFill>
                  <a:srgbClr val="C55A11"/>
                </a:solidFill>
                <a:latin typeface="Times New Roman"/>
                <a:cs typeface="Times New Roman"/>
              </a:rPr>
              <a:t>Câu hỏi để khai phá</a:t>
            </a:r>
          </a:p>
          <a:p>
            <a:pPr algn="l"/>
            <a:r>
              <a:rPr lang="vi-VN" sz="1250" b="0" i="0">
                <a:solidFill>
                  <a:srgbClr val="222222"/>
                </a:solidFill>
                <a:latin typeface="Times New Roman"/>
                <a:cs typeface="Times New Roman"/>
              </a:rPr>
              <a:t>Tăng trưởng đến từ phân khúc, ngành, sản phẩm, ĐVKD nào?</a:t>
            </a:r>
          </a:p>
        </p:txBody>
      </p:sp>
      <p:sp>
        <p:nvSpPr>
          <p:cNvPr id="516" name="Rounded Rectangle 515"/>
          <p:cNvSpPr/>
          <p:nvPr/>
        </p:nvSpPr>
        <p:spPr>
          <a:xfrm>
            <a:off x="6163056" y="1371600"/>
            <a:ext cx="2788920" cy="384048"/>
          </a:xfrm>
          <a:prstGeom prst="roundRect">
            <a:avLst>
              <a:gd name="adj" fmla="val 25000"/>
            </a:avLst>
          </a:prstGeom>
          <a:solidFill>
            <a:srgbClr val="123A7A"/>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NII/TOI</a:t>
            </a:r>
          </a:p>
        </p:txBody>
      </p:sp>
      <p:sp>
        <p:nvSpPr>
          <p:cNvPr id="517" name="Rectangle 516"/>
          <p:cNvSpPr/>
          <p:nvPr/>
        </p:nvSpPr>
        <p:spPr>
          <a:xfrm>
            <a:off x="6163056" y="1828800"/>
            <a:ext cx="2788920" cy="3063240"/>
          </a:xfrm>
          <a:prstGeom prst="rect">
            <a:avLst/>
          </a:prstGeom>
          <a:solidFill>
            <a:srgbClr val="ECF2EA"/>
          </a:solidFill>
          <a:ln w="15875">
            <a:solidFill>
              <a:srgbClr val="2E5B31"/>
            </a:solidFill>
          </a:ln>
        </p:spPr>
        <p:txBody>
          <a:bodyPr wrap="square" lIns="73152" tIns="36576" rIns="73152" bIns="36576" rtlCol="0" anchor="ctr"/>
          <a:lstStyle/>
          <a:p>
            <a:pPr algn="ctr"/>
            <a:endParaRPr/>
          </a:p>
        </p:txBody>
      </p:sp>
      <p:sp>
        <p:nvSpPr>
          <p:cNvPr id="518" name="Rectangle 517"/>
          <p:cNvSpPr/>
          <p:nvPr/>
        </p:nvSpPr>
        <p:spPr>
          <a:xfrm>
            <a:off x="6163056" y="1828800"/>
            <a:ext cx="2788920" cy="182880"/>
          </a:xfrm>
          <a:prstGeom prst="rect">
            <a:avLst/>
          </a:prstGeom>
          <a:solidFill>
            <a:srgbClr val="2E5B31"/>
          </a:solidFill>
          <a:ln>
            <a:noFill/>
          </a:ln>
        </p:spPr>
        <p:txBody>
          <a:bodyPr wrap="square" lIns="73152" tIns="36576" rIns="73152" bIns="36576" rtlCol="0" anchor="ctr"/>
          <a:lstStyle/>
          <a:p>
            <a:pPr algn="ctr"/>
            <a:endParaRPr/>
          </a:p>
        </p:txBody>
      </p:sp>
      <p:sp>
        <p:nvSpPr>
          <p:cNvPr id="519" name="Rectangle 518"/>
          <p:cNvSpPr/>
          <p:nvPr/>
        </p:nvSpPr>
        <p:spPr>
          <a:xfrm>
            <a:off x="6199632" y="2048256"/>
            <a:ext cx="778154" cy="159928"/>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20" name="Picture 519" descr="FaTachometerAlt_g.png"/>
          <p:cNvPicPr>
            <a:picLocks noChangeAspect="1"/>
          </p:cNvPicPr>
          <p:nvPr/>
        </p:nvPicPr>
        <p:blipFill>
          <a:blip r:embed="rId4"/>
          <a:stretch>
            <a:fillRect/>
          </a:stretch>
        </p:blipFill>
        <p:spPr>
          <a:xfrm>
            <a:off x="6536732" y="2076243"/>
            <a:ext cx="103953" cy="103953"/>
          </a:xfrm>
          <a:prstGeom prst="rect">
            <a:avLst/>
          </a:prstGeom>
        </p:spPr>
      </p:pic>
      <p:sp>
        <p:nvSpPr>
          <p:cNvPr id="521" name="Rectangle 520"/>
          <p:cNvSpPr/>
          <p:nvPr/>
        </p:nvSpPr>
        <p:spPr>
          <a:xfrm>
            <a:off x="6199632" y="2244760"/>
            <a:ext cx="778154" cy="440649"/>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22" name="Picture 521" descr="FaChartPie_r.png"/>
          <p:cNvPicPr>
            <a:picLocks noChangeAspect="1"/>
          </p:cNvPicPr>
          <p:nvPr/>
        </p:nvPicPr>
        <p:blipFill>
          <a:blip r:embed="rId7"/>
          <a:stretch>
            <a:fillRect/>
          </a:stretch>
        </p:blipFill>
        <p:spPr>
          <a:xfrm>
            <a:off x="6445498" y="2321874"/>
            <a:ext cx="286422" cy="286422"/>
          </a:xfrm>
          <a:prstGeom prst="rect">
            <a:avLst/>
          </a:prstGeom>
        </p:spPr>
      </p:pic>
      <p:sp>
        <p:nvSpPr>
          <p:cNvPr id="523" name="Rectangle 522"/>
          <p:cNvSpPr/>
          <p:nvPr/>
        </p:nvSpPr>
        <p:spPr>
          <a:xfrm>
            <a:off x="7014362" y="2048256"/>
            <a:ext cx="1104046" cy="328361"/>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24" name="Picture 523" descr="FaChartLine_n.png"/>
          <p:cNvPicPr>
            <a:picLocks noChangeAspect="1"/>
          </p:cNvPicPr>
          <p:nvPr/>
        </p:nvPicPr>
        <p:blipFill>
          <a:blip r:embed="rId5"/>
          <a:stretch>
            <a:fillRect/>
          </a:stretch>
        </p:blipFill>
        <p:spPr>
          <a:xfrm>
            <a:off x="7459668" y="2105719"/>
            <a:ext cx="213434" cy="213434"/>
          </a:xfrm>
          <a:prstGeom prst="rect">
            <a:avLst/>
          </a:prstGeom>
        </p:spPr>
      </p:pic>
      <p:sp>
        <p:nvSpPr>
          <p:cNvPr id="525" name="Rectangle 524"/>
          <p:cNvSpPr/>
          <p:nvPr/>
        </p:nvSpPr>
        <p:spPr>
          <a:xfrm>
            <a:off x="7014362" y="2413193"/>
            <a:ext cx="1104046" cy="272216"/>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26" name="Picture 525" descr="FaTable_k.png"/>
          <p:cNvPicPr>
            <a:picLocks noChangeAspect="1"/>
          </p:cNvPicPr>
          <p:nvPr/>
        </p:nvPicPr>
        <p:blipFill>
          <a:blip r:embed="rId6"/>
          <a:stretch>
            <a:fillRect/>
          </a:stretch>
        </p:blipFill>
        <p:spPr>
          <a:xfrm>
            <a:off x="7477915" y="2460830"/>
            <a:ext cx="176940" cy="176940"/>
          </a:xfrm>
          <a:prstGeom prst="rect">
            <a:avLst/>
          </a:prstGeom>
        </p:spPr>
      </p:pic>
      <p:sp>
        <p:nvSpPr>
          <p:cNvPr id="527" name="Rectangle 526"/>
          <p:cNvSpPr/>
          <p:nvPr/>
        </p:nvSpPr>
        <p:spPr>
          <a:xfrm>
            <a:off x="8154984" y="2048256"/>
            <a:ext cx="723839" cy="637153"/>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28" name="Picture 527" descr="FaThLarge_t.png"/>
          <p:cNvPicPr>
            <a:picLocks noChangeAspect="1"/>
          </p:cNvPicPr>
          <p:nvPr/>
        </p:nvPicPr>
        <p:blipFill>
          <a:blip r:embed="rId8"/>
          <a:stretch>
            <a:fillRect/>
          </a:stretch>
        </p:blipFill>
        <p:spPr>
          <a:xfrm>
            <a:off x="8334024" y="2183952"/>
            <a:ext cx="365760" cy="365760"/>
          </a:xfrm>
          <a:prstGeom prst="rect">
            <a:avLst/>
          </a:prstGeom>
        </p:spPr>
      </p:pic>
      <p:sp>
        <p:nvSpPr>
          <p:cNvPr id="529" name="Rectangle 528"/>
          <p:cNvSpPr/>
          <p:nvPr/>
        </p:nvSpPr>
        <p:spPr>
          <a:xfrm>
            <a:off x="6199632" y="3451860"/>
            <a:ext cx="778154" cy="159928"/>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30" name="Picture 529" descr="FaTachometerAlt_g.png"/>
          <p:cNvPicPr>
            <a:picLocks noChangeAspect="1"/>
          </p:cNvPicPr>
          <p:nvPr/>
        </p:nvPicPr>
        <p:blipFill>
          <a:blip r:embed="rId4"/>
          <a:stretch>
            <a:fillRect/>
          </a:stretch>
        </p:blipFill>
        <p:spPr>
          <a:xfrm>
            <a:off x="6536732" y="3479847"/>
            <a:ext cx="103953" cy="103953"/>
          </a:xfrm>
          <a:prstGeom prst="rect">
            <a:avLst/>
          </a:prstGeom>
        </p:spPr>
      </p:pic>
      <p:sp>
        <p:nvSpPr>
          <p:cNvPr id="531" name="Rectangle 530"/>
          <p:cNvSpPr/>
          <p:nvPr/>
        </p:nvSpPr>
        <p:spPr>
          <a:xfrm>
            <a:off x="6199632" y="3648364"/>
            <a:ext cx="778154" cy="440649"/>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32" name="Picture 531" descr="FaChartPie_r.png"/>
          <p:cNvPicPr>
            <a:picLocks noChangeAspect="1"/>
          </p:cNvPicPr>
          <p:nvPr/>
        </p:nvPicPr>
        <p:blipFill>
          <a:blip r:embed="rId7"/>
          <a:stretch>
            <a:fillRect/>
          </a:stretch>
        </p:blipFill>
        <p:spPr>
          <a:xfrm>
            <a:off x="6445498" y="3725478"/>
            <a:ext cx="286422" cy="286422"/>
          </a:xfrm>
          <a:prstGeom prst="rect">
            <a:avLst/>
          </a:prstGeom>
        </p:spPr>
      </p:pic>
      <p:sp>
        <p:nvSpPr>
          <p:cNvPr id="533" name="Rectangle 532"/>
          <p:cNvSpPr/>
          <p:nvPr/>
        </p:nvSpPr>
        <p:spPr>
          <a:xfrm>
            <a:off x="7014362" y="3451860"/>
            <a:ext cx="1104046" cy="328361"/>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34" name="Picture 533" descr="FaChartLine_n.png"/>
          <p:cNvPicPr>
            <a:picLocks noChangeAspect="1"/>
          </p:cNvPicPr>
          <p:nvPr/>
        </p:nvPicPr>
        <p:blipFill>
          <a:blip r:embed="rId5"/>
          <a:stretch>
            <a:fillRect/>
          </a:stretch>
        </p:blipFill>
        <p:spPr>
          <a:xfrm>
            <a:off x="7459668" y="3509323"/>
            <a:ext cx="213434" cy="213434"/>
          </a:xfrm>
          <a:prstGeom prst="rect">
            <a:avLst/>
          </a:prstGeom>
        </p:spPr>
      </p:pic>
      <p:sp>
        <p:nvSpPr>
          <p:cNvPr id="535" name="Rectangle 534"/>
          <p:cNvSpPr/>
          <p:nvPr/>
        </p:nvSpPr>
        <p:spPr>
          <a:xfrm>
            <a:off x="7014362" y="3816797"/>
            <a:ext cx="1104046" cy="272216"/>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36" name="Picture 535" descr="FaTable_k.png"/>
          <p:cNvPicPr>
            <a:picLocks noChangeAspect="1"/>
          </p:cNvPicPr>
          <p:nvPr/>
        </p:nvPicPr>
        <p:blipFill>
          <a:blip r:embed="rId6"/>
          <a:stretch>
            <a:fillRect/>
          </a:stretch>
        </p:blipFill>
        <p:spPr>
          <a:xfrm>
            <a:off x="7477915" y="3864434"/>
            <a:ext cx="176940" cy="176940"/>
          </a:xfrm>
          <a:prstGeom prst="rect">
            <a:avLst/>
          </a:prstGeom>
        </p:spPr>
      </p:pic>
      <p:sp>
        <p:nvSpPr>
          <p:cNvPr id="537" name="Rectangle 536"/>
          <p:cNvSpPr/>
          <p:nvPr/>
        </p:nvSpPr>
        <p:spPr>
          <a:xfrm>
            <a:off x="8154984" y="3451860"/>
            <a:ext cx="723839" cy="637153"/>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38" name="Picture 537" descr="FaThLarge_t.png"/>
          <p:cNvPicPr>
            <a:picLocks noChangeAspect="1"/>
          </p:cNvPicPr>
          <p:nvPr/>
        </p:nvPicPr>
        <p:blipFill>
          <a:blip r:embed="rId8"/>
          <a:stretch>
            <a:fillRect/>
          </a:stretch>
        </p:blipFill>
        <p:spPr>
          <a:xfrm>
            <a:off x="8334024" y="3587556"/>
            <a:ext cx="365760" cy="365760"/>
          </a:xfrm>
          <a:prstGeom prst="rect">
            <a:avLst/>
          </a:prstGeom>
        </p:spPr>
      </p:pic>
      <p:sp>
        <p:nvSpPr>
          <p:cNvPr id="539" name="TextBox 538"/>
          <p:cNvSpPr txBox="1"/>
          <p:nvPr/>
        </p:nvSpPr>
        <p:spPr>
          <a:xfrm>
            <a:off x="6163056" y="4937760"/>
            <a:ext cx="2788920" cy="457200"/>
          </a:xfrm>
          <a:prstGeom prst="rect">
            <a:avLst/>
          </a:prstGeom>
          <a:noFill/>
        </p:spPr>
        <p:txBody>
          <a:bodyPr wrap="square" lIns="73152" tIns="36576" rIns="73152" bIns="36576" anchor="t"/>
          <a:lstStyle/>
          <a:p>
            <a:pPr algn="ctr"/>
            <a:r>
              <a:rPr lang="vi-VN" sz="1200" b="0" i="1">
                <a:solidFill>
                  <a:srgbClr val="595959"/>
                </a:solidFill>
                <a:latin typeface="Times New Roman"/>
                <a:cs typeface="Times New Roman"/>
              </a:rPr>
              <a:t>Nửa trên NII, nửa dưới TOI: thẻ, pie, line, Top 10 KH, treemap</a:t>
            </a:r>
          </a:p>
        </p:txBody>
      </p:sp>
      <p:sp>
        <p:nvSpPr>
          <p:cNvPr id="540" name="Rounded Rectangle 539"/>
          <p:cNvSpPr/>
          <p:nvPr/>
        </p:nvSpPr>
        <p:spPr>
          <a:xfrm>
            <a:off x="6163056" y="5394960"/>
            <a:ext cx="2788920" cy="685800"/>
          </a:xfrm>
          <a:prstGeom prst="roundRect">
            <a:avLst>
              <a:gd name="adj" fmla="val 10000"/>
            </a:avLst>
          </a:prstGeom>
          <a:solidFill>
            <a:srgbClr val="FFFFFF"/>
          </a:solidFill>
          <a:ln w="15240">
            <a:solidFill>
              <a:srgbClr val="123A7A"/>
            </a:solidFill>
          </a:ln>
        </p:spPr>
        <p:txBody>
          <a:bodyPr wrap="square" tIns="27432" rIns="73152" bIns="27432" rtlCol="0" anchor="t"/>
          <a:lstStyle/>
          <a:p>
            <a:pPr algn="l"/>
            <a:r>
              <a:rPr lang="vi-VN" sz="1150" b="1" i="0">
                <a:solidFill>
                  <a:srgbClr val="123A7A"/>
                </a:solidFill>
                <a:latin typeface="Times New Roman"/>
                <a:cs typeface="Times New Roman"/>
              </a:rPr>
              <a:t>Câu hỏi để khai phá</a:t>
            </a:r>
          </a:p>
          <a:p>
            <a:pPr algn="l"/>
            <a:r>
              <a:rPr lang="vi-VN" sz="1250" b="0" i="0">
                <a:solidFill>
                  <a:srgbClr val="222222"/>
                </a:solidFill>
                <a:latin typeface="Times New Roman"/>
                <a:cs typeface="Times New Roman"/>
              </a:rPr>
              <a:t>Một khách hàng hay ĐVKD đóng góp bao nhiêu?</a:t>
            </a:r>
          </a:p>
        </p:txBody>
      </p:sp>
      <p:sp>
        <p:nvSpPr>
          <p:cNvPr id="541" name="Rounded Rectangle 540"/>
          <p:cNvSpPr/>
          <p:nvPr/>
        </p:nvSpPr>
        <p:spPr>
          <a:xfrm>
            <a:off x="9061704" y="1371600"/>
            <a:ext cx="2788920" cy="384048"/>
          </a:xfrm>
          <a:prstGeom prst="roundRect">
            <a:avLst>
              <a:gd name="adj" fmla="val 25000"/>
            </a:avLst>
          </a:prstGeom>
          <a:solidFill>
            <a:srgbClr val="C00000"/>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CLTD</a:t>
            </a:r>
          </a:p>
        </p:txBody>
      </p:sp>
      <p:sp>
        <p:nvSpPr>
          <p:cNvPr id="542" name="Rectangle 541"/>
          <p:cNvSpPr/>
          <p:nvPr/>
        </p:nvSpPr>
        <p:spPr>
          <a:xfrm>
            <a:off x="9061704" y="1828800"/>
            <a:ext cx="2788920" cy="2194560"/>
          </a:xfrm>
          <a:prstGeom prst="rect">
            <a:avLst/>
          </a:prstGeom>
          <a:solidFill>
            <a:srgbClr val="ECF2EA"/>
          </a:solidFill>
          <a:ln w="15875">
            <a:solidFill>
              <a:srgbClr val="2E5B31"/>
            </a:solidFill>
          </a:ln>
        </p:spPr>
        <p:txBody>
          <a:bodyPr wrap="square" lIns="73152" tIns="36576" rIns="73152" bIns="36576" rtlCol="0" anchor="ctr"/>
          <a:lstStyle/>
          <a:p>
            <a:pPr algn="ctr"/>
            <a:endParaRPr/>
          </a:p>
        </p:txBody>
      </p:sp>
      <p:sp>
        <p:nvSpPr>
          <p:cNvPr id="543" name="Rectangle 542"/>
          <p:cNvSpPr/>
          <p:nvPr/>
        </p:nvSpPr>
        <p:spPr>
          <a:xfrm>
            <a:off x="9061704" y="1828800"/>
            <a:ext cx="2788920" cy="182880"/>
          </a:xfrm>
          <a:prstGeom prst="rect">
            <a:avLst/>
          </a:prstGeom>
          <a:solidFill>
            <a:srgbClr val="2E5B31"/>
          </a:solidFill>
          <a:ln>
            <a:noFill/>
          </a:ln>
        </p:spPr>
        <p:txBody>
          <a:bodyPr wrap="square" lIns="73152" tIns="36576" rIns="73152" bIns="36576" rtlCol="0" anchor="ctr"/>
          <a:lstStyle/>
          <a:p>
            <a:pPr algn="ctr"/>
            <a:endParaRPr/>
          </a:p>
        </p:txBody>
      </p:sp>
      <p:sp>
        <p:nvSpPr>
          <p:cNvPr id="544" name="Rectangle 543"/>
          <p:cNvSpPr/>
          <p:nvPr/>
        </p:nvSpPr>
        <p:spPr>
          <a:xfrm>
            <a:off x="9098280" y="2048256"/>
            <a:ext cx="642365" cy="234817"/>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45" name="Picture 544" descr="FaTachometerAlt_g.png"/>
          <p:cNvPicPr>
            <a:picLocks noChangeAspect="1"/>
          </p:cNvPicPr>
          <p:nvPr/>
        </p:nvPicPr>
        <p:blipFill>
          <a:blip r:embed="rId4"/>
          <a:stretch>
            <a:fillRect/>
          </a:stretch>
        </p:blipFill>
        <p:spPr>
          <a:xfrm>
            <a:off x="9343147" y="2089349"/>
            <a:ext cx="152631" cy="152631"/>
          </a:xfrm>
          <a:prstGeom prst="rect">
            <a:avLst/>
          </a:prstGeom>
        </p:spPr>
      </p:pic>
      <p:sp>
        <p:nvSpPr>
          <p:cNvPr id="546" name="Rectangle 545"/>
          <p:cNvSpPr/>
          <p:nvPr/>
        </p:nvSpPr>
        <p:spPr>
          <a:xfrm>
            <a:off x="9777222" y="2048256"/>
            <a:ext cx="642365" cy="234817"/>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47" name="Picture 546" descr="FaTachometerAlt_g.png"/>
          <p:cNvPicPr>
            <a:picLocks noChangeAspect="1"/>
          </p:cNvPicPr>
          <p:nvPr/>
        </p:nvPicPr>
        <p:blipFill>
          <a:blip r:embed="rId4"/>
          <a:stretch>
            <a:fillRect/>
          </a:stretch>
        </p:blipFill>
        <p:spPr>
          <a:xfrm>
            <a:off x="10022089" y="2089349"/>
            <a:ext cx="152631" cy="152631"/>
          </a:xfrm>
          <a:prstGeom prst="rect">
            <a:avLst/>
          </a:prstGeom>
        </p:spPr>
      </p:pic>
      <p:sp>
        <p:nvSpPr>
          <p:cNvPr id="548" name="Rectangle 547"/>
          <p:cNvSpPr/>
          <p:nvPr/>
        </p:nvSpPr>
        <p:spPr>
          <a:xfrm>
            <a:off x="10456163" y="2048256"/>
            <a:ext cx="642365" cy="234817"/>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49" name="Picture 548" descr="FaTachometerAlt_g.png"/>
          <p:cNvPicPr>
            <a:picLocks noChangeAspect="1"/>
          </p:cNvPicPr>
          <p:nvPr/>
        </p:nvPicPr>
        <p:blipFill>
          <a:blip r:embed="rId4"/>
          <a:stretch>
            <a:fillRect/>
          </a:stretch>
        </p:blipFill>
        <p:spPr>
          <a:xfrm>
            <a:off x="10701031" y="2089349"/>
            <a:ext cx="152631" cy="152631"/>
          </a:xfrm>
          <a:prstGeom prst="rect">
            <a:avLst/>
          </a:prstGeom>
        </p:spPr>
      </p:pic>
      <p:sp>
        <p:nvSpPr>
          <p:cNvPr id="550" name="Rectangle 549"/>
          <p:cNvSpPr/>
          <p:nvPr/>
        </p:nvSpPr>
        <p:spPr>
          <a:xfrm>
            <a:off x="11135105" y="2048256"/>
            <a:ext cx="642365" cy="234817"/>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51" name="Picture 550" descr="FaTachometerAlt_g.png"/>
          <p:cNvPicPr>
            <a:picLocks noChangeAspect="1"/>
          </p:cNvPicPr>
          <p:nvPr/>
        </p:nvPicPr>
        <p:blipFill>
          <a:blip r:embed="rId4"/>
          <a:stretch>
            <a:fillRect/>
          </a:stretch>
        </p:blipFill>
        <p:spPr>
          <a:xfrm>
            <a:off x="11379973" y="2089349"/>
            <a:ext cx="152631" cy="152631"/>
          </a:xfrm>
          <a:prstGeom prst="rect">
            <a:avLst/>
          </a:prstGeom>
        </p:spPr>
      </p:pic>
      <p:sp>
        <p:nvSpPr>
          <p:cNvPr id="552" name="Rectangle 551"/>
          <p:cNvSpPr/>
          <p:nvPr/>
        </p:nvSpPr>
        <p:spPr>
          <a:xfrm>
            <a:off x="9098280" y="2319649"/>
            <a:ext cx="1049731" cy="73883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53" name="Picture 552" descr="FaChartBar_o.png"/>
          <p:cNvPicPr>
            <a:picLocks noChangeAspect="1"/>
          </p:cNvPicPr>
          <p:nvPr/>
        </p:nvPicPr>
        <p:blipFill>
          <a:blip r:embed="rId9"/>
          <a:stretch>
            <a:fillRect/>
          </a:stretch>
        </p:blipFill>
        <p:spPr>
          <a:xfrm>
            <a:off x="9440265" y="2506187"/>
            <a:ext cx="365760" cy="365760"/>
          </a:xfrm>
          <a:prstGeom prst="rect">
            <a:avLst/>
          </a:prstGeom>
        </p:spPr>
      </p:pic>
      <p:sp>
        <p:nvSpPr>
          <p:cNvPr id="554" name="Rectangle 553"/>
          <p:cNvSpPr/>
          <p:nvPr/>
        </p:nvSpPr>
        <p:spPr>
          <a:xfrm>
            <a:off x="10184587" y="2319649"/>
            <a:ext cx="1592884" cy="738835"/>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55" name="Picture 554" descr="FaTable_k.png"/>
          <p:cNvPicPr>
            <a:picLocks noChangeAspect="1"/>
          </p:cNvPicPr>
          <p:nvPr/>
        </p:nvPicPr>
        <p:blipFill>
          <a:blip r:embed="rId6"/>
          <a:stretch>
            <a:fillRect/>
          </a:stretch>
        </p:blipFill>
        <p:spPr>
          <a:xfrm>
            <a:off x="10798149" y="2506187"/>
            <a:ext cx="365760" cy="365760"/>
          </a:xfrm>
          <a:prstGeom prst="rect">
            <a:avLst/>
          </a:prstGeom>
        </p:spPr>
      </p:pic>
      <p:sp>
        <p:nvSpPr>
          <p:cNvPr id="556" name="Rectangle 555"/>
          <p:cNvSpPr/>
          <p:nvPr/>
        </p:nvSpPr>
        <p:spPr>
          <a:xfrm>
            <a:off x="9098280" y="3095061"/>
            <a:ext cx="1321307" cy="855146"/>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57" name="Picture 556" descr="FaChartLine_n.png"/>
          <p:cNvPicPr>
            <a:picLocks noChangeAspect="1"/>
          </p:cNvPicPr>
          <p:nvPr/>
        </p:nvPicPr>
        <p:blipFill>
          <a:blip r:embed="rId5"/>
          <a:stretch>
            <a:fillRect/>
          </a:stretch>
        </p:blipFill>
        <p:spPr>
          <a:xfrm>
            <a:off x="9576054" y="3339754"/>
            <a:ext cx="365760" cy="365760"/>
          </a:xfrm>
          <a:prstGeom prst="rect">
            <a:avLst/>
          </a:prstGeom>
        </p:spPr>
      </p:pic>
      <p:sp>
        <p:nvSpPr>
          <p:cNvPr id="558" name="Rectangle 557"/>
          <p:cNvSpPr/>
          <p:nvPr/>
        </p:nvSpPr>
        <p:spPr>
          <a:xfrm>
            <a:off x="10456163" y="3095061"/>
            <a:ext cx="1321307" cy="855146"/>
          </a:xfrm>
          <a:prstGeom prst="rect">
            <a:avLst/>
          </a:prstGeom>
          <a:solidFill>
            <a:srgbClr val="FFFFFF"/>
          </a:solidFill>
          <a:ln w="9525">
            <a:solidFill>
              <a:srgbClr val="A2BD95"/>
            </a:solidFill>
          </a:ln>
        </p:spPr>
        <p:txBody>
          <a:bodyPr wrap="square" lIns="73152" tIns="36576" rIns="73152" bIns="36576" rtlCol="0" anchor="ctr"/>
          <a:lstStyle/>
          <a:p>
            <a:pPr algn="ctr"/>
            <a:endParaRPr/>
          </a:p>
        </p:txBody>
      </p:sp>
      <p:pic>
        <p:nvPicPr>
          <p:cNvPr id="559" name="Picture 558" descr="FaChartLine_n.png"/>
          <p:cNvPicPr>
            <a:picLocks noChangeAspect="1"/>
          </p:cNvPicPr>
          <p:nvPr/>
        </p:nvPicPr>
        <p:blipFill>
          <a:blip r:embed="rId5"/>
          <a:stretch>
            <a:fillRect/>
          </a:stretch>
        </p:blipFill>
        <p:spPr>
          <a:xfrm>
            <a:off x="10933938" y="3339754"/>
            <a:ext cx="365760" cy="365760"/>
          </a:xfrm>
          <a:prstGeom prst="rect">
            <a:avLst/>
          </a:prstGeom>
        </p:spPr>
      </p:pic>
      <p:sp>
        <p:nvSpPr>
          <p:cNvPr id="560" name="TextBox 559"/>
          <p:cNvSpPr txBox="1"/>
          <p:nvPr/>
        </p:nvSpPr>
        <p:spPr>
          <a:xfrm>
            <a:off x="9061704" y="4937760"/>
            <a:ext cx="2788920" cy="457200"/>
          </a:xfrm>
          <a:prstGeom prst="rect">
            <a:avLst/>
          </a:prstGeom>
          <a:noFill/>
        </p:spPr>
        <p:txBody>
          <a:bodyPr wrap="square" lIns="73152" tIns="36576" rIns="73152" bIns="36576" anchor="t"/>
          <a:lstStyle/>
          <a:p>
            <a:pPr algn="ctr"/>
            <a:r>
              <a:rPr lang="vi-VN" sz="1200" b="0" i="1">
                <a:solidFill>
                  <a:srgbClr val="595959"/>
                </a:solidFill>
                <a:latin typeface="Times New Roman"/>
                <a:cs typeface="Times New Roman"/>
              </a:rPr>
              <a:t>4 thẻ OD, stacked bar, bảng OD theo ĐVKD, 2 line chart</a:t>
            </a:r>
          </a:p>
        </p:txBody>
      </p:sp>
      <p:sp>
        <p:nvSpPr>
          <p:cNvPr id="561" name="Rounded Rectangle 560"/>
          <p:cNvSpPr/>
          <p:nvPr/>
        </p:nvSpPr>
        <p:spPr>
          <a:xfrm>
            <a:off x="9061704" y="5394960"/>
            <a:ext cx="2788920" cy="685800"/>
          </a:xfrm>
          <a:prstGeom prst="roundRect">
            <a:avLst>
              <a:gd name="adj" fmla="val 10000"/>
            </a:avLst>
          </a:prstGeom>
          <a:solidFill>
            <a:srgbClr val="FFFFFF"/>
          </a:solidFill>
          <a:ln w="15240">
            <a:solidFill>
              <a:srgbClr val="C00000"/>
            </a:solidFill>
          </a:ln>
        </p:spPr>
        <p:txBody>
          <a:bodyPr wrap="square" tIns="27432" rIns="73152" bIns="27432" rtlCol="0" anchor="t"/>
          <a:lstStyle/>
          <a:p>
            <a:pPr algn="l"/>
            <a:r>
              <a:rPr lang="vi-VN" sz="1150" b="1" i="0">
                <a:solidFill>
                  <a:srgbClr val="C00000"/>
                </a:solidFill>
                <a:latin typeface="Times New Roman"/>
                <a:cs typeface="Times New Roman"/>
              </a:rPr>
              <a:t>Câu hỏi để khai phá</a:t>
            </a:r>
          </a:p>
          <a:p>
            <a:pPr algn="l"/>
            <a:r>
              <a:rPr lang="vi-VN" sz="1250" b="0" i="0">
                <a:solidFill>
                  <a:srgbClr val="222222"/>
                </a:solidFill>
                <a:latin typeface="Times New Roman"/>
                <a:cs typeface="Times New Roman"/>
              </a:rPr>
              <a:t>Mức tăng OD3-5 đến từ ai? Ngành hay ĐVKD nào xấu đi?</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46</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Tổng quan – Thẻ KPI: dư nợ hiện tại và hai mốc so sánh</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Một thẻ KPI = </a:t>
            </a:r>
            <a:r>
              <a:rPr lang="vi-VN" sz="1800" b="1" i="0">
                <a:solidFill>
                  <a:srgbClr val="123A7A"/>
                </a:solidFill>
                <a:latin typeface="Times New Roman"/>
                <a:cs typeface="Times New Roman"/>
              </a:rPr>
              <a:t>số hiện tại</a:t>
            </a:r>
            <a:r>
              <a:rPr lang="vi-VN" sz="1800" b="0" i="0">
                <a:solidFill>
                  <a:srgbClr val="000000"/>
                </a:solidFill>
                <a:latin typeface="Times New Roman"/>
                <a:cs typeface="Times New Roman"/>
              </a:rPr>
              <a:t> + </a:t>
            </a:r>
            <a:r>
              <a:rPr lang="vi-VN" sz="1800" b="1" i="0">
                <a:solidFill>
                  <a:srgbClr val="C55A11"/>
                </a:solidFill>
                <a:latin typeface="Times New Roman"/>
                <a:cs typeface="Times New Roman"/>
              </a:rPr>
              <a:t>so với cuối tháng trước</a:t>
            </a:r>
            <a:r>
              <a:rPr lang="vi-VN" sz="1800" b="0" i="0">
                <a:solidFill>
                  <a:srgbClr val="000000"/>
                </a:solidFill>
                <a:latin typeface="Times New Roman"/>
                <a:cs typeface="Times New Roman"/>
              </a:rPr>
              <a:t> + </a:t>
            </a:r>
            <a:r>
              <a:rPr lang="vi-VN" sz="1800" b="1" i="0">
                <a:solidFill>
                  <a:srgbClr val="C55A11"/>
                </a:solidFill>
                <a:latin typeface="Times New Roman"/>
                <a:cs typeface="Times New Roman"/>
              </a:rPr>
              <a:t>so với cùng tháng năm trước</a:t>
            </a:r>
          </a:p>
        </p:txBody>
      </p:sp>
      <p:pic>
        <p:nvPicPr>
          <p:cNvPr id="474" name="Picture 473" descr="p1k1.png"/>
          <p:cNvPicPr>
            <a:picLocks noChangeAspect="1"/>
          </p:cNvPicPr>
          <p:nvPr/>
        </p:nvPicPr>
        <p:blipFill>
          <a:blip r:embed="rId4"/>
          <a:stretch>
            <a:fillRect/>
          </a:stretch>
        </p:blipFill>
        <p:spPr>
          <a:xfrm>
            <a:off x="365760" y="1559880"/>
            <a:ext cx="4663440" cy="4241159"/>
          </a:xfrm>
          <a:prstGeom prst="rect">
            <a:avLst/>
          </a:prstGeom>
        </p:spPr>
      </p:pic>
      <p:sp>
        <p:nvSpPr>
          <p:cNvPr id="475" name="Rectangle 474"/>
          <p:cNvSpPr/>
          <p:nvPr/>
        </p:nvSpPr>
        <p:spPr>
          <a:xfrm>
            <a:off x="365760" y="1559880"/>
            <a:ext cx="4663440" cy="4241159"/>
          </a:xfrm>
          <a:prstGeom prst="rect">
            <a:avLst/>
          </a:prstGeom>
          <a:noFill/>
          <a:ln w="15875">
            <a:solidFill>
              <a:srgbClr val="2E5B31"/>
            </a:solidFill>
          </a:ln>
        </p:spPr>
        <p:txBody>
          <a:bodyPr wrap="square" lIns="73152" tIns="36576" rIns="73152" bIns="36576" rtlCol="0" anchor="ctr"/>
          <a:lstStyle/>
          <a:p>
            <a:pPr algn="ctr"/>
            <a:endParaRPr/>
          </a:p>
        </p:txBody>
      </p:sp>
      <p:sp>
        <p:nvSpPr>
          <p:cNvPr id="476" name="Rounded Rectangle 475"/>
          <p:cNvSpPr/>
          <p:nvPr/>
        </p:nvSpPr>
        <p:spPr>
          <a:xfrm>
            <a:off x="5257800" y="1417320"/>
            <a:ext cx="6565392"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Dư nợ hiện tại là bao nhiêu và biến động như thế nào?</a:t>
            </a:r>
          </a:p>
        </p:txBody>
      </p:sp>
      <p:sp>
        <p:nvSpPr>
          <p:cNvPr id="477" name="Rounded Rectangle 476"/>
          <p:cNvSpPr/>
          <p:nvPr/>
        </p:nvSpPr>
        <p:spPr>
          <a:xfrm>
            <a:off x="5257800" y="2240280"/>
            <a:ext cx="6565392" cy="370332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5257800" y="2240280"/>
            <a:ext cx="6565392"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 biểu đồ</a:t>
            </a:r>
          </a:p>
        </p:txBody>
      </p:sp>
      <p:sp>
        <p:nvSpPr>
          <p:cNvPr id="479" name="TextBox 478"/>
          <p:cNvSpPr txBox="1"/>
          <p:nvPr/>
        </p:nvSpPr>
        <p:spPr>
          <a:xfrm>
            <a:off x="5349240" y="2697480"/>
            <a:ext cx="6382512" cy="3172968"/>
          </a:xfrm>
          <a:prstGeom prst="rect">
            <a:avLst/>
          </a:prstGeom>
          <a:noFill/>
        </p:spPr>
        <p:txBody>
          <a:bodyPr wrap="square" lIns="73152" tIns="36576" rIns="73152" bIns="36576" anchor="t"/>
          <a:lstStyle/>
          <a:p>
            <a:pPr marL="182880" indent="-182880" algn="l">
              <a:spcBef>
                <a:spcPts val="700"/>
              </a:spcBef>
              <a:buFont typeface="Arial"/>
              <a:buChar char="•"/>
            </a:pPr>
            <a:r>
              <a:rPr lang="vi-VN" sz="1450" b="1" i="0">
                <a:solidFill>
                  <a:srgbClr val="222222"/>
                </a:solidFill>
                <a:latin typeface="Times New Roman"/>
                <a:cs typeface="Times New Roman"/>
              </a:rPr>
              <a:t>Quy mô:</a:t>
            </a:r>
            <a:r>
              <a:rPr lang="vi-VN" sz="1450" b="0" i="0">
                <a:solidFill>
                  <a:srgbClr val="222222"/>
                </a:solidFill>
                <a:latin typeface="Times New Roman"/>
                <a:cs typeface="Times New Roman"/>
              </a:rPr>
              <a:t> dư nợ cuối kỳ tại 30/06/2026 là </a:t>
            </a:r>
            <a:r>
              <a:rPr lang="vi-VN" sz="1450" b="1" i="0">
                <a:solidFill>
                  <a:srgbClr val="222222"/>
                </a:solidFill>
                <a:latin typeface="Times New Roman"/>
                <a:cs typeface="Times New Roman"/>
              </a:rPr>
              <a:t>98.367,3 tỷ đồng</a:t>
            </a:r>
          </a:p>
          <a:p>
            <a:pPr marL="182880" indent="-182880" algn="l">
              <a:spcBef>
                <a:spcPts val="700"/>
              </a:spcBef>
              <a:buFont typeface="Arial"/>
              <a:buChar char="•"/>
            </a:pPr>
            <a:r>
              <a:rPr lang="vi-VN" sz="1450" b="1" i="0">
                <a:solidFill>
                  <a:srgbClr val="222222"/>
                </a:solidFill>
                <a:latin typeface="Times New Roman"/>
                <a:cs typeface="Times New Roman"/>
              </a:rPr>
              <a:t>So với cuối tháng trước:</a:t>
            </a:r>
            <a:r>
              <a:rPr lang="vi-VN" sz="1450" b="0" i="0">
                <a:solidFill>
                  <a:srgbClr val="222222"/>
                </a:solidFill>
                <a:latin typeface="Times New Roman"/>
                <a:cs typeface="Times New Roman"/>
              </a:rPr>
              <a:t> ▲ 1,3% (31/05/2026: 97.151,5 tỷ) → danh mục tăng nhẹ trong tháng</a:t>
            </a:r>
          </a:p>
          <a:p>
            <a:pPr marL="182880" indent="-182880" algn="l">
              <a:spcBef>
                <a:spcPts val="700"/>
              </a:spcBef>
              <a:buFont typeface="Arial"/>
              <a:buChar char="•"/>
            </a:pPr>
            <a:r>
              <a:rPr lang="vi-VN" sz="1450" b="1" i="0">
                <a:solidFill>
                  <a:srgbClr val="222222"/>
                </a:solidFill>
                <a:latin typeface="Times New Roman"/>
                <a:cs typeface="Times New Roman"/>
              </a:rPr>
              <a:t>So với cùng tháng năm trước:</a:t>
            </a:r>
            <a:r>
              <a:rPr lang="vi-VN" sz="1450" b="0" i="0">
                <a:solidFill>
                  <a:srgbClr val="222222"/>
                </a:solidFill>
                <a:latin typeface="Times New Roman"/>
                <a:cs typeface="Times New Roman"/>
              </a:rPr>
              <a:t> ▲ 10,9% (30/06/2025: 88.662,2 tỷ) → tăng trưởng một năm</a:t>
            </a:r>
          </a:p>
          <a:p>
            <a:pPr marL="182880" indent="-182880" algn="l">
              <a:spcBef>
                <a:spcPts val="700"/>
              </a:spcBef>
              <a:buFont typeface="Arial"/>
              <a:buChar char="•"/>
            </a:pPr>
            <a:r>
              <a:rPr lang="vi-VN" sz="1450" b="0" i="0">
                <a:solidFill>
                  <a:srgbClr val="222222"/>
                </a:solidFill>
                <a:latin typeface="Times New Roman"/>
                <a:cs typeface="Times New Roman"/>
              </a:rPr>
              <a:t>▲ xanh: dư nợ tăng là tốt. Thẻ OD dùng </a:t>
            </a:r>
            <a:r>
              <a:rPr lang="vi-VN" sz="1450" b="1" i="0">
                <a:solidFill>
                  <a:srgbClr val="222222"/>
                </a:solidFill>
                <a:latin typeface="Times New Roman"/>
                <a:cs typeface="Times New Roman"/>
              </a:rPr>
              <a:t>màu đảo</a:t>
            </a:r>
            <a:r>
              <a:rPr lang="vi-VN" sz="1450" b="0" i="0">
                <a:solidFill>
                  <a:srgbClr val="222222"/>
                </a:solidFill>
                <a:latin typeface="Times New Roman"/>
                <a:cs typeface="Times New Roman"/>
              </a:rPr>
              <a:t>: tăng là đỏ</a:t>
            </a:r>
          </a:p>
          <a:p>
            <a:pPr marL="182880" indent="-182880" algn="l">
              <a:spcBef>
                <a:spcPts val="700"/>
              </a:spcBef>
              <a:buFont typeface="Arial"/>
              <a:buChar char="•"/>
            </a:pPr>
            <a:r>
              <a:rPr lang="vi-VN" sz="1450" b="0" i="0">
                <a:solidFill>
                  <a:srgbClr val="222222"/>
                </a:solidFill>
                <a:latin typeface="Times New Roman"/>
                <a:cs typeface="Times New Roman"/>
              </a:rPr>
              <a:t>Hai mốc so sánh trả lời hai câu hỏi khác nhau: vừa rồi và so với một năm trước</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47</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Tổng quan – Line chart: xu hướng tỷ lệ OD2 và OD3-5</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Hai đường OD diễn biến khác nhau: </a:t>
            </a:r>
            <a:r>
              <a:rPr lang="vi-VN" sz="1800" b="1" i="0">
                <a:solidFill>
                  <a:srgbClr val="123A7A"/>
                </a:solidFill>
                <a:latin typeface="Times New Roman"/>
                <a:cs typeface="Times New Roman"/>
              </a:rPr>
              <a:t>OD2 dao động</a:t>
            </a:r>
            <a:r>
              <a:rPr lang="vi-VN" sz="1800" b="0" i="0">
                <a:solidFill>
                  <a:srgbClr val="000000"/>
                </a:solidFill>
                <a:latin typeface="Times New Roman"/>
                <a:cs typeface="Times New Roman"/>
              </a:rPr>
              <a:t>, </a:t>
            </a:r>
            <a:r>
              <a:rPr lang="vi-VN" sz="1800" b="1" i="0">
                <a:solidFill>
                  <a:srgbClr val="C00000"/>
                </a:solidFill>
                <a:latin typeface="Times New Roman"/>
                <a:cs typeface="Times New Roman"/>
              </a:rPr>
              <a:t>OD3-5 nhích lên</a:t>
            </a:r>
            <a:r>
              <a:rPr lang="vi-VN" sz="1800" b="0" i="0">
                <a:solidFill>
                  <a:srgbClr val="000000"/>
                </a:solidFill>
                <a:latin typeface="Times New Roman"/>
                <a:cs typeface="Times New Roman"/>
              </a:rPr>
              <a:t> – giảm OD2 chưa chắc là cải thiện</a:t>
            </a:r>
          </a:p>
        </p:txBody>
      </p:sp>
      <p:pic>
        <p:nvPicPr>
          <p:cNvPr id="474" name="Picture 473" descr="p1c3.png"/>
          <p:cNvPicPr>
            <a:picLocks noChangeAspect="1"/>
          </p:cNvPicPr>
          <p:nvPr/>
        </p:nvPicPr>
        <p:blipFill>
          <a:blip r:embed="rId4"/>
          <a:stretch>
            <a:fillRect/>
          </a:stretch>
        </p:blipFill>
        <p:spPr>
          <a:xfrm>
            <a:off x="369662" y="1417320"/>
            <a:ext cx="4747074" cy="4526280"/>
          </a:xfrm>
          <a:prstGeom prst="rect">
            <a:avLst/>
          </a:prstGeom>
        </p:spPr>
      </p:pic>
      <p:sp>
        <p:nvSpPr>
          <p:cNvPr id="475" name="Rectangle 474"/>
          <p:cNvSpPr/>
          <p:nvPr/>
        </p:nvSpPr>
        <p:spPr>
          <a:xfrm>
            <a:off x="369662" y="1417320"/>
            <a:ext cx="4747074" cy="4526280"/>
          </a:xfrm>
          <a:prstGeom prst="rect">
            <a:avLst/>
          </a:prstGeom>
          <a:noFill/>
          <a:ln w="15875">
            <a:solidFill>
              <a:srgbClr val="2E5B31"/>
            </a:solidFill>
          </a:ln>
        </p:spPr>
        <p:txBody>
          <a:bodyPr wrap="square" lIns="73152" tIns="36576" rIns="73152" bIns="36576" rtlCol="0" anchor="ctr"/>
          <a:lstStyle/>
          <a:p>
            <a:pPr algn="ctr"/>
            <a:endParaRPr/>
          </a:p>
        </p:txBody>
      </p:sp>
      <p:sp>
        <p:nvSpPr>
          <p:cNvPr id="476" name="Rounded Rectangle 475"/>
          <p:cNvSpPr/>
          <p:nvPr/>
        </p:nvSpPr>
        <p:spPr>
          <a:xfrm>
            <a:off x="5349240" y="1417320"/>
            <a:ext cx="6473952"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Khoản vay nào đang có dấu hiệu rủi ro? Chất lượng tín dụng diễn biến ra sao?</a:t>
            </a:r>
          </a:p>
        </p:txBody>
      </p:sp>
      <p:sp>
        <p:nvSpPr>
          <p:cNvPr id="477" name="Rounded Rectangle 476"/>
          <p:cNvSpPr/>
          <p:nvPr/>
        </p:nvSpPr>
        <p:spPr>
          <a:xfrm>
            <a:off x="5349240" y="2240280"/>
            <a:ext cx="6473952" cy="370332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5349240" y="2240280"/>
            <a:ext cx="6473952"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 biểu đồ</a:t>
            </a:r>
          </a:p>
        </p:txBody>
      </p:sp>
      <p:sp>
        <p:nvSpPr>
          <p:cNvPr id="479" name="TextBox 478"/>
          <p:cNvSpPr txBox="1"/>
          <p:nvPr/>
        </p:nvSpPr>
        <p:spPr>
          <a:xfrm>
            <a:off x="5440679" y="2697480"/>
            <a:ext cx="6291072" cy="3172968"/>
          </a:xfrm>
          <a:prstGeom prst="rect">
            <a:avLst/>
          </a:prstGeom>
          <a:noFill/>
        </p:spPr>
        <p:txBody>
          <a:bodyPr wrap="square" lIns="73152" tIns="36576" rIns="73152" bIns="36576" anchor="t"/>
          <a:lstStyle/>
          <a:p>
            <a:pPr marL="182880" indent="-182880" algn="l">
              <a:spcBef>
                <a:spcPts val="700"/>
              </a:spcBef>
              <a:buFont typeface="Arial"/>
              <a:buChar char="•"/>
            </a:pPr>
            <a:r>
              <a:rPr lang="vi-VN" sz="1400" b="1" i="0">
                <a:solidFill>
                  <a:srgbClr val="222222"/>
                </a:solidFill>
                <a:latin typeface="Times New Roman"/>
                <a:cs typeface="Times New Roman"/>
              </a:rPr>
              <a:t>OD3-5</a:t>
            </a:r>
            <a:r>
              <a:rPr lang="vi-VN" sz="1400" b="0" i="0">
                <a:solidFill>
                  <a:srgbClr val="222222"/>
                </a:solidFill>
                <a:latin typeface="Times New Roman"/>
                <a:cs typeface="Times New Roman"/>
              </a:rPr>
              <a:t> gần như đi ngang quanh 2,1–2,2% trong năm 2025, thấp nhất 1,99% (02/2026) rồi tăng lên </a:t>
            </a:r>
            <a:r>
              <a:rPr lang="vi-VN" sz="1400" b="1" i="0">
                <a:solidFill>
                  <a:srgbClr val="222222"/>
                </a:solidFill>
                <a:latin typeface="Times New Roman"/>
                <a:cs typeface="Times New Roman"/>
              </a:rPr>
              <a:t>2,63%</a:t>
            </a:r>
            <a:r>
              <a:rPr lang="vi-VN" sz="1400" b="0" i="0">
                <a:solidFill>
                  <a:srgbClr val="222222"/>
                </a:solidFill>
                <a:latin typeface="Times New Roman"/>
                <a:cs typeface="Times New Roman"/>
              </a:rPr>
              <a:t> tại 06/2026</a:t>
            </a:r>
          </a:p>
          <a:p>
            <a:pPr marL="182880" indent="-182880" algn="l">
              <a:spcBef>
                <a:spcPts val="700"/>
              </a:spcBef>
              <a:buFont typeface="Arial"/>
              <a:buChar char="•"/>
            </a:pPr>
            <a:r>
              <a:rPr lang="vi-VN" sz="1400" b="1" i="0">
                <a:solidFill>
                  <a:srgbClr val="222222"/>
                </a:solidFill>
                <a:latin typeface="Times New Roman"/>
                <a:cs typeface="Times New Roman"/>
              </a:rPr>
              <a:t>OD2</a:t>
            </a:r>
            <a:r>
              <a:rPr lang="vi-VN" sz="1400" b="0" i="0">
                <a:solidFill>
                  <a:srgbClr val="222222"/>
                </a:solidFill>
                <a:latin typeface="Times New Roman"/>
                <a:cs typeface="Times New Roman"/>
              </a:rPr>
              <a:t> dao động mạnh hơn (0,6% – 1,5%) và giảm còn </a:t>
            </a:r>
            <a:r>
              <a:rPr lang="vi-VN" sz="1400" b="1" i="0">
                <a:solidFill>
                  <a:srgbClr val="222222"/>
                </a:solidFill>
                <a:latin typeface="Times New Roman"/>
                <a:cs typeface="Times New Roman"/>
              </a:rPr>
              <a:t>0,94%</a:t>
            </a:r>
            <a:r>
              <a:rPr lang="vi-VN" sz="1400" b="0" i="0">
                <a:solidFill>
                  <a:srgbClr val="222222"/>
                </a:solidFill>
                <a:latin typeface="Times New Roman"/>
                <a:cs typeface="Times New Roman"/>
              </a:rPr>
              <a:t> tại 06/2026 (cuối tháng trước: 1,40%)</a:t>
            </a:r>
          </a:p>
          <a:p>
            <a:pPr marL="182880" indent="-182880" algn="l">
              <a:spcBef>
                <a:spcPts val="700"/>
              </a:spcBef>
              <a:buFont typeface="Arial"/>
              <a:buChar char="•"/>
            </a:pPr>
            <a:r>
              <a:rPr lang="vi-VN" sz="1400" b="0" i="0">
                <a:solidFill>
                  <a:srgbClr val="222222"/>
                </a:solidFill>
                <a:latin typeface="Times New Roman"/>
                <a:cs typeface="Times New Roman"/>
              </a:rPr>
              <a:t>Cùng một tháng: OD2 giảm nhưng OD3-5 tăng → cần hỏi </a:t>
            </a:r>
            <a:r>
              <a:rPr lang="vi-VN" sz="1400" b="1" i="0">
                <a:solidFill>
                  <a:srgbClr val="222222"/>
                </a:solidFill>
                <a:latin typeface="Times New Roman"/>
                <a:cs typeface="Times New Roman"/>
              </a:rPr>
              <a:t>nợ có thật sự được cải thiện</a:t>
            </a:r>
            <a:r>
              <a:rPr lang="vi-VN" sz="1400" b="0" i="0">
                <a:solidFill>
                  <a:srgbClr val="222222"/>
                </a:solidFill>
                <a:latin typeface="Times New Roman"/>
                <a:cs typeface="Times New Roman"/>
              </a:rPr>
              <a:t> hay chuyển sang nhóm xấu hơn?</a:t>
            </a:r>
          </a:p>
          <a:p>
            <a:pPr marL="182880" indent="-182880" algn="l">
              <a:spcBef>
                <a:spcPts val="700"/>
              </a:spcBef>
              <a:buFont typeface="Arial"/>
              <a:buChar char="•"/>
            </a:pPr>
            <a:r>
              <a:rPr lang="vi-VN" sz="1400" b="0" i="0">
                <a:solidFill>
                  <a:srgbClr val="222222"/>
                </a:solidFill>
                <a:latin typeface="Times New Roman"/>
                <a:cs typeface="Times New Roman"/>
              </a:rPr>
              <a:t>Biểu đồ đường </a:t>
            </a:r>
            <a:r>
              <a:rPr lang="vi-VN" sz="1400" b="1" i="0">
                <a:solidFill>
                  <a:srgbClr val="222222"/>
                </a:solidFill>
                <a:latin typeface="Times New Roman"/>
                <a:cs typeface="Times New Roman"/>
              </a:rPr>
              <a:t>không bị slicer Tháng lọc</a:t>
            </a:r>
            <a:r>
              <a:rPr lang="vi-VN" sz="1400" b="0" i="0">
                <a:solidFill>
                  <a:srgbClr val="222222"/>
                </a:solidFill>
                <a:latin typeface="Times New Roman"/>
                <a:cs typeface="Times New Roman"/>
              </a:rPr>
              <a:t>: luôn đủ 18 điểm từ 01/2025 đến 06/2026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48</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Dư nợ – Pie chart theo phân khúc và Treemap theo ngành</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Pie: tối đa 7 lát có nhãn %. Treemap: </a:t>
            </a:r>
            <a:r>
              <a:rPr lang="vi-VN" sz="1800" b="1" i="0">
                <a:solidFill>
                  <a:srgbClr val="123A7A"/>
                </a:solidFill>
                <a:latin typeface="Times New Roman"/>
                <a:cs typeface="Times New Roman"/>
              </a:rPr>
              <a:t>diện tích ô</a:t>
            </a:r>
            <a:r>
              <a:rPr lang="vi-VN" sz="1800" b="0" i="0">
                <a:solidFill>
                  <a:srgbClr val="000000"/>
                </a:solidFill>
                <a:latin typeface="Times New Roman"/>
                <a:cs typeface="Times New Roman"/>
              </a:rPr>
              <a:t> cho biết ngành nào chiếm nhiều dư nợ</a:t>
            </a:r>
          </a:p>
        </p:txBody>
      </p:sp>
      <p:pic>
        <p:nvPicPr>
          <p:cNvPr id="474" name="Picture 473" descr="p2pie.png"/>
          <p:cNvPicPr>
            <a:picLocks noChangeAspect="1"/>
          </p:cNvPicPr>
          <p:nvPr/>
        </p:nvPicPr>
        <p:blipFill>
          <a:blip r:embed="rId4"/>
          <a:stretch>
            <a:fillRect/>
          </a:stretch>
        </p:blipFill>
        <p:spPr>
          <a:xfrm>
            <a:off x="380072" y="1417320"/>
            <a:ext cx="4177615" cy="3383280"/>
          </a:xfrm>
          <a:prstGeom prst="rect">
            <a:avLst/>
          </a:prstGeom>
        </p:spPr>
      </p:pic>
      <p:sp>
        <p:nvSpPr>
          <p:cNvPr id="475" name="Rectangle 474"/>
          <p:cNvSpPr/>
          <p:nvPr/>
        </p:nvSpPr>
        <p:spPr>
          <a:xfrm>
            <a:off x="380072" y="1417320"/>
            <a:ext cx="4177615" cy="3383280"/>
          </a:xfrm>
          <a:prstGeom prst="rect">
            <a:avLst/>
          </a:prstGeom>
          <a:noFill/>
          <a:ln w="15875">
            <a:solidFill>
              <a:srgbClr val="2E5B31"/>
            </a:solidFill>
          </a:ln>
        </p:spPr>
        <p:txBody>
          <a:bodyPr wrap="square" lIns="73152" tIns="36576" rIns="73152" bIns="36576" rtlCol="0" anchor="ctr"/>
          <a:lstStyle/>
          <a:p>
            <a:pPr algn="ctr"/>
            <a:endParaRPr/>
          </a:p>
        </p:txBody>
      </p:sp>
      <p:pic>
        <p:nvPicPr>
          <p:cNvPr id="476" name="Picture 475" descr="p2tm.png"/>
          <p:cNvPicPr>
            <a:picLocks noChangeAspect="1"/>
          </p:cNvPicPr>
          <p:nvPr/>
        </p:nvPicPr>
        <p:blipFill>
          <a:blip r:embed="rId5"/>
          <a:stretch>
            <a:fillRect/>
          </a:stretch>
        </p:blipFill>
        <p:spPr>
          <a:xfrm>
            <a:off x="4710849" y="1417320"/>
            <a:ext cx="4111420" cy="3383280"/>
          </a:xfrm>
          <a:prstGeom prst="rect">
            <a:avLst/>
          </a:prstGeom>
        </p:spPr>
      </p:pic>
      <p:sp>
        <p:nvSpPr>
          <p:cNvPr id="477" name="Rectangle 476"/>
          <p:cNvSpPr/>
          <p:nvPr/>
        </p:nvSpPr>
        <p:spPr>
          <a:xfrm>
            <a:off x="4710849" y="1417320"/>
            <a:ext cx="4111420" cy="3383280"/>
          </a:xfrm>
          <a:prstGeom prst="rect">
            <a:avLst/>
          </a:prstGeom>
          <a:noFill/>
          <a:ln w="15875">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9006840" y="1417320"/>
            <a:ext cx="2816352" cy="3383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9" name="Rounded Rectangle 478"/>
          <p:cNvSpPr/>
          <p:nvPr/>
        </p:nvSpPr>
        <p:spPr>
          <a:xfrm>
            <a:off x="9006840" y="1417320"/>
            <a:ext cx="2816352"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a:t>
            </a:r>
          </a:p>
        </p:txBody>
      </p:sp>
      <p:sp>
        <p:nvSpPr>
          <p:cNvPr id="480" name="TextBox 479"/>
          <p:cNvSpPr txBox="1"/>
          <p:nvPr/>
        </p:nvSpPr>
        <p:spPr>
          <a:xfrm>
            <a:off x="9098280" y="1874519"/>
            <a:ext cx="2633472" cy="2852928"/>
          </a:xfrm>
          <a:prstGeom prst="rect">
            <a:avLst/>
          </a:prstGeom>
          <a:noFill/>
        </p:spPr>
        <p:txBody>
          <a:bodyPr wrap="square" lIns="73152" tIns="36576" rIns="73152" bIns="36576" anchor="t"/>
          <a:lstStyle/>
          <a:p>
            <a:pPr marL="182880" indent="-182880" algn="l">
              <a:spcBef>
                <a:spcPts val="700"/>
              </a:spcBef>
              <a:buFont typeface="Arial"/>
              <a:buChar char="•"/>
            </a:pPr>
            <a:r>
              <a:rPr lang="vi-VN" sz="1350" b="0" i="0">
                <a:solidFill>
                  <a:srgbClr val="222222"/>
                </a:solidFill>
                <a:latin typeface="Times New Roman"/>
                <a:cs typeface="Times New Roman"/>
              </a:rPr>
              <a:t>Hai biểu đồ cùng </a:t>
            </a:r>
            <a:r>
              <a:rPr lang="vi-VN" sz="1350" b="1" i="0">
                <a:solidFill>
                  <a:srgbClr val="222222"/>
                </a:solidFill>
                <a:latin typeface="Times New Roman"/>
                <a:cs typeface="Times New Roman"/>
              </a:rPr>
              <a:t>tổng dư nợ</a:t>
            </a:r>
          </a:p>
          <a:p>
            <a:pPr marL="182880" indent="-182880" algn="l">
              <a:spcBef>
                <a:spcPts val="700"/>
              </a:spcBef>
              <a:buFont typeface="Arial"/>
              <a:buChar char="•"/>
            </a:pPr>
            <a:r>
              <a:rPr lang="vi-VN" sz="1350" b="0" i="0">
                <a:solidFill>
                  <a:srgbClr val="222222"/>
                </a:solidFill>
                <a:latin typeface="Times New Roman"/>
                <a:cs typeface="Times New Roman"/>
              </a:rPr>
              <a:t>Pie: cơ cấu </a:t>
            </a:r>
            <a:r>
              <a:rPr lang="vi-VN" sz="1350" b="1" i="0">
                <a:solidFill>
                  <a:srgbClr val="222222"/>
                </a:solidFill>
                <a:latin typeface="Times New Roman"/>
                <a:cs typeface="Times New Roman"/>
              </a:rPr>
              <a:t>phân khúc</a:t>
            </a:r>
          </a:p>
          <a:p>
            <a:pPr marL="182880" indent="-182880" algn="l">
              <a:spcBef>
                <a:spcPts val="700"/>
              </a:spcBef>
              <a:buFont typeface="Arial"/>
              <a:buChar char="•"/>
            </a:pPr>
            <a:r>
              <a:rPr lang="vi-VN" sz="1350" b="0" i="0">
                <a:solidFill>
                  <a:srgbClr val="222222"/>
                </a:solidFill>
                <a:latin typeface="Times New Roman"/>
                <a:cs typeface="Times New Roman"/>
              </a:rPr>
              <a:t>Treemap: cơ cấu </a:t>
            </a:r>
            <a:r>
              <a:rPr lang="vi-VN" sz="1350" b="1" i="0">
                <a:solidFill>
                  <a:srgbClr val="222222"/>
                </a:solidFill>
                <a:latin typeface="Times New Roman"/>
                <a:cs typeface="Times New Roman"/>
              </a:rPr>
              <a:t>ngành</a:t>
            </a:r>
            <a:r>
              <a:rPr lang="vi-VN" sz="1350" b="0" i="0">
                <a:solidFill>
                  <a:srgbClr val="222222"/>
                </a:solidFill>
                <a:latin typeface="Times New Roman"/>
                <a:cs typeface="Times New Roman"/>
              </a:rPr>
              <a:t> (22 ô)</a:t>
            </a:r>
          </a:p>
        </p:txBody>
      </p:sp>
      <p:sp>
        <p:nvSpPr>
          <p:cNvPr id="481" name="Rounded Rectangle 480"/>
          <p:cNvSpPr/>
          <p:nvPr/>
        </p:nvSpPr>
        <p:spPr>
          <a:xfrm>
            <a:off x="365760" y="4937760"/>
            <a:ext cx="11457432"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Dư nợ tập trung ở đâu: phân khúc nào, ngành nào?</a:t>
            </a:r>
          </a:p>
        </p:txBody>
      </p:sp>
      <p:sp>
        <p:nvSpPr>
          <p:cNvPr id="482" name="TextBox 481"/>
          <p:cNvSpPr txBox="1"/>
          <p:nvPr/>
        </p:nvSpPr>
        <p:spPr>
          <a:xfrm>
            <a:off x="365760" y="5623560"/>
            <a:ext cx="11457432" cy="457200"/>
          </a:xfrm>
          <a:prstGeom prst="rect">
            <a:avLst/>
          </a:prstGeom>
          <a:noFill/>
        </p:spPr>
        <p:txBody>
          <a:bodyPr wrap="square" lIns="45720" tIns="18288" rIns="45720" bIns="18288" anchor="ctr"/>
          <a:lstStyle/>
          <a:p>
            <a:pPr algn="l"/>
            <a:r>
              <a:rPr lang="vi-VN" sz="1300" b="1" i="0">
                <a:solidFill>
                  <a:srgbClr val="222222"/>
                </a:solidFill>
                <a:latin typeface="Times New Roman"/>
                <a:cs typeface="Times New Roman"/>
              </a:rPr>
              <a:t>Phân khúc:</a:t>
            </a:r>
            <a:r>
              <a:rPr lang="vi-VN" sz="1300" b="0" i="0">
                <a:solidFill>
                  <a:srgbClr val="222222"/>
                </a:solidFill>
                <a:latin typeface="Times New Roman"/>
                <a:cs typeface="Times New Roman"/>
              </a:rPr>
              <a:t> BIGCORP 1 21,4% · MICRO 20,2% · UPPER 1 15,7%  |  </a:t>
            </a:r>
            <a:r>
              <a:rPr lang="vi-VN" sz="1300" b="1" i="0">
                <a:solidFill>
                  <a:srgbClr val="222222"/>
                </a:solidFill>
                <a:latin typeface="Times New Roman"/>
                <a:cs typeface="Times New Roman"/>
              </a:rPr>
              <a:t>Ngành:</a:t>
            </a:r>
            <a:r>
              <a:rPr lang="vi-VN" sz="1300" b="0" i="0">
                <a:solidFill>
                  <a:srgbClr val="222222"/>
                </a:solidFill>
                <a:latin typeface="Times New Roman"/>
                <a:cs typeface="Times New Roman"/>
              </a:rPr>
              <a:t> Xây lắp 12.946 tỷ · Thương mại tổng hợp 10.185 · Ngành khác 9.739 · Bất động sản 8.459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49</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Dư nợ – Bar chart theo sản phẩm và bảng Top 10 ĐVKD</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Bảng so sánh hai mốc kèm cột </a:t>
            </a:r>
            <a:r>
              <a:rPr lang="vi-VN" sz="1800" b="1" i="0">
                <a:solidFill>
                  <a:srgbClr val="123A7A"/>
                </a:solidFill>
                <a:latin typeface="Times New Roman"/>
                <a:cs typeface="Times New Roman"/>
              </a:rPr>
              <a:t>Thay đổi</a:t>
            </a:r>
            <a:r>
              <a:rPr lang="vi-VN" sz="1800" b="0" i="0">
                <a:solidFill>
                  <a:srgbClr val="000000"/>
                </a:solidFill>
                <a:latin typeface="Times New Roman"/>
                <a:cs typeface="Times New Roman"/>
              </a:rPr>
              <a:t>: ▲ xanh là tăng, ▼ đỏ là giảm</a:t>
            </a:r>
          </a:p>
        </p:txBody>
      </p:sp>
      <p:pic>
        <p:nvPicPr>
          <p:cNvPr id="474" name="Picture 473" descr="p2bar.png"/>
          <p:cNvPicPr>
            <a:picLocks noChangeAspect="1"/>
          </p:cNvPicPr>
          <p:nvPr/>
        </p:nvPicPr>
        <p:blipFill>
          <a:blip r:embed="rId4"/>
          <a:stretch>
            <a:fillRect/>
          </a:stretch>
        </p:blipFill>
        <p:spPr>
          <a:xfrm>
            <a:off x="371723" y="1417320"/>
            <a:ext cx="3005593" cy="3291840"/>
          </a:xfrm>
          <a:prstGeom prst="rect">
            <a:avLst/>
          </a:prstGeom>
        </p:spPr>
      </p:pic>
      <p:sp>
        <p:nvSpPr>
          <p:cNvPr id="475" name="Rectangle 474"/>
          <p:cNvSpPr/>
          <p:nvPr/>
        </p:nvSpPr>
        <p:spPr>
          <a:xfrm>
            <a:off x="371723" y="1417320"/>
            <a:ext cx="3005593" cy="3291840"/>
          </a:xfrm>
          <a:prstGeom prst="rect">
            <a:avLst/>
          </a:prstGeom>
          <a:noFill/>
          <a:ln w="15875">
            <a:solidFill>
              <a:srgbClr val="2E5B31"/>
            </a:solidFill>
          </a:ln>
        </p:spPr>
        <p:txBody>
          <a:bodyPr wrap="square" lIns="73152" tIns="36576" rIns="73152" bIns="36576" rtlCol="0" anchor="ctr"/>
          <a:lstStyle/>
          <a:p>
            <a:pPr algn="ctr"/>
            <a:endParaRPr/>
          </a:p>
        </p:txBody>
      </p:sp>
      <p:pic>
        <p:nvPicPr>
          <p:cNvPr id="476" name="Picture 475" descr="p2tb.png"/>
          <p:cNvPicPr>
            <a:picLocks noChangeAspect="1"/>
          </p:cNvPicPr>
          <p:nvPr/>
        </p:nvPicPr>
        <p:blipFill>
          <a:blip r:embed="rId5"/>
          <a:stretch>
            <a:fillRect/>
          </a:stretch>
        </p:blipFill>
        <p:spPr>
          <a:xfrm>
            <a:off x="3551577" y="1417320"/>
            <a:ext cx="8240477" cy="2834640"/>
          </a:xfrm>
          <a:prstGeom prst="rect">
            <a:avLst/>
          </a:prstGeom>
        </p:spPr>
      </p:pic>
      <p:sp>
        <p:nvSpPr>
          <p:cNvPr id="477" name="Rectangle 476"/>
          <p:cNvSpPr/>
          <p:nvPr/>
        </p:nvSpPr>
        <p:spPr>
          <a:xfrm>
            <a:off x="3551577" y="1417320"/>
            <a:ext cx="8240477" cy="2834640"/>
          </a:xfrm>
          <a:prstGeom prst="rect">
            <a:avLst/>
          </a:prstGeom>
          <a:noFill/>
          <a:ln w="15875">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365760" y="4846320"/>
            <a:ext cx="5577840"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Cơ cấu sản phẩm ra sao? ĐVKD nào đóng góp dư nợ lớn nhất?</a:t>
            </a:r>
          </a:p>
        </p:txBody>
      </p:sp>
      <p:sp>
        <p:nvSpPr>
          <p:cNvPr id="479" name="TextBox 478"/>
          <p:cNvSpPr txBox="1"/>
          <p:nvPr/>
        </p:nvSpPr>
        <p:spPr>
          <a:xfrm>
            <a:off x="6126480" y="4343400"/>
            <a:ext cx="5696712" cy="1691640"/>
          </a:xfrm>
          <a:prstGeom prst="rect">
            <a:avLst/>
          </a:prstGeom>
          <a:noFill/>
        </p:spPr>
        <p:txBody>
          <a:bodyPr wrap="square" lIns="73152" tIns="36576" rIns="73152" bIns="36576" anchor="t"/>
          <a:lstStyle/>
          <a:p>
            <a:pPr marL="182880" indent="-182880" algn="l">
              <a:buFont typeface="Arial"/>
              <a:buChar char="•"/>
            </a:pPr>
            <a:r>
              <a:rPr lang="vi-VN" sz="1300" b="1" i="0">
                <a:solidFill>
                  <a:srgbClr val="222222"/>
                </a:solidFill>
                <a:latin typeface="Times New Roman"/>
                <a:cs typeface="Times New Roman"/>
              </a:rPr>
              <a:t>Sản phẩm:</a:t>
            </a:r>
            <a:r>
              <a:rPr lang="vi-VN" sz="1300" b="0" i="0">
                <a:solidFill>
                  <a:srgbClr val="222222"/>
                </a:solidFill>
                <a:latin typeface="Times New Roman"/>
                <a:cs typeface="Times New Roman"/>
              </a:rPr>
              <a:t> CV thường 88.310 tỷ (89,8%), UPAS thường 9.601 tỷ, UPAS X 456 tỷ</a:t>
            </a:r>
          </a:p>
          <a:p>
            <a:pPr marL="182880" indent="-182880" algn="l">
              <a:spcBef>
                <a:spcPts val="500"/>
              </a:spcBef>
              <a:buFont typeface="Arial"/>
              <a:buChar char="•"/>
            </a:pPr>
            <a:r>
              <a:rPr lang="vi-VN" sz="1300" b="1" i="0">
                <a:solidFill>
                  <a:srgbClr val="222222"/>
                </a:solidFill>
                <a:latin typeface="Times New Roman"/>
                <a:cs typeface="Times New Roman"/>
              </a:rPr>
              <a:t>Top 10 ĐVKD</a:t>
            </a:r>
            <a:r>
              <a:rPr lang="vi-VN" sz="1300" b="0" i="0">
                <a:solidFill>
                  <a:srgbClr val="222222"/>
                </a:solidFill>
                <a:latin typeface="Times New Roman"/>
                <a:cs typeface="Times New Roman"/>
              </a:rPr>
              <a:t> chiếm 40,1% dư nợ; Nam 1 dẫn đầu với 8.614 tỷ (▲ 1,3% so với cuối tháng trước)</a:t>
            </a:r>
          </a:p>
          <a:p>
            <a:pPr marL="182880" indent="-182880" algn="l">
              <a:spcBef>
                <a:spcPts val="500"/>
              </a:spcBef>
              <a:buFont typeface="Arial"/>
              <a:buChar char="•"/>
            </a:pPr>
            <a:r>
              <a:rPr lang="vi-VN" sz="1300" b="0" i="0">
                <a:solidFill>
                  <a:srgbClr val="222222"/>
                </a:solidFill>
                <a:latin typeface="Times New Roman"/>
                <a:cs typeface="Times New Roman"/>
              </a:rPr>
              <a:t>CN Bình Dương 4: ▲ 10,0% so với cuối tháng trước nhưng ▼ 0,9% so với cùng tháng năm trước</a:t>
            </a:r>
          </a:p>
        </p:txBody>
      </p:sp>
      <p:sp>
        <p:nvSpPr>
          <p:cNvPr id="480" name="TextBox 479"/>
          <p:cNvSpPr txBox="1"/>
          <p:nvPr/>
        </p:nvSpPr>
        <p:spPr>
          <a:xfrm>
            <a:off x="365760" y="5623560"/>
            <a:ext cx="5577840" cy="457200"/>
          </a:xfrm>
          <a:prstGeom prst="rect">
            <a:avLst/>
          </a:prstGeom>
          <a:noFill/>
        </p:spPr>
        <p:txBody>
          <a:bodyPr wrap="square" lIns="0" tIns="0" rIns="0" bIns="0" anchor="ctr"/>
          <a:lstStyle/>
          <a:p>
            <a:pPr algn="l"/>
            <a:r>
              <a:rPr lang="vi-VN" sz="1200" b="0" i="1">
                <a:solidFill>
                  <a:srgbClr val="595959"/>
                </a:solidFill>
                <a:latin typeface="Times New Roman"/>
                <a:cs typeface="Times New Roman"/>
              </a:rPr>
              <a:t>Tên cột bằng tiếng Việt: Cuối tháng trước · Cùng tháng năm trước · Thay đổi</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50</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NII/TOI – Thẻ YTD và Line chart lũy kế năm</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YTD tự về mức thấp mỗi tháng 1 – </a:t>
            </a:r>
            <a:r>
              <a:rPr lang="vi-VN" sz="1800" b="1" i="0">
                <a:solidFill>
                  <a:srgbClr val="C00000"/>
                </a:solidFill>
                <a:latin typeface="Times New Roman"/>
                <a:cs typeface="Times New Roman"/>
              </a:rPr>
              <a:t>không phải sụt giảm</a:t>
            </a:r>
            <a:r>
              <a:rPr lang="vi-VN" sz="1800" b="0" i="0">
                <a:solidFill>
                  <a:srgbClr val="000000"/>
                </a:solidFill>
                <a:latin typeface="Times New Roman"/>
                <a:cs typeface="Times New Roman"/>
              </a:rPr>
              <a:t>; so với YTD cuối tháng trước luôn tăng</a:t>
            </a:r>
          </a:p>
        </p:txBody>
      </p:sp>
      <p:pic>
        <p:nvPicPr>
          <p:cNvPr id="474" name="Picture 473" descr="p3k1.png"/>
          <p:cNvPicPr>
            <a:picLocks noChangeAspect="1"/>
          </p:cNvPicPr>
          <p:nvPr/>
        </p:nvPicPr>
        <p:blipFill>
          <a:blip r:embed="rId4"/>
          <a:stretch>
            <a:fillRect/>
          </a:stretch>
        </p:blipFill>
        <p:spPr>
          <a:xfrm>
            <a:off x="365760" y="1445215"/>
            <a:ext cx="4937760" cy="1544409"/>
          </a:xfrm>
          <a:prstGeom prst="rect">
            <a:avLst/>
          </a:prstGeom>
        </p:spPr>
      </p:pic>
      <p:sp>
        <p:nvSpPr>
          <p:cNvPr id="475" name="Rectangle 474"/>
          <p:cNvSpPr/>
          <p:nvPr/>
        </p:nvSpPr>
        <p:spPr>
          <a:xfrm>
            <a:off x="365760" y="1445215"/>
            <a:ext cx="4937760" cy="1544409"/>
          </a:xfrm>
          <a:prstGeom prst="rect">
            <a:avLst/>
          </a:prstGeom>
          <a:noFill/>
          <a:ln w="15875">
            <a:solidFill>
              <a:srgbClr val="2E5B31"/>
            </a:solidFill>
          </a:ln>
        </p:spPr>
        <p:txBody>
          <a:bodyPr wrap="square" lIns="73152" tIns="36576" rIns="73152" bIns="36576" rtlCol="0" anchor="ctr"/>
          <a:lstStyle/>
          <a:p>
            <a:pPr algn="ctr"/>
            <a:endParaRPr/>
          </a:p>
        </p:txBody>
      </p:sp>
      <p:pic>
        <p:nvPicPr>
          <p:cNvPr id="476" name="Picture 475" descr="p3ln1.png"/>
          <p:cNvPicPr>
            <a:picLocks noChangeAspect="1"/>
          </p:cNvPicPr>
          <p:nvPr/>
        </p:nvPicPr>
        <p:blipFill>
          <a:blip r:embed="rId5"/>
          <a:stretch>
            <a:fillRect/>
          </a:stretch>
        </p:blipFill>
        <p:spPr>
          <a:xfrm>
            <a:off x="365760" y="3337560"/>
            <a:ext cx="5852160" cy="2468880"/>
          </a:xfrm>
          <a:prstGeom prst="rect">
            <a:avLst/>
          </a:prstGeom>
        </p:spPr>
      </p:pic>
      <p:sp>
        <p:nvSpPr>
          <p:cNvPr id="477" name="Rectangle 476"/>
          <p:cNvSpPr/>
          <p:nvPr/>
        </p:nvSpPr>
        <p:spPr>
          <a:xfrm>
            <a:off x="365760" y="3337560"/>
            <a:ext cx="5852160" cy="2468880"/>
          </a:xfrm>
          <a:prstGeom prst="rect">
            <a:avLst/>
          </a:prstGeom>
          <a:noFill/>
          <a:ln w="15875">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6400800" y="1417320"/>
            <a:ext cx="5422392"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Danh mục cho vay hiện đang tạo ra bao nhiêu thu nhập?</a:t>
            </a:r>
          </a:p>
        </p:txBody>
      </p:sp>
      <p:sp>
        <p:nvSpPr>
          <p:cNvPr id="479" name="Rounded Rectangle 478"/>
          <p:cNvSpPr/>
          <p:nvPr/>
        </p:nvSpPr>
        <p:spPr>
          <a:xfrm>
            <a:off x="6400800" y="2240280"/>
            <a:ext cx="5422392" cy="3749039"/>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0" name="Rounded Rectangle 479"/>
          <p:cNvSpPr/>
          <p:nvPr/>
        </p:nvSpPr>
        <p:spPr>
          <a:xfrm>
            <a:off x="6400800" y="2240280"/>
            <a:ext cx="5422392"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 biểu đồ</a:t>
            </a:r>
          </a:p>
        </p:txBody>
      </p:sp>
      <p:sp>
        <p:nvSpPr>
          <p:cNvPr id="481" name="TextBox 480"/>
          <p:cNvSpPr txBox="1"/>
          <p:nvPr/>
        </p:nvSpPr>
        <p:spPr>
          <a:xfrm>
            <a:off x="6492240" y="2697480"/>
            <a:ext cx="5239512" cy="3218687"/>
          </a:xfrm>
          <a:prstGeom prst="rect">
            <a:avLst/>
          </a:prstGeom>
          <a:noFill/>
        </p:spPr>
        <p:txBody>
          <a:bodyPr wrap="square" lIns="73152" tIns="36576" rIns="73152" bIns="36576" anchor="t"/>
          <a:lstStyle/>
          <a:p>
            <a:pPr marL="182880" indent="-182880" algn="l">
              <a:spcBef>
                <a:spcPts val="700"/>
              </a:spcBef>
              <a:buFont typeface="Arial"/>
              <a:buChar char="•"/>
            </a:pPr>
            <a:r>
              <a:rPr lang="vi-VN" sz="1350" b="1" i="0">
                <a:solidFill>
                  <a:srgbClr val="222222"/>
                </a:solidFill>
                <a:latin typeface="Times New Roman"/>
                <a:cs typeface="Times New Roman"/>
              </a:rPr>
              <a:t>NII YTD</a:t>
            </a:r>
            <a:r>
              <a:rPr lang="vi-VN" sz="1350" b="0" i="0">
                <a:solidFill>
                  <a:srgbClr val="222222"/>
                </a:solidFill>
                <a:latin typeface="Times New Roman"/>
                <a:cs typeface="Times New Roman"/>
              </a:rPr>
              <a:t> tại 06/2026: </a:t>
            </a:r>
            <a:r>
              <a:rPr lang="vi-VN" sz="1350" b="1" i="0">
                <a:solidFill>
                  <a:srgbClr val="222222"/>
                </a:solidFill>
                <a:latin typeface="Times New Roman"/>
                <a:cs typeface="Times New Roman"/>
              </a:rPr>
              <a:t>802,5 tỷ đồng</a:t>
            </a:r>
            <a:r>
              <a:rPr lang="vi-VN" sz="1350" b="0" i="0">
                <a:solidFill>
                  <a:srgbClr val="222222"/>
                </a:solidFill>
                <a:latin typeface="Times New Roman"/>
                <a:cs typeface="Times New Roman"/>
              </a:rPr>
              <a:t> (tổng 6 tháng từ 01/2026)</a:t>
            </a:r>
          </a:p>
          <a:p>
            <a:pPr marL="182880" indent="-182880" algn="l">
              <a:spcBef>
                <a:spcPts val="700"/>
              </a:spcBef>
              <a:buFont typeface="Arial"/>
              <a:buChar char="•"/>
            </a:pPr>
            <a:r>
              <a:rPr lang="vi-VN" sz="1350" b="0" i="0">
                <a:solidFill>
                  <a:srgbClr val="222222"/>
                </a:solidFill>
                <a:latin typeface="Times New Roman"/>
                <a:cs typeface="Times New Roman"/>
              </a:rPr>
              <a:t>▲ 19,7% so với YTD cuối tháng trước (5 tháng): luôn tăng vì </a:t>
            </a:r>
            <a:r>
              <a:rPr lang="vi-VN" sz="1350" b="1" i="0">
                <a:solidFill>
                  <a:srgbClr val="222222"/>
                </a:solidFill>
                <a:latin typeface="Times New Roman"/>
                <a:cs typeface="Times New Roman"/>
              </a:rPr>
              <a:t>cộng thêm một tháng</a:t>
            </a:r>
            <a:r>
              <a:rPr lang="vi-VN" sz="1350" b="0" i="0">
                <a:solidFill>
                  <a:srgbClr val="222222"/>
                </a:solidFill>
                <a:latin typeface="Times New Roman"/>
                <a:cs typeface="Times New Roman"/>
              </a:rPr>
              <a:t> → ý nghĩa thực là mức tăng của riêng tháng</a:t>
            </a:r>
          </a:p>
          <a:p>
            <a:pPr marL="182880" indent="-182880" algn="l">
              <a:spcBef>
                <a:spcPts val="700"/>
              </a:spcBef>
              <a:buFont typeface="Arial"/>
              <a:buChar char="•"/>
            </a:pPr>
            <a:r>
              <a:rPr lang="vi-VN" sz="1350" b="0" i="0">
                <a:solidFill>
                  <a:srgbClr val="222222"/>
                </a:solidFill>
                <a:latin typeface="Times New Roman"/>
                <a:cs typeface="Times New Roman"/>
              </a:rPr>
              <a:t>▲ 2,8% so với cùng kỳ năm trước (6 tháng 2025): mốc so sánh </a:t>
            </a:r>
            <a:r>
              <a:rPr lang="vi-VN" sz="1350" b="1" i="0">
                <a:solidFill>
                  <a:srgbClr val="222222"/>
                </a:solidFill>
                <a:latin typeface="Times New Roman"/>
                <a:cs typeface="Times New Roman"/>
              </a:rPr>
              <a:t>có ý nghĩa</a:t>
            </a:r>
            <a:r>
              <a:rPr lang="vi-VN" sz="1350" b="0" i="0">
                <a:solidFill>
                  <a:srgbClr val="222222"/>
                </a:solidFill>
                <a:latin typeface="Times New Roman"/>
                <a:cs typeface="Times New Roman"/>
              </a:rPr>
              <a:t> để đánh giá sinh lời</a:t>
            </a:r>
          </a:p>
          <a:p>
            <a:pPr marL="182880" indent="-182880" algn="l">
              <a:spcBef>
                <a:spcPts val="700"/>
              </a:spcBef>
              <a:buFont typeface="Arial"/>
              <a:buChar char="•"/>
            </a:pPr>
            <a:r>
              <a:rPr lang="vi-VN" sz="1350" b="0" i="0">
                <a:solidFill>
                  <a:srgbClr val="222222"/>
                </a:solidFill>
                <a:latin typeface="Times New Roman"/>
                <a:cs typeface="Times New Roman"/>
              </a:rPr>
              <a:t>Đường YTD tăng dần trong năm rồi tụt về thấp ở tháng 1: ghi chú trên biểu đồ để người xem không hiểu nhầm</a:t>
            </a:r>
          </a:p>
          <a:p>
            <a:pPr marL="182880" indent="-182880" algn="l">
              <a:spcBef>
                <a:spcPts val="700"/>
              </a:spcBef>
              <a:buFont typeface="Arial"/>
              <a:buChar char="•"/>
            </a:pPr>
            <a:r>
              <a:rPr lang="vi-VN" sz="1350" b="0" i="0">
                <a:solidFill>
                  <a:srgbClr val="222222"/>
                </a:solidFill>
                <a:latin typeface="Times New Roman"/>
                <a:cs typeface="Times New Roman"/>
              </a:rPr>
              <a:t>Dư nợ tăng 10,9% nhưng NII YTD chỉ tăng 2,8% → thu nhập </a:t>
            </a:r>
            <a:r>
              <a:rPr lang="vi-VN" sz="1350" b="1" i="0">
                <a:solidFill>
                  <a:srgbClr val="222222"/>
                </a:solidFill>
                <a:latin typeface="Times New Roman"/>
                <a:cs typeface="Times New Roman"/>
              </a:rPr>
              <a:t>không tăng tương ứng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51</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NII/TOI – Bảng Top 10 khách hàng và Treemap Top 10 ĐVKD</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Top 10 khách hàng chỉ chiếm </a:t>
            </a:r>
            <a:r>
              <a:rPr lang="vi-VN" sz="1800" b="1" i="0">
                <a:solidFill>
                  <a:srgbClr val="C55A11"/>
                </a:solidFill>
                <a:latin typeface="Times New Roman"/>
                <a:cs typeface="Times New Roman"/>
              </a:rPr>
              <a:t>≈ 8,2%</a:t>
            </a:r>
            <a:r>
              <a:rPr lang="vi-VN" sz="1800" b="0" i="0">
                <a:solidFill>
                  <a:srgbClr val="000000"/>
                </a:solidFill>
                <a:latin typeface="Times New Roman"/>
                <a:cs typeface="Times New Roman"/>
              </a:rPr>
              <a:t> NII YTD (65,6 / 802,5 tỷ) – thu nhập phân tán hơn dư nợ</a:t>
            </a:r>
          </a:p>
        </p:txBody>
      </p:sp>
      <p:pic>
        <p:nvPicPr>
          <p:cNvPr id="474" name="Picture 473" descr="p3tb1.png"/>
          <p:cNvPicPr>
            <a:picLocks noChangeAspect="1"/>
          </p:cNvPicPr>
          <p:nvPr/>
        </p:nvPicPr>
        <p:blipFill>
          <a:blip r:embed="rId4"/>
          <a:stretch>
            <a:fillRect/>
          </a:stretch>
        </p:blipFill>
        <p:spPr>
          <a:xfrm>
            <a:off x="365760" y="1431893"/>
            <a:ext cx="5303520" cy="3994213"/>
          </a:xfrm>
          <a:prstGeom prst="rect">
            <a:avLst/>
          </a:prstGeom>
        </p:spPr>
      </p:pic>
      <p:sp>
        <p:nvSpPr>
          <p:cNvPr id="475" name="Rectangle 474"/>
          <p:cNvSpPr/>
          <p:nvPr/>
        </p:nvSpPr>
        <p:spPr>
          <a:xfrm>
            <a:off x="365760" y="1431893"/>
            <a:ext cx="5303520" cy="3994213"/>
          </a:xfrm>
          <a:prstGeom prst="rect">
            <a:avLst/>
          </a:prstGeom>
          <a:noFill/>
          <a:ln w="15875">
            <a:solidFill>
              <a:srgbClr val="2E5B31"/>
            </a:solidFill>
          </a:ln>
        </p:spPr>
        <p:txBody>
          <a:bodyPr wrap="square" lIns="73152" tIns="36576" rIns="73152" bIns="36576" rtlCol="0" anchor="ctr"/>
          <a:lstStyle/>
          <a:p>
            <a:pPr algn="ctr"/>
            <a:endParaRPr/>
          </a:p>
        </p:txBody>
      </p:sp>
      <p:pic>
        <p:nvPicPr>
          <p:cNvPr id="476" name="Picture 475" descr="p3tm1.png"/>
          <p:cNvPicPr>
            <a:picLocks noChangeAspect="1"/>
          </p:cNvPicPr>
          <p:nvPr/>
        </p:nvPicPr>
        <p:blipFill>
          <a:blip r:embed="rId5"/>
          <a:stretch>
            <a:fillRect/>
          </a:stretch>
        </p:blipFill>
        <p:spPr>
          <a:xfrm>
            <a:off x="5806440" y="1436453"/>
            <a:ext cx="2377440" cy="3985092"/>
          </a:xfrm>
          <a:prstGeom prst="rect">
            <a:avLst/>
          </a:prstGeom>
        </p:spPr>
      </p:pic>
      <p:sp>
        <p:nvSpPr>
          <p:cNvPr id="477" name="Rectangle 476"/>
          <p:cNvSpPr/>
          <p:nvPr/>
        </p:nvSpPr>
        <p:spPr>
          <a:xfrm>
            <a:off x="5806440" y="1436453"/>
            <a:ext cx="2377440" cy="3985092"/>
          </a:xfrm>
          <a:prstGeom prst="rect">
            <a:avLst/>
          </a:prstGeom>
          <a:noFill/>
          <a:ln w="15875">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8366760" y="1417320"/>
            <a:ext cx="3456432"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Một khách hàng hay ĐVKD đóng góp bao nhiêu?</a:t>
            </a:r>
          </a:p>
        </p:txBody>
      </p:sp>
      <p:sp>
        <p:nvSpPr>
          <p:cNvPr id="479" name="Rounded Rectangle 478"/>
          <p:cNvSpPr/>
          <p:nvPr/>
        </p:nvSpPr>
        <p:spPr>
          <a:xfrm>
            <a:off x="8366760" y="2240280"/>
            <a:ext cx="3456432" cy="3749039"/>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0" name="Rounded Rectangle 479"/>
          <p:cNvSpPr/>
          <p:nvPr/>
        </p:nvSpPr>
        <p:spPr>
          <a:xfrm>
            <a:off x="8366760" y="2240280"/>
            <a:ext cx="3456432"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a:t>
            </a:r>
          </a:p>
        </p:txBody>
      </p:sp>
      <p:sp>
        <p:nvSpPr>
          <p:cNvPr id="481" name="TextBox 480"/>
          <p:cNvSpPr txBox="1"/>
          <p:nvPr/>
        </p:nvSpPr>
        <p:spPr>
          <a:xfrm>
            <a:off x="8458200" y="2697480"/>
            <a:ext cx="3273551" cy="3218687"/>
          </a:xfrm>
          <a:prstGeom prst="rect">
            <a:avLst/>
          </a:prstGeom>
          <a:noFill/>
        </p:spPr>
        <p:txBody>
          <a:bodyPr wrap="square" lIns="73152" tIns="36576" rIns="73152" bIns="36576" anchor="t"/>
          <a:lstStyle/>
          <a:p>
            <a:pPr marL="182880" indent="-182880" algn="l">
              <a:spcBef>
                <a:spcPts val="700"/>
              </a:spcBef>
              <a:buFont typeface="Arial"/>
              <a:buChar char="•"/>
            </a:pPr>
            <a:r>
              <a:rPr lang="vi-VN" sz="1300" b="0" i="0">
                <a:solidFill>
                  <a:srgbClr val="222222"/>
                </a:solidFill>
                <a:latin typeface="Times New Roman"/>
                <a:cs typeface="Times New Roman"/>
              </a:rPr>
              <a:t>Khách số 1: </a:t>
            </a:r>
            <a:r>
              <a:rPr lang="vi-VN" sz="1300" b="1" i="0">
                <a:solidFill>
                  <a:srgbClr val="222222"/>
                </a:solidFill>
                <a:latin typeface="Times New Roman"/>
                <a:cs typeface="Times New Roman"/>
              </a:rPr>
              <a:t>TNHH Xây dựng Vexada</a:t>
            </a:r>
            <a:r>
              <a:rPr lang="vi-VN" sz="1300" b="0" i="0">
                <a:solidFill>
                  <a:srgbClr val="222222"/>
                </a:solidFill>
                <a:latin typeface="Times New Roman"/>
                <a:cs typeface="Times New Roman"/>
              </a:rPr>
              <a:t> 16,15 tỷ</a:t>
            </a:r>
          </a:p>
          <a:p>
            <a:pPr marL="182880" indent="-182880" algn="l">
              <a:spcBef>
                <a:spcPts val="700"/>
              </a:spcBef>
              <a:buFont typeface="Arial"/>
              <a:buChar char="•"/>
            </a:pPr>
            <a:r>
              <a:rPr lang="vi-VN" sz="1300" b="0" i="0">
                <a:solidFill>
                  <a:srgbClr val="222222"/>
                </a:solidFill>
                <a:latin typeface="Times New Roman"/>
                <a:cs typeface="Times New Roman"/>
              </a:rPr>
              <a:t>Top 5 khách: Vexada, Kaxaze 8,30, Lomjovor 6,53, Triorfa 6,41, Wijogor 5,73 (tỷ)</a:t>
            </a:r>
          </a:p>
          <a:p>
            <a:pPr marL="182880" indent="-182880" algn="l">
              <a:spcBef>
                <a:spcPts val="700"/>
              </a:spcBef>
              <a:buFont typeface="Arial"/>
              <a:buChar char="•"/>
            </a:pPr>
            <a:r>
              <a:rPr lang="vi-VN" sz="1300" b="0" i="0">
                <a:solidFill>
                  <a:srgbClr val="222222"/>
                </a:solidFill>
                <a:latin typeface="Times New Roman"/>
                <a:cs typeface="Times New Roman"/>
              </a:rPr>
              <a:t>Treemap: ô lớn nhất là </a:t>
            </a:r>
            <a:r>
              <a:rPr lang="vi-VN" sz="1300" b="1" i="0">
                <a:solidFill>
                  <a:srgbClr val="222222"/>
                </a:solidFill>
                <a:latin typeface="Times New Roman"/>
                <a:cs typeface="Times New Roman"/>
              </a:rPr>
              <a:t>TT KHDN Nam 1</a:t>
            </a:r>
            <a:r>
              <a:rPr lang="vi-VN" sz="1300" b="0" i="0">
                <a:solidFill>
                  <a:srgbClr val="222222"/>
                </a:solidFill>
                <a:latin typeface="Times New Roman"/>
                <a:cs typeface="Times New Roman"/>
              </a:rPr>
              <a:t> (52 tỷ), kế đó CN Nghệ An 2 (43 tỷ)</a:t>
            </a:r>
          </a:p>
        </p:txBody>
      </p:sp>
      <p:sp>
        <p:nvSpPr>
          <p:cNvPr id="482" name="TextBox 481"/>
          <p:cNvSpPr txBox="1"/>
          <p:nvPr/>
        </p:nvSpPr>
        <p:spPr>
          <a:xfrm>
            <a:off x="365760" y="5532120"/>
            <a:ext cx="7863840" cy="502920"/>
          </a:xfrm>
          <a:prstGeom prst="rect">
            <a:avLst/>
          </a:prstGeom>
          <a:noFill/>
        </p:spPr>
        <p:txBody>
          <a:bodyPr wrap="square" lIns="0" tIns="0" rIns="0" bIns="0" anchor="ctr"/>
          <a:lstStyle/>
          <a:p>
            <a:pPr algn="l"/>
            <a:r>
              <a:rPr lang="vi-VN" sz="1250" b="0" i="1">
                <a:solidFill>
                  <a:srgbClr val="595959"/>
                </a:solidFill>
                <a:latin typeface="Times New Roman"/>
                <a:cs typeface="Times New Roman"/>
              </a:rPr>
              <a:t>Bảng và treemap đều dùng bộ lọc </a:t>
            </a:r>
            <a:r>
              <a:rPr lang="vi-VN" sz="1250" b="1" i="1">
                <a:solidFill>
                  <a:srgbClr val="595959"/>
                </a:solidFill>
                <a:latin typeface="Times New Roman"/>
                <a:cs typeface="Times New Roman"/>
              </a:rPr>
              <a:t>Top N: 10</a:t>
            </a:r>
            <a:r>
              <a:rPr lang="vi-VN" sz="1250" b="0" i="1">
                <a:solidFill>
                  <a:srgbClr val="595959"/>
                </a:solidFill>
                <a:latin typeface="Times New Roman"/>
                <a:cs typeface="Times New Roman"/>
              </a:rPr>
              <a:t> ở cấp visual; thứ hạng theo chính chỉ tiêu NII YTD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52</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CLTD – Thẻ OD3-5 (màu đảo) và Stacked bar theo Top 10 ngành</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Thẻ OD: ▲ tăng là </a:t>
            </a:r>
            <a:r>
              <a:rPr lang="vi-VN" sz="1800" b="1" i="0">
                <a:solidFill>
                  <a:srgbClr val="C00000"/>
                </a:solidFill>
                <a:latin typeface="Times New Roman"/>
                <a:cs typeface="Times New Roman"/>
              </a:rPr>
              <a:t>đỏ</a:t>
            </a:r>
            <a:r>
              <a:rPr lang="vi-VN" sz="1800" b="0" i="0">
                <a:solidFill>
                  <a:srgbClr val="000000"/>
                </a:solidFill>
                <a:latin typeface="Times New Roman"/>
                <a:cs typeface="Times New Roman"/>
              </a:rPr>
              <a:t>. Cột chồng 100% giúp thấy nhóm xấu vốn quá nhỏ so với nhóm 1</a:t>
            </a:r>
          </a:p>
        </p:txBody>
      </p:sp>
      <p:pic>
        <p:nvPicPr>
          <p:cNvPr id="474" name="Picture 473" descr="p4k2.png"/>
          <p:cNvPicPr>
            <a:picLocks noChangeAspect="1"/>
          </p:cNvPicPr>
          <p:nvPr/>
        </p:nvPicPr>
        <p:blipFill>
          <a:blip r:embed="rId4"/>
          <a:stretch>
            <a:fillRect/>
          </a:stretch>
        </p:blipFill>
        <p:spPr>
          <a:xfrm>
            <a:off x="365760" y="1417320"/>
            <a:ext cx="3657600" cy="2194560"/>
          </a:xfrm>
          <a:prstGeom prst="rect">
            <a:avLst/>
          </a:prstGeom>
        </p:spPr>
      </p:pic>
      <p:sp>
        <p:nvSpPr>
          <p:cNvPr id="475" name="Rectangle 474"/>
          <p:cNvSpPr/>
          <p:nvPr/>
        </p:nvSpPr>
        <p:spPr>
          <a:xfrm>
            <a:off x="365760" y="1417320"/>
            <a:ext cx="3657600" cy="2194560"/>
          </a:xfrm>
          <a:prstGeom prst="rect">
            <a:avLst/>
          </a:prstGeom>
          <a:noFill/>
          <a:ln w="15875">
            <a:solidFill>
              <a:srgbClr val="2E5B31"/>
            </a:solidFill>
          </a:ln>
        </p:spPr>
        <p:txBody>
          <a:bodyPr wrap="square" lIns="73152" tIns="36576" rIns="73152" bIns="36576" rtlCol="0" anchor="ctr"/>
          <a:lstStyle/>
          <a:p>
            <a:pPr algn="ctr"/>
            <a:endParaRPr/>
          </a:p>
        </p:txBody>
      </p:sp>
      <p:pic>
        <p:nvPicPr>
          <p:cNvPr id="476" name="Picture 475" descr="p4sb.png"/>
          <p:cNvPicPr>
            <a:picLocks noChangeAspect="1"/>
          </p:cNvPicPr>
          <p:nvPr/>
        </p:nvPicPr>
        <p:blipFill>
          <a:blip r:embed="rId5"/>
          <a:stretch>
            <a:fillRect/>
          </a:stretch>
        </p:blipFill>
        <p:spPr>
          <a:xfrm>
            <a:off x="4206240" y="1420554"/>
            <a:ext cx="4983480" cy="4016890"/>
          </a:xfrm>
          <a:prstGeom prst="rect">
            <a:avLst/>
          </a:prstGeom>
        </p:spPr>
      </p:pic>
      <p:sp>
        <p:nvSpPr>
          <p:cNvPr id="477" name="Rectangle 476"/>
          <p:cNvSpPr/>
          <p:nvPr/>
        </p:nvSpPr>
        <p:spPr>
          <a:xfrm>
            <a:off x="4206240" y="1420554"/>
            <a:ext cx="4983480" cy="4016890"/>
          </a:xfrm>
          <a:prstGeom prst="rect">
            <a:avLst/>
          </a:prstGeom>
          <a:noFill/>
          <a:ln w="15875">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365760" y="3749039"/>
            <a:ext cx="3657600"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Rủi ro nằm ở đâu?</a:t>
            </a:r>
          </a:p>
        </p:txBody>
      </p:sp>
      <p:sp>
        <p:nvSpPr>
          <p:cNvPr id="479" name="TextBox 478"/>
          <p:cNvSpPr txBox="1"/>
          <p:nvPr/>
        </p:nvSpPr>
        <p:spPr>
          <a:xfrm>
            <a:off x="365760" y="4526280"/>
            <a:ext cx="3657600" cy="1463040"/>
          </a:xfrm>
          <a:prstGeom prst="rect">
            <a:avLst/>
          </a:prstGeom>
          <a:noFill/>
        </p:spPr>
        <p:txBody>
          <a:bodyPr wrap="square" lIns="73152" tIns="36576" rIns="73152" bIns="36576" anchor="t"/>
          <a:lstStyle/>
          <a:p>
            <a:pPr marL="182880" indent="-182880" algn="l">
              <a:buFont typeface="Arial"/>
              <a:buChar char="•"/>
            </a:pPr>
            <a:r>
              <a:rPr lang="vi-VN" sz="1350" b="0" i="0">
                <a:solidFill>
                  <a:srgbClr val="222222"/>
                </a:solidFill>
                <a:latin typeface="Times New Roman"/>
                <a:cs typeface="Times New Roman"/>
              </a:rPr>
              <a:t>OD3-5 </a:t>
            </a:r>
            <a:r>
              <a:rPr lang="vi-VN" sz="1350" b="1" i="0">
                <a:solidFill>
                  <a:srgbClr val="222222"/>
                </a:solidFill>
                <a:latin typeface="Times New Roman"/>
                <a:cs typeface="Times New Roman"/>
              </a:rPr>
              <a:t>2,63%</a:t>
            </a:r>
            <a:r>
              <a:rPr lang="vi-VN" sz="1350" b="0" i="0">
                <a:solidFill>
                  <a:srgbClr val="222222"/>
                </a:solidFill>
                <a:latin typeface="Times New Roman"/>
                <a:cs typeface="Times New Roman"/>
              </a:rPr>
              <a:t>: ▲ 0,25 điểm % so với cuối tháng trước, ▲ 0,51 điểm % so với cùng tháng năm trước (đều đỏ)</a:t>
            </a:r>
          </a:p>
        </p:txBody>
      </p:sp>
      <p:sp>
        <p:nvSpPr>
          <p:cNvPr id="480" name="Rounded Rectangle 479"/>
          <p:cNvSpPr/>
          <p:nvPr/>
        </p:nvSpPr>
        <p:spPr>
          <a:xfrm>
            <a:off x="9326880" y="1417320"/>
            <a:ext cx="2496312" cy="4526280"/>
          </a:xfrm>
          <a:prstGeom prst="roundRect">
            <a:avLst>
              <a:gd name="adj" fmla="val 4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481" name="Rounded Rectangle 480"/>
          <p:cNvSpPr/>
          <p:nvPr/>
        </p:nvSpPr>
        <p:spPr>
          <a:xfrm>
            <a:off x="9326880" y="1417320"/>
            <a:ext cx="2496312" cy="384048"/>
          </a:xfrm>
          <a:prstGeom prst="roundRect">
            <a:avLst>
              <a:gd name="adj" fmla="val 25000"/>
            </a:avLst>
          </a:prstGeom>
          <a:solidFill>
            <a:srgbClr val="C00000"/>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a:t>
            </a:r>
          </a:p>
        </p:txBody>
      </p:sp>
      <p:sp>
        <p:nvSpPr>
          <p:cNvPr id="482" name="TextBox 481"/>
          <p:cNvSpPr txBox="1"/>
          <p:nvPr/>
        </p:nvSpPr>
        <p:spPr>
          <a:xfrm>
            <a:off x="9418319" y="1874519"/>
            <a:ext cx="2313432" cy="3995928"/>
          </a:xfrm>
          <a:prstGeom prst="rect">
            <a:avLst/>
          </a:prstGeom>
          <a:noFill/>
        </p:spPr>
        <p:txBody>
          <a:bodyPr wrap="square" lIns="73152" tIns="36576" rIns="73152" bIns="36576" anchor="t"/>
          <a:lstStyle/>
          <a:p>
            <a:pPr marL="182880" indent="-182880" algn="l">
              <a:spcBef>
                <a:spcPts val="700"/>
              </a:spcBef>
              <a:buFont typeface="Arial"/>
              <a:buChar char="•"/>
            </a:pPr>
            <a:r>
              <a:rPr lang="vi-VN" sz="1250" b="0" i="0">
                <a:solidFill>
                  <a:srgbClr val="222222"/>
                </a:solidFill>
                <a:latin typeface="Times New Roman"/>
                <a:cs typeface="Times New Roman"/>
              </a:rPr>
              <a:t>Nhóm 1 chiếm ≈ 97% dư nợ → dùng dạng </a:t>
            </a:r>
            <a:r>
              <a:rPr lang="vi-VN" sz="1250" b="1" i="0">
                <a:solidFill>
                  <a:srgbClr val="222222"/>
                </a:solidFill>
                <a:latin typeface="Times New Roman"/>
                <a:cs typeface="Times New Roman"/>
              </a:rPr>
              <a:t>100%</a:t>
            </a:r>
          </a:p>
          <a:p>
            <a:pPr marL="182880" indent="-182880" algn="l">
              <a:spcBef>
                <a:spcPts val="700"/>
              </a:spcBef>
              <a:buFont typeface="Arial"/>
              <a:buChar char="•"/>
            </a:pPr>
            <a:r>
              <a:rPr lang="vi-VN" sz="1250" b="0" i="0">
                <a:solidFill>
                  <a:srgbClr val="222222"/>
                </a:solidFill>
                <a:latin typeface="Times New Roman"/>
                <a:cs typeface="Times New Roman"/>
              </a:rPr>
              <a:t>Cuối mỗi thanh ghi </a:t>
            </a:r>
            <a:r>
              <a:rPr lang="vi-VN" sz="1250" b="1" i="0">
                <a:solidFill>
                  <a:srgbClr val="222222"/>
                </a:solidFill>
                <a:latin typeface="Times New Roman"/>
                <a:cs typeface="Times New Roman"/>
              </a:rPr>
              <a:t>OD2 x% · OD3-5 y%</a:t>
            </a:r>
          </a:p>
          <a:p>
            <a:pPr marL="182880" indent="-182880" algn="l">
              <a:spcBef>
                <a:spcPts val="700"/>
              </a:spcBef>
              <a:buFont typeface="Arial"/>
              <a:buChar char="•"/>
            </a:pPr>
            <a:r>
              <a:rPr lang="vi-VN" sz="1250" b="0" i="0">
                <a:solidFill>
                  <a:srgbClr val="222222"/>
                </a:solidFill>
                <a:latin typeface="Times New Roman"/>
                <a:cs typeface="Times New Roman"/>
              </a:rPr>
              <a:t>VD: Bất động sản OD3-5 6,2%; SX điện – điện tử 9,2%; Xây lắp 3,2%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53</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CLTD – Bảng tỷ lệ OD theo Top 10 ĐVKD (thay đổi tính bằng điểm %)</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Cùng một ĐVKD: OD2 </a:t>
            </a:r>
            <a:r>
              <a:rPr lang="vi-VN" sz="1800" b="1" i="0">
                <a:solidFill>
                  <a:srgbClr val="123A7A"/>
                </a:solidFill>
                <a:latin typeface="Times New Roman"/>
                <a:cs typeface="Times New Roman"/>
              </a:rPr>
              <a:t>giảm</a:t>
            </a:r>
            <a:r>
              <a:rPr lang="vi-VN" sz="1800" b="0" i="0">
                <a:solidFill>
                  <a:srgbClr val="000000"/>
                </a:solidFill>
                <a:latin typeface="Times New Roman"/>
                <a:cs typeface="Times New Roman"/>
              </a:rPr>
              <a:t> nhưng OD3-5 </a:t>
            </a:r>
            <a:r>
              <a:rPr lang="vi-VN" sz="1800" b="1" i="0">
                <a:solidFill>
                  <a:srgbClr val="C00000"/>
                </a:solidFill>
                <a:latin typeface="Times New Roman"/>
                <a:cs typeface="Times New Roman"/>
              </a:rPr>
              <a:t>tăng</a:t>
            </a:r>
            <a:r>
              <a:rPr lang="vi-VN" sz="1800" b="0" i="0">
                <a:solidFill>
                  <a:srgbClr val="000000"/>
                </a:solidFill>
                <a:latin typeface="Times New Roman"/>
                <a:cs typeface="Times New Roman"/>
              </a:rPr>
              <a:t> – cần truy tiếp xuống từng khoản vay</a:t>
            </a:r>
          </a:p>
        </p:txBody>
      </p:sp>
      <p:pic>
        <p:nvPicPr>
          <p:cNvPr id="474" name="Picture 473" descr="p4tb.png"/>
          <p:cNvPicPr>
            <a:picLocks noChangeAspect="1"/>
          </p:cNvPicPr>
          <p:nvPr/>
        </p:nvPicPr>
        <p:blipFill>
          <a:blip r:embed="rId4"/>
          <a:stretch>
            <a:fillRect/>
          </a:stretch>
        </p:blipFill>
        <p:spPr>
          <a:xfrm>
            <a:off x="398764" y="1417320"/>
            <a:ext cx="7523510" cy="4114800"/>
          </a:xfrm>
          <a:prstGeom prst="rect">
            <a:avLst/>
          </a:prstGeom>
        </p:spPr>
      </p:pic>
      <p:sp>
        <p:nvSpPr>
          <p:cNvPr id="475" name="Rectangle 474"/>
          <p:cNvSpPr/>
          <p:nvPr/>
        </p:nvSpPr>
        <p:spPr>
          <a:xfrm>
            <a:off x="398764" y="1417320"/>
            <a:ext cx="7523510" cy="4114800"/>
          </a:xfrm>
          <a:prstGeom prst="rect">
            <a:avLst/>
          </a:prstGeom>
          <a:noFill/>
          <a:ln w="15875">
            <a:solidFill>
              <a:srgbClr val="2E5B31"/>
            </a:solidFill>
          </a:ln>
        </p:spPr>
        <p:txBody>
          <a:bodyPr wrap="square" lIns="73152" tIns="36576" rIns="73152" bIns="36576" rtlCol="0" anchor="ctr"/>
          <a:lstStyle/>
          <a:p>
            <a:pPr algn="ctr"/>
            <a:endParaRPr/>
          </a:p>
        </p:txBody>
      </p:sp>
      <p:sp>
        <p:nvSpPr>
          <p:cNvPr id="476" name="Rounded Rectangle 475"/>
          <p:cNvSpPr/>
          <p:nvPr/>
        </p:nvSpPr>
        <p:spPr>
          <a:xfrm>
            <a:off x="8138160" y="1417320"/>
            <a:ext cx="3685032" cy="685800"/>
          </a:xfrm>
          <a:prstGeom prst="roundRect">
            <a:avLst>
              <a:gd name="adj" fmla="val 15000"/>
            </a:avLst>
          </a:prstGeom>
          <a:solidFill>
            <a:srgbClr val="DEEAF6"/>
          </a:solidFill>
          <a:ln w="15240">
            <a:solidFill>
              <a:srgbClr val="123A7A"/>
            </a:solidFill>
          </a:ln>
        </p:spPr>
        <p:txBody>
          <a:bodyPr wrap="square" lIns="137160" tIns="27432" bIns="27432" rtlCol="0" anchor="ctr"/>
          <a:lstStyle/>
          <a:p>
            <a:pPr algn="l"/>
            <a:r>
              <a:rPr lang="vi-VN" sz="1150" b="1" i="0">
                <a:solidFill>
                  <a:srgbClr val="123A7A"/>
                </a:solidFill>
                <a:latin typeface="Times New Roman"/>
                <a:cs typeface="Times New Roman"/>
              </a:rPr>
              <a:t>Câu hỏi của đề bài</a:t>
            </a:r>
          </a:p>
          <a:p>
            <a:pPr algn="l"/>
            <a:r>
              <a:rPr lang="vi-VN" sz="1450" b="1" i="1">
                <a:solidFill>
                  <a:srgbClr val="222222"/>
                </a:solidFill>
                <a:latin typeface="Times New Roman"/>
                <a:cs typeface="Times New Roman"/>
              </a:rPr>
              <a:t>Biến động OD đến từ ĐVKD, khoản vay nào?</a:t>
            </a:r>
          </a:p>
        </p:txBody>
      </p:sp>
      <p:sp>
        <p:nvSpPr>
          <p:cNvPr id="477" name="Rounded Rectangle 476"/>
          <p:cNvSpPr/>
          <p:nvPr/>
        </p:nvSpPr>
        <p:spPr>
          <a:xfrm>
            <a:off x="8138160" y="2240280"/>
            <a:ext cx="3685032" cy="3749039"/>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8" name="Rounded Rectangle 477"/>
          <p:cNvSpPr/>
          <p:nvPr/>
        </p:nvSpPr>
        <p:spPr>
          <a:xfrm>
            <a:off x="8138160" y="2240280"/>
            <a:ext cx="3685032" cy="384048"/>
          </a:xfrm>
          <a:prstGeom prst="roundRect">
            <a:avLst>
              <a:gd name="adj" fmla="val 25000"/>
            </a:avLst>
          </a:prstGeom>
          <a:solidFill>
            <a:srgbClr val="2E5B31"/>
          </a:solidFill>
          <a:ln>
            <a:noFill/>
          </a:ln>
        </p:spPr>
        <p:txBody>
          <a:bodyPr wrap="square" lIns="73152" tIns="36576" rIns="73152" bIns="36576" rtlCol="0" anchor="ctr"/>
          <a:lstStyle/>
          <a:p>
            <a:pPr algn="ctr"/>
            <a:r>
              <a:rPr lang="vi-VN" sz="1400" b="1" i="0">
                <a:solidFill>
                  <a:srgbClr val="FFFFFF"/>
                </a:solidFill>
                <a:latin typeface="Times New Roman"/>
                <a:cs typeface="Times New Roman"/>
              </a:rPr>
              <a:t>Cách đọc biểu đồ</a:t>
            </a:r>
          </a:p>
        </p:txBody>
      </p:sp>
      <p:sp>
        <p:nvSpPr>
          <p:cNvPr id="479" name="TextBox 478"/>
          <p:cNvSpPr txBox="1"/>
          <p:nvPr/>
        </p:nvSpPr>
        <p:spPr>
          <a:xfrm>
            <a:off x="8229600" y="2697480"/>
            <a:ext cx="3502152" cy="3218687"/>
          </a:xfrm>
          <a:prstGeom prst="rect">
            <a:avLst/>
          </a:prstGeom>
          <a:noFill/>
        </p:spPr>
        <p:txBody>
          <a:bodyPr wrap="square" lIns="73152" tIns="36576" rIns="73152" bIns="36576" anchor="t"/>
          <a:lstStyle/>
          <a:p>
            <a:pPr marL="182880" indent="-182880" algn="l">
              <a:spcBef>
                <a:spcPts val="700"/>
              </a:spcBef>
              <a:buFont typeface="Arial"/>
              <a:buChar char="•"/>
            </a:pPr>
            <a:r>
              <a:rPr lang="vi-VN" sz="1300" b="0" i="0">
                <a:solidFill>
                  <a:srgbClr val="222222"/>
                </a:solidFill>
                <a:latin typeface="Times New Roman"/>
                <a:cs typeface="Times New Roman"/>
              </a:rPr>
              <a:t>Cột </a:t>
            </a:r>
            <a:r>
              <a:rPr lang="vi-VN" sz="1300" b="1" i="0">
                <a:solidFill>
                  <a:srgbClr val="222222"/>
                </a:solidFill>
                <a:latin typeface="Times New Roman"/>
                <a:cs typeface="Times New Roman"/>
              </a:rPr>
              <a:t>Thay đổi</a:t>
            </a:r>
            <a:r>
              <a:rPr lang="vi-VN" sz="1300" b="0" i="0">
                <a:solidFill>
                  <a:srgbClr val="222222"/>
                </a:solidFill>
                <a:latin typeface="Times New Roman"/>
                <a:cs typeface="Times New Roman"/>
              </a:rPr>
              <a:t> là hiệu số tỷ lệ, đơn vị </a:t>
            </a:r>
            <a:r>
              <a:rPr lang="vi-VN" sz="1300" b="1" i="0">
                <a:solidFill>
                  <a:srgbClr val="222222"/>
                </a:solidFill>
                <a:latin typeface="Times New Roman"/>
                <a:cs typeface="Times New Roman"/>
              </a:rPr>
              <a:t>điểm %</a:t>
            </a:r>
            <a:r>
              <a:rPr lang="vi-VN" sz="1300" b="0" i="0">
                <a:solidFill>
                  <a:srgbClr val="222222"/>
                </a:solidFill>
                <a:latin typeface="Times New Roman"/>
                <a:cs typeface="Times New Roman"/>
              </a:rPr>
              <a:t>; ▲ đỏ, ▼ xanh (màu đảo)</a:t>
            </a:r>
          </a:p>
          <a:p>
            <a:pPr marL="182880" indent="-182880" algn="l">
              <a:spcBef>
                <a:spcPts val="700"/>
              </a:spcBef>
              <a:buFont typeface="Arial"/>
              <a:buChar char="•"/>
            </a:pPr>
            <a:r>
              <a:rPr lang="vi-VN" sz="1300" b="0" i="0">
                <a:solidFill>
                  <a:srgbClr val="222222"/>
                </a:solidFill>
                <a:latin typeface="Times New Roman"/>
                <a:cs typeface="Times New Roman"/>
              </a:rPr>
              <a:t>TT KHDN Bắc 1: OD2 1,24% (</a:t>
            </a:r>
            <a:r>
              <a:rPr lang="vi-VN" sz="1300" b="1" i="0">
                <a:solidFill>
                  <a:srgbClr val="222222"/>
                </a:solidFill>
                <a:latin typeface="Times New Roman"/>
                <a:cs typeface="Times New Roman"/>
              </a:rPr>
              <a:t>▼ 5,45</a:t>
            </a:r>
            <a:r>
              <a:rPr lang="vi-VN" sz="1300" b="0" i="0">
                <a:solidFill>
                  <a:srgbClr val="222222"/>
                </a:solidFill>
                <a:latin typeface="Times New Roman"/>
                <a:cs typeface="Times New Roman"/>
              </a:rPr>
              <a:t> điểm %) nhưng OD3-5 8,94% (</a:t>
            </a:r>
            <a:r>
              <a:rPr lang="vi-VN" sz="1300" b="1" i="0">
                <a:solidFill>
                  <a:srgbClr val="222222"/>
                </a:solidFill>
                <a:latin typeface="Times New Roman"/>
                <a:cs typeface="Times New Roman"/>
              </a:rPr>
              <a:t>▲ 6,57</a:t>
            </a:r>
            <a:r>
              <a:rPr lang="vi-VN" sz="1300" b="0" i="0">
                <a:solidFill>
                  <a:srgbClr val="222222"/>
                </a:solidFill>
                <a:latin typeface="Times New Roman"/>
                <a:cs typeface="Times New Roman"/>
              </a:rPr>
              <a:t> điểm %)</a:t>
            </a:r>
          </a:p>
          <a:p>
            <a:pPr marL="182880" indent="-182880" algn="l">
              <a:spcBef>
                <a:spcPts val="700"/>
              </a:spcBef>
              <a:buFont typeface="Arial"/>
              <a:buChar char="•"/>
            </a:pPr>
            <a:r>
              <a:rPr lang="vi-VN" sz="1300" b="0" i="0">
                <a:solidFill>
                  <a:srgbClr val="222222"/>
                </a:solidFill>
                <a:latin typeface="Times New Roman"/>
                <a:cs typeface="Times New Roman"/>
              </a:rPr>
              <a:t>OD2 giảm có thể do nợ </a:t>
            </a:r>
            <a:r>
              <a:rPr lang="vi-VN" sz="1300" b="1" i="0">
                <a:solidFill>
                  <a:srgbClr val="222222"/>
                </a:solidFill>
                <a:latin typeface="Times New Roman"/>
                <a:cs typeface="Times New Roman"/>
              </a:rPr>
              <a:t>chuyển sang nhóm xấu hơn</a:t>
            </a:r>
            <a:r>
              <a:rPr lang="vi-VN" sz="1300" b="0" i="0">
                <a:solidFill>
                  <a:srgbClr val="222222"/>
                </a:solidFill>
                <a:latin typeface="Times New Roman"/>
                <a:cs typeface="Times New Roman"/>
              </a:rPr>
              <a:t>, không hẳn là cải thiện</a:t>
            </a:r>
          </a:p>
          <a:p>
            <a:pPr marL="182880" indent="-182880" algn="l">
              <a:spcBef>
                <a:spcPts val="700"/>
              </a:spcBef>
              <a:buFont typeface="Arial"/>
              <a:buChar char="•"/>
            </a:pPr>
            <a:r>
              <a:rPr lang="vi-VN" sz="1300" b="0" i="0">
                <a:solidFill>
                  <a:srgbClr val="222222"/>
                </a:solidFill>
                <a:latin typeface="Times New Roman"/>
                <a:cs typeface="Times New Roman"/>
              </a:rPr>
              <a:t>Bước tiếp: thêm chiều khách hàng / hợp đồng để tìm khoản gây biến động</a:t>
            </a:r>
          </a:p>
        </p:txBody>
      </p:sp>
      <p:sp>
        <p:nvSpPr>
          <p:cNvPr id="480" name="TextBox 479"/>
          <p:cNvSpPr txBox="1"/>
          <p:nvPr/>
        </p:nvSpPr>
        <p:spPr>
          <a:xfrm>
            <a:off x="365760" y="5577840"/>
            <a:ext cx="7589520" cy="457200"/>
          </a:xfrm>
          <a:prstGeom prst="rect">
            <a:avLst/>
          </a:prstGeom>
          <a:noFill/>
        </p:spPr>
        <p:txBody>
          <a:bodyPr wrap="square" lIns="0" tIns="0" rIns="0" bIns="0" anchor="ctr"/>
          <a:lstStyle/>
          <a:p>
            <a:pPr algn="l"/>
            <a:r>
              <a:rPr lang="vi-VN" sz="1200" b="0" i="1">
                <a:solidFill>
                  <a:srgbClr val="595959"/>
                </a:solidFill>
                <a:latin typeface="Times New Roman"/>
                <a:cs typeface="Times New Roman"/>
              </a:rPr>
              <a:t>Bảng chỉ liệt kê Top 10 ĐVKD theo quy mô dư nợ; ĐVKD nhỏ hơn không hiển thị</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54</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Từ biểu đồ đến lập luận: Câu hỏi → Phân tích → Bằng chứng → Kết luận</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Tiêu đề biểu đồ = </a:t>
            </a:r>
            <a:r>
              <a:rPr lang="vi-VN" sz="1800" b="1" i="0">
                <a:solidFill>
                  <a:srgbClr val="123A7A"/>
                </a:solidFill>
                <a:latin typeface="Times New Roman"/>
                <a:cs typeface="Times New Roman"/>
              </a:rPr>
              <a:t>nhận định kèm số liệu so sánh</a:t>
            </a:r>
            <a:r>
              <a:rPr lang="vi-VN" sz="1800" b="0" i="0">
                <a:solidFill>
                  <a:srgbClr val="000000"/>
                </a:solidFill>
                <a:latin typeface="Times New Roman"/>
                <a:cs typeface="Times New Roman"/>
              </a:rPr>
              <a:t>, không chỉ nêu tên chỉ tiêu</a:t>
            </a:r>
          </a:p>
        </p:txBody>
      </p:sp>
      <p:sp>
        <p:nvSpPr>
          <p:cNvPr id="474" name="Pentagon 473"/>
          <p:cNvSpPr/>
          <p:nvPr/>
        </p:nvSpPr>
        <p:spPr>
          <a:xfrm>
            <a:off x="365760" y="1371600"/>
            <a:ext cx="2834640" cy="640080"/>
          </a:xfrm>
          <a:prstGeom prst="homePlate">
            <a:avLst>
              <a:gd name="adj" fmla="val 28000"/>
            </a:avLst>
          </a:prstGeom>
          <a:solidFill>
            <a:srgbClr val="2E5B31"/>
          </a:solidFill>
          <a:ln>
            <a:noFill/>
          </a:ln>
        </p:spPr>
        <p:txBody>
          <a:bodyPr wrap="square" tIns="18288" rIns="274320" bIns="18288" rtlCol="0" anchor="ctr"/>
          <a:lstStyle/>
          <a:p>
            <a:pPr algn="ctr"/>
            <a:r>
              <a:rPr lang="vi-VN" sz="1700" b="1" i="0">
                <a:solidFill>
                  <a:srgbClr val="FFFFFF"/>
                </a:solidFill>
                <a:latin typeface="Times New Roman"/>
                <a:cs typeface="Times New Roman"/>
              </a:rPr>
              <a:t>Câu hỏi</a:t>
            </a:r>
          </a:p>
        </p:txBody>
      </p:sp>
      <p:sp>
        <p:nvSpPr>
          <p:cNvPr id="475" name="Pentagon 474"/>
          <p:cNvSpPr/>
          <p:nvPr/>
        </p:nvSpPr>
        <p:spPr>
          <a:xfrm>
            <a:off x="3264408" y="1371600"/>
            <a:ext cx="2834640" cy="640080"/>
          </a:xfrm>
          <a:prstGeom prst="homePlate">
            <a:avLst>
              <a:gd name="adj" fmla="val 28000"/>
            </a:avLst>
          </a:prstGeom>
          <a:solidFill>
            <a:srgbClr val="548235"/>
          </a:solidFill>
          <a:ln>
            <a:noFill/>
          </a:ln>
        </p:spPr>
        <p:txBody>
          <a:bodyPr wrap="square" tIns="18288" rIns="274320" bIns="18288" rtlCol="0" anchor="ctr"/>
          <a:lstStyle/>
          <a:p>
            <a:pPr algn="ctr"/>
            <a:r>
              <a:rPr lang="vi-VN" sz="1700" b="1" i="0">
                <a:solidFill>
                  <a:srgbClr val="FFFFFF"/>
                </a:solidFill>
                <a:latin typeface="Times New Roman"/>
                <a:cs typeface="Times New Roman"/>
              </a:rPr>
              <a:t>Phân tích</a:t>
            </a:r>
          </a:p>
        </p:txBody>
      </p:sp>
      <p:sp>
        <p:nvSpPr>
          <p:cNvPr id="476" name="Pentagon 475"/>
          <p:cNvSpPr/>
          <p:nvPr/>
        </p:nvSpPr>
        <p:spPr>
          <a:xfrm>
            <a:off x="6163056" y="1371600"/>
            <a:ext cx="2834640" cy="640080"/>
          </a:xfrm>
          <a:prstGeom prst="homePlate">
            <a:avLst>
              <a:gd name="adj" fmla="val 28000"/>
            </a:avLst>
          </a:prstGeom>
          <a:solidFill>
            <a:srgbClr val="2E5B31"/>
          </a:solidFill>
          <a:ln>
            <a:noFill/>
          </a:ln>
        </p:spPr>
        <p:txBody>
          <a:bodyPr wrap="square" tIns="18288" rIns="274320" bIns="18288" rtlCol="0" anchor="ctr"/>
          <a:lstStyle/>
          <a:p>
            <a:pPr algn="ctr"/>
            <a:r>
              <a:rPr lang="vi-VN" sz="1700" b="1" i="0">
                <a:solidFill>
                  <a:srgbClr val="FFFFFF"/>
                </a:solidFill>
                <a:latin typeface="Times New Roman"/>
                <a:cs typeface="Times New Roman"/>
              </a:rPr>
              <a:t>Bằng chứng</a:t>
            </a:r>
          </a:p>
        </p:txBody>
      </p:sp>
      <p:sp>
        <p:nvSpPr>
          <p:cNvPr id="477" name="Pentagon 476"/>
          <p:cNvSpPr/>
          <p:nvPr/>
        </p:nvSpPr>
        <p:spPr>
          <a:xfrm>
            <a:off x="9061704" y="1371600"/>
            <a:ext cx="2834640" cy="640080"/>
          </a:xfrm>
          <a:prstGeom prst="homePlate">
            <a:avLst>
              <a:gd name="adj" fmla="val 28000"/>
            </a:avLst>
          </a:prstGeom>
          <a:solidFill>
            <a:srgbClr val="548235"/>
          </a:solidFill>
          <a:ln>
            <a:noFill/>
          </a:ln>
        </p:spPr>
        <p:txBody>
          <a:bodyPr wrap="square" tIns="18288" rIns="274320" bIns="18288" rtlCol="0" anchor="ctr"/>
          <a:lstStyle/>
          <a:p>
            <a:pPr algn="ctr"/>
            <a:r>
              <a:rPr lang="vi-VN" sz="1700" b="1" i="0">
                <a:solidFill>
                  <a:srgbClr val="FFFFFF"/>
                </a:solidFill>
                <a:latin typeface="Times New Roman"/>
                <a:cs typeface="Times New Roman"/>
              </a:rPr>
              <a:t>Kết luận</a:t>
            </a:r>
          </a:p>
        </p:txBody>
      </p:sp>
      <p:sp>
        <p:nvSpPr>
          <p:cNvPr id="478" name="Rounded Rectangle 477"/>
          <p:cNvSpPr/>
          <p:nvPr/>
        </p:nvSpPr>
        <p:spPr>
          <a:xfrm>
            <a:off x="365760" y="2103120"/>
            <a:ext cx="2788920" cy="2423160"/>
          </a:xfrm>
          <a:prstGeom prst="roundRect">
            <a:avLst>
              <a:gd name="adj" fmla="val 5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79" name="TextBox 478"/>
          <p:cNvSpPr txBox="1"/>
          <p:nvPr/>
        </p:nvSpPr>
        <p:spPr>
          <a:xfrm>
            <a:off x="438912" y="2148840"/>
            <a:ext cx="2651760" cy="457200"/>
          </a:xfrm>
          <a:prstGeom prst="rect">
            <a:avLst/>
          </a:prstGeom>
          <a:noFill/>
        </p:spPr>
        <p:txBody>
          <a:bodyPr wrap="square" lIns="73152" tIns="36576" rIns="73152" bIns="36576" anchor="t"/>
          <a:lstStyle/>
          <a:p>
            <a:pPr algn="l"/>
            <a:r>
              <a:rPr lang="vi-VN" sz="1200" b="0" i="1">
                <a:solidFill>
                  <a:srgbClr val="595959"/>
                </a:solidFill>
                <a:latin typeface="Times New Roman"/>
                <a:cs typeface="Times New Roman"/>
              </a:rPr>
              <a:t>Điều người dùng cần biết</a:t>
            </a:r>
          </a:p>
        </p:txBody>
      </p:sp>
      <p:sp>
        <p:nvSpPr>
          <p:cNvPr id="480" name="TextBox 479"/>
          <p:cNvSpPr txBox="1"/>
          <p:nvPr/>
        </p:nvSpPr>
        <p:spPr>
          <a:xfrm>
            <a:off x="438912" y="2606040"/>
            <a:ext cx="2651760" cy="1874519"/>
          </a:xfrm>
          <a:prstGeom prst="rect">
            <a:avLst/>
          </a:prstGeom>
          <a:noFill/>
        </p:spPr>
        <p:txBody>
          <a:bodyPr wrap="square" lIns="73152" tIns="36576" rIns="73152" bIns="36576" anchor="t"/>
          <a:lstStyle/>
          <a:p>
            <a:pPr algn="l"/>
            <a:r>
              <a:rPr lang="vi-VN" sz="1200" b="1" i="0">
                <a:solidFill>
                  <a:srgbClr val="2E5B31"/>
                </a:solidFill>
                <a:latin typeface="Times New Roman"/>
                <a:cs typeface="Times New Roman"/>
              </a:rPr>
              <a:t>Ví dụ</a:t>
            </a:r>
          </a:p>
          <a:p>
            <a:pPr algn="l"/>
            <a:r>
              <a:rPr lang="vi-VN" sz="1600" b="0" i="0">
                <a:solidFill>
                  <a:srgbClr val="222222"/>
                </a:solidFill>
                <a:latin typeface="Times New Roman"/>
                <a:cs typeface="Times New Roman"/>
              </a:rPr>
              <a:t>Danh mục cho vay có tập trung vào ít khách hàng không?</a:t>
            </a:r>
          </a:p>
        </p:txBody>
      </p:sp>
      <p:sp>
        <p:nvSpPr>
          <p:cNvPr id="481" name="Rounded Rectangle 480"/>
          <p:cNvSpPr/>
          <p:nvPr/>
        </p:nvSpPr>
        <p:spPr>
          <a:xfrm>
            <a:off x="3264408" y="2103120"/>
            <a:ext cx="2788920" cy="2423160"/>
          </a:xfrm>
          <a:prstGeom prst="roundRect">
            <a:avLst>
              <a:gd name="adj" fmla="val 5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2" name="TextBox 481"/>
          <p:cNvSpPr txBox="1"/>
          <p:nvPr/>
        </p:nvSpPr>
        <p:spPr>
          <a:xfrm>
            <a:off x="3337560" y="2148840"/>
            <a:ext cx="2651760" cy="457200"/>
          </a:xfrm>
          <a:prstGeom prst="rect">
            <a:avLst/>
          </a:prstGeom>
          <a:noFill/>
        </p:spPr>
        <p:txBody>
          <a:bodyPr wrap="square" lIns="73152" tIns="36576" rIns="73152" bIns="36576" anchor="t"/>
          <a:lstStyle/>
          <a:p>
            <a:pPr algn="l"/>
            <a:r>
              <a:rPr lang="vi-VN" sz="1200" b="0" i="1">
                <a:solidFill>
                  <a:srgbClr val="595959"/>
                </a:solidFill>
                <a:latin typeface="Times New Roman"/>
                <a:cs typeface="Times New Roman"/>
              </a:rPr>
              <a:t>Cắt dữ liệu theo chiều nào, so sánh với gì</a:t>
            </a:r>
          </a:p>
        </p:txBody>
      </p:sp>
      <p:sp>
        <p:nvSpPr>
          <p:cNvPr id="483" name="TextBox 482"/>
          <p:cNvSpPr txBox="1"/>
          <p:nvPr/>
        </p:nvSpPr>
        <p:spPr>
          <a:xfrm>
            <a:off x="3337560" y="2606040"/>
            <a:ext cx="2651760" cy="1874519"/>
          </a:xfrm>
          <a:prstGeom prst="rect">
            <a:avLst/>
          </a:prstGeom>
          <a:noFill/>
        </p:spPr>
        <p:txBody>
          <a:bodyPr wrap="square" lIns="73152" tIns="36576" rIns="73152" bIns="36576" anchor="t"/>
          <a:lstStyle/>
          <a:p>
            <a:pPr algn="l"/>
            <a:r>
              <a:rPr lang="vi-VN" sz="1200" b="1" i="0">
                <a:solidFill>
                  <a:srgbClr val="2E5B31"/>
                </a:solidFill>
                <a:latin typeface="Times New Roman"/>
                <a:cs typeface="Times New Roman"/>
              </a:rPr>
              <a:t>Ví dụ</a:t>
            </a:r>
          </a:p>
          <a:p>
            <a:pPr algn="l"/>
            <a:r>
              <a:rPr lang="vi-VN" sz="1600" b="0" i="0">
                <a:solidFill>
                  <a:srgbClr val="222222"/>
                </a:solidFill>
                <a:latin typeface="Times New Roman"/>
                <a:cs typeface="Times New Roman"/>
              </a:rPr>
              <a:t>Xếp khách theo dư nợ tại 30/06/2026, tính tỷ trọng lũy kế của Top 10 và Top 10%</a:t>
            </a:r>
          </a:p>
        </p:txBody>
      </p:sp>
      <p:sp>
        <p:nvSpPr>
          <p:cNvPr id="484" name="Rounded Rectangle 483"/>
          <p:cNvSpPr/>
          <p:nvPr/>
        </p:nvSpPr>
        <p:spPr>
          <a:xfrm>
            <a:off x="6163056" y="2103120"/>
            <a:ext cx="2788920" cy="2423160"/>
          </a:xfrm>
          <a:prstGeom prst="roundRect">
            <a:avLst>
              <a:gd name="adj" fmla="val 5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5" name="TextBox 484"/>
          <p:cNvSpPr txBox="1"/>
          <p:nvPr/>
        </p:nvSpPr>
        <p:spPr>
          <a:xfrm>
            <a:off x="6236208" y="2148840"/>
            <a:ext cx="2651760" cy="457200"/>
          </a:xfrm>
          <a:prstGeom prst="rect">
            <a:avLst/>
          </a:prstGeom>
          <a:noFill/>
        </p:spPr>
        <p:txBody>
          <a:bodyPr wrap="square" lIns="73152" tIns="36576" rIns="73152" bIns="36576" anchor="t"/>
          <a:lstStyle/>
          <a:p>
            <a:pPr algn="l"/>
            <a:r>
              <a:rPr lang="vi-VN" sz="1200" b="0" i="1">
                <a:solidFill>
                  <a:srgbClr val="595959"/>
                </a:solidFill>
                <a:latin typeface="Times New Roman"/>
                <a:cs typeface="Times New Roman"/>
              </a:rPr>
              <a:t>Con số cụ thể kèm đơn vị và ngày chốt</a:t>
            </a:r>
          </a:p>
        </p:txBody>
      </p:sp>
      <p:sp>
        <p:nvSpPr>
          <p:cNvPr id="486" name="TextBox 485"/>
          <p:cNvSpPr txBox="1"/>
          <p:nvPr/>
        </p:nvSpPr>
        <p:spPr>
          <a:xfrm>
            <a:off x="6236208" y="2606040"/>
            <a:ext cx="2651760" cy="1874519"/>
          </a:xfrm>
          <a:prstGeom prst="rect">
            <a:avLst/>
          </a:prstGeom>
          <a:noFill/>
        </p:spPr>
        <p:txBody>
          <a:bodyPr wrap="square" lIns="73152" tIns="36576" rIns="73152" bIns="36576" anchor="t"/>
          <a:lstStyle/>
          <a:p>
            <a:pPr algn="l"/>
            <a:r>
              <a:rPr lang="vi-VN" sz="1200" b="1" i="0">
                <a:solidFill>
                  <a:srgbClr val="2E5B31"/>
                </a:solidFill>
                <a:latin typeface="Times New Roman"/>
                <a:cs typeface="Times New Roman"/>
              </a:rPr>
              <a:t>Ví dụ</a:t>
            </a:r>
          </a:p>
          <a:p>
            <a:pPr algn="l"/>
            <a:r>
              <a:rPr lang="vi-VN" sz="1600" b="0" i="0">
                <a:solidFill>
                  <a:srgbClr val="222222"/>
                </a:solidFill>
                <a:latin typeface="Times New Roman"/>
                <a:cs typeface="Times New Roman"/>
              </a:rPr>
              <a:t>Top 10 khách chiếm 9,8% dư nợ; 10% khách lớn nhất chiếm 67,7%; 143 khách có dư nợ trên 100 tỷ</a:t>
            </a:r>
          </a:p>
        </p:txBody>
      </p:sp>
      <p:sp>
        <p:nvSpPr>
          <p:cNvPr id="487" name="Rounded Rectangle 486"/>
          <p:cNvSpPr/>
          <p:nvPr/>
        </p:nvSpPr>
        <p:spPr>
          <a:xfrm>
            <a:off x="9061704" y="2103120"/>
            <a:ext cx="2788920" cy="2423160"/>
          </a:xfrm>
          <a:prstGeom prst="roundRect">
            <a:avLst>
              <a:gd name="adj" fmla="val 5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8" name="TextBox 487"/>
          <p:cNvSpPr txBox="1"/>
          <p:nvPr/>
        </p:nvSpPr>
        <p:spPr>
          <a:xfrm>
            <a:off x="9134856" y="2148840"/>
            <a:ext cx="2651760" cy="457200"/>
          </a:xfrm>
          <a:prstGeom prst="rect">
            <a:avLst/>
          </a:prstGeom>
          <a:noFill/>
        </p:spPr>
        <p:txBody>
          <a:bodyPr wrap="square" lIns="73152" tIns="36576" rIns="73152" bIns="36576" anchor="t"/>
          <a:lstStyle/>
          <a:p>
            <a:pPr algn="l"/>
            <a:r>
              <a:rPr lang="vi-VN" sz="1200" b="0" i="1">
                <a:solidFill>
                  <a:srgbClr val="595959"/>
                </a:solidFill>
                <a:latin typeface="Times New Roman"/>
                <a:cs typeface="Times New Roman"/>
              </a:rPr>
              <a:t>Một câu nêu nhận định</a:t>
            </a:r>
          </a:p>
        </p:txBody>
      </p:sp>
      <p:sp>
        <p:nvSpPr>
          <p:cNvPr id="489" name="TextBox 488"/>
          <p:cNvSpPr txBox="1"/>
          <p:nvPr/>
        </p:nvSpPr>
        <p:spPr>
          <a:xfrm>
            <a:off x="9134856" y="2606040"/>
            <a:ext cx="2651760" cy="1874519"/>
          </a:xfrm>
          <a:prstGeom prst="rect">
            <a:avLst/>
          </a:prstGeom>
          <a:noFill/>
        </p:spPr>
        <p:txBody>
          <a:bodyPr wrap="square" lIns="73152" tIns="36576" rIns="73152" bIns="36576" anchor="t"/>
          <a:lstStyle/>
          <a:p>
            <a:pPr algn="l"/>
            <a:r>
              <a:rPr lang="vi-VN" sz="1200" b="1" i="0">
                <a:solidFill>
                  <a:srgbClr val="2E5B31"/>
                </a:solidFill>
                <a:latin typeface="Times New Roman"/>
                <a:cs typeface="Times New Roman"/>
              </a:rPr>
              <a:t>Ví dụ</a:t>
            </a:r>
          </a:p>
          <a:p>
            <a:pPr algn="l"/>
            <a:r>
              <a:rPr lang="vi-VN" sz="1600" b="0" i="0">
                <a:solidFill>
                  <a:srgbClr val="222222"/>
                </a:solidFill>
                <a:latin typeface="Times New Roman"/>
                <a:cs typeface="Times New Roman"/>
              </a:rPr>
              <a:t>Rủi ro tập trung vào nhóm khách lớn dù mỗi khách riêng lẻ chiếm tỷ trọng nhỏ</a:t>
            </a:r>
          </a:p>
        </p:txBody>
      </p:sp>
      <p:sp>
        <p:nvSpPr>
          <p:cNvPr id="490" name="Rounded Rectangle 489"/>
          <p:cNvSpPr/>
          <p:nvPr/>
        </p:nvSpPr>
        <p:spPr>
          <a:xfrm>
            <a:off x="365760" y="4709160"/>
            <a:ext cx="5669280" cy="1280160"/>
          </a:xfrm>
          <a:prstGeom prst="roundRect">
            <a:avLst>
              <a:gd name="adj" fmla="val 10000"/>
            </a:avLst>
          </a:prstGeom>
          <a:solidFill>
            <a:srgbClr val="FBE5D6"/>
          </a:solidFill>
          <a:ln w="12700">
            <a:solidFill>
              <a:srgbClr val="C00000"/>
            </a:solidFill>
          </a:ln>
        </p:spPr>
        <p:txBody>
          <a:bodyPr wrap="square" lIns="182880" rtlCol="0" anchor="ctr"/>
          <a:lstStyle/>
          <a:p>
            <a:pPr algn="l"/>
            <a:r>
              <a:rPr lang="vi-VN" sz="1200" b="1" i="0">
                <a:solidFill>
                  <a:srgbClr val="C00000"/>
                </a:solidFill>
                <a:latin typeface="Times New Roman"/>
                <a:cs typeface="Times New Roman"/>
              </a:rPr>
              <a:t>Tiêu đề chỉ nêu tên chỉ tiêu</a:t>
            </a:r>
          </a:p>
          <a:p>
            <a:pPr algn="l"/>
            <a:r>
              <a:rPr lang="vi-VN" sz="1600" b="0" i="0">
                <a:solidFill>
                  <a:srgbClr val="222222"/>
                </a:solidFill>
                <a:latin typeface="Times New Roman"/>
                <a:cs typeface="Times New Roman"/>
              </a:rPr>
              <a:t>✗  “Dư nợ theo tháng”</a:t>
            </a:r>
          </a:p>
        </p:txBody>
      </p:sp>
      <p:sp>
        <p:nvSpPr>
          <p:cNvPr id="491" name="Rounded Rectangle 490"/>
          <p:cNvSpPr/>
          <p:nvPr/>
        </p:nvSpPr>
        <p:spPr>
          <a:xfrm>
            <a:off x="6153912" y="4709160"/>
            <a:ext cx="5669280" cy="1280160"/>
          </a:xfrm>
          <a:prstGeom prst="roundRect">
            <a:avLst>
              <a:gd name="adj" fmla="val 10000"/>
            </a:avLst>
          </a:prstGeom>
          <a:solidFill>
            <a:srgbClr val="E2F0D9"/>
          </a:solidFill>
          <a:ln w="12700">
            <a:solidFill>
              <a:srgbClr val="2E5B31"/>
            </a:solidFill>
          </a:ln>
        </p:spPr>
        <p:txBody>
          <a:bodyPr wrap="square" lIns="182880" rtlCol="0" anchor="ctr"/>
          <a:lstStyle/>
          <a:p>
            <a:pPr algn="l"/>
            <a:r>
              <a:rPr lang="vi-VN" sz="1200" b="1" i="0">
                <a:solidFill>
                  <a:srgbClr val="2E5B31"/>
                </a:solidFill>
                <a:latin typeface="Times New Roman"/>
                <a:cs typeface="Times New Roman"/>
              </a:rPr>
              <a:t>Tiêu đề là nhận định kèm số liệu so sánh</a:t>
            </a:r>
          </a:p>
          <a:p>
            <a:pPr algn="l"/>
            <a:r>
              <a:rPr lang="vi-VN" sz="1600" b="0" i="0">
                <a:solidFill>
                  <a:srgbClr val="222222"/>
                </a:solidFill>
                <a:latin typeface="Times New Roman"/>
                <a:cs typeface="Times New Roman"/>
              </a:rPr>
              <a:t>✓  “Dư nợ tăng 10,9% so với cùng tháng năm trước”</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400" b="1">
                <a:solidFill>
                  <a:srgbClr val="00B050"/>
                </a:solidFill>
                <a:latin typeface="Times New Roman"/>
                <a:ea typeface="Times New Roman"/>
                <a:cs typeface="Times New Roman"/>
                <a:sym typeface="Times New Roman"/>
              </a:rPr>
              <a:t>Phân tích kết quả</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55</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Finding – Insight – Recommendation – Limitation &amp; Next Step</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Mỗi kết luận có một </a:t>
            </a:r>
            <a:r>
              <a:rPr lang="vi-VN" sz="1800" b="1" i="0">
                <a:solidFill>
                  <a:srgbClr val="C00000"/>
                </a:solidFill>
                <a:latin typeface="Times New Roman"/>
                <a:cs typeface="Times New Roman"/>
              </a:rPr>
              <a:t>con số trên dashboard</a:t>
            </a:r>
            <a:r>
              <a:rPr lang="vi-VN" sz="1800" b="0" i="0">
                <a:solidFill>
                  <a:srgbClr val="000000"/>
                </a:solidFill>
                <a:latin typeface="Times New Roman"/>
                <a:cs typeface="Times New Roman"/>
              </a:rPr>
              <a:t> làm chỗ dựa; khuyến nghị </a:t>
            </a:r>
            <a:r>
              <a:rPr lang="vi-VN" sz="1800" b="1" i="0">
                <a:solidFill>
                  <a:srgbClr val="123A7A"/>
                </a:solidFill>
                <a:latin typeface="Times New Roman"/>
                <a:cs typeface="Times New Roman"/>
              </a:rPr>
              <a:t>tương xứng</a:t>
            </a:r>
            <a:r>
              <a:rPr lang="vi-VN" sz="1800" b="0" i="0">
                <a:solidFill>
                  <a:srgbClr val="000000"/>
                </a:solidFill>
                <a:latin typeface="Times New Roman"/>
                <a:cs typeface="Times New Roman"/>
              </a:rPr>
              <a:t> bằng chứng</a:t>
            </a:r>
          </a:p>
        </p:txBody>
      </p:sp>
      <p:sp>
        <p:nvSpPr>
          <p:cNvPr id="474" name="Rounded Rectangle 473"/>
          <p:cNvSpPr/>
          <p:nvPr/>
        </p:nvSpPr>
        <p:spPr>
          <a:xfrm>
            <a:off x="365760" y="1417320"/>
            <a:ext cx="2788920" cy="4526280"/>
          </a:xfrm>
          <a:prstGeom prst="roundRect">
            <a:avLst>
              <a:gd name="adj" fmla="val 4000"/>
            </a:avLst>
          </a:prstGeom>
          <a:solidFill>
            <a:srgbClr val="FFFFFF"/>
          </a:solidFill>
          <a:ln w="19050">
            <a:solidFill>
              <a:srgbClr val="123A7A"/>
            </a:solidFill>
          </a:ln>
        </p:spPr>
        <p:txBody>
          <a:bodyPr wrap="square" lIns="73152" tIns="36576" rIns="73152" bIns="36576" rtlCol="0" anchor="ctr"/>
          <a:lstStyle/>
          <a:p>
            <a:pPr algn="ctr"/>
            <a:endParaRPr/>
          </a:p>
        </p:txBody>
      </p:sp>
      <p:sp>
        <p:nvSpPr>
          <p:cNvPr id="475" name="Rounded Rectangle 474"/>
          <p:cNvSpPr/>
          <p:nvPr/>
        </p:nvSpPr>
        <p:spPr>
          <a:xfrm>
            <a:off x="365760" y="1417320"/>
            <a:ext cx="2788920" cy="548640"/>
          </a:xfrm>
          <a:prstGeom prst="roundRect">
            <a:avLst>
              <a:gd name="adj" fmla="val 20000"/>
            </a:avLst>
          </a:prstGeom>
          <a:solidFill>
            <a:srgbClr val="123A7A"/>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Finding</a:t>
            </a:r>
          </a:p>
        </p:txBody>
      </p:sp>
      <p:sp>
        <p:nvSpPr>
          <p:cNvPr id="476" name="Oval 475"/>
          <p:cNvSpPr/>
          <p:nvPr/>
        </p:nvSpPr>
        <p:spPr>
          <a:xfrm>
            <a:off x="1371600" y="2103120"/>
            <a:ext cx="777240" cy="777240"/>
          </a:xfrm>
          <a:prstGeom prst="ellipse">
            <a:avLst/>
          </a:prstGeom>
          <a:solidFill>
            <a:srgbClr val="123A7A"/>
          </a:solidFill>
          <a:ln>
            <a:noFill/>
          </a:ln>
        </p:spPr>
        <p:txBody>
          <a:bodyPr wrap="square" lIns="0" tIns="0" rIns="0" bIns="0" rtlCol="0" anchor="ctr"/>
          <a:lstStyle/>
          <a:p>
            <a:pPr algn="ctr"/>
            <a:endParaRPr/>
          </a:p>
        </p:txBody>
      </p:sp>
      <p:pic>
        <p:nvPicPr>
          <p:cNvPr id="477" name="Picture 476" descr="FaSearch_w.png"/>
          <p:cNvPicPr>
            <a:picLocks noChangeAspect="1"/>
          </p:cNvPicPr>
          <p:nvPr/>
        </p:nvPicPr>
        <p:blipFill>
          <a:blip r:embed="rId4"/>
          <a:stretch>
            <a:fillRect/>
          </a:stretch>
        </p:blipFill>
        <p:spPr>
          <a:xfrm>
            <a:off x="1568196" y="2299715"/>
            <a:ext cx="384048" cy="384048"/>
          </a:xfrm>
          <a:prstGeom prst="rect">
            <a:avLst/>
          </a:prstGeom>
        </p:spPr>
      </p:pic>
      <p:sp>
        <p:nvSpPr>
          <p:cNvPr id="478" name="TextBox 477"/>
          <p:cNvSpPr txBox="1"/>
          <p:nvPr/>
        </p:nvSpPr>
        <p:spPr>
          <a:xfrm>
            <a:off x="457200" y="2971800"/>
            <a:ext cx="2606040" cy="91440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Dữ liệu cho thấy gì, ở nhóm nào, chênh bao nhiêu, tại ngày nào</a:t>
            </a:r>
          </a:p>
        </p:txBody>
      </p:sp>
      <p:sp>
        <p:nvSpPr>
          <p:cNvPr id="479" name="TextBox 478"/>
          <p:cNvSpPr txBox="1"/>
          <p:nvPr/>
        </p:nvSpPr>
        <p:spPr>
          <a:xfrm>
            <a:off x="457200" y="3886200"/>
            <a:ext cx="2606040" cy="2011680"/>
          </a:xfrm>
          <a:prstGeom prst="rect">
            <a:avLst/>
          </a:prstGeom>
          <a:noFill/>
        </p:spPr>
        <p:txBody>
          <a:bodyPr wrap="square" lIns="73152" tIns="36576" rIns="73152" bIns="36576" anchor="t"/>
          <a:lstStyle/>
          <a:p>
            <a:pPr algn="l"/>
            <a:r>
              <a:rPr lang="vi-VN" sz="1200" b="1" i="0">
                <a:solidFill>
                  <a:srgbClr val="123A7A"/>
                </a:solidFill>
                <a:latin typeface="Times New Roman"/>
                <a:cs typeface="Times New Roman"/>
              </a:rPr>
              <a:t>Ví dụ</a:t>
            </a:r>
          </a:p>
          <a:p>
            <a:pPr algn="l"/>
            <a:r>
              <a:rPr lang="vi-VN" sz="1300" b="0" i="1">
                <a:solidFill>
                  <a:srgbClr val="595959"/>
                </a:solidFill>
                <a:latin typeface="Times New Roman"/>
                <a:cs typeface="Times New Roman"/>
              </a:rPr>
              <a:t>OD3-5 tăng 0,25 điểm % (2,38% → 2,63%) so với cuối tháng trước; toàn bộ mức tăng đến từ một khoản vay chuyển từ nhóm 2 sang nhóm 3</a:t>
            </a:r>
          </a:p>
        </p:txBody>
      </p:sp>
      <p:sp>
        <p:nvSpPr>
          <p:cNvPr id="480" name="Rounded Rectangle 479"/>
          <p:cNvSpPr/>
          <p:nvPr/>
        </p:nvSpPr>
        <p:spPr>
          <a:xfrm>
            <a:off x="3264408" y="1417320"/>
            <a:ext cx="2788920" cy="4526280"/>
          </a:xfrm>
          <a:prstGeom prst="roundRect">
            <a:avLst>
              <a:gd name="adj" fmla="val 4000"/>
            </a:avLst>
          </a:prstGeom>
          <a:solidFill>
            <a:srgbClr val="FFFFFF"/>
          </a:solidFill>
          <a:ln w="19050">
            <a:solidFill>
              <a:srgbClr val="C55A11"/>
            </a:solidFill>
          </a:ln>
        </p:spPr>
        <p:txBody>
          <a:bodyPr wrap="square" lIns="73152" tIns="36576" rIns="73152" bIns="36576" rtlCol="0" anchor="ctr"/>
          <a:lstStyle/>
          <a:p>
            <a:pPr algn="ctr"/>
            <a:endParaRPr/>
          </a:p>
        </p:txBody>
      </p:sp>
      <p:sp>
        <p:nvSpPr>
          <p:cNvPr id="481" name="Rounded Rectangle 480"/>
          <p:cNvSpPr/>
          <p:nvPr/>
        </p:nvSpPr>
        <p:spPr>
          <a:xfrm>
            <a:off x="3264408" y="1417320"/>
            <a:ext cx="2788920" cy="548640"/>
          </a:xfrm>
          <a:prstGeom prst="roundRect">
            <a:avLst>
              <a:gd name="adj" fmla="val 20000"/>
            </a:avLst>
          </a:prstGeom>
          <a:solidFill>
            <a:srgbClr val="C55A1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Insight</a:t>
            </a:r>
          </a:p>
        </p:txBody>
      </p:sp>
      <p:sp>
        <p:nvSpPr>
          <p:cNvPr id="482" name="Oval 481"/>
          <p:cNvSpPr/>
          <p:nvPr/>
        </p:nvSpPr>
        <p:spPr>
          <a:xfrm>
            <a:off x="4270248" y="2103120"/>
            <a:ext cx="777240" cy="777240"/>
          </a:xfrm>
          <a:prstGeom prst="ellipse">
            <a:avLst/>
          </a:prstGeom>
          <a:solidFill>
            <a:srgbClr val="C55A11"/>
          </a:solidFill>
          <a:ln>
            <a:noFill/>
          </a:ln>
        </p:spPr>
        <p:txBody>
          <a:bodyPr wrap="square" lIns="0" tIns="0" rIns="0" bIns="0" rtlCol="0" anchor="ctr"/>
          <a:lstStyle/>
          <a:p>
            <a:pPr algn="ctr"/>
            <a:endParaRPr/>
          </a:p>
        </p:txBody>
      </p:sp>
      <p:pic>
        <p:nvPicPr>
          <p:cNvPr id="483" name="Picture 482" descr="FaLightbulb_w.png"/>
          <p:cNvPicPr>
            <a:picLocks noChangeAspect="1"/>
          </p:cNvPicPr>
          <p:nvPr/>
        </p:nvPicPr>
        <p:blipFill>
          <a:blip r:embed="rId5"/>
          <a:stretch>
            <a:fillRect/>
          </a:stretch>
        </p:blipFill>
        <p:spPr>
          <a:xfrm>
            <a:off x="4466844" y="2299715"/>
            <a:ext cx="384048" cy="384048"/>
          </a:xfrm>
          <a:prstGeom prst="rect">
            <a:avLst/>
          </a:prstGeom>
        </p:spPr>
      </p:pic>
      <p:sp>
        <p:nvSpPr>
          <p:cNvPr id="484" name="TextBox 483"/>
          <p:cNvSpPr txBox="1"/>
          <p:nvPr/>
        </p:nvSpPr>
        <p:spPr>
          <a:xfrm>
            <a:off x="3355848" y="2971800"/>
            <a:ext cx="2606040" cy="91440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Ý nghĩa với danh mục, không nhắc lại số</a:t>
            </a:r>
          </a:p>
        </p:txBody>
      </p:sp>
      <p:sp>
        <p:nvSpPr>
          <p:cNvPr id="485" name="TextBox 484"/>
          <p:cNvSpPr txBox="1"/>
          <p:nvPr/>
        </p:nvSpPr>
        <p:spPr>
          <a:xfrm>
            <a:off x="3355848" y="3886200"/>
            <a:ext cx="2606040" cy="2011680"/>
          </a:xfrm>
          <a:prstGeom prst="rect">
            <a:avLst/>
          </a:prstGeom>
          <a:noFill/>
        </p:spPr>
        <p:txBody>
          <a:bodyPr wrap="square" lIns="73152" tIns="36576" rIns="73152" bIns="36576" anchor="t"/>
          <a:lstStyle/>
          <a:p>
            <a:pPr algn="l"/>
            <a:r>
              <a:rPr lang="vi-VN" sz="1200" b="1" i="0">
                <a:solidFill>
                  <a:srgbClr val="C55A11"/>
                </a:solidFill>
                <a:latin typeface="Times New Roman"/>
                <a:cs typeface="Times New Roman"/>
              </a:rPr>
              <a:t>Ví dụ</a:t>
            </a:r>
          </a:p>
          <a:p>
            <a:pPr algn="l"/>
            <a:r>
              <a:rPr lang="vi-VN" sz="1300" b="0" i="1">
                <a:solidFill>
                  <a:srgbClr val="595959"/>
                </a:solidFill>
                <a:latin typeface="Times New Roman"/>
                <a:cs typeface="Times New Roman"/>
              </a:rPr>
              <a:t>Rủi ro và thu nhập tập trung vào một số ít khoản vay hoặc ĐVKD nên một khoản đủ làm lệch cả tỷ lệ</a:t>
            </a:r>
          </a:p>
        </p:txBody>
      </p:sp>
      <p:sp>
        <p:nvSpPr>
          <p:cNvPr id="486" name="Rounded Rectangle 485"/>
          <p:cNvSpPr/>
          <p:nvPr/>
        </p:nvSpPr>
        <p:spPr>
          <a:xfrm>
            <a:off x="6163056" y="1417320"/>
            <a:ext cx="2788920" cy="4526280"/>
          </a:xfrm>
          <a:prstGeom prst="roundRect">
            <a:avLst>
              <a:gd name="adj" fmla="val 4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87" name="Rounded Rectangle 486"/>
          <p:cNvSpPr/>
          <p:nvPr/>
        </p:nvSpPr>
        <p:spPr>
          <a:xfrm>
            <a:off x="6163056" y="1417320"/>
            <a:ext cx="2788920" cy="548640"/>
          </a:xfrm>
          <a:prstGeom prst="roundRect">
            <a:avLst>
              <a:gd name="adj" fmla="val 20000"/>
            </a:avLst>
          </a:prstGeom>
          <a:solidFill>
            <a:srgbClr val="2E5B31"/>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Recommendation</a:t>
            </a:r>
          </a:p>
        </p:txBody>
      </p:sp>
      <p:sp>
        <p:nvSpPr>
          <p:cNvPr id="488" name="Oval 487"/>
          <p:cNvSpPr/>
          <p:nvPr/>
        </p:nvSpPr>
        <p:spPr>
          <a:xfrm>
            <a:off x="7168896" y="2103120"/>
            <a:ext cx="777240" cy="777240"/>
          </a:xfrm>
          <a:prstGeom prst="ellipse">
            <a:avLst/>
          </a:prstGeom>
          <a:solidFill>
            <a:srgbClr val="2E5B31"/>
          </a:solidFill>
          <a:ln>
            <a:noFill/>
          </a:ln>
        </p:spPr>
        <p:txBody>
          <a:bodyPr wrap="square" lIns="0" tIns="0" rIns="0" bIns="0" rtlCol="0" anchor="ctr"/>
          <a:lstStyle/>
          <a:p>
            <a:pPr algn="ctr"/>
            <a:endParaRPr/>
          </a:p>
        </p:txBody>
      </p:sp>
      <p:pic>
        <p:nvPicPr>
          <p:cNvPr id="489" name="Picture 488" descr="FaFlag_w.png"/>
          <p:cNvPicPr>
            <a:picLocks noChangeAspect="1"/>
          </p:cNvPicPr>
          <p:nvPr/>
        </p:nvPicPr>
        <p:blipFill>
          <a:blip r:embed="rId6"/>
          <a:stretch>
            <a:fillRect/>
          </a:stretch>
        </p:blipFill>
        <p:spPr>
          <a:xfrm>
            <a:off x="7365492" y="2299715"/>
            <a:ext cx="384048" cy="384048"/>
          </a:xfrm>
          <a:prstGeom prst="rect">
            <a:avLst/>
          </a:prstGeom>
        </p:spPr>
      </p:pic>
      <p:sp>
        <p:nvSpPr>
          <p:cNvPr id="490" name="TextBox 489"/>
          <p:cNvSpPr txBox="1"/>
          <p:nvPr/>
        </p:nvSpPr>
        <p:spPr>
          <a:xfrm>
            <a:off x="6254496" y="2971800"/>
            <a:ext cx="2606040" cy="91440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Đối tượng ưu tiên, hành động đề xuất, chỉ số theo dõi</a:t>
            </a:r>
          </a:p>
        </p:txBody>
      </p:sp>
      <p:sp>
        <p:nvSpPr>
          <p:cNvPr id="491" name="TextBox 490"/>
          <p:cNvSpPr txBox="1"/>
          <p:nvPr/>
        </p:nvSpPr>
        <p:spPr>
          <a:xfrm>
            <a:off x="6254496" y="3886200"/>
            <a:ext cx="2606040" cy="2011680"/>
          </a:xfrm>
          <a:prstGeom prst="rect">
            <a:avLst/>
          </a:prstGeom>
          <a:noFill/>
        </p:spPr>
        <p:txBody>
          <a:bodyPr wrap="square" lIns="73152" tIns="36576" rIns="73152" bIns="36576" anchor="t"/>
          <a:lstStyle/>
          <a:p>
            <a:pPr algn="l"/>
            <a:r>
              <a:rPr lang="vi-VN" sz="1200" b="1" i="0">
                <a:solidFill>
                  <a:srgbClr val="2E5B31"/>
                </a:solidFill>
                <a:latin typeface="Times New Roman"/>
                <a:cs typeface="Times New Roman"/>
              </a:rPr>
              <a:t>Ví dụ</a:t>
            </a:r>
          </a:p>
          <a:p>
            <a:pPr algn="l"/>
            <a:r>
              <a:rPr lang="vi-VN" sz="1300" b="0" i="1">
                <a:solidFill>
                  <a:srgbClr val="595959"/>
                </a:solidFill>
                <a:latin typeface="Times New Roman"/>
                <a:cs typeface="Times New Roman"/>
              </a:rPr>
              <a:t>Rà soát nhóm khách [x]; theo dõi OD2 hằng tháng</a:t>
            </a:r>
          </a:p>
        </p:txBody>
      </p:sp>
      <p:sp>
        <p:nvSpPr>
          <p:cNvPr id="492" name="Rounded Rectangle 491"/>
          <p:cNvSpPr/>
          <p:nvPr/>
        </p:nvSpPr>
        <p:spPr>
          <a:xfrm>
            <a:off x="9061704" y="1417320"/>
            <a:ext cx="2788920" cy="4526280"/>
          </a:xfrm>
          <a:prstGeom prst="roundRect">
            <a:avLst>
              <a:gd name="adj" fmla="val 4000"/>
            </a:avLst>
          </a:prstGeom>
          <a:solidFill>
            <a:srgbClr val="FFFFFF"/>
          </a:solidFill>
          <a:ln w="19050">
            <a:solidFill>
              <a:srgbClr val="C00000"/>
            </a:solidFill>
          </a:ln>
        </p:spPr>
        <p:txBody>
          <a:bodyPr wrap="square" lIns="73152" tIns="36576" rIns="73152" bIns="36576" rtlCol="0" anchor="ctr"/>
          <a:lstStyle/>
          <a:p>
            <a:pPr algn="ctr"/>
            <a:endParaRPr/>
          </a:p>
        </p:txBody>
      </p:sp>
      <p:sp>
        <p:nvSpPr>
          <p:cNvPr id="493" name="Rounded Rectangle 492"/>
          <p:cNvSpPr/>
          <p:nvPr/>
        </p:nvSpPr>
        <p:spPr>
          <a:xfrm>
            <a:off x="9061704" y="1417320"/>
            <a:ext cx="2788920" cy="548640"/>
          </a:xfrm>
          <a:prstGeom prst="roundRect">
            <a:avLst>
              <a:gd name="adj" fmla="val 20000"/>
            </a:avLst>
          </a:prstGeom>
          <a:solidFill>
            <a:srgbClr val="C00000"/>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Limitation &amp; Next Step</a:t>
            </a:r>
          </a:p>
        </p:txBody>
      </p:sp>
      <p:sp>
        <p:nvSpPr>
          <p:cNvPr id="494" name="Oval 493"/>
          <p:cNvSpPr/>
          <p:nvPr/>
        </p:nvSpPr>
        <p:spPr>
          <a:xfrm>
            <a:off x="10067544" y="2103120"/>
            <a:ext cx="777240" cy="777240"/>
          </a:xfrm>
          <a:prstGeom prst="ellipse">
            <a:avLst/>
          </a:prstGeom>
          <a:solidFill>
            <a:srgbClr val="C00000"/>
          </a:solidFill>
          <a:ln>
            <a:noFill/>
          </a:ln>
        </p:spPr>
        <p:txBody>
          <a:bodyPr wrap="square" lIns="0" tIns="0" rIns="0" bIns="0" rtlCol="0" anchor="ctr"/>
          <a:lstStyle/>
          <a:p>
            <a:pPr algn="ctr"/>
            <a:endParaRPr/>
          </a:p>
        </p:txBody>
      </p:sp>
      <p:pic>
        <p:nvPicPr>
          <p:cNvPr id="495" name="Picture 494" descr="FaRoute_w.png"/>
          <p:cNvPicPr>
            <a:picLocks noChangeAspect="1"/>
          </p:cNvPicPr>
          <p:nvPr/>
        </p:nvPicPr>
        <p:blipFill>
          <a:blip r:embed="rId7"/>
          <a:stretch>
            <a:fillRect/>
          </a:stretch>
        </p:blipFill>
        <p:spPr>
          <a:xfrm>
            <a:off x="10264140" y="2299715"/>
            <a:ext cx="384048" cy="384048"/>
          </a:xfrm>
          <a:prstGeom prst="rect">
            <a:avLst/>
          </a:prstGeom>
        </p:spPr>
      </p:pic>
      <p:sp>
        <p:nvSpPr>
          <p:cNvPr id="496" name="TextBox 495"/>
          <p:cNvSpPr txBox="1"/>
          <p:nvPr/>
        </p:nvSpPr>
        <p:spPr>
          <a:xfrm>
            <a:off x="9153144" y="2971800"/>
            <a:ext cx="2606040" cy="914400"/>
          </a:xfrm>
          <a:prstGeom prst="rect">
            <a:avLst/>
          </a:prstGeom>
          <a:noFill/>
        </p:spPr>
        <p:txBody>
          <a:bodyPr wrap="square" lIns="73152" tIns="36576" rIns="73152" bIns="36576" anchor="t"/>
          <a:lstStyle/>
          <a:p>
            <a:pPr algn="ctr"/>
            <a:r>
              <a:rPr lang="vi-VN" sz="1350" b="0" i="0">
                <a:solidFill>
                  <a:srgbClr val="222222"/>
                </a:solidFill>
                <a:latin typeface="Times New Roman"/>
                <a:cs typeface="Times New Roman"/>
              </a:rPr>
              <a:t>Giới hạn có thể ảnh hưởng kết luận và bước kiểm tra tiếp theo</a:t>
            </a:r>
          </a:p>
        </p:txBody>
      </p:sp>
      <p:sp>
        <p:nvSpPr>
          <p:cNvPr id="497" name="TextBox 496"/>
          <p:cNvSpPr txBox="1"/>
          <p:nvPr/>
        </p:nvSpPr>
        <p:spPr>
          <a:xfrm>
            <a:off x="9153144" y="3886200"/>
            <a:ext cx="2606040" cy="2011680"/>
          </a:xfrm>
          <a:prstGeom prst="rect">
            <a:avLst/>
          </a:prstGeom>
          <a:noFill/>
        </p:spPr>
        <p:txBody>
          <a:bodyPr wrap="square" lIns="73152" tIns="36576" rIns="73152" bIns="36576" anchor="t"/>
          <a:lstStyle/>
          <a:p>
            <a:pPr algn="l"/>
            <a:r>
              <a:rPr lang="vi-VN" sz="1200" b="1" i="0">
                <a:solidFill>
                  <a:srgbClr val="C00000"/>
                </a:solidFill>
                <a:latin typeface="Times New Roman"/>
                <a:cs typeface="Times New Roman"/>
              </a:rPr>
              <a:t>Ví dụ</a:t>
            </a:r>
          </a:p>
          <a:p>
            <a:pPr algn="l"/>
            <a:r>
              <a:rPr lang="vi-VN" sz="1300" b="0" i="1">
                <a:solidFill>
                  <a:srgbClr val="595959"/>
                </a:solidFill>
                <a:latin typeface="Times New Roman"/>
                <a:cs typeface="Times New Roman"/>
              </a:rPr>
              <a:t>Dữ liệu chỉ có ngày cuối tháng nên không thấy biến động trong tháng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Báo cáo đầu ra và thang chấm điểm</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56</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Hai sản phẩm cần nộp và cấu trúc báo cáo</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Báo cáo bám theo </a:t>
            </a:r>
            <a:r>
              <a:rPr lang="vi-VN" sz="1800" b="1" i="0">
                <a:solidFill>
                  <a:srgbClr val="123A7A"/>
                </a:solidFill>
                <a:latin typeface="Times New Roman"/>
                <a:cs typeface="Times New Roman"/>
              </a:rPr>
              <a:t>guide_report_template</a:t>
            </a:r>
            <a:r>
              <a:rPr lang="vi-VN" sz="1800" b="0" i="0">
                <a:solidFill>
                  <a:srgbClr val="000000"/>
                </a:solidFill>
                <a:latin typeface="Times New Roman"/>
                <a:cs typeface="Times New Roman"/>
              </a:rPr>
              <a:t>: 8 phần + Phụ lục</a:t>
            </a:r>
          </a:p>
        </p:txBody>
      </p:sp>
      <p:sp>
        <p:nvSpPr>
          <p:cNvPr id="474" name="Rounded Rectangle 473"/>
          <p:cNvSpPr/>
          <p:nvPr/>
        </p:nvSpPr>
        <p:spPr>
          <a:xfrm>
            <a:off x="365760" y="1417320"/>
            <a:ext cx="3931920" cy="1828800"/>
          </a:xfrm>
          <a:prstGeom prst="roundRect">
            <a:avLst>
              <a:gd name="adj" fmla="val 6000"/>
            </a:avLst>
          </a:prstGeom>
          <a:solidFill>
            <a:srgbClr val="E2F0D9"/>
          </a:solidFill>
          <a:ln w="19050">
            <a:solidFill>
              <a:srgbClr val="2E5B31"/>
            </a:solidFill>
          </a:ln>
        </p:spPr>
        <p:txBody>
          <a:bodyPr wrap="square" lIns="73152" tIns="36576" rIns="73152" bIns="36576" rtlCol="0" anchor="ctr"/>
          <a:lstStyle/>
          <a:p>
            <a:pPr algn="ctr"/>
            <a:endParaRPr/>
          </a:p>
        </p:txBody>
      </p:sp>
      <p:sp>
        <p:nvSpPr>
          <p:cNvPr id="475" name="Oval 474"/>
          <p:cNvSpPr/>
          <p:nvPr/>
        </p:nvSpPr>
        <p:spPr>
          <a:xfrm>
            <a:off x="548640" y="1600200"/>
            <a:ext cx="731520" cy="731520"/>
          </a:xfrm>
          <a:prstGeom prst="ellipse">
            <a:avLst/>
          </a:prstGeom>
          <a:solidFill>
            <a:srgbClr val="2E5B31"/>
          </a:solidFill>
          <a:ln>
            <a:noFill/>
          </a:ln>
        </p:spPr>
        <p:txBody>
          <a:bodyPr wrap="square" lIns="0" tIns="0" rIns="0" bIns="0" rtlCol="0" anchor="ctr"/>
          <a:lstStyle/>
          <a:p>
            <a:pPr algn="ctr"/>
            <a:endParaRPr/>
          </a:p>
        </p:txBody>
      </p:sp>
      <p:pic>
        <p:nvPicPr>
          <p:cNvPr id="476" name="Picture 475" descr="FaChartPie_w.png"/>
          <p:cNvPicPr>
            <a:picLocks noChangeAspect="1"/>
          </p:cNvPicPr>
          <p:nvPr/>
        </p:nvPicPr>
        <p:blipFill>
          <a:blip r:embed="rId4"/>
          <a:stretch>
            <a:fillRect/>
          </a:stretch>
        </p:blipFill>
        <p:spPr>
          <a:xfrm>
            <a:off x="722376" y="1773936"/>
            <a:ext cx="384048" cy="384048"/>
          </a:xfrm>
          <a:prstGeom prst="rect">
            <a:avLst/>
          </a:prstGeom>
        </p:spPr>
      </p:pic>
      <p:sp>
        <p:nvSpPr>
          <p:cNvPr id="477" name="TextBox 476"/>
          <p:cNvSpPr txBox="1"/>
          <p:nvPr/>
        </p:nvSpPr>
        <p:spPr>
          <a:xfrm>
            <a:off x="1417320" y="1554480"/>
            <a:ext cx="2834640" cy="731520"/>
          </a:xfrm>
          <a:prstGeom prst="rect">
            <a:avLst/>
          </a:prstGeom>
          <a:noFill/>
        </p:spPr>
        <p:txBody>
          <a:bodyPr wrap="square" lIns="73152" tIns="36576" rIns="73152" bIns="36576" anchor="ctr"/>
          <a:lstStyle/>
          <a:p>
            <a:pPr algn="l"/>
            <a:r>
              <a:rPr lang="vi-VN" sz="1700" b="1" i="0">
                <a:solidFill>
                  <a:srgbClr val="2E5B31"/>
                </a:solidFill>
                <a:latin typeface="Times New Roman"/>
                <a:cs typeface="Times New Roman"/>
              </a:rPr>
              <a:t>1  File Power BI</a:t>
            </a:r>
          </a:p>
        </p:txBody>
      </p:sp>
      <p:sp>
        <p:nvSpPr>
          <p:cNvPr id="478" name="TextBox 477"/>
          <p:cNvSpPr txBox="1"/>
          <p:nvPr/>
        </p:nvSpPr>
        <p:spPr>
          <a:xfrm>
            <a:off x="548640" y="2377440"/>
            <a:ext cx="3611880" cy="822960"/>
          </a:xfrm>
          <a:prstGeom prst="rect">
            <a:avLst/>
          </a:prstGeom>
          <a:noFill/>
        </p:spPr>
        <p:txBody>
          <a:bodyPr wrap="square" lIns="73152" tIns="36576" rIns="73152" bIns="36576" anchor="t"/>
          <a:lstStyle/>
          <a:p>
            <a:pPr algn="l"/>
            <a:r>
              <a:rPr lang="vi-VN" sz="1500" b="0" i="0">
                <a:solidFill>
                  <a:srgbClr val="222222"/>
                </a:solidFill>
                <a:latin typeface="Times New Roman"/>
                <a:cs typeface="Times New Roman"/>
              </a:rPr>
              <a:t>Dashboard 4 trang: Tổng quan, Dư nợ, NII/TOI, CLTD</a:t>
            </a:r>
          </a:p>
        </p:txBody>
      </p:sp>
      <p:sp>
        <p:nvSpPr>
          <p:cNvPr id="479" name="Rounded Rectangle 478"/>
          <p:cNvSpPr/>
          <p:nvPr/>
        </p:nvSpPr>
        <p:spPr>
          <a:xfrm>
            <a:off x="365760" y="3383280"/>
            <a:ext cx="3931920" cy="1554480"/>
          </a:xfrm>
          <a:prstGeom prst="roundRect">
            <a:avLst>
              <a:gd name="adj" fmla="val 6000"/>
            </a:avLst>
          </a:prstGeom>
          <a:solidFill>
            <a:srgbClr val="FBE5D6"/>
          </a:solidFill>
          <a:ln w="19050">
            <a:solidFill>
              <a:srgbClr val="C55A11"/>
            </a:solidFill>
          </a:ln>
        </p:spPr>
        <p:txBody>
          <a:bodyPr wrap="square" lIns="73152" tIns="36576" rIns="73152" bIns="36576" rtlCol="0" anchor="ctr"/>
          <a:lstStyle/>
          <a:p>
            <a:pPr algn="ctr"/>
            <a:endParaRPr/>
          </a:p>
        </p:txBody>
      </p:sp>
      <p:sp>
        <p:nvSpPr>
          <p:cNvPr id="480" name="Oval 479"/>
          <p:cNvSpPr/>
          <p:nvPr/>
        </p:nvSpPr>
        <p:spPr>
          <a:xfrm>
            <a:off x="548640" y="3566160"/>
            <a:ext cx="731520" cy="731520"/>
          </a:xfrm>
          <a:prstGeom prst="ellipse">
            <a:avLst/>
          </a:prstGeom>
          <a:solidFill>
            <a:srgbClr val="C55A11"/>
          </a:solidFill>
          <a:ln>
            <a:noFill/>
          </a:ln>
        </p:spPr>
        <p:txBody>
          <a:bodyPr wrap="square" lIns="0" tIns="0" rIns="0" bIns="0" rtlCol="0" anchor="ctr"/>
          <a:lstStyle/>
          <a:p>
            <a:pPr algn="ctr"/>
            <a:endParaRPr/>
          </a:p>
        </p:txBody>
      </p:sp>
      <p:pic>
        <p:nvPicPr>
          <p:cNvPr id="481" name="Picture 480" descr="FaFileAlt_w.png"/>
          <p:cNvPicPr>
            <a:picLocks noChangeAspect="1"/>
          </p:cNvPicPr>
          <p:nvPr/>
        </p:nvPicPr>
        <p:blipFill>
          <a:blip r:embed="rId5"/>
          <a:stretch>
            <a:fillRect/>
          </a:stretch>
        </p:blipFill>
        <p:spPr>
          <a:xfrm>
            <a:off x="722376" y="3739896"/>
            <a:ext cx="384048" cy="384048"/>
          </a:xfrm>
          <a:prstGeom prst="rect">
            <a:avLst/>
          </a:prstGeom>
        </p:spPr>
      </p:pic>
      <p:sp>
        <p:nvSpPr>
          <p:cNvPr id="482" name="TextBox 481"/>
          <p:cNvSpPr txBox="1"/>
          <p:nvPr/>
        </p:nvSpPr>
        <p:spPr>
          <a:xfrm>
            <a:off x="1417320" y="3566160"/>
            <a:ext cx="2834640" cy="731520"/>
          </a:xfrm>
          <a:prstGeom prst="rect">
            <a:avLst/>
          </a:prstGeom>
          <a:noFill/>
        </p:spPr>
        <p:txBody>
          <a:bodyPr wrap="square" lIns="73152" tIns="36576" rIns="73152" bIns="36576" anchor="ctr"/>
          <a:lstStyle/>
          <a:p>
            <a:pPr algn="l"/>
            <a:r>
              <a:rPr lang="vi-VN" sz="1700" b="1" i="0">
                <a:solidFill>
                  <a:srgbClr val="C55A11"/>
                </a:solidFill>
                <a:latin typeface="Times New Roman"/>
                <a:cs typeface="Times New Roman"/>
              </a:rPr>
              <a:t>2  Báo cáo phân tích</a:t>
            </a:r>
          </a:p>
        </p:txBody>
      </p:sp>
      <p:sp>
        <p:nvSpPr>
          <p:cNvPr id="483" name="TextBox 482"/>
          <p:cNvSpPr txBox="1"/>
          <p:nvPr/>
        </p:nvSpPr>
        <p:spPr>
          <a:xfrm>
            <a:off x="548640" y="4389120"/>
            <a:ext cx="3611880" cy="548640"/>
          </a:xfrm>
          <a:prstGeom prst="rect">
            <a:avLst/>
          </a:prstGeom>
          <a:noFill/>
        </p:spPr>
        <p:txBody>
          <a:bodyPr wrap="square" lIns="73152" tIns="36576" rIns="73152" bIns="36576" anchor="t"/>
          <a:lstStyle/>
          <a:p>
            <a:pPr algn="l"/>
            <a:r>
              <a:rPr lang="vi-VN" sz="1500" b="0" i="0">
                <a:solidFill>
                  <a:srgbClr val="222222"/>
                </a:solidFill>
                <a:latin typeface="Times New Roman"/>
                <a:cs typeface="Times New Roman"/>
              </a:rPr>
              <a:t>8 phần kèm Phụ lục</a:t>
            </a:r>
          </a:p>
        </p:txBody>
      </p:sp>
      <p:sp>
        <p:nvSpPr>
          <p:cNvPr id="484" name="TextBox 483"/>
          <p:cNvSpPr txBox="1"/>
          <p:nvPr/>
        </p:nvSpPr>
        <p:spPr>
          <a:xfrm>
            <a:off x="365760" y="5074920"/>
            <a:ext cx="3931920" cy="960120"/>
          </a:xfrm>
          <a:prstGeom prst="rect">
            <a:avLst/>
          </a:prstGeom>
          <a:noFill/>
        </p:spPr>
        <p:txBody>
          <a:bodyPr wrap="square" lIns="45720" tIns="0" rIns="0" bIns="0" anchor="t"/>
          <a:lstStyle/>
          <a:p>
            <a:pPr algn="l"/>
            <a:r>
              <a:rPr lang="vi-VN" sz="1200" b="0" i="0">
                <a:solidFill>
                  <a:srgbClr val="595959"/>
                </a:solidFill>
                <a:latin typeface="Times New Roman"/>
                <a:cs typeface="Times New Roman"/>
              </a:rPr>
              <a:t>☐ File mở được và làm mới được</a:t>
            </a:r>
          </a:p>
          <a:p>
            <a:pPr algn="l"/>
            <a:r>
              <a:rPr lang="vi-VN" sz="1200" b="0" i="0">
                <a:solidFill>
                  <a:srgbClr val="595959"/>
                </a:solidFill>
                <a:latin typeface="Times New Roman"/>
                <a:cs typeface="Times New Roman"/>
              </a:rPr>
              <a:t>☐ 4 trang đúng yêu cầu Phần 2</a:t>
            </a:r>
          </a:p>
          <a:p>
            <a:pPr algn="l"/>
            <a:r>
              <a:rPr lang="vi-VN" sz="1200" b="0" i="0">
                <a:solidFill>
                  <a:srgbClr val="595959"/>
                </a:solidFill>
                <a:latin typeface="Times New Roman"/>
                <a:cs typeface="Times New Roman"/>
              </a:rPr>
              <a:t>☐ Mọi số trong báo cáo truy được về một biểu đồ / bảng</a:t>
            </a:r>
          </a:p>
        </p:txBody>
      </p:sp>
      <p:sp>
        <p:nvSpPr>
          <p:cNvPr id="485" name="Rounded Rectangle 484"/>
          <p:cNvSpPr/>
          <p:nvPr/>
        </p:nvSpPr>
        <p:spPr>
          <a:xfrm>
            <a:off x="4526280" y="1417320"/>
            <a:ext cx="7296912" cy="411480"/>
          </a:xfrm>
          <a:prstGeom prst="roundRect">
            <a:avLst>
              <a:gd name="adj" fmla="val 25000"/>
            </a:avLst>
          </a:prstGeom>
          <a:solidFill>
            <a:srgbClr val="1A365D"/>
          </a:solidFill>
          <a:ln>
            <a:noFill/>
          </a:ln>
        </p:spPr>
        <p:txBody>
          <a:bodyPr wrap="square" lIns="73152" tIns="36576" rIns="73152" bIns="36576" rtlCol="0" anchor="ctr"/>
          <a:lstStyle/>
          <a:p>
            <a:pPr algn="ctr"/>
            <a:r>
              <a:rPr lang="vi-VN" sz="1500" b="1" i="0">
                <a:solidFill>
                  <a:srgbClr val="FFFFFF"/>
                </a:solidFill>
                <a:latin typeface="Times New Roman"/>
                <a:cs typeface="Times New Roman"/>
              </a:rPr>
              <a:t>Cấu trúc báo cáo</a:t>
            </a:r>
          </a:p>
        </p:txBody>
      </p:sp>
      <p:sp>
        <p:nvSpPr>
          <p:cNvPr id="486" name="Rounded Rectangle 485"/>
          <p:cNvSpPr/>
          <p:nvPr/>
        </p:nvSpPr>
        <p:spPr>
          <a:xfrm>
            <a:off x="4526280" y="1920240"/>
            <a:ext cx="2377440" cy="1280160"/>
          </a:xfrm>
          <a:prstGeom prst="roundRect">
            <a:avLst>
              <a:gd name="adj" fmla="val 8000"/>
            </a:avLst>
          </a:prstGeom>
          <a:solidFill>
            <a:srgbClr val="FFFFFF"/>
          </a:solidFill>
          <a:ln w="19050">
            <a:solidFill>
              <a:srgbClr val="595959"/>
            </a:solidFill>
            <a:prstDash val="dash"/>
          </a:ln>
        </p:spPr>
        <p:txBody>
          <a:bodyPr wrap="square" lIns="73152" tIns="36576" rIns="73152" bIns="36576" rtlCol="0" anchor="ctr"/>
          <a:lstStyle/>
          <a:p>
            <a:pPr algn="ctr"/>
            <a:endParaRPr/>
          </a:p>
        </p:txBody>
      </p:sp>
      <p:sp>
        <p:nvSpPr>
          <p:cNvPr id="487" name="Oval 486"/>
          <p:cNvSpPr/>
          <p:nvPr/>
        </p:nvSpPr>
        <p:spPr>
          <a:xfrm>
            <a:off x="4617720" y="2011680"/>
            <a:ext cx="457200" cy="457200"/>
          </a:xfrm>
          <a:prstGeom prst="ellipse">
            <a:avLst/>
          </a:prstGeom>
          <a:solidFill>
            <a:srgbClr val="595959"/>
          </a:solidFill>
          <a:ln>
            <a:noFill/>
          </a:ln>
        </p:spPr>
        <p:txBody>
          <a:bodyPr wrap="square" lIns="0" tIns="0" rIns="0" bIns="0" rtlCol="0" anchor="ctr"/>
          <a:lstStyle/>
          <a:p>
            <a:pPr algn="ctr"/>
            <a:r>
              <a:rPr lang="vi-VN" sz="1400" b="1" i="0">
                <a:solidFill>
                  <a:srgbClr val="FFFFFF"/>
                </a:solidFill>
                <a:latin typeface="Times New Roman"/>
                <a:cs typeface="Times New Roman"/>
              </a:rPr>
              <a:t>I</a:t>
            </a:r>
          </a:p>
        </p:txBody>
      </p:sp>
      <p:sp>
        <p:nvSpPr>
          <p:cNvPr id="488" name="TextBox 487"/>
          <p:cNvSpPr txBox="1"/>
          <p:nvPr/>
        </p:nvSpPr>
        <p:spPr>
          <a:xfrm>
            <a:off x="4617720" y="2514600"/>
            <a:ext cx="2194560" cy="640080"/>
          </a:xfrm>
          <a:prstGeom prst="rect">
            <a:avLst/>
          </a:prstGeom>
          <a:noFill/>
        </p:spPr>
        <p:txBody>
          <a:bodyPr wrap="square" lIns="73152" tIns="36576" rIns="73152" bIns="36576" anchor="ctr"/>
          <a:lstStyle/>
          <a:p>
            <a:pPr algn="ctr"/>
            <a:r>
              <a:rPr lang="vi-VN" sz="1350" b="0" i="1">
                <a:solidFill>
                  <a:srgbClr val="7F7F7F"/>
                </a:solidFill>
                <a:latin typeface="Times New Roman"/>
                <a:cs typeface="Times New Roman"/>
              </a:rPr>
              <a:t>[Mục I]</a:t>
            </a:r>
          </a:p>
        </p:txBody>
      </p:sp>
      <p:sp>
        <p:nvSpPr>
          <p:cNvPr id="489" name="Rounded Rectangle 488"/>
          <p:cNvSpPr/>
          <p:nvPr/>
        </p:nvSpPr>
        <p:spPr>
          <a:xfrm>
            <a:off x="6995160" y="1920240"/>
            <a:ext cx="2377440" cy="1280160"/>
          </a:xfrm>
          <a:prstGeom prst="roundRect">
            <a:avLst>
              <a:gd name="adj" fmla="val 8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90" name="Oval 489"/>
          <p:cNvSpPr/>
          <p:nvPr/>
        </p:nvSpPr>
        <p:spPr>
          <a:xfrm>
            <a:off x="7086600" y="2011680"/>
            <a:ext cx="457200" cy="457200"/>
          </a:xfrm>
          <a:prstGeom prst="ellipse">
            <a:avLst/>
          </a:prstGeom>
          <a:solidFill>
            <a:srgbClr val="2E5B31"/>
          </a:solidFill>
          <a:ln>
            <a:noFill/>
          </a:ln>
        </p:spPr>
        <p:txBody>
          <a:bodyPr wrap="square" lIns="0" tIns="0" rIns="0" bIns="0" rtlCol="0" anchor="ctr"/>
          <a:lstStyle/>
          <a:p>
            <a:pPr algn="ctr"/>
            <a:r>
              <a:rPr lang="vi-VN" sz="1400" b="1" i="0">
                <a:solidFill>
                  <a:srgbClr val="FFFFFF"/>
                </a:solidFill>
                <a:latin typeface="Times New Roman"/>
                <a:cs typeface="Times New Roman"/>
              </a:rPr>
              <a:t>II</a:t>
            </a:r>
          </a:p>
        </p:txBody>
      </p:sp>
      <p:sp>
        <p:nvSpPr>
          <p:cNvPr id="491" name="TextBox 490"/>
          <p:cNvSpPr txBox="1"/>
          <p:nvPr/>
        </p:nvSpPr>
        <p:spPr>
          <a:xfrm>
            <a:off x="7086600" y="2514600"/>
            <a:ext cx="2194560" cy="640080"/>
          </a:xfrm>
          <a:prstGeom prst="rect">
            <a:avLst/>
          </a:prstGeom>
          <a:noFill/>
        </p:spPr>
        <p:txBody>
          <a:bodyPr wrap="square" lIns="73152" tIns="36576" rIns="73152" bIns="36576" anchor="ctr"/>
          <a:lstStyle/>
          <a:p>
            <a:pPr algn="ctr"/>
            <a:r>
              <a:rPr lang="vi-VN" sz="1350" b="1" i="0">
                <a:solidFill>
                  <a:srgbClr val="2E5B31"/>
                </a:solidFill>
                <a:latin typeface="Times New Roman"/>
                <a:cs typeface="Times New Roman"/>
              </a:rPr>
              <a:t>Data &amp; Preparation</a:t>
            </a:r>
          </a:p>
        </p:txBody>
      </p:sp>
      <p:sp>
        <p:nvSpPr>
          <p:cNvPr id="492" name="Rounded Rectangle 491"/>
          <p:cNvSpPr/>
          <p:nvPr/>
        </p:nvSpPr>
        <p:spPr>
          <a:xfrm>
            <a:off x="9464040" y="1920240"/>
            <a:ext cx="2377440" cy="1280160"/>
          </a:xfrm>
          <a:prstGeom prst="roundRect">
            <a:avLst>
              <a:gd name="adj" fmla="val 8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493" name="Oval 492"/>
          <p:cNvSpPr/>
          <p:nvPr/>
        </p:nvSpPr>
        <p:spPr>
          <a:xfrm>
            <a:off x="9555480" y="2011680"/>
            <a:ext cx="457200" cy="457200"/>
          </a:xfrm>
          <a:prstGeom prst="ellipse">
            <a:avLst/>
          </a:prstGeom>
          <a:solidFill>
            <a:srgbClr val="2E5B31"/>
          </a:solidFill>
          <a:ln>
            <a:noFill/>
          </a:ln>
        </p:spPr>
        <p:txBody>
          <a:bodyPr wrap="square" lIns="0" tIns="0" rIns="0" bIns="0" rtlCol="0" anchor="ctr"/>
          <a:lstStyle/>
          <a:p>
            <a:pPr algn="ctr"/>
            <a:r>
              <a:rPr lang="vi-VN" sz="1400" b="1" i="0">
                <a:solidFill>
                  <a:srgbClr val="FFFFFF"/>
                </a:solidFill>
                <a:latin typeface="Times New Roman"/>
                <a:cs typeface="Times New Roman"/>
              </a:rPr>
              <a:t>III</a:t>
            </a:r>
          </a:p>
        </p:txBody>
      </p:sp>
      <p:sp>
        <p:nvSpPr>
          <p:cNvPr id="494" name="TextBox 493"/>
          <p:cNvSpPr txBox="1"/>
          <p:nvPr/>
        </p:nvSpPr>
        <p:spPr>
          <a:xfrm>
            <a:off x="9555480" y="2514600"/>
            <a:ext cx="2194560" cy="640080"/>
          </a:xfrm>
          <a:prstGeom prst="rect">
            <a:avLst/>
          </a:prstGeom>
          <a:noFill/>
        </p:spPr>
        <p:txBody>
          <a:bodyPr wrap="square" lIns="73152" tIns="36576" rIns="73152" bIns="36576" anchor="ctr"/>
          <a:lstStyle/>
          <a:p>
            <a:pPr algn="ctr"/>
            <a:r>
              <a:rPr lang="vi-VN" sz="1350" b="1" i="0">
                <a:solidFill>
                  <a:srgbClr val="2E5B31"/>
                </a:solidFill>
                <a:latin typeface="Times New Roman"/>
                <a:cs typeface="Times New Roman"/>
              </a:rPr>
              <a:t>Khám phá dữ liệu</a:t>
            </a:r>
          </a:p>
        </p:txBody>
      </p:sp>
      <p:sp>
        <p:nvSpPr>
          <p:cNvPr id="495" name="Rounded Rectangle 494"/>
          <p:cNvSpPr/>
          <p:nvPr/>
        </p:nvSpPr>
        <p:spPr>
          <a:xfrm>
            <a:off x="4526280" y="3291840"/>
            <a:ext cx="2377440" cy="1280160"/>
          </a:xfrm>
          <a:prstGeom prst="roundRect">
            <a:avLst>
              <a:gd name="adj" fmla="val 8000"/>
            </a:avLst>
          </a:prstGeom>
          <a:solidFill>
            <a:srgbClr val="FFFFFF"/>
          </a:solidFill>
          <a:ln w="19050">
            <a:solidFill>
              <a:srgbClr val="595959"/>
            </a:solidFill>
            <a:prstDash val="dash"/>
          </a:ln>
        </p:spPr>
        <p:txBody>
          <a:bodyPr wrap="square" lIns="73152" tIns="36576" rIns="73152" bIns="36576" rtlCol="0" anchor="ctr"/>
          <a:lstStyle/>
          <a:p>
            <a:pPr algn="ctr"/>
            <a:endParaRPr/>
          </a:p>
        </p:txBody>
      </p:sp>
      <p:sp>
        <p:nvSpPr>
          <p:cNvPr id="496" name="Oval 495"/>
          <p:cNvSpPr/>
          <p:nvPr/>
        </p:nvSpPr>
        <p:spPr>
          <a:xfrm>
            <a:off x="4617720" y="3383280"/>
            <a:ext cx="457200" cy="457200"/>
          </a:xfrm>
          <a:prstGeom prst="ellipse">
            <a:avLst/>
          </a:prstGeom>
          <a:solidFill>
            <a:srgbClr val="595959"/>
          </a:solidFill>
          <a:ln>
            <a:noFill/>
          </a:ln>
        </p:spPr>
        <p:txBody>
          <a:bodyPr wrap="square" lIns="0" tIns="0" rIns="0" bIns="0" rtlCol="0" anchor="ctr"/>
          <a:lstStyle/>
          <a:p>
            <a:pPr algn="ctr"/>
            <a:r>
              <a:rPr lang="vi-VN" sz="1400" b="1" i="0">
                <a:solidFill>
                  <a:srgbClr val="FFFFFF"/>
                </a:solidFill>
                <a:latin typeface="Times New Roman"/>
                <a:cs typeface="Times New Roman"/>
              </a:rPr>
              <a:t>IV</a:t>
            </a:r>
          </a:p>
        </p:txBody>
      </p:sp>
      <p:sp>
        <p:nvSpPr>
          <p:cNvPr id="497" name="TextBox 496"/>
          <p:cNvSpPr txBox="1"/>
          <p:nvPr/>
        </p:nvSpPr>
        <p:spPr>
          <a:xfrm>
            <a:off x="4617720" y="3886200"/>
            <a:ext cx="2194560" cy="640080"/>
          </a:xfrm>
          <a:prstGeom prst="rect">
            <a:avLst/>
          </a:prstGeom>
          <a:noFill/>
        </p:spPr>
        <p:txBody>
          <a:bodyPr wrap="square" lIns="73152" tIns="36576" rIns="73152" bIns="36576" anchor="ctr"/>
          <a:lstStyle/>
          <a:p>
            <a:pPr algn="ctr"/>
            <a:r>
              <a:rPr lang="vi-VN" sz="1350" b="0" i="1">
                <a:solidFill>
                  <a:srgbClr val="7F7F7F"/>
                </a:solidFill>
                <a:latin typeface="Times New Roman"/>
                <a:cs typeface="Times New Roman"/>
              </a:rPr>
              <a:t>[Mục IV]</a:t>
            </a:r>
          </a:p>
        </p:txBody>
      </p:sp>
      <p:sp>
        <p:nvSpPr>
          <p:cNvPr id="498" name="Rounded Rectangle 497"/>
          <p:cNvSpPr/>
          <p:nvPr/>
        </p:nvSpPr>
        <p:spPr>
          <a:xfrm>
            <a:off x="6995160" y="3291840"/>
            <a:ext cx="2377440" cy="1280160"/>
          </a:xfrm>
          <a:prstGeom prst="roundRect">
            <a:avLst>
              <a:gd name="adj" fmla="val 8000"/>
            </a:avLst>
          </a:prstGeom>
          <a:solidFill>
            <a:srgbClr val="FFFFFF"/>
          </a:solidFill>
          <a:ln w="19050">
            <a:solidFill>
              <a:srgbClr val="595959"/>
            </a:solidFill>
            <a:prstDash val="dash"/>
          </a:ln>
        </p:spPr>
        <p:txBody>
          <a:bodyPr wrap="square" lIns="73152" tIns="36576" rIns="73152" bIns="36576" rtlCol="0" anchor="ctr"/>
          <a:lstStyle/>
          <a:p>
            <a:pPr algn="ctr"/>
            <a:endParaRPr/>
          </a:p>
        </p:txBody>
      </p:sp>
      <p:sp>
        <p:nvSpPr>
          <p:cNvPr id="499" name="Oval 498"/>
          <p:cNvSpPr/>
          <p:nvPr/>
        </p:nvSpPr>
        <p:spPr>
          <a:xfrm>
            <a:off x="7086600" y="3383280"/>
            <a:ext cx="457200" cy="457200"/>
          </a:xfrm>
          <a:prstGeom prst="ellipse">
            <a:avLst/>
          </a:prstGeom>
          <a:solidFill>
            <a:srgbClr val="595959"/>
          </a:solidFill>
          <a:ln>
            <a:noFill/>
          </a:ln>
        </p:spPr>
        <p:txBody>
          <a:bodyPr wrap="square" lIns="0" tIns="0" rIns="0" bIns="0" rtlCol="0" anchor="ctr"/>
          <a:lstStyle/>
          <a:p>
            <a:pPr algn="ctr"/>
            <a:r>
              <a:rPr lang="vi-VN" sz="1400" b="1" i="0">
                <a:solidFill>
                  <a:srgbClr val="FFFFFF"/>
                </a:solidFill>
                <a:latin typeface="Times New Roman"/>
                <a:cs typeface="Times New Roman"/>
              </a:rPr>
              <a:t>V</a:t>
            </a:r>
          </a:p>
        </p:txBody>
      </p:sp>
      <p:sp>
        <p:nvSpPr>
          <p:cNvPr id="500" name="TextBox 499"/>
          <p:cNvSpPr txBox="1"/>
          <p:nvPr/>
        </p:nvSpPr>
        <p:spPr>
          <a:xfrm>
            <a:off x="7086600" y="3886200"/>
            <a:ext cx="2194560" cy="640080"/>
          </a:xfrm>
          <a:prstGeom prst="rect">
            <a:avLst/>
          </a:prstGeom>
          <a:noFill/>
        </p:spPr>
        <p:txBody>
          <a:bodyPr wrap="square" lIns="73152" tIns="36576" rIns="73152" bIns="36576" anchor="ctr"/>
          <a:lstStyle/>
          <a:p>
            <a:pPr algn="ctr"/>
            <a:r>
              <a:rPr lang="vi-VN" sz="1350" b="0" i="1">
                <a:solidFill>
                  <a:srgbClr val="7F7F7F"/>
                </a:solidFill>
                <a:latin typeface="Times New Roman"/>
                <a:cs typeface="Times New Roman"/>
              </a:rPr>
              <a:t>[Mục V]</a:t>
            </a:r>
          </a:p>
        </p:txBody>
      </p:sp>
      <p:sp>
        <p:nvSpPr>
          <p:cNvPr id="501" name="Rounded Rectangle 500"/>
          <p:cNvSpPr/>
          <p:nvPr/>
        </p:nvSpPr>
        <p:spPr>
          <a:xfrm>
            <a:off x="9464040" y="3291840"/>
            <a:ext cx="2377440" cy="1280160"/>
          </a:xfrm>
          <a:prstGeom prst="roundRect">
            <a:avLst>
              <a:gd name="adj" fmla="val 8000"/>
            </a:avLst>
          </a:prstGeom>
          <a:solidFill>
            <a:srgbClr val="FFFFFF"/>
          </a:solidFill>
          <a:ln w="19050">
            <a:solidFill>
              <a:srgbClr val="595959"/>
            </a:solidFill>
            <a:prstDash val="dash"/>
          </a:ln>
        </p:spPr>
        <p:txBody>
          <a:bodyPr wrap="square" lIns="73152" tIns="36576" rIns="73152" bIns="36576" rtlCol="0" anchor="ctr"/>
          <a:lstStyle/>
          <a:p>
            <a:pPr algn="ctr"/>
            <a:endParaRPr/>
          </a:p>
        </p:txBody>
      </p:sp>
      <p:sp>
        <p:nvSpPr>
          <p:cNvPr id="502" name="Oval 501"/>
          <p:cNvSpPr/>
          <p:nvPr/>
        </p:nvSpPr>
        <p:spPr>
          <a:xfrm>
            <a:off x="9555480" y="3383280"/>
            <a:ext cx="457200" cy="457200"/>
          </a:xfrm>
          <a:prstGeom prst="ellipse">
            <a:avLst/>
          </a:prstGeom>
          <a:solidFill>
            <a:srgbClr val="595959"/>
          </a:solidFill>
          <a:ln>
            <a:noFill/>
          </a:ln>
        </p:spPr>
        <p:txBody>
          <a:bodyPr wrap="square" lIns="0" tIns="0" rIns="0" bIns="0" rtlCol="0" anchor="ctr"/>
          <a:lstStyle/>
          <a:p>
            <a:pPr algn="ctr"/>
            <a:r>
              <a:rPr lang="vi-VN" sz="1400" b="1" i="0">
                <a:solidFill>
                  <a:srgbClr val="FFFFFF"/>
                </a:solidFill>
                <a:latin typeface="Times New Roman"/>
                <a:cs typeface="Times New Roman"/>
              </a:rPr>
              <a:t>VI</a:t>
            </a:r>
          </a:p>
        </p:txBody>
      </p:sp>
      <p:sp>
        <p:nvSpPr>
          <p:cNvPr id="503" name="TextBox 502"/>
          <p:cNvSpPr txBox="1"/>
          <p:nvPr/>
        </p:nvSpPr>
        <p:spPr>
          <a:xfrm>
            <a:off x="9555480" y="3886200"/>
            <a:ext cx="2194560" cy="640080"/>
          </a:xfrm>
          <a:prstGeom prst="rect">
            <a:avLst/>
          </a:prstGeom>
          <a:noFill/>
        </p:spPr>
        <p:txBody>
          <a:bodyPr wrap="square" lIns="73152" tIns="36576" rIns="73152" bIns="36576" anchor="ctr"/>
          <a:lstStyle/>
          <a:p>
            <a:pPr algn="ctr"/>
            <a:r>
              <a:rPr lang="vi-VN" sz="1350" b="0" i="1">
                <a:solidFill>
                  <a:srgbClr val="7F7F7F"/>
                </a:solidFill>
                <a:latin typeface="Times New Roman"/>
                <a:cs typeface="Times New Roman"/>
              </a:rPr>
              <a:t>[Mục VI]</a:t>
            </a:r>
          </a:p>
        </p:txBody>
      </p:sp>
      <p:sp>
        <p:nvSpPr>
          <p:cNvPr id="504" name="Rounded Rectangle 503"/>
          <p:cNvSpPr/>
          <p:nvPr/>
        </p:nvSpPr>
        <p:spPr>
          <a:xfrm>
            <a:off x="4526280" y="4663440"/>
            <a:ext cx="2377440" cy="1280160"/>
          </a:xfrm>
          <a:prstGeom prst="roundRect">
            <a:avLst>
              <a:gd name="adj" fmla="val 8000"/>
            </a:avLst>
          </a:prstGeom>
          <a:solidFill>
            <a:srgbClr val="FFFFFF"/>
          </a:solidFill>
          <a:ln w="19050">
            <a:solidFill>
              <a:srgbClr val="595959"/>
            </a:solidFill>
            <a:prstDash val="dash"/>
          </a:ln>
        </p:spPr>
        <p:txBody>
          <a:bodyPr wrap="square" lIns="73152" tIns="36576" rIns="73152" bIns="36576" rtlCol="0" anchor="ctr"/>
          <a:lstStyle/>
          <a:p>
            <a:pPr algn="ctr"/>
            <a:endParaRPr/>
          </a:p>
        </p:txBody>
      </p:sp>
      <p:sp>
        <p:nvSpPr>
          <p:cNvPr id="505" name="Oval 504"/>
          <p:cNvSpPr/>
          <p:nvPr/>
        </p:nvSpPr>
        <p:spPr>
          <a:xfrm>
            <a:off x="4617720" y="4754879"/>
            <a:ext cx="457200" cy="457200"/>
          </a:xfrm>
          <a:prstGeom prst="ellipse">
            <a:avLst/>
          </a:prstGeom>
          <a:solidFill>
            <a:srgbClr val="595959"/>
          </a:solidFill>
          <a:ln>
            <a:noFill/>
          </a:ln>
        </p:spPr>
        <p:txBody>
          <a:bodyPr wrap="square" lIns="0" tIns="0" rIns="0" bIns="0" rtlCol="0" anchor="ctr"/>
          <a:lstStyle/>
          <a:p>
            <a:pPr algn="ctr"/>
            <a:r>
              <a:rPr lang="vi-VN" sz="1400" b="1" i="0">
                <a:solidFill>
                  <a:srgbClr val="FFFFFF"/>
                </a:solidFill>
                <a:latin typeface="Times New Roman"/>
                <a:cs typeface="Times New Roman"/>
              </a:rPr>
              <a:t>VII</a:t>
            </a:r>
          </a:p>
        </p:txBody>
      </p:sp>
      <p:sp>
        <p:nvSpPr>
          <p:cNvPr id="506" name="TextBox 505"/>
          <p:cNvSpPr txBox="1"/>
          <p:nvPr/>
        </p:nvSpPr>
        <p:spPr>
          <a:xfrm>
            <a:off x="4617720" y="5257800"/>
            <a:ext cx="2194560" cy="640080"/>
          </a:xfrm>
          <a:prstGeom prst="rect">
            <a:avLst/>
          </a:prstGeom>
          <a:noFill/>
        </p:spPr>
        <p:txBody>
          <a:bodyPr wrap="square" lIns="73152" tIns="36576" rIns="73152" bIns="36576" anchor="ctr"/>
          <a:lstStyle/>
          <a:p>
            <a:pPr algn="ctr"/>
            <a:r>
              <a:rPr lang="vi-VN" sz="1350" b="0" i="1">
                <a:solidFill>
                  <a:srgbClr val="7F7F7F"/>
                </a:solidFill>
                <a:latin typeface="Times New Roman"/>
                <a:cs typeface="Times New Roman"/>
              </a:rPr>
              <a:t>[Mục VII]</a:t>
            </a:r>
          </a:p>
        </p:txBody>
      </p:sp>
      <p:sp>
        <p:nvSpPr>
          <p:cNvPr id="507" name="Rounded Rectangle 506"/>
          <p:cNvSpPr/>
          <p:nvPr/>
        </p:nvSpPr>
        <p:spPr>
          <a:xfrm>
            <a:off x="6995160" y="4663440"/>
            <a:ext cx="2377440" cy="1280160"/>
          </a:xfrm>
          <a:prstGeom prst="roundRect">
            <a:avLst>
              <a:gd name="adj" fmla="val 8000"/>
            </a:avLst>
          </a:prstGeom>
          <a:solidFill>
            <a:srgbClr val="FFFFFF"/>
          </a:solidFill>
          <a:ln w="19050">
            <a:solidFill>
              <a:srgbClr val="595959"/>
            </a:solidFill>
            <a:prstDash val="dash"/>
          </a:ln>
        </p:spPr>
        <p:txBody>
          <a:bodyPr wrap="square" lIns="73152" tIns="36576" rIns="73152" bIns="36576" rtlCol="0" anchor="ctr"/>
          <a:lstStyle/>
          <a:p>
            <a:pPr algn="ctr"/>
            <a:endParaRPr/>
          </a:p>
        </p:txBody>
      </p:sp>
      <p:sp>
        <p:nvSpPr>
          <p:cNvPr id="508" name="Oval 507"/>
          <p:cNvSpPr/>
          <p:nvPr/>
        </p:nvSpPr>
        <p:spPr>
          <a:xfrm>
            <a:off x="7086600" y="4754879"/>
            <a:ext cx="457200" cy="457200"/>
          </a:xfrm>
          <a:prstGeom prst="ellipse">
            <a:avLst/>
          </a:prstGeom>
          <a:solidFill>
            <a:srgbClr val="595959"/>
          </a:solidFill>
          <a:ln>
            <a:noFill/>
          </a:ln>
        </p:spPr>
        <p:txBody>
          <a:bodyPr wrap="square" lIns="0" tIns="0" rIns="0" bIns="0" rtlCol="0" anchor="ctr"/>
          <a:lstStyle/>
          <a:p>
            <a:pPr algn="ctr"/>
            <a:r>
              <a:rPr lang="vi-VN" sz="1000" b="1" i="0">
                <a:solidFill>
                  <a:srgbClr val="FFFFFF"/>
                </a:solidFill>
                <a:latin typeface="Times New Roman"/>
                <a:cs typeface="Times New Roman"/>
              </a:rPr>
              <a:t>VIII</a:t>
            </a:r>
          </a:p>
        </p:txBody>
      </p:sp>
      <p:sp>
        <p:nvSpPr>
          <p:cNvPr id="509" name="TextBox 508"/>
          <p:cNvSpPr txBox="1"/>
          <p:nvPr/>
        </p:nvSpPr>
        <p:spPr>
          <a:xfrm>
            <a:off x="7086600" y="5257800"/>
            <a:ext cx="2194560" cy="640080"/>
          </a:xfrm>
          <a:prstGeom prst="rect">
            <a:avLst/>
          </a:prstGeom>
          <a:noFill/>
        </p:spPr>
        <p:txBody>
          <a:bodyPr wrap="square" lIns="73152" tIns="36576" rIns="73152" bIns="36576" anchor="ctr"/>
          <a:lstStyle/>
          <a:p>
            <a:pPr algn="ctr"/>
            <a:r>
              <a:rPr lang="vi-VN" sz="1350" b="0" i="1">
                <a:solidFill>
                  <a:srgbClr val="7F7F7F"/>
                </a:solidFill>
                <a:latin typeface="Times New Roman"/>
                <a:cs typeface="Times New Roman"/>
              </a:rPr>
              <a:t>[Mục VIII]</a:t>
            </a:r>
          </a:p>
        </p:txBody>
      </p:sp>
      <p:sp>
        <p:nvSpPr>
          <p:cNvPr id="510" name="Rounded Rectangle 509"/>
          <p:cNvSpPr/>
          <p:nvPr/>
        </p:nvSpPr>
        <p:spPr>
          <a:xfrm>
            <a:off x="9464040" y="4663440"/>
            <a:ext cx="2377440" cy="1280160"/>
          </a:xfrm>
          <a:prstGeom prst="roundRect">
            <a:avLst>
              <a:gd name="adj" fmla="val 8000"/>
            </a:avLst>
          </a:prstGeom>
          <a:solidFill>
            <a:srgbClr val="FFFFFF"/>
          </a:solidFill>
          <a:ln w="19050">
            <a:solidFill>
              <a:srgbClr val="2E5B31"/>
            </a:solidFill>
          </a:ln>
        </p:spPr>
        <p:txBody>
          <a:bodyPr wrap="square" lIns="73152" tIns="36576" rIns="73152" bIns="36576" rtlCol="0" anchor="ctr"/>
          <a:lstStyle/>
          <a:p>
            <a:pPr algn="ctr"/>
            <a:endParaRPr/>
          </a:p>
        </p:txBody>
      </p:sp>
      <p:sp>
        <p:nvSpPr>
          <p:cNvPr id="511" name="Oval 510"/>
          <p:cNvSpPr/>
          <p:nvPr/>
        </p:nvSpPr>
        <p:spPr>
          <a:xfrm>
            <a:off x="9555480" y="4754879"/>
            <a:ext cx="457200" cy="457200"/>
          </a:xfrm>
          <a:prstGeom prst="ellipse">
            <a:avLst/>
          </a:prstGeom>
          <a:solidFill>
            <a:srgbClr val="2E5B31"/>
          </a:solidFill>
          <a:ln>
            <a:noFill/>
          </a:ln>
        </p:spPr>
        <p:txBody>
          <a:bodyPr wrap="square" lIns="0" tIns="0" rIns="0" bIns="0" rtlCol="0" anchor="ctr"/>
          <a:lstStyle/>
          <a:p>
            <a:pPr algn="ctr"/>
            <a:r>
              <a:rPr lang="vi-VN" sz="1400" b="1" i="0">
                <a:solidFill>
                  <a:srgbClr val="FFFFFF"/>
                </a:solidFill>
                <a:latin typeface="Times New Roman"/>
                <a:cs typeface="Times New Roman"/>
              </a:rPr>
              <a:t>+</a:t>
            </a:r>
          </a:p>
        </p:txBody>
      </p:sp>
      <p:sp>
        <p:nvSpPr>
          <p:cNvPr id="512" name="TextBox 511"/>
          <p:cNvSpPr txBox="1"/>
          <p:nvPr/>
        </p:nvSpPr>
        <p:spPr>
          <a:xfrm>
            <a:off x="9555480" y="5257800"/>
            <a:ext cx="2194560" cy="640080"/>
          </a:xfrm>
          <a:prstGeom prst="rect">
            <a:avLst/>
          </a:prstGeom>
          <a:noFill/>
        </p:spPr>
        <p:txBody>
          <a:bodyPr wrap="square" lIns="73152" tIns="36576" rIns="73152" bIns="36576" anchor="ctr"/>
          <a:lstStyle/>
          <a:p>
            <a:pPr algn="ctr"/>
            <a:r>
              <a:rPr lang="vi-VN" sz="1350" b="1" i="0">
                <a:solidFill>
                  <a:srgbClr val="2E5B31"/>
                </a:solidFill>
                <a:latin typeface="Times New Roman"/>
                <a:cs typeface="Times New Roman"/>
              </a:rPr>
              <a:t>Phụ lục</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4"/>
          <p:cNvSpPr txBox="1"/>
          <p:nvPr/>
        </p:nvSpPr>
        <p:spPr>
          <a:xfrm>
            <a:off x="0" y="0"/>
            <a:ext cx="12192000" cy="73839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B050"/>
              </a:buClr>
              <a:buSzPts val="4400"/>
              <a:buFont typeface="Times New Roman"/>
              <a:buNone/>
            </a:pPr>
            <a:r>
              <a:rPr lang="vi-VN" sz="4000" b="1">
                <a:solidFill>
                  <a:srgbClr val="00B050"/>
                </a:solidFill>
                <a:latin typeface="Times New Roman"/>
                <a:ea typeface="Times New Roman"/>
                <a:cs typeface="Times New Roman"/>
                <a:sym typeface="Times New Roman"/>
              </a:rPr>
              <a:t>Báo cáo đầu ra và thang chấm điểm</a:t>
            </a:r>
            <a:endParaRPr sz="4400" b="1">
              <a:solidFill>
                <a:srgbClr val="00B050"/>
              </a:solidFill>
              <a:latin typeface="Times New Roman"/>
              <a:ea typeface="Times New Roman"/>
              <a:cs typeface="Times New Roman"/>
              <a:sym typeface="Times New Roman"/>
            </a:endParaRPr>
          </a:p>
        </p:txBody>
      </p:sp>
      <p:pic>
        <p:nvPicPr>
          <p:cNvPr id="470" name="Google Shape;470;p24" descr="Logo"/>
          <p:cNvPicPr preferRelativeResize="0"/>
          <p:nvPr/>
        </p:nvPicPr>
        <p:blipFill rotWithShape="1">
          <a:blip r:embed="rId3">
            <a:alphaModFix/>
          </a:blip>
          <a:srcRect/>
          <a:stretch/>
        </p:blipFill>
        <p:spPr>
          <a:xfrm>
            <a:off x="89103" y="47409"/>
            <a:ext cx="1815898" cy="718793"/>
          </a:xfrm>
          <a:prstGeom prst="rect">
            <a:avLst/>
          </a:prstGeom>
          <a:noFill/>
          <a:ln>
            <a:noFill/>
          </a:ln>
        </p:spPr>
      </p:pic>
      <p:sp>
        <p:nvSpPr>
          <p:cNvPr id="471" name="Google Shape;471;p24"/>
          <p:cNvSpPr txBox="1">
            <a:spLocks noGrp="1"/>
          </p:cNvSpPr>
          <p:nvPr>
            <p:ph type="sldNum" idx="12"/>
          </p:nvPr>
        </p:nvSpPr>
        <p:spPr>
          <a:xfrm>
            <a:off x="11732288" y="1"/>
            <a:ext cx="457200" cy="738390"/>
          </a:xfrm>
          <a:prstGeom prst="rect">
            <a:avLst/>
          </a:prstGeom>
          <a:solidFill>
            <a:srgbClr val="92D050"/>
          </a:solidFill>
          <a:ln>
            <a:noFill/>
          </a:ln>
        </p:spPr>
        <p:txBody>
          <a:bodyPr spcFirstLastPara="1" wrap="none" lIns="0" tIns="45700" rIns="0" bIns="45700" anchor="ctr" anchorCtr="0">
            <a:noAutofit/>
          </a:bodyPr>
          <a:lstStyle/>
          <a:p>
            <a:pPr marL="0" lvl="0" indent="0" algn="ctr" rtl="0">
              <a:spcBef>
                <a:spcPts val="0"/>
              </a:spcBef>
              <a:spcAft>
                <a:spcPts val="0"/>
              </a:spcAft>
              <a:buNone/>
            </a:pPr>
            <a:fld id="{00000000-1234-1234-1234-123412341234}" type="slidenum">
              <a:rPr lang="vi-VN" sz="1500">
                <a:solidFill>
                  <a:srgbClr val="0C0C0C"/>
                </a:solidFill>
                <a:latin typeface="Algerian"/>
                <a:ea typeface="Algerian"/>
                <a:cs typeface="Algerian"/>
                <a:sym typeface="Algerian"/>
              </a:rPr>
              <a:t>57</a:t>
            </a:fld>
            <a:endParaRPr sz="1800">
              <a:solidFill>
                <a:srgbClr val="0C0C0C"/>
              </a:solidFill>
              <a:latin typeface="Algerian"/>
              <a:ea typeface="Algerian"/>
              <a:cs typeface="Algerian"/>
              <a:sym typeface="Algerian"/>
            </a:endParaRPr>
          </a:p>
        </p:txBody>
      </p:sp>
      <p:sp>
        <p:nvSpPr>
          <p:cNvPr id="472" name="TextBox 471"/>
          <p:cNvSpPr txBox="1"/>
          <p:nvPr/>
        </p:nvSpPr>
        <p:spPr>
          <a:xfrm>
            <a:off x="45720" y="896112"/>
            <a:ext cx="10972800" cy="402336"/>
          </a:xfrm>
          <a:prstGeom prst="rect">
            <a:avLst/>
          </a:prstGeom>
          <a:noFill/>
        </p:spPr>
        <p:txBody>
          <a:bodyPr wrap="square">
            <a:spAutoFit/>
          </a:bodyPr>
          <a:lstStyle/>
          <a:p>
            <a:pPr marL="228600" indent="-228600">
              <a:buFont typeface="Wingdings"/>
              <a:buChar char="v"/>
            </a:pPr>
            <a:r>
              <a:rPr lang="vi-VN" sz="1500" b="1" i="0">
                <a:solidFill>
                  <a:srgbClr val="0070C0"/>
                </a:solidFill>
                <a:latin typeface="Times New Roman"/>
                <a:cs typeface="Times New Roman"/>
              </a:rPr>
              <a:t>Thang chấm điểm 100 điểm</a:t>
            </a:r>
          </a:p>
        </p:txBody>
      </p:sp>
      <p:sp>
        <p:nvSpPr>
          <p:cNvPr id="473" name="Rectangle 472"/>
          <p:cNvSpPr/>
          <p:nvPr/>
        </p:nvSpPr>
        <p:spPr>
          <a:xfrm>
            <a:off x="347472" y="6144768"/>
            <a:ext cx="11475720" cy="457200"/>
          </a:xfrm>
          <a:prstGeom prst="rect">
            <a:avLst/>
          </a:prstGeom>
          <a:solidFill>
            <a:srgbClr val="E2F0D9"/>
          </a:solidFill>
          <a:ln>
            <a:noFill/>
          </a:ln>
        </p:spPr>
        <p:txBody>
          <a:bodyPr wrap="square" tIns="18288" bIns="18288" rtlCol="0" anchor="ctr"/>
          <a:lstStyle/>
          <a:p>
            <a:pPr algn="ctr"/>
            <a:r>
              <a:rPr lang="vi-VN" sz="1800" b="0" i="0">
                <a:solidFill>
                  <a:srgbClr val="000000"/>
                </a:solidFill>
                <a:latin typeface="Times New Roman"/>
                <a:cs typeface="Times New Roman"/>
              </a:rPr>
              <a:t>Rubric </a:t>
            </a:r>
            <a:r>
              <a:rPr lang="vi-VN" sz="1800" b="1" i="0">
                <a:solidFill>
                  <a:srgbClr val="C00000"/>
                </a:solidFill>
                <a:latin typeface="Times New Roman"/>
                <a:cs typeface="Times New Roman"/>
              </a:rPr>
              <a:t>100 điểm</a:t>
            </a:r>
            <a:r>
              <a:rPr lang="vi-VN" sz="1800" b="0" i="0">
                <a:solidFill>
                  <a:srgbClr val="000000"/>
                </a:solidFill>
                <a:latin typeface="Times New Roman"/>
                <a:cs typeface="Times New Roman"/>
              </a:rPr>
              <a:t>: 40 kỹ thuật · 40 báo cáo · 20 sáng tạo</a:t>
            </a:r>
          </a:p>
        </p:txBody>
      </p:sp>
      <p:sp>
        <p:nvSpPr>
          <p:cNvPr id="474" name="Rounded Rectangle 473"/>
          <p:cNvSpPr/>
          <p:nvPr/>
        </p:nvSpPr>
        <p:spPr>
          <a:xfrm>
            <a:off x="365760" y="1463040"/>
            <a:ext cx="4526280" cy="1051560"/>
          </a:xfrm>
          <a:prstGeom prst="roundRect">
            <a:avLst>
              <a:gd name="adj" fmla="val 12000"/>
            </a:avLst>
          </a:prstGeom>
          <a:solidFill>
            <a:srgbClr val="2E5B31"/>
          </a:solidFill>
          <a:ln>
            <a:noFill/>
          </a:ln>
        </p:spPr>
        <p:txBody>
          <a:bodyPr wrap="square" lIns="73152" tIns="36576" rIns="73152" bIns="36576" rtlCol="0" anchor="ctr"/>
          <a:lstStyle/>
          <a:p>
            <a:pPr algn="ctr"/>
            <a:r>
              <a:rPr lang="vi-VN" sz="2800" b="1" i="0">
                <a:solidFill>
                  <a:srgbClr val="FFFFFF"/>
                </a:solidFill>
                <a:latin typeface="Times New Roman"/>
                <a:cs typeface="Times New Roman"/>
              </a:rPr>
              <a:t>40 điểm</a:t>
            </a:r>
          </a:p>
          <a:p>
            <a:pPr algn="ctr"/>
            <a:r>
              <a:rPr lang="vi-VN" sz="1500" b="0" i="0">
                <a:solidFill>
                  <a:srgbClr val="FFFFFF"/>
                </a:solidFill>
                <a:latin typeface="Times New Roman"/>
                <a:cs typeface="Times New Roman"/>
              </a:rPr>
              <a:t>Kỹ thuật</a:t>
            </a:r>
          </a:p>
        </p:txBody>
      </p:sp>
      <p:sp>
        <p:nvSpPr>
          <p:cNvPr id="475" name="Rounded Rectangle 474"/>
          <p:cNvSpPr/>
          <p:nvPr/>
        </p:nvSpPr>
        <p:spPr>
          <a:xfrm>
            <a:off x="365760" y="2697480"/>
            <a:ext cx="4526280" cy="3246120"/>
          </a:xfrm>
          <a:prstGeom prst="roundRect">
            <a:avLst>
              <a:gd name="adj" fmla="val 5000"/>
            </a:avLst>
          </a:prstGeom>
          <a:solidFill>
            <a:srgbClr val="E2F0D9"/>
          </a:solidFill>
          <a:ln w="19050">
            <a:solidFill>
              <a:srgbClr val="2E5B31"/>
            </a:solidFill>
          </a:ln>
        </p:spPr>
        <p:txBody>
          <a:bodyPr wrap="square" lIns="73152" tIns="36576" rIns="73152" bIns="36576" rtlCol="0" anchor="ctr"/>
          <a:lstStyle/>
          <a:p>
            <a:pPr algn="ctr"/>
            <a:endParaRPr/>
          </a:p>
        </p:txBody>
      </p:sp>
      <p:sp>
        <p:nvSpPr>
          <p:cNvPr id="476" name="TextBox 475"/>
          <p:cNvSpPr txBox="1"/>
          <p:nvPr/>
        </p:nvSpPr>
        <p:spPr>
          <a:xfrm>
            <a:off x="457200" y="2788920"/>
            <a:ext cx="4343400" cy="3063240"/>
          </a:xfrm>
          <a:prstGeom prst="rect">
            <a:avLst/>
          </a:prstGeom>
          <a:noFill/>
        </p:spPr>
        <p:txBody>
          <a:bodyPr wrap="square" lIns="73152" tIns="36576" rIns="73152" bIns="36576" anchor="t"/>
          <a:lstStyle/>
          <a:p>
            <a:pPr marL="182880" indent="-182880" algn="l">
              <a:spcBef>
                <a:spcPts val="1000"/>
              </a:spcBef>
              <a:buFont typeface="Arial"/>
              <a:buChar char="•"/>
            </a:pPr>
            <a:r>
              <a:rPr lang="vi-VN" sz="1600" b="0" i="0">
                <a:solidFill>
                  <a:srgbClr val="222222"/>
                </a:solidFill>
                <a:latin typeface="Times New Roman"/>
                <a:cs typeface="Times New Roman"/>
              </a:rPr>
              <a:t>Mô hình dữ liệu</a:t>
            </a:r>
          </a:p>
          <a:p>
            <a:pPr marL="182880" indent="-182880" algn="l">
              <a:spcBef>
                <a:spcPts val="1000"/>
              </a:spcBef>
              <a:buFont typeface="Arial"/>
              <a:buChar char="•"/>
            </a:pPr>
            <a:r>
              <a:rPr lang="vi-VN" sz="1600" b="0" i="0">
                <a:solidFill>
                  <a:srgbClr val="222222"/>
                </a:solidFill>
                <a:latin typeface="Times New Roman"/>
                <a:cs typeface="Times New Roman"/>
              </a:rPr>
              <a:t>DAX</a:t>
            </a:r>
          </a:p>
          <a:p>
            <a:pPr marL="182880" indent="-182880" algn="l">
              <a:spcBef>
                <a:spcPts val="1000"/>
              </a:spcBef>
              <a:buFont typeface="Arial"/>
              <a:buChar char="•"/>
            </a:pPr>
            <a:r>
              <a:rPr lang="vi-VN" sz="1600" b="0" i="0">
                <a:solidFill>
                  <a:srgbClr val="222222"/>
                </a:solidFill>
                <a:latin typeface="Times New Roman"/>
                <a:cs typeface="Times New Roman"/>
              </a:rPr>
              <a:t>4 trang dashboard</a:t>
            </a:r>
          </a:p>
          <a:p>
            <a:pPr marL="182880" indent="-182880" algn="l">
              <a:spcBef>
                <a:spcPts val="1000"/>
              </a:spcBef>
              <a:buFont typeface="Arial"/>
              <a:buChar char="•"/>
            </a:pPr>
            <a:r>
              <a:rPr lang="vi-VN" sz="1600" b="0" i="0">
                <a:solidFill>
                  <a:srgbClr val="222222"/>
                </a:solidFill>
                <a:latin typeface="Times New Roman"/>
                <a:cs typeface="Times New Roman"/>
              </a:rPr>
              <a:t>Trải nghiệm sử dụng</a:t>
            </a:r>
          </a:p>
        </p:txBody>
      </p:sp>
      <p:sp>
        <p:nvSpPr>
          <p:cNvPr id="477" name="Rounded Rectangle 476"/>
          <p:cNvSpPr/>
          <p:nvPr/>
        </p:nvSpPr>
        <p:spPr>
          <a:xfrm>
            <a:off x="4946904" y="1463040"/>
            <a:ext cx="4526280" cy="1051560"/>
          </a:xfrm>
          <a:prstGeom prst="roundRect">
            <a:avLst>
              <a:gd name="adj" fmla="val 12000"/>
            </a:avLst>
          </a:prstGeom>
          <a:solidFill>
            <a:srgbClr val="123A7A"/>
          </a:solidFill>
          <a:ln>
            <a:noFill/>
          </a:ln>
        </p:spPr>
        <p:txBody>
          <a:bodyPr wrap="square" lIns="73152" tIns="36576" rIns="73152" bIns="36576" rtlCol="0" anchor="ctr"/>
          <a:lstStyle/>
          <a:p>
            <a:pPr algn="ctr"/>
            <a:r>
              <a:rPr lang="vi-VN" sz="2800" b="1" i="0">
                <a:solidFill>
                  <a:srgbClr val="FFFFFF"/>
                </a:solidFill>
                <a:latin typeface="Times New Roman"/>
                <a:cs typeface="Times New Roman"/>
              </a:rPr>
              <a:t>40 điểm</a:t>
            </a:r>
          </a:p>
          <a:p>
            <a:pPr algn="ctr"/>
            <a:r>
              <a:rPr lang="vi-VN" sz="1500" b="0" i="0">
                <a:solidFill>
                  <a:srgbClr val="FFFFFF"/>
                </a:solidFill>
                <a:latin typeface="Times New Roman"/>
                <a:cs typeface="Times New Roman"/>
              </a:rPr>
              <a:t>Báo cáo phân tích</a:t>
            </a:r>
          </a:p>
        </p:txBody>
      </p:sp>
      <p:sp>
        <p:nvSpPr>
          <p:cNvPr id="478" name="Rounded Rectangle 477"/>
          <p:cNvSpPr/>
          <p:nvPr/>
        </p:nvSpPr>
        <p:spPr>
          <a:xfrm>
            <a:off x="4946904" y="2697480"/>
            <a:ext cx="4526280" cy="3246120"/>
          </a:xfrm>
          <a:prstGeom prst="roundRect">
            <a:avLst>
              <a:gd name="adj" fmla="val 5000"/>
            </a:avLst>
          </a:prstGeom>
          <a:solidFill>
            <a:srgbClr val="DEEAF6"/>
          </a:solidFill>
          <a:ln w="19050">
            <a:solidFill>
              <a:srgbClr val="123A7A"/>
            </a:solidFill>
          </a:ln>
        </p:spPr>
        <p:txBody>
          <a:bodyPr wrap="square" lIns="73152" tIns="36576" rIns="73152" bIns="36576" rtlCol="0" anchor="ctr"/>
          <a:lstStyle/>
          <a:p>
            <a:pPr algn="ctr"/>
            <a:endParaRPr/>
          </a:p>
        </p:txBody>
      </p:sp>
      <p:sp>
        <p:nvSpPr>
          <p:cNvPr id="479" name="TextBox 478"/>
          <p:cNvSpPr txBox="1"/>
          <p:nvPr/>
        </p:nvSpPr>
        <p:spPr>
          <a:xfrm>
            <a:off x="5038344" y="2788920"/>
            <a:ext cx="4343400" cy="3063240"/>
          </a:xfrm>
          <a:prstGeom prst="rect">
            <a:avLst/>
          </a:prstGeom>
          <a:noFill/>
        </p:spPr>
        <p:txBody>
          <a:bodyPr wrap="square" lIns="73152" tIns="36576" rIns="73152" bIns="36576" anchor="t"/>
          <a:lstStyle/>
          <a:p>
            <a:pPr marL="182880" indent="-182880" algn="l">
              <a:spcBef>
                <a:spcPts val="1000"/>
              </a:spcBef>
              <a:buFont typeface="Arial"/>
              <a:buChar char="•"/>
            </a:pPr>
            <a:r>
              <a:rPr lang="vi-VN" sz="1600" b="0" i="0">
                <a:solidFill>
                  <a:srgbClr val="222222"/>
                </a:solidFill>
                <a:latin typeface="Times New Roman"/>
                <a:cs typeface="Times New Roman"/>
              </a:rPr>
              <a:t>Báo cáo 8 phần kèm Phụ lục</a:t>
            </a:r>
          </a:p>
          <a:p>
            <a:pPr marL="182880" indent="-182880" algn="l">
              <a:spcBef>
                <a:spcPts val="1000"/>
              </a:spcBef>
              <a:buFont typeface="Arial"/>
              <a:buChar char="•"/>
            </a:pPr>
            <a:r>
              <a:rPr lang="vi-VN" sz="1600" b="0" i="0">
                <a:solidFill>
                  <a:srgbClr val="222222"/>
                </a:solidFill>
                <a:latin typeface="Times New Roman"/>
                <a:cs typeface="Times New Roman"/>
              </a:rPr>
              <a:t>Lập luận từ câu hỏi đến kết luận</a:t>
            </a:r>
          </a:p>
          <a:p>
            <a:pPr marL="182880" indent="-182880" algn="l">
              <a:spcBef>
                <a:spcPts val="1000"/>
              </a:spcBef>
              <a:buFont typeface="Arial"/>
              <a:buChar char="•"/>
            </a:pPr>
            <a:r>
              <a:rPr lang="vi-VN" sz="1600" b="0" i="0">
                <a:solidFill>
                  <a:srgbClr val="222222"/>
                </a:solidFill>
                <a:latin typeface="Times New Roman"/>
                <a:cs typeface="Times New Roman"/>
              </a:rPr>
              <a:t>Mỗi kết luận có một con số trên dashboard làm chỗ dựa</a:t>
            </a:r>
          </a:p>
        </p:txBody>
      </p:sp>
      <p:sp>
        <p:nvSpPr>
          <p:cNvPr id="480" name="Rounded Rectangle 479"/>
          <p:cNvSpPr/>
          <p:nvPr/>
        </p:nvSpPr>
        <p:spPr>
          <a:xfrm>
            <a:off x="9528048" y="1463040"/>
            <a:ext cx="2240279" cy="1051560"/>
          </a:xfrm>
          <a:prstGeom prst="roundRect">
            <a:avLst>
              <a:gd name="adj" fmla="val 12000"/>
            </a:avLst>
          </a:prstGeom>
          <a:solidFill>
            <a:srgbClr val="C55A11"/>
          </a:solidFill>
          <a:ln>
            <a:noFill/>
          </a:ln>
        </p:spPr>
        <p:txBody>
          <a:bodyPr wrap="square" lIns="73152" tIns="36576" rIns="73152" bIns="36576" rtlCol="0" anchor="ctr"/>
          <a:lstStyle/>
          <a:p>
            <a:pPr algn="ctr"/>
            <a:r>
              <a:rPr lang="vi-VN" sz="2800" b="1" i="0">
                <a:solidFill>
                  <a:srgbClr val="FFFFFF"/>
                </a:solidFill>
                <a:latin typeface="Times New Roman"/>
                <a:cs typeface="Times New Roman"/>
              </a:rPr>
              <a:t>20 điểm</a:t>
            </a:r>
          </a:p>
          <a:p>
            <a:pPr algn="ctr"/>
            <a:r>
              <a:rPr lang="vi-VN" sz="1500" b="0" i="0">
                <a:solidFill>
                  <a:srgbClr val="FFFFFF"/>
                </a:solidFill>
                <a:latin typeface="Times New Roman"/>
                <a:cs typeface="Times New Roman"/>
              </a:rPr>
              <a:t>Sáng tạo</a:t>
            </a:r>
          </a:p>
        </p:txBody>
      </p:sp>
      <p:sp>
        <p:nvSpPr>
          <p:cNvPr id="481" name="Rounded Rectangle 480"/>
          <p:cNvSpPr/>
          <p:nvPr/>
        </p:nvSpPr>
        <p:spPr>
          <a:xfrm>
            <a:off x="9528048" y="2697480"/>
            <a:ext cx="2240279" cy="3246120"/>
          </a:xfrm>
          <a:prstGeom prst="roundRect">
            <a:avLst>
              <a:gd name="adj" fmla="val 5000"/>
            </a:avLst>
          </a:prstGeom>
          <a:solidFill>
            <a:srgbClr val="FBE5D6"/>
          </a:solidFill>
          <a:ln w="19050">
            <a:solidFill>
              <a:srgbClr val="C55A11"/>
            </a:solidFill>
          </a:ln>
        </p:spPr>
        <p:txBody>
          <a:bodyPr wrap="square" lIns="73152" tIns="36576" rIns="73152" bIns="36576" rtlCol="0" anchor="ctr"/>
          <a:lstStyle/>
          <a:p>
            <a:pPr algn="ctr"/>
            <a:endParaRPr/>
          </a:p>
        </p:txBody>
      </p:sp>
      <p:sp>
        <p:nvSpPr>
          <p:cNvPr id="482" name="TextBox 481"/>
          <p:cNvSpPr txBox="1"/>
          <p:nvPr/>
        </p:nvSpPr>
        <p:spPr>
          <a:xfrm>
            <a:off x="9619488" y="2788920"/>
            <a:ext cx="2057400" cy="3063240"/>
          </a:xfrm>
          <a:prstGeom prst="rect">
            <a:avLst/>
          </a:prstGeom>
          <a:noFill/>
        </p:spPr>
        <p:txBody>
          <a:bodyPr wrap="square" lIns="73152" tIns="36576" rIns="73152" bIns="36576" anchor="t"/>
          <a:lstStyle/>
          <a:p>
            <a:pPr marL="182880" indent="-182880" algn="l">
              <a:spcBef>
                <a:spcPts val="1000"/>
              </a:spcBef>
              <a:buFont typeface="Arial"/>
              <a:buChar char="•"/>
            </a:pPr>
            <a:r>
              <a:rPr lang="vi-VN" sz="1350" b="0" i="0">
                <a:solidFill>
                  <a:srgbClr val="222222"/>
                </a:solidFill>
                <a:latin typeface="Times New Roman"/>
                <a:cs typeface="Times New Roman"/>
              </a:rPr>
              <a:t>Yếu tố vượt ra ngoài các gợi ý trong slide</a:t>
            </a:r>
          </a:p>
          <a:p>
            <a:pPr marL="182880" indent="-182880" algn="l">
              <a:spcBef>
                <a:spcPts val="1000"/>
              </a:spcBef>
              <a:buFont typeface="Arial"/>
              <a:buChar char="•"/>
            </a:pPr>
            <a:r>
              <a:rPr lang="vi-VN" sz="1350" b="0" i="0">
                <a:solidFill>
                  <a:srgbClr val="222222"/>
                </a:solidFill>
                <a:latin typeface="Times New Roman"/>
                <a:cs typeface="Times New Roman"/>
              </a:rPr>
              <a:t>Gợi ý: kế hoạch, gốc đến hạn, nhóm nợ CIC, tooltip, drill-through</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44"/>
          <p:cNvSpPr/>
          <p:nvPr/>
        </p:nvSpPr>
        <p:spPr>
          <a:xfrm>
            <a:off x="885463" y="1360025"/>
            <a:ext cx="10700795" cy="659757"/>
          </a:xfrm>
          <a:prstGeom prst="rect">
            <a:avLst/>
          </a:prstGeom>
          <a:solidFill>
            <a:schemeClr val="lt1"/>
          </a:solidFill>
          <a:ln w="127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7" name="Google Shape;1167;p44"/>
          <p:cNvSpPr/>
          <p:nvPr/>
        </p:nvSpPr>
        <p:spPr>
          <a:xfrm>
            <a:off x="0" y="0"/>
            <a:ext cx="12192000" cy="6858000"/>
          </a:xfrm>
          <a:prstGeom prst="rect">
            <a:avLst/>
          </a:prstGeom>
          <a:solidFill>
            <a:srgbClr val="B3C6E7"/>
          </a:solidFill>
          <a:ln w="12700" cap="flat" cmpd="sng">
            <a:solidFill>
              <a:srgbClr val="B3C6E7"/>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68" name="Google Shape;1168;p44" descr="Premium PSD | Question mark sign"/>
          <p:cNvPicPr preferRelativeResize="0"/>
          <p:nvPr/>
        </p:nvPicPr>
        <p:blipFill rotWithShape="1">
          <a:blip r:embed="rId3">
            <a:alphaModFix/>
          </a:blip>
          <a:srcRect/>
          <a:stretch/>
        </p:blipFill>
        <p:spPr>
          <a:xfrm>
            <a:off x="0" y="0"/>
            <a:ext cx="12196326" cy="6858000"/>
          </a:xfrm>
          <a:prstGeom prst="rect">
            <a:avLst/>
          </a:prstGeom>
          <a:noFill/>
          <a:ln>
            <a:noFill/>
          </a:ln>
        </p:spPr>
      </p:pic>
      <p:sp>
        <p:nvSpPr>
          <p:cNvPr id="1169" name="Google Shape;1169;p44"/>
          <p:cNvSpPr txBox="1">
            <a:spLocks noGrp="1"/>
          </p:cNvSpPr>
          <p:nvPr>
            <p:ph type="sldNum" idx="4294967295"/>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vi-VN"/>
              <a:t>58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16730</Words>
  <Application>Microsoft Office PowerPoint</Application>
  <PresentationFormat>Widescreen</PresentationFormat>
  <Paragraphs>1273</Paragraphs>
  <Slides>58</Slides>
  <Notes>58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Algerian</vt:lpstr>
      <vt:lpstr>Arial</vt:lpstr>
      <vt:lpstr>Calibri</vt:lpstr>
      <vt:lpstr>Courier New</vt:lpstr>
      <vt:lpstr>Noto Sans Symbols</vt:lpstr>
      <vt:lpstr>Times New Roman</vt:lpstr>
      <vt:lpstr>Wingdings</vt:lpstr>
      <vt:lpstr>Office Theme</vt:lpstr>
      <vt:lpstr>EDA MENTORSHIP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Huy Vu Quang &lt;CV-SME-MASS.CB&gt;</cp:lastModifiedBy>
  <cp:revision>3</cp:revision>
  <dcterms:modified xsi:type="dcterms:W3CDTF">2026-10-10T00:34:38Z</dcterms:modified>
</cp:coreProperties>
</file>